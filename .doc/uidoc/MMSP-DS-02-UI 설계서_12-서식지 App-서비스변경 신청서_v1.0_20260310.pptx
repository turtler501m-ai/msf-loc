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719" r:id="rId6"/>
    <p:sldMasterId id="2147484712" r:id="rId7"/>
    <p:sldMasterId id="2147484714" r:id="rId8"/>
    <p:sldMasterId id="2147483648" r:id="rId9"/>
  </p:sldMasterIdLst>
  <p:notesMasterIdLst>
    <p:notesMasterId r:id="rId60"/>
  </p:notesMasterIdLst>
  <p:handoutMasterIdLst>
    <p:handoutMasterId r:id="rId61"/>
  </p:handoutMasterIdLst>
  <p:sldIdLst>
    <p:sldId id="260" r:id="rId10"/>
    <p:sldId id="312" r:id="rId11"/>
    <p:sldId id="314" r:id="rId12"/>
    <p:sldId id="758" r:id="rId13"/>
    <p:sldId id="886" r:id="rId14"/>
    <p:sldId id="887" r:id="rId15"/>
    <p:sldId id="893" r:id="rId16"/>
    <p:sldId id="834" r:id="rId17"/>
    <p:sldId id="871" r:id="rId18"/>
    <p:sldId id="862" r:id="rId19"/>
    <p:sldId id="870" r:id="rId20"/>
    <p:sldId id="836" r:id="rId21"/>
    <p:sldId id="884" r:id="rId22"/>
    <p:sldId id="879" r:id="rId23"/>
    <p:sldId id="878" r:id="rId24"/>
    <p:sldId id="889" r:id="rId25"/>
    <p:sldId id="890" r:id="rId26"/>
    <p:sldId id="885" r:id="rId27"/>
    <p:sldId id="891" r:id="rId28"/>
    <p:sldId id="892" r:id="rId29"/>
    <p:sldId id="859" r:id="rId30"/>
    <p:sldId id="783" r:id="rId31"/>
    <p:sldId id="900" r:id="rId32"/>
    <p:sldId id="896" r:id="rId33"/>
    <p:sldId id="838" r:id="rId34"/>
    <p:sldId id="899" r:id="rId35"/>
    <p:sldId id="839" r:id="rId36"/>
    <p:sldId id="898" r:id="rId37"/>
    <p:sldId id="872" r:id="rId38"/>
    <p:sldId id="844" r:id="rId39"/>
    <p:sldId id="845" r:id="rId40"/>
    <p:sldId id="882" r:id="rId41"/>
    <p:sldId id="874" r:id="rId42"/>
    <p:sldId id="881" r:id="rId43"/>
    <p:sldId id="894" r:id="rId44"/>
    <p:sldId id="843" r:id="rId45"/>
    <p:sldId id="897" r:id="rId46"/>
    <p:sldId id="875" r:id="rId47"/>
    <p:sldId id="876" r:id="rId48"/>
    <p:sldId id="860" r:id="rId49"/>
    <p:sldId id="877" r:id="rId50"/>
    <p:sldId id="895" r:id="rId51"/>
    <p:sldId id="855" r:id="rId52"/>
    <p:sldId id="856" r:id="rId53"/>
    <p:sldId id="857" r:id="rId54"/>
    <p:sldId id="864" r:id="rId55"/>
    <p:sldId id="865" r:id="rId56"/>
    <p:sldId id="784" r:id="rId57"/>
    <p:sldId id="849" r:id="rId58"/>
    <p:sldId id="832" r:id="rId59"/>
  </p:sldIdLst>
  <p:sldSz cx="12801600" cy="6859588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536204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107240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608612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144817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681021" algn="l" defTabSz="1072408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3217225" algn="l" defTabSz="1072408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753429" algn="l" defTabSz="1072408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4289633" algn="l" defTabSz="1072408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2F286AD-7015-4EE0-ADF9-893C2BCEA316}">
          <p14:sldIdLst>
            <p14:sldId id="260"/>
            <p14:sldId id="312"/>
            <p14:sldId id="314"/>
          </p14:sldIdLst>
        </p14:section>
        <p14:section name="UI 목록" id="{4D620752-EB9C-43FC-90FD-744FEEA66F2D}">
          <p14:sldIdLst>
            <p14:sldId id="758"/>
          </p14:sldIdLst>
        </p14:section>
        <p14:section name="서비스변경 신청서 작성 절차 및 프로세스" id="{248A9BA6-DB65-4868-98DE-197890308DE5}">
          <p14:sldIdLst>
            <p14:sldId id="886"/>
            <p14:sldId id="887"/>
            <p14:sldId id="893"/>
          </p14:sldIdLst>
        </p14:section>
        <p14:section name="서비스변경 신청서" id="{EC57853C-1035-49BF-91C9-321E56CEBC60}">
          <p14:sldIdLst>
            <p14:sldId id="834"/>
            <p14:sldId id="871"/>
          </p14:sldIdLst>
        </p14:section>
        <p14:section name="서비스변경 신청서 - 고객" id="{6EDBD776-A5FC-40E1-947D-4A1B535AD26A}">
          <p14:sldIdLst>
            <p14:sldId id="862"/>
            <p14:sldId id="870"/>
            <p14:sldId id="836"/>
            <p14:sldId id="884"/>
            <p14:sldId id="879"/>
            <p14:sldId id="878"/>
            <p14:sldId id="889"/>
            <p14:sldId id="890"/>
            <p14:sldId id="885"/>
            <p14:sldId id="891"/>
            <p14:sldId id="892"/>
          </p14:sldIdLst>
        </p14:section>
        <p14:section name="서비스변경 신청서 - 상품" id="{2483E58F-3FB4-47F5-8A72-87BEBDC8F04B}">
          <p14:sldIdLst>
            <p14:sldId id="859"/>
            <p14:sldId id="783"/>
            <p14:sldId id="900"/>
            <p14:sldId id="896"/>
            <p14:sldId id="838"/>
            <p14:sldId id="899"/>
            <p14:sldId id="839"/>
            <p14:sldId id="898"/>
            <p14:sldId id="872"/>
            <p14:sldId id="844"/>
            <p14:sldId id="845"/>
            <p14:sldId id="882"/>
            <p14:sldId id="874"/>
            <p14:sldId id="881"/>
            <p14:sldId id="894"/>
            <p14:sldId id="843"/>
            <p14:sldId id="897"/>
            <p14:sldId id="875"/>
            <p14:sldId id="876"/>
            <p14:sldId id="860"/>
            <p14:sldId id="877"/>
            <p14:sldId id="895"/>
            <p14:sldId id="855"/>
            <p14:sldId id="856"/>
            <p14:sldId id="857"/>
          </p14:sldIdLst>
        </p14:section>
        <p14:section name="서비스변경 신청서 - 동의" id="{E17847B9-A2D4-4829-99B8-B29ACF91A0ED}">
          <p14:sldIdLst>
            <p14:sldId id="864"/>
            <p14:sldId id="865"/>
            <p14:sldId id="784"/>
            <p14:sldId id="849"/>
          </p14:sldIdLst>
        </p14:section>
        <p14:section name="서비스변경 신청서 - 신청완료" id="{A8877141-667A-431E-A84C-C2C69C90D872}">
          <p14:sldIdLst>
            <p14:sldId id="832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205">
          <p15:clr>
            <a:srgbClr val="A4A3A4"/>
          </p15:clr>
        </p15:guide>
        <p15:guide id="2" orient="horz" pos="527">
          <p15:clr>
            <a:srgbClr val="A4A3A4"/>
          </p15:clr>
        </p15:guide>
        <p15:guide id="3" pos="3120">
          <p15:clr>
            <a:srgbClr val="A4A3A4"/>
          </p15:clr>
        </p15:guide>
        <p15:guide id="4" pos="353">
          <p15:clr>
            <a:srgbClr val="A4A3A4"/>
          </p15:clr>
        </p15:guide>
        <p15:guide id="5" orient="horz" pos="2206">
          <p15:clr>
            <a:srgbClr val="A4A3A4"/>
          </p15:clr>
        </p15:guide>
        <p15:guide id="6" pos="4032">
          <p15:clr>
            <a:srgbClr val="A4A3A4"/>
          </p15:clr>
        </p15:guide>
        <p15:guide id="7" pos="456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soffice463" initials="m" lastIdx="5" clrIdx="0">
    <p:extLst>
      <p:ext uri="{19B8F6BF-5375-455C-9EA6-DF929625EA0E}">
        <p15:presenceInfo xmlns="" xmlns:p15="http://schemas.microsoft.com/office/powerpoint/2012/main" userId="S::msoffice463@unsja.onmicrosoft.com::98a27196-cbe2-46a8-a975-4b2fdc4eb4a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00"/>
    <a:srgbClr val="1BA6C7"/>
    <a:srgbClr val="3CC4E4"/>
    <a:srgbClr val="E8F8FC"/>
    <a:srgbClr val="FF3300"/>
    <a:srgbClr val="FFC000"/>
    <a:srgbClr val="B7DEE8"/>
    <a:srgbClr val="0070C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1" autoAdjust="0"/>
    <p:restoredTop sz="99919" autoAdjust="0"/>
  </p:normalViewPr>
  <p:slideViewPr>
    <p:cSldViewPr>
      <p:cViewPr>
        <p:scale>
          <a:sx n="100" d="100"/>
          <a:sy n="100" d="100"/>
        </p:scale>
        <p:origin x="-2923" y="-1498"/>
      </p:cViewPr>
      <p:guideLst>
        <p:guide orient="horz" pos="2205"/>
        <p:guide orient="horz" pos="527"/>
        <p:guide orient="horz" pos="2206"/>
        <p:guide pos="3120"/>
        <p:guide pos="353"/>
        <p:guide pos="4032"/>
        <p:guide pos="4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-384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63" Type="http://schemas.openxmlformats.org/officeDocument/2006/relationships/presProps" Target="presProps.xml"/><Relationship Id="rId7" Type="http://schemas.openxmlformats.org/officeDocument/2006/relationships/slideMaster" Target="slideMasters/slideMaster2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viewProps" Target="viewProps.xml"/><Relationship Id="rId8" Type="http://schemas.openxmlformats.org/officeDocument/2006/relationships/slideMaster" Target="slideMasters/slideMaster3.xml"/><Relationship Id="rId51" Type="http://schemas.openxmlformats.org/officeDocument/2006/relationships/slide" Target="slides/slide42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8A3FC-922A-4EA6-8220-C7D31A08AE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60E98-F2DF-4BA5-9CEA-C7A72CA67F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351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9C0FC0A-8EC4-45F8-BAE3-5FBDF274FF84}" type="datetimeFigureOut">
              <a:rPr lang="ko-KR" altLang="en-US"/>
              <a:pPr>
                <a:defRPr/>
              </a:pPr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0188" y="685800"/>
            <a:ext cx="63976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B8A35F2-6331-49D4-8813-E163F37982F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504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6204" algn="l" rtl="0" eaLnBrk="0" fontAlgn="base" latinLnBrk="1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72408" algn="l" rtl="0" eaLnBrk="0" fontAlgn="base" latinLnBrk="1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08612" algn="l" rtl="0" eaLnBrk="0" fontAlgn="base" latinLnBrk="1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44817" algn="l" rtl="0" eaLnBrk="0" fontAlgn="base" latinLnBrk="1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81021" algn="l" defTabSz="1072408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17225" algn="l" defTabSz="1072408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53429" algn="l" defTabSz="1072408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89633" algn="l" defTabSz="1072408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30188" y="685800"/>
            <a:ext cx="6397625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sz="300" dirty="0"/>
          </a:p>
        </p:txBody>
      </p:sp>
      <p:sp>
        <p:nvSpPr>
          <p:cNvPr id="235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9897F6F4-9267-44EB-B43D-D3AB4AFE9860}" type="slidenum">
              <a:rPr lang="ko-KR" altLang="en-US" smtClean="0"/>
              <a:pPr eaLnBrk="1" hangingPunct="1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058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64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584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C_3.계속 이어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7"/>
          <p:cNvSpPr/>
          <p:nvPr userDrawn="1"/>
        </p:nvSpPr>
        <p:spPr bwMode="auto">
          <a:xfrm>
            <a:off x="180322" y="831870"/>
            <a:ext cx="10296000" cy="144000"/>
          </a:xfrm>
          <a:custGeom>
            <a:avLst/>
            <a:gdLst/>
            <a:ahLst/>
            <a:cxnLst/>
            <a:rect l="l" t="t" r="r" b="b"/>
            <a:pathLst>
              <a:path w="2492847" h="168396">
                <a:moveTo>
                  <a:pt x="320682" y="0"/>
                </a:moveTo>
                <a:lnTo>
                  <a:pt x="424114" y="46952"/>
                </a:lnTo>
                <a:lnTo>
                  <a:pt x="527547" y="0"/>
                </a:lnTo>
                <a:lnTo>
                  <a:pt x="630490" y="46730"/>
                </a:lnTo>
                <a:lnTo>
                  <a:pt x="733434" y="0"/>
                </a:lnTo>
                <a:lnTo>
                  <a:pt x="836377" y="46730"/>
                </a:lnTo>
                <a:lnTo>
                  <a:pt x="939321" y="0"/>
                </a:lnTo>
                <a:lnTo>
                  <a:pt x="1042264" y="46730"/>
                </a:lnTo>
                <a:lnTo>
                  <a:pt x="1145208" y="0"/>
                </a:lnTo>
                <a:lnTo>
                  <a:pt x="1248151" y="46730"/>
                </a:lnTo>
                <a:lnTo>
                  <a:pt x="1351095" y="0"/>
                </a:lnTo>
                <a:lnTo>
                  <a:pt x="1454038" y="46730"/>
                </a:lnTo>
                <a:lnTo>
                  <a:pt x="1556982" y="0"/>
                </a:lnTo>
                <a:lnTo>
                  <a:pt x="1659925" y="46730"/>
                </a:lnTo>
                <a:lnTo>
                  <a:pt x="1762869" y="0"/>
                </a:lnTo>
                <a:lnTo>
                  <a:pt x="1865812" y="46730"/>
                </a:lnTo>
                <a:lnTo>
                  <a:pt x="1968756" y="0"/>
                </a:lnTo>
                <a:lnTo>
                  <a:pt x="2071699" y="46730"/>
                </a:lnTo>
                <a:lnTo>
                  <a:pt x="2174643" y="0"/>
                </a:lnTo>
                <a:lnTo>
                  <a:pt x="2277586" y="46730"/>
                </a:lnTo>
                <a:lnTo>
                  <a:pt x="2380530" y="0"/>
                </a:lnTo>
                <a:lnTo>
                  <a:pt x="2483962" y="46952"/>
                </a:lnTo>
                <a:lnTo>
                  <a:pt x="2492847" y="46952"/>
                </a:lnTo>
                <a:lnTo>
                  <a:pt x="2492847" y="84198"/>
                </a:lnTo>
                <a:lnTo>
                  <a:pt x="2492847" y="168396"/>
                </a:lnTo>
                <a:lnTo>
                  <a:pt x="2483962" y="168396"/>
                </a:lnTo>
                <a:lnTo>
                  <a:pt x="424114" y="168396"/>
                </a:lnTo>
                <a:lnTo>
                  <a:pt x="217249" y="168396"/>
                </a:lnTo>
                <a:lnTo>
                  <a:pt x="215632" y="168396"/>
                </a:lnTo>
                <a:lnTo>
                  <a:pt x="12001" y="168396"/>
                </a:lnTo>
                <a:lnTo>
                  <a:pt x="0" y="168396"/>
                </a:lnTo>
                <a:lnTo>
                  <a:pt x="0" y="84198"/>
                </a:lnTo>
                <a:lnTo>
                  <a:pt x="0" y="46952"/>
                </a:lnTo>
                <a:lnTo>
                  <a:pt x="12001" y="46952"/>
                </a:lnTo>
                <a:lnTo>
                  <a:pt x="113817" y="734"/>
                </a:lnTo>
                <a:lnTo>
                  <a:pt x="215632" y="46952"/>
                </a:lnTo>
                <a:lnTo>
                  <a:pt x="217249" y="46952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42221" tIns="42221" rIns="42221" bIns="42221" anchor="ctr"/>
          <a:lstStyle/>
          <a:p>
            <a:pPr algn="ctr" latinLnBrk="0">
              <a:defRPr/>
            </a:pPr>
            <a:r>
              <a:rPr lang="ko-KR" altLang="en-US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이전 내용에 이어짐</a:t>
            </a:r>
          </a:p>
        </p:txBody>
      </p:sp>
    </p:spTree>
    <p:extLst>
      <p:ext uri="{BB962C8B-B14F-4D97-AF65-F5344CB8AC3E}">
        <p14:creationId xmlns:p14="http://schemas.microsoft.com/office/powerpoint/2010/main" val="2670123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151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_3.계속 이어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7"/>
          <p:cNvSpPr/>
          <p:nvPr userDrawn="1"/>
        </p:nvSpPr>
        <p:spPr bwMode="auto">
          <a:xfrm>
            <a:off x="178642" y="6479107"/>
            <a:ext cx="10296000" cy="144000"/>
          </a:xfrm>
          <a:custGeom>
            <a:avLst/>
            <a:gdLst/>
            <a:ahLst/>
            <a:cxnLst/>
            <a:rect l="l" t="t" r="r" b="b"/>
            <a:pathLst>
              <a:path w="2492847" h="168396">
                <a:moveTo>
                  <a:pt x="320682" y="0"/>
                </a:moveTo>
                <a:lnTo>
                  <a:pt x="324312" y="1648"/>
                </a:lnTo>
                <a:lnTo>
                  <a:pt x="523917" y="1648"/>
                </a:lnTo>
                <a:lnTo>
                  <a:pt x="527547" y="0"/>
                </a:lnTo>
                <a:lnTo>
                  <a:pt x="531177" y="1648"/>
                </a:lnTo>
                <a:lnTo>
                  <a:pt x="729804" y="1648"/>
                </a:lnTo>
                <a:lnTo>
                  <a:pt x="733434" y="0"/>
                </a:lnTo>
                <a:lnTo>
                  <a:pt x="737064" y="1648"/>
                </a:lnTo>
                <a:lnTo>
                  <a:pt x="935691" y="1648"/>
                </a:lnTo>
                <a:lnTo>
                  <a:pt x="939321" y="0"/>
                </a:lnTo>
                <a:lnTo>
                  <a:pt x="942951" y="1648"/>
                </a:lnTo>
                <a:lnTo>
                  <a:pt x="1141578" y="1648"/>
                </a:lnTo>
                <a:lnTo>
                  <a:pt x="1145208" y="0"/>
                </a:lnTo>
                <a:lnTo>
                  <a:pt x="1148839" y="1648"/>
                </a:lnTo>
                <a:lnTo>
                  <a:pt x="1347465" y="1648"/>
                </a:lnTo>
                <a:lnTo>
                  <a:pt x="1351095" y="0"/>
                </a:lnTo>
                <a:lnTo>
                  <a:pt x="1354726" y="1648"/>
                </a:lnTo>
                <a:lnTo>
                  <a:pt x="1553352" y="1648"/>
                </a:lnTo>
                <a:lnTo>
                  <a:pt x="1556982" y="0"/>
                </a:lnTo>
                <a:lnTo>
                  <a:pt x="1560613" y="1648"/>
                </a:lnTo>
                <a:lnTo>
                  <a:pt x="1759239" y="1648"/>
                </a:lnTo>
                <a:lnTo>
                  <a:pt x="1762869" y="0"/>
                </a:lnTo>
                <a:lnTo>
                  <a:pt x="1766500" y="1648"/>
                </a:lnTo>
                <a:lnTo>
                  <a:pt x="1965126" y="1648"/>
                </a:lnTo>
                <a:lnTo>
                  <a:pt x="1968756" y="0"/>
                </a:lnTo>
                <a:lnTo>
                  <a:pt x="1972387" y="1648"/>
                </a:lnTo>
                <a:lnTo>
                  <a:pt x="2171013" y="1648"/>
                </a:lnTo>
                <a:lnTo>
                  <a:pt x="2174643" y="0"/>
                </a:lnTo>
                <a:lnTo>
                  <a:pt x="2178274" y="1648"/>
                </a:lnTo>
                <a:lnTo>
                  <a:pt x="2376900" y="1648"/>
                </a:lnTo>
                <a:lnTo>
                  <a:pt x="2380530" y="0"/>
                </a:lnTo>
                <a:lnTo>
                  <a:pt x="2384161" y="1648"/>
                </a:lnTo>
                <a:lnTo>
                  <a:pt x="2492847" y="1648"/>
                </a:lnTo>
                <a:lnTo>
                  <a:pt x="2492847" y="46952"/>
                </a:lnTo>
                <a:lnTo>
                  <a:pt x="2492847" y="85846"/>
                </a:lnTo>
                <a:lnTo>
                  <a:pt x="2492847" y="168396"/>
                </a:lnTo>
                <a:lnTo>
                  <a:pt x="2483962" y="168396"/>
                </a:lnTo>
                <a:lnTo>
                  <a:pt x="2380530" y="121444"/>
                </a:lnTo>
                <a:lnTo>
                  <a:pt x="2277586" y="168174"/>
                </a:lnTo>
                <a:lnTo>
                  <a:pt x="2174643" y="121444"/>
                </a:lnTo>
                <a:lnTo>
                  <a:pt x="2071699" y="168174"/>
                </a:lnTo>
                <a:lnTo>
                  <a:pt x="1968756" y="121444"/>
                </a:lnTo>
                <a:lnTo>
                  <a:pt x="1865812" y="168174"/>
                </a:lnTo>
                <a:lnTo>
                  <a:pt x="1762869" y="121444"/>
                </a:lnTo>
                <a:lnTo>
                  <a:pt x="1659925" y="168174"/>
                </a:lnTo>
                <a:lnTo>
                  <a:pt x="1556982" y="121444"/>
                </a:lnTo>
                <a:lnTo>
                  <a:pt x="1454038" y="168174"/>
                </a:lnTo>
                <a:lnTo>
                  <a:pt x="1351095" y="121444"/>
                </a:lnTo>
                <a:lnTo>
                  <a:pt x="1248151" y="168174"/>
                </a:lnTo>
                <a:lnTo>
                  <a:pt x="1145208" y="121444"/>
                </a:lnTo>
                <a:lnTo>
                  <a:pt x="1042264" y="168174"/>
                </a:lnTo>
                <a:lnTo>
                  <a:pt x="939321" y="121444"/>
                </a:lnTo>
                <a:lnTo>
                  <a:pt x="836377" y="168174"/>
                </a:lnTo>
                <a:lnTo>
                  <a:pt x="733434" y="121444"/>
                </a:lnTo>
                <a:lnTo>
                  <a:pt x="630490" y="168174"/>
                </a:lnTo>
                <a:lnTo>
                  <a:pt x="527547" y="121444"/>
                </a:lnTo>
                <a:lnTo>
                  <a:pt x="424114" y="168396"/>
                </a:lnTo>
                <a:lnTo>
                  <a:pt x="320682" y="121444"/>
                </a:lnTo>
                <a:lnTo>
                  <a:pt x="217249" y="168396"/>
                </a:lnTo>
                <a:lnTo>
                  <a:pt x="215632" y="168396"/>
                </a:lnTo>
                <a:lnTo>
                  <a:pt x="113817" y="122178"/>
                </a:lnTo>
                <a:lnTo>
                  <a:pt x="12001" y="168396"/>
                </a:lnTo>
                <a:lnTo>
                  <a:pt x="0" y="168396"/>
                </a:lnTo>
                <a:lnTo>
                  <a:pt x="0" y="85846"/>
                </a:lnTo>
                <a:lnTo>
                  <a:pt x="0" y="46952"/>
                </a:lnTo>
                <a:lnTo>
                  <a:pt x="0" y="1648"/>
                </a:lnTo>
                <a:lnTo>
                  <a:pt x="111804" y="1648"/>
                </a:lnTo>
                <a:lnTo>
                  <a:pt x="113817" y="734"/>
                </a:lnTo>
                <a:lnTo>
                  <a:pt x="115831" y="1648"/>
                </a:lnTo>
                <a:lnTo>
                  <a:pt x="317052" y="1648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42221" tIns="42221" rIns="42221" bIns="42221" anchor="ctr"/>
          <a:lstStyle/>
          <a:p>
            <a:pPr algn="ctr" latinLnBrk="0">
              <a:defRPr/>
            </a:pPr>
            <a:r>
              <a:rPr lang="ko-KR" altLang="en-US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다음 페이지 이어서 계속됨</a:t>
            </a:r>
          </a:p>
        </p:txBody>
      </p:sp>
      <p:sp>
        <p:nvSpPr>
          <p:cNvPr id="5" name="직사각형 7"/>
          <p:cNvSpPr/>
          <p:nvPr userDrawn="1"/>
        </p:nvSpPr>
        <p:spPr bwMode="auto">
          <a:xfrm>
            <a:off x="180322" y="831870"/>
            <a:ext cx="10296000" cy="144000"/>
          </a:xfrm>
          <a:custGeom>
            <a:avLst/>
            <a:gdLst/>
            <a:ahLst/>
            <a:cxnLst/>
            <a:rect l="l" t="t" r="r" b="b"/>
            <a:pathLst>
              <a:path w="2492847" h="168396">
                <a:moveTo>
                  <a:pt x="320682" y="0"/>
                </a:moveTo>
                <a:lnTo>
                  <a:pt x="424114" y="46952"/>
                </a:lnTo>
                <a:lnTo>
                  <a:pt x="527547" y="0"/>
                </a:lnTo>
                <a:lnTo>
                  <a:pt x="630490" y="46730"/>
                </a:lnTo>
                <a:lnTo>
                  <a:pt x="733434" y="0"/>
                </a:lnTo>
                <a:lnTo>
                  <a:pt x="836377" y="46730"/>
                </a:lnTo>
                <a:lnTo>
                  <a:pt x="939321" y="0"/>
                </a:lnTo>
                <a:lnTo>
                  <a:pt x="1042264" y="46730"/>
                </a:lnTo>
                <a:lnTo>
                  <a:pt x="1145208" y="0"/>
                </a:lnTo>
                <a:lnTo>
                  <a:pt x="1248151" y="46730"/>
                </a:lnTo>
                <a:lnTo>
                  <a:pt x="1351095" y="0"/>
                </a:lnTo>
                <a:lnTo>
                  <a:pt x="1454038" y="46730"/>
                </a:lnTo>
                <a:lnTo>
                  <a:pt x="1556982" y="0"/>
                </a:lnTo>
                <a:lnTo>
                  <a:pt x="1659925" y="46730"/>
                </a:lnTo>
                <a:lnTo>
                  <a:pt x="1762869" y="0"/>
                </a:lnTo>
                <a:lnTo>
                  <a:pt x="1865812" y="46730"/>
                </a:lnTo>
                <a:lnTo>
                  <a:pt x="1968756" y="0"/>
                </a:lnTo>
                <a:lnTo>
                  <a:pt x="2071699" y="46730"/>
                </a:lnTo>
                <a:lnTo>
                  <a:pt x="2174643" y="0"/>
                </a:lnTo>
                <a:lnTo>
                  <a:pt x="2277586" y="46730"/>
                </a:lnTo>
                <a:lnTo>
                  <a:pt x="2380530" y="0"/>
                </a:lnTo>
                <a:lnTo>
                  <a:pt x="2483962" y="46952"/>
                </a:lnTo>
                <a:lnTo>
                  <a:pt x="2492847" y="46952"/>
                </a:lnTo>
                <a:lnTo>
                  <a:pt x="2492847" y="84198"/>
                </a:lnTo>
                <a:lnTo>
                  <a:pt x="2492847" y="168396"/>
                </a:lnTo>
                <a:lnTo>
                  <a:pt x="2483962" y="168396"/>
                </a:lnTo>
                <a:lnTo>
                  <a:pt x="424114" y="168396"/>
                </a:lnTo>
                <a:lnTo>
                  <a:pt x="217249" y="168396"/>
                </a:lnTo>
                <a:lnTo>
                  <a:pt x="215632" y="168396"/>
                </a:lnTo>
                <a:lnTo>
                  <a:pt x="12001" y="168396"/>
                </a:lnTo>
                <a:lnTo>
                  <a:pt x="0" y="168396"/>
                </a:lnTo>
                <a:lnTo>
                  <a:pt x="0" y="84198"/>
                </a:lnTo>
                <a:lnTo>
                  <a:pt x="0" y="46952"/>
                </a:lnTo>
                <a:lnTo>
                  <a:pt x="12001" y="46952"/>
                </a:lnTo>
                <a:lnTo>
                  <a:pt x="113817" y="734"/>
                </a:lnTo>
                <a:lnTo>
                  <a:pt x="215632" y="46952"/>
                </a:lnTo>
                <a:lnTo>
                  <a:pt x="217249" y="46952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42221" tIns="42221" rIns="42221" bIns="42221" anchor="ctr"/>
          <a:lstStyle/>
          <a:p>
            <a:pPr algn="ctr" latinLnBrk="0">
              <a:defRPr/>
            </a:pPr>
            <a:r>
              <a:rPr lang="ko-KR" altLang="en-US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이전 내용에 이어짐</a:t>
            </a:r>
          </a:p>
        </p:txBody>
      </p:sp>
    </p:spTree>
    <p:extLst>
      <p:ext uri="{BB962C8B-B14F-4D97-AF65-F5344CB8AC3E}">
        <p14:creationId xmlns:p14="http://schemas.microsoft.com/office/powerpoint/2010/main" val="2230738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C_3.계속 이어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 bwMode="auto">
          <a:xfrm>
            <a:off x="178642" y="6479107"/>
            <a:ext cx="10296000" cy="144000"/>
          </a:xfrm>
          <a:custGeom>
            <a:avLst/>
            <a:gdLst/>
            <a:ahLst/>
            <a:cxnLst/>
            <a:rect l="l" t="t" r="r" b="b"/>
            <a:pathLst>
              <a:path w="2492847" h="168396">
                <a:moveTo>
                  <a:pt x="320682" y="0"/>
                </a:moveTo>
                <a:lnTo>
                  <a:pt x="324312" y="1648"/>
                </a:lnTo>
                <a:lnTo>
                  <a:pt x="523917" y="1648"/>
                </a:lnTo>
                <a:lnTo>
                  <a:pt x="527547" y="0"/>
                </a:lnTo>
                <a:lnTo>
                  <a:pt x="531177" y="1648"/>
                </a:lnTo>
                <a:lnTo>
                  <a:pt x="729804" y="1648"/>
                </a:lnTo>
                <a:lnTo>
                  <a:pt x="733434" y="0"/>
                </a:lnTo>
                <a:lnTo>
                  <a:pt x="737064" y="1648"/>
                </a:lnTo>
                <a:lnTo>
                  <a:pt x="935691" y="1648"/>
                </a:lnTo>
                <a:lnTo>
                  <a:pt x="939321" y="0"/>
                </a:lnTo>
                <a:lnTo>
                  <a:pt x="942951" y="1648"/>
                </a:lnTo>
                <a:lnTo>
                  <a:pt x="1141578" y="1648"/>
                </a:lnTo>
                <a:lnTo>
                  <a:pt x="1145208" y="0"/>
                </a:lnTo>
                <a:lnTo>
                  <a:pt x="1148839" y="1648"/>
                </a:lnTo>
                <a:lnTo>
                  <a:pt x="1347465" y="1648"/>
                </a:lnTo>
                <a:lnTo>
                  <a:pt x="1351095" y="0"/>
                </a:lnTo>
                <a:lnTo>
                  <a:pt x="1354726" y="1648"/>
                </a:lnTo>
                <a:lnTo>
                  <a:pt x="1553352" y="1648"/>
                </a:lnTo>
                <a:lnTo>
                  <a:pt x="1556982" y="0"/>
                </a:lnTo>
                <a:lnTo>
                  <a:pt x="1560613" y="1648"/>
                </a:lnTo>
                <a:lnTo>
                  <a:pt x="1759239" y="1648"/>
                </a:lnTo>
                <a:lnTo>
                  <a:pt x="1762869" y="0"/>
                </a:lnTo>
                <a:lnTo>
                  <a:pt x="1766500" y="1648"/>
                </a:lnTo>
                <a:lnTo>
                  <a:pt x="1965126" y="1648"/>
                </a:lnTo>
                <a:lnTo>
                  <a:pt x="1968756" y="0"/>
                </a:lnTo>
                <a:lnTo>
                  <a:pt x="1972387" y="1648"/>
                </a:lnTo>
                <a:lnTo>
                  <a:pt x="2171013" y="1648"/>
                </a:lnTo>
                <a:lnTo>
                  <a:pt x="2174643" y="0"/>
                </a:lnTo>
                <a:lnTo>
                  <a:pt x="2178274" y="1648"/>
                </a:lnTo>
                <a:lnTo>
                  <a:pt x="2376900" y="1648"/>
                </a:lnTo>
                <a:lnTo>
                  <a:pt x="2380530" y="0"/>
                </a:lnTo>
                <a:lnTo>
                  <a:pt x="2384161" y="1648"/>
                </a:lnTo>
                <a:lnTo>
                  <a:pt x="2492847" y="1648"/>
                </a:lnTo>
                <a:lnTo>
                  <a:pt x="2492847" y="46952"/>
                </a:lnTo>
                <a:lnTo>
                  <a:pt x="2492847" y="85846"/>
                </a:lnTo>
                <a:lnTo>
                  <a:pt x="2492847" y="168396"/>
                </a:lnTo>
                <a:lnTo>
                  <a:pt x="2483962" y="168396"/>
                </a:lnTo>
                <a:lnTo>
                  <a:pt x="2380530" y="121444"/>
                </a:lnTo>
                <a:lnTo>
                  <a:pt x="2277586" y="168174"/>
                </a:lnTo>
                <a:lnTo>
                  <a:pt x="2174643" y="121444"/>
                </a:lnTo>
                <a:lnTo>
                  <a:pt x="2071699" y="168174"/>
                </a:lnTo>
                <a:lnTo>
                  <a:pt x="1968756" y="121444"/>
                </a:lnTo>
                <a:lnTo>
                  <a:pt x="1865812" y="168174"/>
                </a:lnTo>
                <a:lnTo>
                  <a:pt x="1762869" y="121444"/>
                </a:lnTo>
                <a:lnTo>
                  <a:pt x="1659925" y="168174"/>
                </a:lnTo>
                <a:lnTo>
                  <a:pt x="1556982" y="121444"/>
                </a:lnTo>
                <a:lnTo>
                  <a:pt x="1454038" y="168174"/>
                </a:lnTo>
                <a:lnTo>
                  <a:pt x="1351095" y="121444"/>
                </a:lnTo>
                <a:lnTo>
                  <a:pt x="1248151" y="168174"/>
                </a:lnTo>
                <a:lnTo>
                  <a:pt x="1145208" y="121444"/>
                </a:lnTo>
                <a:lnTo>
                  <a:pt x="1042264" y="168174"/>
                </a:lnTo>
                <a:lnTo>
                  <a:pt x="939321" y="121444"/>
                </a:lnTo>
                <a:lnTo>
                  <a:pt x="836377" y="168174"/>
                </a:lnTo>
                <a:lnTo>
                  <a:pt x="733434" y="121444"/>
                </a:lnTo>
                <a:lnTo>
                  <a:pt x="630490" y="168174"/>
                </a:lnTo>
                <a:lnTo>
                  <a:pt x="527547" y="121444"/>
                </a:lnTo>
                <a:lnTo>
                  <a:pt x="424114" y="168396"/>
                </a:lnTo>
                <a:lnTo>
                  <a:pt x="320682" y="121444"/>
                </a:lnTo>
                <a:lnTo>
                  <a:pt x="217249" y="168396"/>
                </a:lnTo>
                <a:lnTo>
                  <a:pt x="215632" y="168396"/>
                </a:lnTo>
                <a:lnTo>
                  <a:pt x="113817" y="122178"/>
                </a:lnTo>
                <a:lnTo>
                  <a:pt x="12001" y="168396"/>
                </a:lnTo>
                <a:lnTo>
                  <a:pt x="0" y="168396"/>
                </a:lnTo>
                <a:lnTo>
                  <a:pt x="0" y="85846"/>
                </a:lnTo>
                <a:lnTo>
                  <a:pt x="0" y="46952"/>
                </a:lnTo>
                <a:lnTo>
                  <a:pt x="0" y="1648"/>
                </a:lnTo>
                <a:lnTo>
                  <a:pt x="111804" y="1648"/>
                </a:lnTo>
                <a:lnTo>
                  <a:pt x="113817" y="734"/>
                </a:lnTo>
                <a:lnTo>
                  <a:pt x="115831" y="1648"/>
                </a:lnTo>
                <a:lnTo>
                  <a:pt x="317052" y="1648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42221" tIns="42221" rIns="42221" bIns="42221" anchor="ctr"/>
          <a:lstStyle/>
          <a:p>
            <a:pPr algn="ctr" latinLnBrk="0">
              <a:defRPr/>
            </a:pPr>
            <a:r>
              <a:rPr lang="ko-KR" altLang="en-US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다음 페이지 이어서 계속됨</a:t>
            </a:r>
          </a:p>
        </p:txBody>
      </p:sp>
    </p:spTree>
    <p:extLst>
      <p:ext uri="{BB962C8B-B14F-4D97-AF65-F5344CB8AC3E}">
        <p14:creationId xmlns:p14="http://schemas.microsoft.com/office/powerpoint/2010/main" val="311980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C_3.계속 이어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7"/>
          <p:cNvSpPr/>
          <p:nvPr userDrawn="1"/>
        </p:nvSpPr>
        <p:spPr bwMode="auto">
          <a:xfrm>
            <a:off x="180322" y="831870"/>
            <a:ext cx="10296000" cy="144000"/>
          </a:xfrm>
          <a:custGeom>
            <a:avLst/>
            <a:gdLst/>
            <a:ahLst/>
            <a:cxnLst/>
            <a:rect l="l" t="t" r="r" b="b"/>
            <a:pathLst>
              <a:path w="2492847" h="168396">
                <a:moveTo>
                  <a:pt x="320682" y="0"/>
                </a:moveTo>
                <a:lnTo>
                  <a:pt x="424114" y="46952"/>
                </a:lnTo>
                <a:lnTo>
                  <a:pt x="527547" y="0"/>
                </a:lnTo>
                <a:lnTo>
                  <a:pt x="630490" y="46730"/>
                </a:lnTo>
                <a:lnTo>
                  <a:pt x="733434" y="0"/>
                </a:lnTo>
                <a:lnTo>
                  <a:pt x="836377" y="46730"/>
                </a:lnTo>
                <a:lnTo>
                  <a:pt x="939321" y="0"/>
                </a:lnTo>
                <a:lnTo>
                  <a:pt x="1042264" y="46730"/>
                </a:lnTo>
                <a:lnTo>
                  <a:pt x="1145208" y="0"/>
                </a:lnTo>
                <a:lnTo>
                  <a:pt x="1248151" y="46730"/>
                </a:lnTo>
                <a:lnTo>
                  <a:pt x="1351095" y="0"/>
                </a:lnTo>
                <a:lnTo>
                  <a:pt x="1454038" y="46730"/>
                </a:lnTo>
                <a:lnTo>
                  <a:pt x="1556982" y="0"/>
                </a:lnTo>
                <a:lnTo>
                  <a:pt x="1659925" y="46730"/>
                </a:lnTo>
                <a:lnTo>
                  <a:pt x="1762869" y="0"/>
                </a:lnTo>
                <a:lnTo>
                  <a:pt x="1865812" y="46730"/>
                </a:lnTo>
                <a:lnTo>
                  <a:pt x="1968756" y="0"/>
                </a:lnTo>
                <a:lnTo>
                  <a:pt x="2071699" y="46730"/>
                </a:lnTo>
                <a:lnTo>
                  <a:pt x="2174643" y="0"/>
                </a:lnTo>
                <a:lnTo>
                  <a:pt x="2277586" y="46730"/>
                </a:lnTo>
                <a:lnTo>
                  <a:pt x="2380530" y="0"/>
                </a:lnTo>
                <a:lnTo>
                  <a:pt x="2483962" y="46952"/>
                </a:lnTo>
                <a:lnTo>
                  <a:pt x="2492847" y="46952"/>
                </a:lnTo>
                <a:lnTo>
                  <a:pt x="2492847" y="84198"/>
                </a:lnTo>
                <a:lnTo>
                  <a:pt x="2492847" y="168396"/>
                </a:lnTo>
                <a:lnTo>
                  <a:pt x="2483962" y="168396"/>
                </a:lnTo>
                <a:lnTo>
                  <a:pt x="424114" y="168396"/>
                </a:lnTo>
                <a:lnTo>
                  <a:pt x="217249" y="168396"/>
                </a:lnTo>
                <a:lnTo>
                  <a:pt x="215632" y="168396"/>
                </a:lnTo>
                <a:lnTo>
                  <a:pt x="12001" y="168396"/>
                </a:lnTo>
                <a:lnTo>
                  <a:pt x="0" y="168396"/>
                </a:lnTo>
                <a:lnTo>
                  <a:pt x="0" y="84198"/>
                </a:lnTo>
                <a:lnTo>
                  <a:pt x="0" y="46952"/>
                </a:lnTo>
                <a:lnTo>
                  <a:pt x="12001" y="46952"/>
                </a:lnTo>
                <a:lnTo>
                  <a:pt x="113817" y="734"/>
                </a:lnTo>
                <a:lnTo>
                  <a:pt x="215632" y="46952"/>
                </a:lnTo>
                <a:lnTo>
                  <a:pt x="217249" y="46952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42221" tIns="42221" rIns="42221" bIns="42221" anchor="ctr"/>
          <a:lstStyle/>
          <a:p>
            <a:pPr algn="ctr" latinLnBrk="0">
              <a:defRPr/>
            </a:pPr>
            <a:r>
              <a:rPr lang="ko-KR" altLang="en-US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이전 내용에 이어짐</a:t>
            </a:r>
          </a:p>
        </p:txBody>
      </p:sp>
    </p:spTree>
    <p:extLst>
      <p:ext uri="{BB962C8B-B14F-4D97-AF65-F5344CB8AC3E}">
        <p14:creationId xmlns:p14="http://schemas.microsoft.com/office/powerpoint/2010/main" val="208536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8016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55374" y="2139101"/>
            <a:ext cx="8972196" cy="470609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marR="0" indent="0" algn="l" defTabSz="1072408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ko-KR" altLang="en-US" sz="28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55373" y="2656577"/>
            <a:ext cx="8961120" cy="312512"/>
          </a:xfr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marL="0" marR="0" indent="0" algn="l" defTabSz="1072408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 lang="ko-KR" altLang="en-US" sz="19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536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724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86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44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810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17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53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89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altLang="ko-KR" dirty="0"/>
          </a:p>
        </p:txBody>
      </p:sp>
      <p:pic>
        <p:nvPicPr>
          <p:cNvPr id="6" name="그림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66" y="490538"/>
            <a:ext cx="10096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8250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4788" y="144498"/>
            <a:ext cx="11665055" cy="33186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524789" y="550387"/>
            <a:ext cx="11794808" cy="5617901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4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A22CB5-4570-49ED-BF13-73F7A1F5852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54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73A1B-AE72-474E-9878-8491C498EE0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1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1239" y="4407922"/>
            <a:ext cx="10881360" cy="1362390"/>
          </a:xfrm>
        </p:spPr>
        <p:txBody>
          <a:bodyPr anchor="t"/>
          <a:lstStyle>
            <a:lvl1pPr algn="l">
              <a:defRPr sz="47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11239" y="2907387"/>
            <a:ext cx="10881360" cy="1500534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3620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7240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6086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448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810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21722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7534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896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FD5D6-1A0E-4427-8817-CABD5E39BE5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616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40080" y="1600572"/>
            <a:ext cx="5654040" cy="4527011"/>
          </a:xfrm>
        </p:spPr>
        <p:txBody>
          <a:bodyPr/>
          <a:lstStyle>
            <a:lvl1pPr>
              <a:defRPr sz="33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07480" y="1600572"/>
            <a:ext cx="5654040" cy="4527011"/>
          </a:xfrm>
        </p:spPr>
        <p:txBody>
          <a:bodyPr/>
          <a:lstStyle>
            <a:lvl1pPr>
              <a:defRPr sz="33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8E112-7C0F-4B78-ADFC-4081E505FD0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658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0080" y="1535469"/>
            <a:ext cx="5656263" cy="639910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36204" indent="0">
              <a:buNone/>
              <a:defRPr sz="2300" b="1"/>
            </a:lvl2pPr>
            <a:lvl3pPr marL="1072408" indent="0">
              <a:buNone/>
              <a:defRPr sz="2100" b="1"/>
            </a:lvl3pPr>
            <a:lvl4pPr marL="1608612" indent="0">
              <a:buNone/>
              <a:defRPr sz="1900" b="1"/>
            </a:lvl4pPr>
            <a:lvl5pPr marL="2144817" indent="0">
              <a:buNone/>
              <a:defRPr sz="1900" b="1"/>
            </a:lvl5pPr>
            <a:lvl6pPr marL="2681021" indent="0">
              <a:buNone/>
              <a:defRPr sz="1900" b="1"/>
            </a:lvl6pPr>
            <a:lvl7pPr marL="3217225" indent="0">
              <a:buNone/>
              <a:defRPr sz="1900" b="1"/>
            </a:lvl7pPr>
            <a:lvl8pPr marL="3753429" indent="0">
              <a:buNone/>
              <a:defRPr sz="1900" b="1"/>
            </a:lvl8pPr>
            <a:lvl9pPr marL="4289633" indent="0">
              <a:buNone/>
              <a:defRPr sz="19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080" y="2175379"/>
            <a:ext cx="5656263" cy="3952203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03036" y="1535469"/>
            <a:ext cx="5658486" cy="639910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36204" indent="0">
              <a:buNone/>
              <a:defRPr sz="2300" b="1"/>
            </a:lvl2pPr>
            <a:lvl3pPr marL="1072408" indent="0">
              <a:buNone/>
              <a:defRPr sz="2100" b="1"/>
            </a:lvl3pPr>
            <a:lvl4pPr marL="1608612" indent="0">
              <a:buNone/>
              <a:defRPr sz="1900" b="1"/>
            </a:lvl4pPr>
            <a:lvl5pPr marL="2144817" indent="0">
              <a:buNone/>
              <a:defRPr sz="1900" b="1"/>
            </a:lvl5pPr>
            <a:lvl6pPr marL="2681021" indent="0">
              <a:buNone/>
              <a:defRPr sz="1900" b="1"/>
            </a:lvl6pPr>
            <a:lvl7pPr marL="3217225" indent="0">
              <a:buNone/>
              <a:defRPr sz="1900" b="1"/>
            </a:lvl7pPr>
            <a:lvl8pPr marL="3753429" indent="0">
              <a:buNone/>
              <a:defRPr sz="1900" b="1"/>
            </a:lvl8pPr>
            <a:lvl9pPr marL="4289633" indent="0">
              <a:buNone/>
              <a:defRPr sz="19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03036" y="2175379"/>
            <a:ext cx="5658486" cy="3952203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5CE30-F600-48EA-B808-A26FFA49E5B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627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732DF-286B-459C-A7AD-1B7BB8E11A1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776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8E713-7CC6-4756-A129-44C94FB5DAB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515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273113"/>
            <a:ext cx="4211639" cy="1162319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05071" y="273115"/>
            <a:ext cx="7156450" cy="5854468"/>
          </a:xfrm>
        </p:spPr>
        <p:txBody>
          <a:bodyPr/>
          <a:lstStyle>
            <a:lvl1pPr>
              <a:defRPr sz="3800"/>
            </a:lvl1pPr>
            <a:lvl2pPr>
              <a:defRPr sz="33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40080" y="1435434"/>
            <a:ext cx="4211639" cy="4692149"/>
          </a:xfrm>
        </p:spPr>
        <p:txBody>
          <a:bodyPr/>
          <a:lstStyle>
            <a:lvl1pPr marL="0" indent="0">
              <a:buNone/>
              <a:defRPr sz="1600"/>
            </a:lvl1pPr>
            <a:lvl2pPr marL="536204" indent="0">
              <a:buNone/>
              <a:defRPr sz="1400"/>
            </a:lvl2pPr>
            <a:lvl3pPr marL="1072408" indent="0">
              <a:buNone/>
              <a:defRPr sz="1200"/>
            </a:lvl3pPr>
            <a:lvl4pPr marL="1608612" indent="0">
              <a:buNone/>
              <a:defRPr sz="1100"/>
            </a:lvl4pPr>
            <a:lvl5pPr marL="2144817" indent="0">
              <a:buNone/>
              <a:defRPr sz="1100"/>
            </a:lvl5pPr>
            <a:lvl6pPr marL="2681021" indent="0">
              <a:buNone/>
              <a:defRPr sz="1100"/>
            </a:lvl6pPr>
            <a:lvl7pPr marL="3217225" indent="0">
              <a:buNone/>
              <a:defRPr sz="1100"/>
            </a:lvl7pPr>
            <a:lvl8pPr marL="3753429" indent="0">
              <a:buNone/>
              <a:defRPr sz="1100"/>
            </a:lvl8pPr>
            <a:lvl9pPr marL="4289633" indent="0">
              <a:buNone/>
              <a:defRPr sz="1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D28358-77FE-4D01-9706-2E344B9F5AF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89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9203" y="4801712"/>
            <a:ext cx="7680960" cy="566869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509203" y="612917"/>
            <a:ext cx="7680960" cy="4115753"/>
          </a:xfrm>
        </p:spPr>
        <p:txBody>
          <a:bodyPr rtlCol="0">
            <a:normAutofit/>
          </a:bodyPr>
          <a:lstStyle>
            <a:lvl1pPr marL="0" indent="0">
              <a:buNone/>
              <a:defRPr sz="3800"/>
            </a:lvl1pPr>
            <a:lvl2pPr marL="536204" indent="0">
              <a:buNone/>
              <a:defRPr sz="3300"/>
            </a:lvl2pPr>
            <a:lvl3pPr marL="1072408" indent="0">
              <a:buNone/>
              <a:defRPr sz="2800"/>
            </a:lvl3pPr>
            <a:lvl4pPr marL="1608612" indent="0">
              <a:buNone/>
              <a:defRPr sz="2300"/>
            </a:lvl4pPr>
            <a:lvl5pPr marL="2144817" indent="0">
              <a:buNone/>
              <a:defRPr sz="2300"/>
            </a:lvl5pPr>
            <a:lvl6pPr marL="2681021" indent="0">
              <a:buNone/>
              <a:defRPr sz="2300"/>
            </a:lvl6pPr>
            <a:lvl7pPr marL="3217225" indent="0">
              <a:buNone/>
              <a:defRPr sz="2300"/>
            </a:lvl7pPr>
            <a:lvl8pPr marL="3753429" indent="0">
              <a:buNone/>
              <a:defRPr sz="2300"/>
            </a:lvl8pPr>
            <a:lvl9pPr marL="4289633" indent="0">
              <a:buNone/>
              <a:defRPr sz="23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509203" y="5368581"/>
            <a:ext cx="7680960" cy="805048"/>
          </a:xfrm>
        </p:spPr>
        <p:txBody>
          <a:bodyPr/>
          <a:lstStyle>
            <a:lvl1pPr marL="0" indent="0">
              <a:buNone/>
              <a:defRPr sz="1600"/>
            </a:lvl1pPr>
            <a:lvl2pPr marL="536204" indent="0">
              <a:buNone/>
              <a:defRPr sz="1400"/>
            </a:lvl2pPr>
            <a:lvl3pPr marL="1072408" indent="0">
              <a:buNone/>
              <a:defRPr sz="1200"/>
            </a:lvl3pPr>
            <a:lvl4pPr marL="1608612" indent="0">
              <a:buNone/>
              <a:defRPr sz="1100"/>
            </a:lvl4pPr>
            <a:lvl5pPr marL="2144817" indent="0">
              <a:buNone/>
              <a:defRPr sz="1100"/>
            </a:lvl5pPr>
            <a:lvl6pPr marL="2681021" indent="0">
              <a:buNone/>
              <a:defRPr sz="1100"/>
            </a:lvl6pPr>
            <a:lvl7pPr marL="3217225" indent="0">
              <a:buNone/>
              <a:defRPr sz="1100"/>
            </a:lvl7pPr>
            <a:lvl8pPr marL="3753429" indent="0">
              <a:buNone/>
              <a:defRPr sz="1100"/>
            </a:lvl8pPr>
            <a:lvl9pPr marL="4289633" indent="0">
              <a:buNone/>
              <a:defRPr sz="1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9FD95-7B77-4D3C-B958-516623C4AD4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175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27781-B685-41BD-8677-26451031560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3793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281160" y="274703"/>
            <a:ext cx="2880360" cy="585288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40080" y="274703"/>
            <a:ext cx="8427720" cy="585288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D20DC-F672-4E85-9B00-BE397DEE9E1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1216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 bwMode="auto">
          <a:xfrm>
            <a:off x="493396" y="527172"/>
            <a:ext cx="1181481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377747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C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 txBox="1">
            <a:spLocks/>
          </p:cNvSpPr>
          <p:nvPr userDrawn="1"/>
        </p:nvSpPr>
        <p:spPr bwMode="auto">
          <a:xfrm>
            <a:off x="9791962" y="6638994"/>
            <a:ext cx="2843624" cy="20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67" tIns="46233" rIns="92467" bIns="46233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hangingPunct="1">
              <a:defRPr/>
            </a:pPr>
            <a:fld id="{D88DE2CC-46C9-4BB4-BD10-F21D4DE0FDA2}" type="slidenum">
              <a:rPr kumimoji="0" lang="ko-KR" altLang="en-US" sz="1200" b="1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t>‹#›</a:t>
            </a:fld>
            <a:endParaRPr kumimoji="0" lang="ko-KR" altLang="en-US" sz="1200" b="1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166015" y="116659"/>
            <a:ext cx="12469570" cy="360123"/>
          </a:xfrm>
          <a:prstGeom prst="rect">
            <a:avLst/>
          </a:prstGeom>
          <a:solidFill>
            <a:schemeClr val="bg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l"/>
            <a:endParaRPr lang="ko-KR" altLang="en-US" sz="1200" b="1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58958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0" r:id="rId1"/>
  </p:sldLayoutIdLst>
  <p:txStyles>
    <p:titleStyle>
      <a:lvl1pPr algn="ctr" defTabSz="924804" rtl="0" eaLnBrk="1" latinLnBrk="1" hangingPunct="1"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802" indent="-346802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51402" indent="-289003" algn="l" defTabSz="924804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006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408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80810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209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05611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014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30416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01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24804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204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608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009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411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36813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213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roup 8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642632959"/>
              </p:ext>
            </p:extLst>
          </p:nvPr>
        </p:nvGraphicFramePr>
        <p:xfrm>
          <a:off x="128775" y="108621"/>
          <a:ext cx="12513236" cy="428620"/>
        </p:xfrm>
        <a:graphic>
          <a:graphicData uri="http://schemas.openxmlformats.org/drawingml/2006/table">
            <a:tbl>
              <a:tblPr/>
              <a:tblGrid>
                <a:gridCol w="1412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8196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41667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14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하현숙</a:t>
                      </a: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2026-02-09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바닥글 개체 틀 3"/>
          <p:cNvSpPr txBox="1">
            <a:spLocks/>
          </p:cNvSpPr>
          <p:nvPr userDrawn="1"/>
        </p:nvSpPr>
        <p:spPr bwMode="auto">
          <a:xfrm>
            <a:off x="9791962" y="6638994"/>
            <a:ext cx="2843624" cy="20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67" tIns="46233" rIns="92467" bIns="46233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hangingPunct="1">
              <a:defRPr/>
            </a:pPr>
            <a:fld id="{D88DE2CC-46C9-4BB4-BD10-F21D4DE0FDA2}" type="slidenum">
              <a:rPr kumimoji="0" lang="ko-KR" altLang="en-US" sz="1200" b="1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t>‹#›</a:t>
            </a:fld>
            <a:endParaRPr kumimoji="0" lang="ko-KR" altLang="en-US" sz="1200" b="1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147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3" r:id="rId1"/>
    <p:sldLayoutId id="2147484722" r:id="rId2"/>
  </p:sldLayoutIdLst>
  <p:txStyles>
    <p:titleStyle>
      <a:lvl1pPr algn="ctr" defTabSz="924804" rtl="0" eaLnBrk="1" latinLnBrk="1" hangingPunct="1"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802" indent="-346802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51402" indent="-289003" algn="l" defTabSz="924804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006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408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80810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209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05611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014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30416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01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24804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204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608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009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411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36813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213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바닥글 개체 틀 3"/>
          <p:cNvSpPr txBox="1">
            <a:spLocks/>
          </p:cNvSpPr>
          <p:nvPr userDrawn="1"/>
        </p:nvSpPr>
        <p:spPr bwMode="auto">
          <a:xfrm>
            <a:off x="9791962" y="6638994"/>
            <a:ext cx="2843624" cy="20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67" tIns="46233" rIns="92467" bIns="46233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hangingPunct="1">
              <a:defRPr/>
            </a:pPr>
            <a:fld id="{D88DE2CC-46C9-4BB4-BD10-F21D4DE0FDA2}" type="slidenum">
              <a:rPr kumimoji="0" lang="ko-KR" altLang="en-US" sz="1200" b="1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t>‹#›</a:t>
            </a:fld>
            <a:endParaRPr kumimoji="0" lang="ko-KR" altLang="en-US" sz="1200" b="1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47396342"/>
              </p:ext>
            </p:extLst>
          </p:nvPr>
        </p:nvGraphicFramePr>
        <p:xfrm>
          <a:off x="128775" y="569694"/>
          <a:ext cx="12513234" cy="6101211"/>
        </p:xfrm>
        <a:graphic>
          <a:graphicData uri="http://schemas.openxmlformats.org/drawingml/2006/table">
            <a:tbl>
              <a:tblPr/>
              <a:tblGrid>
                <a:gridCol w="103764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367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4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1177" marB="3117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108351" marR="108351" marT="31177" marB="3117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8864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1177" marB="3117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1177" marB="3117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8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997026396"/>
              </p:ext>
            </p:extLst>
          </p:nvPr>
        </p:nvGraphicFramePr>
        <p:xfrm>
          <a:off x="128775" y="108621"/>
          <a:ext cx="12513236" cy="428620"/>
        </p:xfrm>
        <a:graphic>
          <a:graphicData uri="http://schemas.openxmlformats.org/drawingml/2006/table">
            <a:tbl>
              <a:tblPr/>
              <a:tblGrid>
                <a:gridCol w="1412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8196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41667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14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하현숙</a:t>
                      </a: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2026-02-09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154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5" r:id="rId1"/>
    <p:sldLayoutId id="2147484716" r:id="rId2"/>
    <p:sldLayoutId id="2147484717" r:id="rId3"/>
    <p:sldLayoutId id="2147484718" r:id="rId4"/>
  </p:sldLayoutIdLst>
  <p:txStyles>
    <p:titleStyle>
      <a:lvl1pPr algn="ctr" defTabSz="924734" rtl="0" eaLnBrk="1" latinLnBrk="1" hangingPunct="1"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775" indent="-346775" algn="l" defTabSz="924734" rtl="0" eaLnBrk="1" latinLnBrk="1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51344" indent="-288980" algn="l" defTabSz="924734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55918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283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80649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013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05380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67747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30114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62366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24734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098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466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11832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197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36563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98929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525194" y="144497"/>
            <a:ext cx="11665048" cy="33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7241" tIns="53620" rIns="107241" bIns="536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큰 제목 </a:t>
            </a:r>
            <a:r>
              <a:rPr lang="en-US" altLang="ko-KR"/>
              <a:t>[</a:t>
            </a:r>
            <a:r>
              <a:rPr lang="ko-KR" altLang="en-US"/>
              <a:t>맑은 고딕 </a:t>
            </a:r>
            <a:r>
              <a:rPr lang="en-US" altLang="ko-KR"/>
              <a:t>bold, 14pt]</a:t>
            </a:r>
            <a:endParaRPr lang="ko-KR" altLang="en-US"/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656493" y="549402"/>
            <a:ext cx="11476306" cy="550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7241" tIns="53620" rIns="107241" bIns="536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기본 문자열 </a:t>
            </a:r>
            <a:r>
              <a:rPr lang="en-US" altLang="ko-KR"/>
              <a:t>[</a:t>
            </a:r>
            <a:r>
              <a:rPr lang="ko-KR" altLang="en-US"/>
              <a:t>맑은 고딕 </a:t>
            </a:r>
            <a:r>
              <a:rPr lang="en-US" altLang="ko-KR"/>
              <a:t>bold, 14pt]</a:t>
            </a:r>
            <a:endParaRPr lang="ko-KR" altLang="en-US"/>
          </a:p>
          <a:p>
            <a:pPr lvl="1"/>
            <a:r>
              <a:rPr lang="ko-KR" altLang="en-US"/>
              <a:t>기본 문자열 </a:t>
            </a:r>
            <a:r>
              <a:rPr lang="en-US" altLang="ko-KR"/>
              <a:t>[</a:t>
            </a:r>
            <a:r>
              <a:rPr lang="ko-KR" altLang="en-US"/>
              <a:t>맑은 고딕</a:t>
            </a:r>
            <a:r>
              <a:rPr lang="en-US" altLang="ko-KR"/>
              <a:t>, 12pt]</a:t>
            </a:r>
            <a:endParaRPr lang="ko-KR" altLang="en-US"/>
          </a:p>
          <a:p>
            <a:pPr lvl="2"/>
            <a:r>
              <a:rPr lang="ko-KR" altLang="en-US"/>
              <a:t>기본 문자열 </a:t>
            </a:r>
            <a:r>
              <a:rPr lang="en-US" altLang="ko-KR"/>
              <a:t>[</a:t>
            </a:r>
            <a:r>
              <a:rPr lang="ko-KR" altLang="en-US"/>
              <a:t>맑은 고딕</a:t>
            </a:r>
            <a:r>
              <a:rPr lang="en-US" altLang="ko-KR"/>
              <a:t>, 12pt]</a:t>
            </a:r>
          </a:p>
          <a:p>
            <a:pPr lvl="3"/>
            <a:r>
              <a:rPr lang="ko-KR" altLang="en-US"/>
              <a:t>기본 문자열 </a:t>
            </a:r>
            <a:r>
              <a:rPr lang="en-US" altLang="ko-KR"/>
              <a:t>[</a:t>
            </a:r>
            <a:r>
              <a:rPr lang="ko-KR" altLang="en-US"/>
              <a:t>맑은 고딕</a:t>
            </a:r>
            <a:r>
              <a:rPr lang="en-US" altLang="ko-KR"/>
              <a:t>, 12pt]</a:t>
            </a:r>
          </a:p>
          <a:p>
            <a:pPr lvl="4"/>
            <a:endParaRPr lang="en-US" altLang="ko-KR"/>
          </a:p>
          <a:p>
            <a:pPr lvl="4"/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73880" y="6357822"/>
            <a:ext cx="4053840" cy="365210"/>
          </a:xfrm>
          <a:prstGeom prst="rect">
            <a:avLst/>
          </a:prstGeom>
        </p:spPr>
        <p:txBody>
          <a:bodyPr vert="horz" lIns="107241" tIns="53620" rIns="107241" bIns="536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74480" y="6494379"/>
            <a:ext cx="2987040" cy="365210"/>
          </a:xfrm>
          <a:prstGeom prst="rect">
            <a:avLst/>
          </a:prstGeom>
        </p:spPr>
        <p:txBody>
          <a:bodyPr vert="horz" lIns="107241" tIns="53620" rIns="107241" bIns="536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B6A1E78-535E-4C4C-9FBF-3AAF332AFC10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 bwMode="auto">
          <a:xfrm>
            <a:off x="494422" y="527172"/>
            <a:ext cx="11814809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2" r:id="rId1"/>
    <p:sldLayoutId id="2147484463" r:id="rId2"/>
    <p:sldLayoutId id="2147484464" r:id="rId3"/>
    <p:sldLayoutId id="2147484465" r:id="rId4"/>
    <p:sldLayoutId id="2147484466" r:id="rId5"/>
    <p:sldLayoutId id="2147484467" r:id="rId6"/>
    <p:sldLayoutId id="2147484468" r:id="rId7"/>
    <p:sldLayoutId id="2147484469" r:id="rId8"/>
    <p:sldLayoutId id="2147484470" r:id="rId9"/>
    <p:sldLayoutId id="2147484471" r:id="rId10"/>
    <p:sldLayoutId id="2147484472" r:id="rId11"/>
    <p:sldLayoutId id="2147484473" r:id="rId12"/>
    <p:sldLayoutId id="2147484474" r:id="rId13"/>
    <p:sldLayoutId id="2147484721" r:id="rId14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lang="ko-KR" altLang="en-US" sz="1600" b="1" kern="1200" dirty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536204" algn="l" rtl="0" fontAlgn="base" latinLnBrk="1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1072408" algn="l" rtl="0" fontAlgn="base" latinLnBrk="1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608612" algn="l" rtl="0" fontAlgn="base" latinLnBrk="1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2144817" algn="l" rtl="0" fontAlgn="base" latinLnBrk="1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66241" indent="-266241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"/>
        <a:defRPr sz="1600" b="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491520" indent="-215971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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688873" indent="-147084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맑은 고딕" pitchFamily="50" charset="-127"/>
        <a:buChar char="-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895536" indent="-167564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§"/>
        <a:tabLst>
          <a:tab pos="845266" algn="l"/>
        </a:tabLst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1396365" indent="-137775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949123" indent="-268102" algn="l" defTabSz="1072408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85327" indent="-268102" algn="l" defTabSz="1072408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1531" indent="-268102" algn="l" defTabSz="1072408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7735" indent="-268102" algn="l" defTabSz="1072408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204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408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8612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4817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1021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7225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3429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89633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kt.co.ktmmobile&amp;hl=ko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6400800" y="1587978"/>
            <a:ext cx="5883851" cy="471596"/>
          </a:xfrm>
          <a:ln/>
        </p:spPr>
        <p:txBody>
          <a:bodyPr/>
          <a:lstStyle/>
          <a:p>
            <a:pPr algn="r"/>
            <a:r>
              <a:rPr lang="en-US" altLang="ko-KR" dirty="0"/>
              <a:t>UI </a:t>
            </a:r>
            <a:r>
              <a:rPr lang="ko-KR" altLang="en-US" dirty="0"/>
              <a:t>설계서</a:t>
            </a:r>
          </a:p>
        </p:txBody>
      </p:sp>
      <p:sp>
        <p:nvSpPr>
          <p:cNvPr id="9" name="부제목 2"/>
          <p:cNvSpPr>
            <a:spLocks noGrp="1"/>
          </p:cNvSpPr>
          <p:nvPr>
            <p:ph type="subTitle" idx="1"/>
          </p:nvPr>
        </p:nvSpPr>
        <p:spPr>
          <a:xfrm>
            <a:off x="7517478" y="1197030"/>
            <a:ext cx="4735656" cy="312809"/>
          </a:xfrm>
          <a:ln/>
        </p:spPr>
        <p:txBody>
          <a:bodyPr/>
          <a:lstStyle/>
          <a:p>
            <a:pPr algn="r"/>
            <a:r>
              <a:rPr lang="en-US" altLang="ko-KR" sz="1600" dirty="0"/>
              <a:t>[</a:t>
            </a:r>
            <a:r>
              <a:rPr lang="ko-KR" altLang="en-US" sz="1600" dirty="0"/>
              <a:t>스마트서식지</a:t>
            </a:r>
            <a:r>
              <a:rPr lang="en-US" altLang="ko-KR" sz="1600" dirty="0"/>
              <a:t>]</a:t>
            </a:r>
            <a:endParaRPr sz="1600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239667"/>
              </p:ext>
            </p:extLst>
          </p:nvPr>
        </p:nvGraphicFramePr>
        <p:xfrm>
          <a:off x="7475351" y="4294090"/>
          <a:ext cx="4694952" cy="1368468"/>
        </p:xfrm>
        <a:graphic>
          <a:graphicData uri="http://schemas.openxmlformats.org/drawingml/2006/table">
            <a:tbl>
              <a:tblPr/>
              <a:tblGrid>
                <a:gridCol w="174691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4804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42117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문 서 번 호</a:t>
                      </a: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스마트서식지</a:t>
                      </a:r>
                      <a:r>
                        <a:rPr lang="en-US" altLang="ko-KR" sz="1000" b="1" kern="100" dirty="0">
                          <a:effectLst/>
                          <a:latin typeface="+mn-ea"/>
                          <a:ea typeface="+mn-ea"/>
                        </a:rPr>
                        <a:t>-DS-02</a:t>
                      </a:r>
                      <a:r>
                        <a:rPr lang="en-US" sz="1000" b="1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ko-KR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42117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문 서 </a:t>
                      </a:r>
                      <a:r>
                        <a:rPr lang="ko-KR" sz="1000" b="1" kern="100" dirty="0" err="1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버</a:t>
                      </a: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 전</a:t>
                      </a: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en-US" sz="1000" b="1" kern="100" dirty="0" smtClean="0">
                          <a:effectLst/>
                          <a:latin typeface="+mn-ea"/>
                          <a:ea typeface="+mn-ea"/>
                        </a:rPr>
                        <a:t>v1.0</a:t>
                      </a:r>
                      <a:endParaRPr lang="ko-KR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2117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작 성 일 자</a:t>
                      </a: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en-US" altLang="ko-KR" sz="1000" b="1" kern="100" smtClean="0">
                          <a:effectLst/>
                          <a:latin typeface="+mn-ea"/>
                          <a:ea typeface="+mn-ea"/>
                        </a:rPr>
                        <a:t>2026.03.10</a:t>
                      </a:r>
                      <a:endParaRPr lang="ko-KR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42117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하현숙</a:t>
                      </a:r>
                      <a:endParaRPr lang="ko-KR" sz="1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" name="직선 연결선 10"/>
          <p:cNvCxnSpPr/>
          <p:nvPr/>
        </p:nvCxnSpPr>
        <p:spPr>
          <a:xfrm>
            <a:off x="6400800" y="2061325"/>
            <a:ext cx="5768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D:\1_Working\2025년_엠모바일_스마트서식지\산출물\202509241717380629SkAXV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18" y="299910"/>
            <a:ext cx="2304000" cy="70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 txBox="1">
            <a:spLocks/>
          </p:cNvSpPr>
          <p:nvPr/>
        </p:nvSpPr>
        <p:spPr bwMode="auto">
          <a:xfrm>
            <a:off x="466725" y="182607"/>
            <a:ext cx="8261033" cy="327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41" tIns="53620" rIns="107241" bIns="53620"/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승인이력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832041"/>
              </p:ext>
            </p:extLst>
          </p:nvPr>
        </p:nvGraphicFramePr>
        <p:xfrm>
          <a:off x="509994" y="837591"/>
          <a:ext cx="11844371" cy="2219715"/>
        </p:xfrm>
        <a:graphic>
          <a:graphicData uri="http://schemas.openxmlformats.org/drawingml/2006/table">
            <a:tbl>
              <a:tblPr firstRow="1" firstCol="1" bandRow="1"/>
              <a:tblGrid>
                <a:gridCol w="324881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1859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71859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5018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8829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71988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43943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수행 역할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소속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이름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승인일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서명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비고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43943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작성자</a:t>
                      </a: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kt</a:t>
                      </a: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ds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+mn-lt"/>
                          <a:ea typeface="+mn-ea"/>
                          <a:cs typeface="Times New Roman"/>
                        </a:rPr>
                        <a:t>하현숙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effectLst/>
                          <a:latin typeface="+mn-ea"/>
                          <a:ea typeface="+mn-ea"/>
                        </a:rPr>
                        <a:t> 2026.02.09</a:t>
                      </a:r>
                      <a:endParaRPr lang="ko-KR" altLang="ko-KR" sz="1400" b="0" dirty="0">
                        <a:effectLst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하현숙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43943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검토자</a:t>
                      </a: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(PL)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kt ds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김남용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en-US" altLang="ko-KR" sz="1100" b="0" kern="100" dirty="0" smtClean="0">
                          <a:effectLst/>
                          <a:latin typeface="+mn-ea"/>
                          <a:ea typeface="+mn-ea"/>
                        </a:rPr>
                        <a:t>2026.02.27</a:t>
                      </a:r>
                      <a:endParaRPr lang="ko-KR" altLang="ko-KR" sz="1400" b="0" dirty="0"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+mn-lt"/>
                          <a:ea typeface="+mn-ea"/>
                          <a:cs typeface="Times New Roman"/>
                        </a:rPr>
                        <a:t>김남용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43943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프로젝트관리자</a:t>
                      </a: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(PM)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kt</a:t>
                      </a: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ds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  <a:latin typeface="+mn-lt"/>
                          <a:ea typeface="+mn-ea"/>
                          <a:cs typeface="Times New Roman"/>
                        </a:rPr>
                        <a:t>민천홍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 smtClean="0">
                          <a:effectLst/>
                          <a:latin typeface="+mn-ea"/>
                          <a:ea typeface="+mn-ea"/>
                        </a:rPr>
                        <a:t> 2026.02.27</a:t>
                      </a:r>
                      <a:endParaRPr lang="ko-KR" sz="1400" b="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민천홍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43943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사업총괄 </a:t>
                      </a: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PM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고객사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민경원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en-US" altLang="ko-KR" sz="1100" b="0" kern="100" dirty="0" smtClean="0">
                          <a:effectLst/>
                          <a:latin typeface="+mn-ea"/>
                          <a:ea typeface="+mn-ea"/>
                        </a:rPr>
                        <a:t>2026.03.03</a:t>
                      </a:r>
                      <a:endParaRPr lang="ko-KR" sz="1400" b="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민경원</a:t>
                      </a:r>
                      <a:r>
                        <a:rPr lang="en-US" altLang="ko-KR" sz="1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ko-KR" altLang="en-US" sz="1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강성룡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8043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8" name="제목 1"/>
          <p:cNvSpPr txBox="1">
            <a:spLocks/>
          </p:cNvSpPr>
          <p:nvPr/>
        </p:nvSpPr>
        <p:spPr bwMode="auto">
          <a:xfrm>
            <a:off x="466725" y="182607"/>
            <a:ext cx="8261033" cy="327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41" tIns="53620" rIns="107241" bIns="53620"/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개정이력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743991"/>
              </p:ext>
            </p:extLst>
          </p:nvPr>
        </p:nvGraphicFramePr>
        <p:xfrm>
          <a:off x="497554" y="836906"/>
          <a:ext cx="11829299" cy="3157952"/>
        </p:xfrm>
        <a:graphic>
          <a:graphicData uri="http://schemas.openxmlformats.org/drawingml/2006/table">
            <a:tbl>
              <a:tblPr firstRow="1" firstCol="1" bandRow="1"/>
              <a:tblGrid>
                <a:gridCol w="196897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6668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43137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6226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62669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날</a:t>
                      </a: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짜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버전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변경내용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작성자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kern="100" dirty="0">
                          <a:effectLst/>
                          <a:latin typeface="+mn-ea"/>
                          <a:ea typeface="+mn-ea"/>
                        </a:rPr>
                        <a:t>2026.02.09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0.6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최초 작성</a:t>
                      </a: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하현숙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kern="100" smtClean="0">
                          <a:effectLst/>
                          <a:latin typeface="+mn-ea"/>
                          <a:ea typeface="+mn-ea"/>
                        </a:rPr>
                        <a:t>2026.02.27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0.7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+mn-lt"/>
                          <a:ea typeface="+mn-ea"/>
                          <a:cs typeface="Times New Roman"/>
                        </a:rPr>
                        <a:t>내부 동료검토</a:t>
                      </a: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김남용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kern="100" smtClean="0">
                          <a:effectLst/>
                          <a:latin typeface="+mn-ea"/>
                          <a:ea typeface="+mn-ea"/>
                        </a:rPr>
                        <a:t>2026.02.27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0.8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QA</a:t>
                      </a:r>
                      <a:r>
                        <a:rPr lang="ko-KR" altLang="en-US" sz="1100" baseline="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검토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  <a:latin typeface="+mn-lt"/>
                          <a:ea typeface="+mn-ea"/>
                          <a:cs typeface="Times New Roman"/>
                        </a:rPr>
                        <a:t>민천홍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kern="100" dirty="0" smtClean="0">
                          <a:effectLst/>
                          <a:latin typeface="+mn-ea"/>
                          <a:ea typeface="+mn-ea"/>
                        </a:rPr>
                        <a:t>2026.02.27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0.9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PM</a:t>
                      </a: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검토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민천홍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kern="100" dirty="0" smtClean="0">
                          <a:effectLst/>
                          <a:latin typeface="+mn-ea"/>
                          <a:ea typeface="+mn-ea"/>
                        </a:rPr>
                        <a:t>2026.03.03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1.0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고객검토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민경원</a:t>
                      </a:r>
                      <a:r>
                        <a:rPr lang="en-US" altLang="ko-KR" sz="1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ko-KR" altLang="en-US" sz="1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강성룡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2026.03.10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1.0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화면설계서 </a:t>
                      </a:r>
                      <a:r>
                        <a:rPr lang="ko-KR" altLang="en-US" sz="1100" dirty="0" err="1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리뷰시</a:t>
                      </a: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수정사항 반영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하현숙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dirty="0">
                        <a:effectLst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dirty="0">
                        <a:effectLst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83699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8" name="제목 1"/>
          <p:cNvSpPr txBox="1">
            <a:spLocks/>
          </p:cNvSpPr>
          <p:nvPr/>
        </p:nvSpPr>
        <p:spPr bwMode="auto">
          <a:xfrm>
            <a:off x="466724" y="182608"/>
            <a:ext cx="8261033" cy="327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lang="en-US" altLang="ko-KR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1. UI </a:t>
            </a: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0105" y="109568"/>
            <a:ext cx="6897938" cy="20164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endParaRPr lang="ko-KR" altLang="en-US" sz="1000" dirty="0"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999918"/>
              </p:ext>
            </p:extLst>
          </p:nvPr>
        </p:nvGraphicFramePr>
        <p:xfrm>
          <a:off x="497555" y="622138"/>
          <a:ext cx="11829299" cy="2922200"/>
        </p:xfrm>
        <a:graphic>
          <a:graphicData uri="http://schemas.openxmlformats.org/drawingml/2006/table">
            <a:tbl>
              <a:tblPr firstRow="1" firstCol="1" bandRow="1"/>
              <a:tblGrid>
                <a:gridCol w="57531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7945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7626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74441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0831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24553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baseline="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No</a:t>
                      </a:r>
                      <a:endParaRPr 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화면 </a:t>
                      </a:r>
                      <a:r>
                        <a:rPr lang="en-US" alt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ID</a:t>
                      </a:r>
                      <a:endParaRPr 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화면 명</a:t>
                      </a:r>
                      <a:endParaRPr 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메뉴 경로</a:t>
                      </a:r>
                      <a:endParaRPr 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설명</a:t>
                      </a:r>
                      <a:endParaRPr 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화면 구분</a:t>
                      </a:r>
                      <a:endParaRPr lang="en-US" alt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신규</a:t>
                      </a:r>
                      <a:r>
                        <a:rPr lang="en-US" alt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, </a:t>
                      </a: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변경</a:t>
                      </a:r>
                      <a:r>
                        <a:rPr lang="en-US" alt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, </a:t>
                      </a: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유지</a:t>
                      </a:r>
                      <a:r>
                        <a:rPr lang="en-US" alt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)</a:t>
                      </a:r>
                      <a:endParaRPr 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1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S102010101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메인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서비스변경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신청서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메인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2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S102020101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고객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서비스변경 신청서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고객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고객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3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S102030101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서비스변경 신청서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4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S102030102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불법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TM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수신차단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불법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TM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수신차단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5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S102030103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번호도용 차단 서비스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번호도용 차단 서비스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6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S102030104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로밍 하루종일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ON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로밍 하루종일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ON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7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S102030105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신규번호 검색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신규번호 검색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8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S102040101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동의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서비스변경 신청서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동의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동의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9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S102040103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신청정보 확인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신청정보 확인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10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S102050101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신청완료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서비스변경 신청서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신청완료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신청완료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216084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80400" y="189434"/>
            <a:ext cx="2520000" cy="288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b="1" dirty="0">
                <a:latin typeface="+mn-ea"/>
                <a:ea typeface="+mn-ea"/>
              </a:rPr>
              <a:t>서비스변경 신청서 작성 </a:t>
            </a:r>
            <a:r>
              <a:rPr lang="en-US" altLang="ko-KR" sz="1000" b="1" dirty="0">
                <a:latin typeface="+mn-ea"/>
                <a:ea typeface="+mn-ea"/>
              </a:rPr>
              <a:t>(1/2)</a:t>
            </a:r>
            <a:endParaRPr lang="ko-KR" altLang="en-US" sz="1000" b="1" dirty="0"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80400" y="549474"/>
            <a:ext cx="900000" cy="28802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>
                <a:latin typeface="+mn-ea"/>
                <a:ea typeface="+mn-ea"/>
              </a:rPr>
              <a:t>고객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1333202" y="3069770"/>
            <a:ext cx="8920054" cy="36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서비스 변경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무선데이터 차단 서비스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 err="1">
                <a:latin typeface="+mn-ea"/>
                <a:ea typeface="+mn-ea"/>
              </a:rPr>
              <a:t>정보료</a:t>
            </a:r>
            <a:r>
              <a:rPr lang="ko-KR" altLang="en-US" sz="800" dirty="0">
                <a:latin typeface="+mn-ea"/>
                <a:ea typeface="+mn-ea"/>
              </a:rPr>
              <a:t> 상한금액 설정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변경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부가서비스 신청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변경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요금제 </a:t>
            </a:r>
            <a:r>
              <a:rPr lang="ko-KR" altLang="en-US" sz="800" dirty="0">
                <a:latin typeface="+mn-ea"/>
                <a:ea typeface="+mn-ea"/>
              </a:rPr>
              <a:t>변경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번호변경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분실복구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 err="1">
                <a:latin typeface="+mn-ea"/>
                <a:ea typeface="+mn-ea"/>
              </a:rPr>
              <a:t>일시정지해제</a:t>
            </a:r>
            <a:r>
              <a:rPr lang="ko-KR" altLang="en-US" sz="800" dirty="0">
                <a:latin typeface="+mn-ea"/>
                <a:ea typeface="+mn-ea"/>
              </a:rPr>
              <a:t> 신청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단말보험 가입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</a:p>
          <a:p>
            <a:pPr>
              <a:spcBef>
                <a:spcPct val="50000"/>
              </a:spcBef>
            </a:pPr>
            <a:r>
              <a:rPr lang="en-US" altLang="ko-KR" sz="800" dirty="0">
                <a:latin typeface="+mn-ea"/>
                <a:ea typeface="+mn-ea"/>
              </a:rPr>
              <a:t>                  </a:t>
            </a:r>
            <a:r>
              <a:rPr lang="ko-KR" altLang="en-US" sz="800" dirty="0">
                <a:latin typeface="+mn-ea"/>
                <a:ea typeface="+mn-ea"/>
              </a:rPr>
              <a:t>핸드폰 기변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일반 기변</a:t>
            </a:r>
            <a:r>
              <a:rPr lang="en-US" altLang="ko-KR" sz="800" dirty="0">
                <a:latin typeface="+mn-ea"/>
                <a:ea typeface="+mn-ea"/>
              </a:rPr>
              <a:t>, USIM </a:t>
            </a:r>
            <a:r>
              <a:rPr lang="ko-KR" altLang="en-US" sz="800" dirty="0">
                <a:latin typeface="+mn-ea"/>
                <a:ea typeface="+mn-ea"/>
              </a:rPr>
              <a:t>변경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 err="1">
                <a:latin typeface="+mn-ea"/>
                <a:ea typeface="+mn-ea"/>
              </a:rPr>
              <a:t>데이터쉐어링</a:t>
            </a:r>
            <a:r>
              <a:rPr lang="ko-KR" altLang="en-US" sz="800" dirty="0">
                <a:latin typeface="+mn-ea"/>
                <a:ea typeface="+mn-ea"/>
              </a:rPr>
              <a:t> 가입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해지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아무나 </a:t>
            </a:r>
            <a:r>
              <a:rPr lang="en-US" altLang="ko-KR" sz="800" dirty="0">
                <a:latin typeface="+mn-ea"/>
                <a:ea typeface="+mn-ea"/>
              </a:rPr>
              <a:t>SOLO </a:t>
            </a:r>
            <a:r>
              <a:rPr lang="ko-KR" altLang="en-US" sz="800" dirty="0">
                <a:latin typeface="+mn-ea"/>
                <a:ea typeface="+mn-ea"/>
              </a:rPr>
              <a:t>결합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1333202" y="549474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고객유형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내국인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미성년자</a:t>
            </a:r>
            <a:r>
              <a:rPr lang="en-US" altLang="ko-KR" sz="800" dirty="0">
                <a:latin typeface="+mn-ea"/>
                <a:ea typeface="+mn-ea"/>
              </a:rPr>
              <a:t>(19</a:t>
            </a:r>
            <a:r>
              <a:rPr lang="ko-KR" altLang="en-US" sz="800" dirty="0">
                <a:latin typeface="+mn-ea"/>
                <a:ea typeface="+mn-ea"/>
              </a:rPr>
              <a:t>세 미만</a:t>
            </a:r>
            <a:r>
              <a:rPr lang="en-US" altLang="ko-KR" sz="800" dirty="0">
                <a:latin typeface="+mn-ea"/>
                <a:ea typeface="+mn-ea"/>
              </a:rPr>
              <a:t>)/</a:t>
            </a:r>
            <a:r>
              <a:rPr lang="ko-KR" altLang="en-US" sz="800" dirty="0">
                <a:latin typeface="+mn-ea"/>
                <a:ea typeface="+mn-ea"/>
              </a:rPr>
              <a:t>외국인</a:t>
            </a:r>
            <a:r>
              <a:rPr lang="en-US" altLang="ko-KR" sz="800" dirty="0">
                <a:latin typeface="+mn-ea"/>
                <a:ea typeface="+mn-ea"/>
              </a:rPr>
              <a:t>(Foreigner)/</a:t>
            </a:r>
            <a:r>
              <a:rPr lang="ko-KR" altLang="en-US" sz="800" dirty="0">
                <a:latin typeface="+mn-ea"/>
                <a:ea typeface="+mn-ea"/>
              </a:rPr>
              <a:t>외국인</a:t>
            </a:r>
            <a:r>
              <a:rPr lang="en-US" altLang="ko-KR" sz="800" dirty="0">
                <a:latin typeface="+mn-ea"/>
                <a:ea typeface="+mn-ea"/>
              </a:rPr>
              <a:t>(Foreigner) </a:t>
            </a:r>
            <a:r>
              <a:rPr lang="ko-KR" altLang="en-US" sz="800" dirty="0">
                <a:latin typeface="+mn-ea"/>
                <a:ea typeface="+mn-ea"/>
              </a:rPr>
              <a:t>미성년자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법인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공공기관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1333202" y="90949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방문고객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본인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대리인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1333202" y="126953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가입자 정보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이름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생년월일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법인등록번호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1333202" y="2709722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연락처 정보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연락처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 err="1">
                <a:latin typeface="+mn-ea"/>
                <a:ea typeface="+mn-ea"/>
              </a:rPr>
              <a:t>이메일주소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주소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1333202" y="162957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서비스변경 휴대폰번호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1333202" y="234965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대리인 위임 정보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이름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생년월일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신청인과 관계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연락처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10350454" y="2349650"/>
            <a:ext cx="2243034" cy="288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방문고객이 </a:t>
            </a:r>
            <a:r>
              <a:rPr lang="en-US" altLang="ko-KR" sz="800" dirty="0">
                <a:latin typeface="+mn-ea"/>
                <a:ea typeface="+mn-ea"/>
              </a:rPr>
              <a:t>‘</a:t>
            </a:r>
            <a:r>
              <a:rPr lang="ko-KR" altLang="en-US" sz="800" dirty="0">
                <a:latin typeface="+mn-ea"/>
                <a:ea typeface="+mn-ea"/>
              </a:rPr>
              <a:t>대리인</a:t>
            </a:r>
            <a:r>
              <a:rPr lang="en-US" altLang="ko-KR" sz="800" dirty="0">
                <a:latin typeface="+mn-ea"/>
                <a:ea typeface="+mn-ea"/>
              </a:rPr>
              <a:t>’</a:t>
            </a:r>
            <a:r>
              <a:rPr lang="ko-KR" altLang="en-US" sz="800" dirty="0">
                <a:latin typeface="+mn-ea"/>
                <a:ea typeface="+mn-ea"/>
              </a:rPr>
              <a:t>인 경우만 해당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0361240" y="3069770"/>
            <a:ext cx="2440360" cy="252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선택한 서비스 변경만 신청서 </a:t>
            </a:r>
            <a:r>
              <a:rPr lang="ko-KR" altLang="en-US" sz="800" dirty="0" smtClean="0">
                <a:latin typeface="+mn-ea"/>
                <a:ea typeface="+mn-ea"/>
              </a:rPr>
              <a:t>작성</a:t>
            </a:r>
            <a:endParaRPr lang="en-US" altLang="ko-KR" sz="8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97652" y="3717986"/>
            <a:ext cx="900000" cy="28768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333202" y="4827397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 smtClean="0">
                <a:latin typeface="+mn-ea"/>
                <a:ea typeface="+mn-ea"/>
              </a:rPr>
              <a:t>요금제 </a:t>
            </a:r>
            <a:r>
              <a:rPr lang="ko-KR" altLang="en-US" sz="800" b="1" dirty="0">
                <a:latin typeface="+mn-ea"/>
                <a:ea typeface="+mn-ea"/>
              </a:rPr>
              <a:t>변경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예약</a:t>
            </a: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ko-KR" altLang="en-US" sz="800" dirty="0">
                <a:latin typeface="+mn-ea"/>
                <a:ea typeface="+mn-ea"/>
              </a:rPr>
              <a:t>익월</a:t>
            </a:r>
            <a:r>
              <a:rPr lang="en-US" altLang="ko-KR" sz="800" dirty="0">
                <a:latin typeface="+mn-ea"/>
                <a:ea typeface="+mn-ea"/>
              </a:rPr>
              <a:t>1</a:t>
            </a:r>
            <a:r>
              <a:rPr lang="ko-KR" altLang="en-US" sz="800" dirty="0">
                <a:latin typeface="+mn-ea"/>
                <a:ea typeface="+mn-ea"/>
              </a:rPr>
              <a:t>일</a:t>
            </a:r>
            <a:r>
              <a:rPr lang="en-US" altLang="ko-KR" sz="800" dirty="0">
                <a:latin typeface="+mn-ea"/>
                <a:ea typeface="+mn-ea"/>
              </a:rPr>
              <a:t>)/</a:t>
            </a:r>
            <a:r>
              <a:rPr lang="ko-KR" altLang="en-US" sz="800" dirty="0">
                <a:latin typeface="+mn-ea"/>
                <a:ea typeface="+mn-ea"/>
              </a:rPr>
              <a:t>즉시변경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  <a:r>
              <a:rPr lang="en-US" altLang="ko-KR" sz="800" dirty="0">
                <a:latin typeface="+mn-ea"/>
                <a:ea typeface="+mn-ea"/>
              </a:rPr>
              <a:t> -&gt; </a:t>
            </a:r>
            <a:r>
              <a:rPr lang="ko-KR" altLang="en-US" sz="800" dirty="0">
                <a:latin typeface="+mn-ea"/>
                <a:ea typeface="+mn-ea"/>
              </a:rPr>
              <a:t>카테고리에서 선택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1333202" y="6306825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핸드폰 기변</a:t>
            </a:r>
            <a:r>
              <a:rPr lang="en-US" altLang="ko-KR" sz="800" b="1" dirty="0">
                <a:latin typeface="+mn-ea"/>
                <a:ea typeface="+mn-ea"/>
              </a:rPr>
              <a:t>/</a:t>
            </a:r>
            <a:r>
              <a:rPr lang="ko-KR" altLang="en-US" sz="800" b="1" dirty="0">
                <a:latin typeface="+mn-ea"/>
                <a:ea typeface="+mn-ea"/>
              </a:rPr>
              <a:t>일반 기변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333202" y="3717826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무선데이터 차단 서비스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1333202" y="4087683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 err="1">
                <a:latin typeface="+mn-ea"/>
                <a:ea typeface="+mn-ea"/>
              </a:rPr>
              <a:t>정보료</a:t>
            </a:r>
            <a:r>
              <a:rPr lang="ko-KR" altLang="en-US" sz="800" b="1" dirty="0">
                <a:latin typeface="+mn-ea"/>
                <a:ea typeface="+mn-ea"/>
              </a:rPr>
              <a:t> 상한금액 설정</a:t>
            </a:r>
            <a:r>
              <a:rPr lang="en-US" altLang="ko-KR" sz="800" b="1" dirty="0">
                <a:latin typeface="+mn-ea"/>
                <a:ea typeface="+mn-ea"/>
              </a:rPr>
              <a:t>/</a:t>
            </a:r>
            <a:r>
              <a:rPr lang="ko-KR" altLang="en-US" sz="800" b="1" dirty="0">
                <a:latin typeface="+mn-ea"/>
                <a:ea typeface="+mn-ea"/>
              </a:rPr>
              <a:t>변경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333202" y="445754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부가서비스 신청</a:t>
            </a:r>
            <a:r>
              <a:rPr lang="en-US" altLang="ko-KR" sz="800" b="1" dirty="0">
                <a:latin typeface="+mn-ea"/>
                <a:ea typeface="+mn-ea"/>
              </a:rPr>
              <a:t>/</a:t>
            </a:r>
            <a:r>
              <a:rPr lang="ko-KR" altLang="en-US" sz="800" b="1" dirty="0">
                <a:latin typeface="+mn-ea"/>
                <a:ea typeface="+mn-ea"/>
              </a:rPr>
              <a:t>변경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  <a:r>
              <a:rPr lang="en-US" altLang="ko-KR" sz="800" dirty="0">
                <a:latin typeface="+mn-ea"/>
                <a:ea typeface="+mn-ea"/>
              </a:rPr>
              <a:t> -&gt; </a:t>
            </a:r>
            <a:r>
              <a:rPr lang="ko-KR" altLang="en-US" sz="800" dirty="0">
                <a:latin typeface="+mn-ea"/>
                <a:ea typeface="+mn-ea"/>
              </a:rPr>
              <a:t>카테고리에서 선택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333202" y="5197254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번호변경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333202" y="5567111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분실복구</a:t>
            </a:r>
            <a:r>
              <a:rPr lang="en-US" altLang="ko-KR" sz="800" b="1" dirty="0">
                <a:latin typeface="+mn-ea"/>
                <a:ea typeface="+mn-ea"/>
              </a:rPr>
              <a:t>/</a:t>
            </a:r>
            <a:r>
              <a:rPr lang="ko-KR" altLang="en-US" sz="800" b="1" dirty="0" err="1">
                <a:latin typeface="+mn-ea"/>
                <a:ea typeface="+mn-ea"/>
              </a:rPr>
              <a:t>일시정지해제</a:t>
            </a:r>
            <a:r>
              <a:rPr lang="ko-KR" altLang="en-US" sz="800" b="1" dirty="0">
                <a:latin typeface="+mn-ea"/>
                <a:ea typeface="+mn-ea"/>
              </a:rPr>
              <a:t> 신청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333202" y="5936968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단말보험 가입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안심보험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약관 동의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  <a:r>
              <a:rPr lang="en-US" altLang="ko-KR" sz="800" dirty="0">
                <a:latin typeface="+mn-ea"/>
                <a:ea typeface="+mn-ea"/>
              </a:rPr>
              <a:t> -&gt; </a:t>
            </a:r>
            <a:r>
              <a:rPr lang="ko-KR" altLang="en-US" sz="800" dirty="0">
                <a:latin typeface="+mn-ea"/>
                <a:ea typeface="+mn-ea"/>
              </a:rPr>
              <a:t>카테고리에서 선택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10361240" y="4473882"/>
            <a:ext cx="2243034" cy="288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부가정보 설정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0369191" y="917441"/>
            <a:ext cx="2243034" cy="288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법인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공공기관만 선택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성인 </a:t>
            </a:r>
            <a:r>
              <a:rPr lang="en-US" altLang="ko-KR" sz="800" dirty="0">
                <a:latin typeface="+mn-ea"/>
                <a:ea typeface="+mn-ea"/>
              </a:rPr>
              <a:t>: ‘</a:t>
            </a:r>
            <a:r>
              <a:rPr lang="ko-KR" altLang="en-US" sz="800" dirty="0">
                <a:latin typeface="+mn-ea"/>
                <a:ea typeface="+mn-ea"/>
              </a:rPr>
              <a:t>본인’ 고정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미성년자 </a:t>
            </a:r>
            <a:r>
              <a:rPr lang="en-US" altLang="ko-KR" sz="800" dirty="0">
                <a:latin typeface="+mn-ea"/>
                <a:ea typeface="+mn-ea"/>
              </a:rPr>
              <a:t>: ‘</a:t>
            </a:r>
            <a:r>
              <a:rPr lang="ko-KR" altLang="en-US" sz="800" dirty="0">
                <a:latin typeface="+mn-ea"/>
                <a:ea typeface="+mn-ea"/>
              </a:rPr>
              <a:t>대리인’ 고정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1333202" y="1989642"/>
            <a:ext cx="8929840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법정대리인 정보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이름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신청인과 관계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주민등록번호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휴대폰번호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안내 및 동의 사항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0361240" y="1989610"/>
            <a:ext cx="2440360" cy="288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고객유형 </a:t>
            </a:r>
            <a:r>
              <a:rPr lang="en-US" altLang="ko-KR" sz="800" dirty="0">
                <a:latin typeface="+mn-ea"/>
                <a:ea typeface="+mn-ea"/>
              </a:rPr>
              <a:t>‘</a:t>
            </a:r>
            <a:r>
              <a:rPr lang="ko-KR" altLang="en-US" sz="800" dirty="0">
                <a:latin typeface="+mn-ea"/>
                <a:ea typeface="+mn-ea"/>
              </a:rPr>
              <a:t>미성년자</a:t>
            </a:r>
            <a:r>
              <a:rPr lang="en-US" altLang="ko-KR" sz="800" dirty="0">
                <a:latin typeface="+mn-ea"/>
                <a:ea typeface="+mn-ea"/>
              </a:rPr>
              <a:t>’ </a:t>
            </a:r>
            <a:r>
              <a:rPr lang="ko-KR" altLang="en-US" sz="800" dirty="0">
                <a:latin typeface="+mn-ea"/>
                <a:ea typeface="+mn-ea"/>
              </a:rPr>
              <a:t>인 경우만 </a:t>
            </a:r>
            <a:r>
              <a:rPr lang="ko-KR" altLang="en-US" sz="800" dirty="0" smtClean="0">
                <a:latin typeface="+mn-ea"/>
                <a:ea typeface="+mn-ea"/>
              </a:rPr>
              <a:t>해당</a:t>
            </a:r>
            <a:endParaRPr lang="en-US" altLang="ko-KR" sz="8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0778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직사각형 60"/>
          <p:cNvSpPr/>
          <p:nvPr/>
        </p:nvSpPr>
        <p:spPr>
          <a:xfrm>
            <a:off x="297652" y="2133650"/>
            <a:ext cx="900000" cy="64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>
                <a:latin typeface="+mn-ea"/>
                <a:ea typeface="+mn-ea"/>
              </a:rPr>
              <a:t>동의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297652" y="2925738"/>
            <a:ext cx="900000" cy="28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>
                <a:latin typeface="+mn-ea"/>
                <a:ea typeface="+mn-ea"/>
              </a:rPr>
              <a:t>완료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1333202" y="213365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 확인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가입정보 확인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서명</a:t>
            </a: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ko-KR" altLang="en-US" sz="800" dirty="0">
                <a:latin typeface="+mn-ea"/>
                <a:ea typeface="+mn-ea"/>
              </a:rPr>
              <a:t>가입자</a:t>
            </a: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ko-KR" altLang="en-US" sz="800" dirty="0">
                <a:latin typeface="+mn-ea"/>
                <a:ea typeface="+mn-ea"/>
              </a:rPr>
              <a:t>대리인</a:t>
            </a:r>
            <a:r>
              <a:rPr lang="en-US" altLang="ko-KR" sz="800" dirty="0">
                <a:latin typeface="+mn-ea"/>
                <a:ea typeface="+mn-ea"/>
              </a:rPr>
              <a:t>) </a:t>
            </a:r>
            <a:r>
              <a:rPr lang="ko-KR" altLang="en-US" sz="800" dirty="0">
                <a:latin typeface="+mn-ea"/>
                <a:ea typeface="+mn-ea"/>
              </a:rPr>
              <a:t>서명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1333202" y="2925738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 교부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열람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발송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1333202" y="249369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 처리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신청서 등록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리포트 </a:t>
            </a:r>
            <a:r>
              <a:rPr lang="ko-KR" altLang="en-US" sz="800" dirty="0" err="1">
                <a:latin typeface="+mn-ea"/>
                <a:ea typeface="+mn-ea"/>
              </a:rPr>
              <a:t>이미징</a:t>
            </a:r>
            <a:r>
              <a:rPr lang="ko-KR" altLang="en-US" sz="800" dirty="0">
                <a:latin typeface="+mn-ea"/>
                <a:ea typeface="+mn-ea"/>
              </a:rPr>
              <a:t> 처리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 err="1">
                <a:latin typeface="+mn-ea"/>
                <a:ea typeface="+mn-ea"/>
              </a:rPr>
              <a:t>이미징</a:t>
            </a:r>
            <a:r>
              <a:rPr lang="ko-KR" altLang="en-US" sz="800" dirty="0">
                <a:latin typeface="+mn-ea"/>
                <a:ea typeface="+mn-ea"/>
              </a:rPr>
              <a:t> 시스템 리포트 전송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서비스변경 </a:t>
            </a:r>
            <a:r>
              <a:rPr lang="en-US" altLang="ko-KR" sz="800" dirty="0">
                <a:latin typeface="+mn-ea"/>
                <a:ea typeface="+mn-ea"/>
              </a:rPr>
              <a:t>m</a:t>
            </a:r>
            <a:r>
              <a:rPr lang="ko-KR" altLang="en-US" sz="800" dirty="0">
                <a:latin typeface="+mn-ea"/>
                <a:ea typeface="+mn-ea"/>
              </a:rPr>
              <a:t>플랫폼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요청 </a:t>
            </a:r>
            <a:r>
              <a:rPr lang="en-US" altLang="ko-KR" sz="800" dirty="0">
                <a:solidFill>
                  <a:srgbClr val="0070C0"/>
                </a:solidFill>
                <a:latin typeface="+mn-ea"/>
                <a:ea typeface="+mn-ea"/>
              </a:rPr>
              <a:t>*** </a:t>
            </a:r>
            <a:r>
              <a:rPr lang="ko-KR" altLang="en-US" sz="800" dirty="0">
                <a:solidFill>
                  <a:srgbClr val="0070C0"/>
                </a:solidFill>
                <a:latin typeface="+mn-ea"/>
                <a:ea typeface="+mn-ea"/>
              </a:rPr>
              <a:t>별도 작성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0361240" y="2133690"/>
            <a:ext cx="2243034" cy="288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팝업 화면으로 최종 정보 확인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280400" y="189434"/>
            <a:ext cx="2520000" cy="288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b="1" dirty="0">
                <a:latin typeface="+mn-ea"/>
                <a:ea typeface="+mn-ea"/>
              </a:rPr>
              <a:t>서비스변경 신청서 작성 </a:t>
            </a:r>
            <a:r>
              <a:rPr lang="en-US" altLang="ko-KR" sz="1000" b="1" dirty="0">
                <a:latin typeface="+mn-ea"/>
                <a:ea typeface="+mn-ea"/>
              </a:rPr>
              <a:t>(2/2)</a:t>
            </a:r>
            <a:endParaRPr lang="ko-KR" altLang="en-US" sz="1000" b="1" dirty="0">
              <a:latin typeface="+mn-ea"/>
              <a:ea typeface="+mn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0361240" y="2925738"/>
            <a:ext cx="2243034" cy="288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신규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변경 신청서와 동일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333202" y="919331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 err="1">
                <a:latin typeface="+mn-ea"/>
                <a:ea typeface="+mn-ea"/>
              </a:rPr>
              <a:t>데이터쉐어링</a:t>
            </a:r>
            <a:r>
              <a:rPr lang="ko-KR" altLang="en-US" sz="800" b="1" dirty="0">
                <a:latin typeface="+mn-ea"/>
                <a:ea typeface="+mn-ea"/>
              </a:rPr>
              <a:t> 가입</a:t>
            </a:r>
            <a:r>
              <a:rPr lang="en-US" altLang="ko-KR" sz="800" b="1" dirty="0">
                <a:latin typeface="+mn-ea"/>
                <a:ea typeface="+mn-ea"/>
              </a:rPr>
              <a:t>/</a:t>
            </a:r>
            <a:r>
              <a:rPr lang="ko-KR" altLang="en-US" sz="800" b="1" dirty="0">
                <a:latin typeface="+mn-ea"/>
                <a:ea typeface="+mn-ea"/>
              </a:rPr>
              <a:t>해지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가입 및 약관 동의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해지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1333202" y="549474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800" b="1" dirty="0">
                <a:latin typeface="+mn-ea"/>
                <a:ea typeface="+mn-ea"/>
              </a:rPr>
              <a:t>USIM </a:t>
            </a:r>
            <a:r>
              <a:rPr lang="ko-KR" altLang="en-US" sz="800" b="1" dirty="0">
                <a:latin typeface="+mn-ea"/>
                <a:ea typeface="+mn-ea"/>
              </a:rPr>
              <a:t>변경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333202" y="1659042"/>
            <a:ext cx="8929840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메모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333202" y="1289188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아무나 </a:t>
            </a:r>
            <a:r>
              <a:rPr lang="en-US" altLang="ko-KR" sz="800" b="1" dirty="0">
                <a:latin typeface="+mn-ea"/>
                <a:ea typeface="+mn-ea"/>
              </a:rPr>
              <a:t>SOLO </a:t>
            </a:r>
            <a:r>
              <a:rPr lang="ko-KR" altLang="en-US" sz="800" b="1" dirty="0">
                <a:latin typeface="+mn-ea"/>
                <a:ea typeface="+mn-ea"/>
              </a:rPr>
              <a:t>결합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약관 동의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298972" y="582371"/>
            <a:ext cx="900000" cy="13646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>
                <a:latin typeface="+mn-ea"/>
                <a:ea typeface="+mn-ea"/>
              </a:rPr>
              <a:t>상품</a:t>
            </a:r>
          </a:p>
        </p:txBody>
      </p:sp>
    </p:spTree>
    <p:extLst>
      <p:ext uri="{BB962C8B-B14F-4D97-AF65-F5344CB8AC3E}">
        <p14:creationId xmlns:p14="http://schemas.microsoft.com/office/powerpoint/2010/main" val="396154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80400" y="189434"/>
            <a:ext cx="2520000" cy="288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b="1" dirty="0">
                <a:latin typeface="+mn-ea"/>
                <a:ea typeface="+mn-ea"/>
              </a:rPr>
              <a:t>서비스변경 신청서 처리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14076" y="693490"/>
            <a:ext cx="499559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>
                <a:latin typeface="+mn-ea"/>
                <a:ea typeface="+mn-ea"/>
              </a:rPr>
              <a:t>스마트 서식지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514076" y="981522"/>
            <a:ext cx="4995590" cy="432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 작성 완료</a:t>
            </a:r>
            <a:endParaRPr lang="en-US" altLang="ko-KR" sz="800" b="1" dirty="0">
              <a:latin typeface="+mn-ea"/>
              <a:ea typeface="+mn-ea"/>
            </a:endParaRPr>
          </a:p>
        </p:txBody>
      </p:sp>
      <p:cxnSp>
        <p:nvCxnSpPr>
          <p:cNvPr id="25" name="직선 화살표 연결선 24"/>
          <p:cNvCxnSpPr>
            <a:stCxn id="28" idx="3"/>
            <a:endCxn id="2" idx="2"/>
          </p:cNvCxnSpPr>
          <p:nvPr/>
        </p:nvCxnSpPr>
        <p:spPr>
          <a:xfrm>
            <a:off x="2593162" y="1755578"/>
            <a:ext cx="828272" cy="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973162" y="1485578"/>
            <a:ext cx="1620000" cy="54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 등록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73162" y="2457746"/>
            <a:ext cx="1620000" cy="54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리포트 </a:t>
            </a:r>
            <a:r>
              <a:rPr lang="ko-KR" altLang="en-US" sz="800" b="1" dirty="0" err="1">
                <a:latin typeface="+mn-ea"/>
                <a:ea typeface="+mn-ea"/>
              </a:rPr>
              <a:t>이미징</a:t>
            </a:r>
            <a:r>
              <a:rPr lang="ko-KR" altLang="en-US" sz="800" b="1" dirty="0">
                <a:latin typeface="+mn-ea"/>
                <a:ea typeface="+mn-ea"/>
              </a:rPr>
              <a:t> 처리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cxnSp>
        <p:nvCxnSpPr>
          <p:cNvPr id="33" name="직선 화살표 연결선 32"/>
          <p:cNvCxnSpPr>
            <a:stCxn id="28" idx="2"/>
            <a:endCxn id="32" idx="0"/>
          </p:cNvCxnSpPr>
          <p:nvPr/>
        </p:nvCxnSpPr>
        <p:spPr>
          <a:xfrm>
            <a:off x="1783162" y="2025578"/>
            <a:ext cx="0" cy="432168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원통 35"/>
          <p:cNvSpPr/>
          <p:nvPr/>
        </p:nvSpPr>
        <p:spPr>
          <a:xfrm>
            <a:off x="3422384" y="2457746"/>
            <a:ext cx="1620000" cy="540000"/>
          </a:xfrm>
          <a:prstGeom prst="can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리포트 서식</a:t>
            </a:r>
          </a:p>
        </p:txBody>
      </p:sp>
      <p:cxnSp>
        <p:nvCxnSpPr>
          <p:cNvPr id="37" name="직선 화살표 연결선 36"/>
          <p:cNvCxnSpPr>
            <a:stCxn id="36" idx="2"/>
            <a:endCxn id="32" idx="3"/>
          </p:cNvCxnSpPr>
          <p:nvPr/>
        </p:nvCxnSpPr>
        <p:spPr>
          <a:xfrm flipH="1">
            <a:off x="2593162" y="2727746"/>
            <a:ext cx="829222" cy="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2" idx="3"/>
            <a:endCxn id="32" idx="3"/>
          </p:cNvCxnSpPr>
          <p:nvPr/>
        </p:nvCxnSpPr>
        <p:spPr>
          <a:xfrm flipH="1">
            <a:off x="2593162" y="2025578"/>
            <a:ext cx="1638272" cy="702168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973162" y="3429914"/>
            <a:ext cx="1620000" cy="54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리포트 </a:t>
            </a:r>
            <a:r>
              <a:rPr lang="ko-KR" altLang="en-US" sz="800" b="1" dirty="0" err="1">
                <a:latin typeface="+mn-ea"/>
                <a:ea typeface="+mn-ea"/>
              </a:rPr>
              <a:t>이미징</a:t>
            </a:r>
            <a:r>
              <a:rPr lang="ko-KR" altLang="en-US" sz="800" b="1" dirty="0">
                <a:latin typeface="+mn-ea"/>
                <a:ea typeface="+mn-ea"/>
              </a:rPr>
              <a:t> 전송</a:t>
            </a:r>
            <a:endParaRPr lang="en-US" altLang="ko-KR" sz="800" b="1" dirty="0">
              <a:latin typeface="+mn-ea"/>
              <a:ea typeface="+mn-ea"/>
            </a:endParaRPr>
          </a:p>
        </p:txBody>
      </p:sp>
      <p:cxnSp>
        <p:nvCxnSpPr>
          <p:cNvPr id="46" name="직선 화살표 연결선 45"/>
          <p:cNvCxnSpPr>
            <a:stCxn id="32" idx="2"/>
            <a:endCxn id="45" idx="0"/>
          </p:cNvCxnSpPr>
          <p:nvPr/>
        </p:nvCxnSpPr>
        <p:spPr>
          <a:xfrm>
            <a:off x="1783162" y="2997746"/>
            <a:ext cx="0" cy="432168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6157738" y="2021241"/>
            <a:ext cx="2619326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 err="1">
                <a:latin typeface="+mn-ea"/>
                <a:ea typeface="+mn-ea"/>
              </a:rPr>
              <a:t>이미징</a:t>
            </a:r>
            <a:r>
              <a:rPr lang="ko-KR" altLang="en-US" sz="900" b="1" dirty="0">
                <a:latin typeface="+mn-ea"/>
                <a:ea typeface="+mn-ea"/>
              </a:rPr>
              <a:t> 시스템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6157738" y="2308841"/>
            <a:ext cx="2619326" cy="90492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49" name="원통 48"/>
          <p:cNvSpPr/>
          <p:nvPr/>
        </p:nvSpPr>
        <p:spPr>
          <a:xfrm>
            <a:off x="6733802" y="2416713"/>
            <a:ext cx="1620000" cy="540000"/>
          </a:xfrm>
          <a:prstGeom prst="can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 err="1">
                <a:latin typeface="+mn-ea"/>
                <a:ea typeface="+mn-ea"/>
              </a:rPr>
              <a:t>이미징</a:t>
            </a:r>
            <a:r>
              <a:rPr lang="ko-KR" altLang="en-US" sz="800" b="1" dirty="0">
                <a:latin typeface="+mn-ea"/>
                <a:ea typeface="+mn-ea"/>
              </a:rPr>
              <a:t> 시스템</a:t>
            </a:r>
          </a:p>
        </p:txBody>
      </p:sp>
      <p:cxnSp>
        <p:nvCxnSpPr>
          <p:cNvPr id="50" name="직선 화살표 연결선 49"/>
          <p:cNvCxnSpPr>
            <a:stCxn id="45" idx="3"/>
            <a:endCxn id="49" idx="2"/>
          </p:cNvCxnSpPr>
          <p:nvPr/>
        </p:nvCxnSpPr>
        <p:spPr>
          <a:xfrm flipV="1">
            <a:off x="2593162" y="2686713"/>
            <a:ext cx="4140640" cy="1013201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973162" y="4401962"/>
            <a:ext cx="1620000" cy="54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서비스변경 요청</a:t>
            </a:r>
            <a:endParaRPr lang="en-US" altLang="ko-KR" sz="800" b="1" dirty="0">
              <a:latin typeface="+mn-ea"/>
              <a:ea typeface="+mn-ea"/>
            </a:endParaRPr>
          </a:p>
        </p:txBody>
      </p:sp>
      <p:cxnSp>
        <p:nvCxnSpPr>
          <p:cNvPr id="55" name="직선 화살표 연결선 54"/>
          <p:cNvCxnSpPr>
            <a:stCxn id="45" idx="2"/>
            <a:endCxn id="54" idx="0"/>
          </p:cNvCxnSpPr>
          <p:nvPr/>
        </p:nvCxnSpPr>
        <p:spPr>
          <a:xfrm>
            <a:off x="1783162" y="3969914"/>
            <a:ext cx="0" cy="432048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6157738" y="3718658"/>
            <a:ext cx="2619326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900" b="1" dirty="0">
                <a:latin typeface="+mn-ea"/>
                <a:ea typeface="+mn-ea"/>
              </a:rPr>
              <a:t>M</a:t>
            </a:r>
            <a:r>
              <a:rPr lang="ko-KR" altLang="en-US" sz="900" b="1" dirty="0">
                <a:latin typeface="+mn-ea"/>
                <a:ea typeface="+mn-ea"/>
              </a:rPr>
              <a:t>플랫폼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6157738" y="4006258"/>
            <a:ext cx="2619326" cy="827168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58" name="원통 57"/>
          <p:cNvSpPr/>
          <p:nvPr/>
        </p:nvSpPr>
        <p:spPr>
          <a:xfrm>
            <a:off x="6657401" y="4150306"/>
            <a:ext cx="1620000" cy="540000"/>
          </a:xfrm>
          <a:prstGeom prst="can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서비스변경</a:t>
            </a:r>
          </a:p>
        </p:txBody>
      </p:sp>
      <p:cxnSp>
        <p:nvCxnSpPr>
          <p:cNvPr id="59" name="직선 화살표 연결선 58"/>
          <p:cNvCxnSpPr>
            <a:stCxn id="54" idx="3"/>
            <a:endCxn id="58" idx="2"/>
          </p:cNvCxnSpPr>
          <p:nvPr/>
        </p:nvCxnSpPr>
        <p:spPr>
          <a:xfrm flipV="1">
            <a:off x="2593162" y="4420306"/>
            <a:ext cx="4064239" cy="251656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원통 1"/>
          <p:cNvSpPr/>
          <p:nvPr/>
        </p:nvSpPr>
        <p:spPr>
          <a:xfrm>
            <a:off x="3421434" y="1485578"/>
            <a:ext cx="1620000" cy="540000"/>
          </a:xfrm>
          <a:prstGeom prst="can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9470106" y="3718226"/>
            <a:ext cx="2619326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900" b="1" dirty="0">
                <a:latin typeface="+mn-ea"/>
                <a:ea typeface="+mn-ea"/>
              </a:rPr>
              <a:t>KOS</a:t>
            </a:r>
            <a:endParaRPr lang="ko-KR" altLang="en-US" sz="900" b="1" dirty="0">
              <a:latin typeface="+mn-ea"/>
              <a:ea typeface="+mn-ea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9470106" y="4005826"/>
            <a:ext cx="2619326" cy="827168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65" name="원통 64"/>
          <p:cNvSpPr/>
          <p:nvPr/>
        </p:nvSpPr>
        <p:spPr>
          <a:xfrm>
            <a:off x="9969769" y="4149874"/>
            <a:ext cx="1620000" cy="540000"/>
          </a:xfrm>
          <a:prstGeom prst="can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서비스변경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5896744" y="3384619"/>
            <a:ext cx="6408712" cy="1916903"/>
          </a:xfrm>
          <a:prstGeom prst="rect">
            <a:avLst/>
          </a:prstGeom>
          <a:noFill/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sz="800" b="1" dirty="0">
              <a:latin typeface="+mn-ea"/>
              <a:ea typeface="+mn-ea"/>
            </a:endParaRPr>
          </a:p>
        </p:txBody>
      </p:sp>
      <p:cxnSp>
        <p:nvCxnSpPr>
          <p:cNvPr id="30" name="직선 화살표 연결선 29"/>
          <p:cNvCxnSpPr>
            <a:stCxn id="58" idx="4"/>
            <a:endCxn id="65" idx="2"/>
          </p:cNvCxnSpPr>
          <p:nvPr/>
        </p:nvCxnSpPr>
        <p:spPr>
          <a:xfrm flipV="1">
            <a:off x="8277401" y="4419874"/>
            <a:ext cx="1692368" cy="432"/>
          </a:xfrm>
          <a:prstGeom prst="straightConnector1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5896744" y="5374010"/>
            <a:ext cx="3168352" cy="792088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800" b="1" dirty="0">
                <a:latin typeface="+mn-ea"/>
                <a:ea typeface="+mn-ea"/>
              </a:rPr>
              <a:t>※ K-NOTE </a:t>
            </a:r>
            <a:r>
              <a:rPr lang="ko-KR" altLang="en-US" sz="800" b="1" dirty="0">
                <a:latin typeface="+mn-ea"/>
                <a:ea typeface="+mn-ea"/>
              </a:rPr>
              <a:t>에 </a:t>
            </a:r>
            <a:r>
              <a:rPr lang="ko-KR" altLang="en-US" sz="800" b="1" dirty="0" err="1">
                <a:latin typeface="+mn-ea"/>
                <a:ea typeface="+mn-ea"/>
              </a:rPr>
              <a:t>이미징</a:t>
            </a:r>
            <a:r>
              <a:rPr lang="ko-KR" altLang="en-US" sz="800" b="1" dirty="0">
                <a:latin typeface="+mn-ea"/>
                <a:ea typeface="+mn-ea"/>
              </a:rPr>
              <a:t> 자료 전송 불필요</a:t>
            </a:r>
            <a:endParaRPr lang="en-US" altLang="ko-KR" sz="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3429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246503"/>
              </p:ext>
            </p:extLst>
          </p:nvPr>
        </p:nvGraphicFramePr>
        <p:xfrm>
          <a:off x="10505256" y="788950"/>
          <a:ext cx="2130330" cy="2291499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좌측 메뉴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작성단계에 맞춰 활성화 되어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항목이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선택되면 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 신청서 양식 펼침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S102010101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</a:t>
            </a:r>
            <a:r>
              <a:rPr lang="ko-KR" altLang="en-US" sz="1000" dirty="0" smtClean="0">
                <a:latin typeface="+mn-ea"/>
                <a:ea typeface="+mn-ea"/>
              </a:rPr>
              <a:t>신청서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962696" y="1062156"/>
            <a:ext cx="9468000" cy="5544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208192" y="1062869"/>
            <a:ext cx="720000" cy="3237481"/>
            <a:chOff x="208192" y="1062869"/>
            <a:chExt cx="720000" cy="3237481"/>
          </a:xfrm>
        </p:grpSpPr>
        <p:sp>
          <p:nvSpPr>
            <p:cNvPr id="39" name="직사각형 38"/>
            <p:cNvSpPr/>
            <p:nvPr/>
          </p:nvSpPr>
          <p:spPr>
            <a:xfrm>
              <a:off x="208192" y="1062869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신규</a:t>
              </a:r>
              <a:r>
                <a:rPr lang="en-US" altLang="ko-KR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08192" y="1602365"/>
              <a:ext cx="720000" cy="540000"/>
            </a:xfrm>
            <a:prstGeom prst="rect">
              <a:avLst/>
            </a:prstGeom>
            <a:solidFill>
              <a:srgbClr val="1BA6C7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208192" y="2141861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명의변경</a:t>
              </a: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208192" y="2681357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208192" y="3220853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부가기능</a:t>
              </a:r>
            </a:p>
          </p:txBody>
        </p:sp>
        <p:grpSp>
          <p:nvGrpSpPr>
            <p:cNvPr id="44" name="그룹 43"/>
            <p:cNvGrpSpPr/>
            <p:nvPr/>
          </p:nvGrpSpPr>
          <p:grpSpPr>
            <a:xfrm>
              <a:off x="208192" y="3760350"/>
              <a:ext cx="720000" cy="540000"/>
              <a:chOff x="395258" y="4509914"/>
              <a:chExt cx="720000" cy="540000"/>
            </a:xfrm>
          </p:grpSpPr>
          <p:sp>
            <p:nvSpPr>
              <p:cNvPr id="45" name="직사각형 44"/>
              <p:cNvSpPr/>
              <p:nvPr/>
            </p:nvSpPr>
            <p:spPr>
              <a:xfrm>
                <a:off x="395258" y="4509914"/>
                <a:ext cx="720000" cy="540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3CC4E4"/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12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46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441" y="4587842"/>
                <a:ext cx="409575" cy="390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50" name="눈물 방울 49"/>
          <p:cNvSpPr/>
          <p:nvPr/>
        </p:nvSpPr>
        <p:spPr>
          <a:xfrm rot="5400000">
            <a:off x="143571" y="106818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641240" y="6274520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눈물 방울 26"/>
          <p:cNvSpPr/>
          <p:nvPr/>
        </p:nvSpPr>
        <p:spPr>
          <a:xfrm rot="5400000">
            <a:off x="9390553" y="6311859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18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S102010101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가입유형 선택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856184" y="1269586"/>
            <a:ext cx="720000" cy="288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다음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40160" y="909514"/>
            <a:ext cx="3744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화면 내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 항목이 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96662" y="1269586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</a:t>
            </a:r>
          </a:p>
        </p:txBody>
      </p:sp>
      <p:sp>
        <p:nvSpPr>
          <p:cNvPr id="16" name="눈물 방울 15"/>
          <p:cNvSpPr/>
          <p:nvPr/>
        </p:nvSpPr>
        <p:spPr>
          <a:xfrm rot="5400000">
            <a:off x="356894" y="925963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</p:spTree>
    <p:extLst>
      <p:ext uri="{BB962C8B-B14F-4D97-AF65-F5344CB8AC3E}">
        <p14:creationId xmlns:p14="http://schemas.microsoft.com/office/powerpoint/2010/main" val="2259540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699032"/>
              </p:ext>
            </p:extLst>
          </p:nvPr>
        </p:nvGraphicFramePr>
        <p:xfrm>
          <a:off x="10505256" y="788950"/>
          <a:ext cx="2130330" cy="2729275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좌측 메뉴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작성단계에 맞춰 활성화 되어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 정보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영역 화면에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항목이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선택되면 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유효성 인증 여부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 신청서 양식 펼침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962696" y="1062156"/>
            <a:ext cx="9468000" cy="5544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sp>
        <p:nvSpPr>
          <p:cNvPr id="53" name="눈물 방울 52"/>
          <p:cNvSpPr/>
          <p:nvPr/>
        </p:nvSpPr>
        <p:spPr>
          <a:xfrm rot="5400000">
            <a:off x="212878" y="8449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고객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072208" y="1125809"/>
            <a:ext cx="9252000" cy="1080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b="1" dirty="0">
                <a:latin typeface="+mn-ea"/>
                <a:ea typeface="+mn-ea"/>
              </a:rPr>
              <a:t>고객 영역</a:t>
            </a:r>
          </a:p>
        </p:txBody>
      </p:sp>
      <p:sp>
        <p:nvSpPr>
          <p:cNvPr id="31" name="눈물 방울 30"/>
          <p:cNvSpPr/>
          <p:nvPr/>
        </p:nvSpPr>
        <p:spPr>
          <a:xfrm rot="5400000">
            <a:off x="967461" y="104876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208192" y="1057862"/>
            <a:ext cx="720000" cy="4368542"/>
            <a:chOff x="11058074" y="1057862"/>
            <a:chExt cx="720000" cy="4368542"/>
          </a:xfrm>
        </p:grpSpPr>
        <p:sp>
          <p:nvSpPr>
            <p:cNvPr id="33" name="직사각형 32"/>
            <p:cNvSpPr/>
            <p:nvPr/>
          </p:nvSpPr>
          <p:spPr>
            <a:xfrm>
              <a:off x="11058074" y="1057862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신규</a:t>
              </a:r>
              <a:r>
                <a:rPr lang="en-US" altLang="ko-KR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1058074" y="1601009"/>
              <a:ext cx="720000" cy="540000"/>
            </a:xfrm>
            <a:prstGeom prst="rect">
              <a:avLst/>
            </a:prstGeom>
            <a:solidFill>
              <a:srgbClr val="1BA6C7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1058074" y="3267915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명의변경</a:t>
              </a: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11058074" y="3807411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1058074" y="4346907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부가기능</a:t>
              </a:r>
            </a:p>
          </p:txBody>
        </p:sp>
        <p:grpSp>
          <p:nvGrpSpPr>
            <p:cNvPr id="54" name="그룹 53"/>
            <p:cNvGrpSpPr/>
            <p:nvPr/>
          </p:nvGrpSpPr>
          <p:grpSpPr>
            <a:xfrm>
              <a:off x="11058074" y="4886404"/>
              <a:ext cx="720000" cy="540000"/>
              <a:chOff x="1648352" y="5642535"/>
              <a:chExt cx="720000" cy="540000"/>
            </a:xfrm>
          </p:grpSpPr>
          <p:sp>
            <p:nvSpPr>
              <p:cNvPr id="61" name="직사각형 60"/>
              <p:cNvSpPr/>
              <p:nvPr/>
            </p:nvSpPr>
            <p:spPr>
              <a:xfrm>
                <a:off x="1648352" y="5642535"/>
                <a:ext cx="720000" cy="540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3CC4E4"/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12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62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03535" y="5720463"/>
                <a:ext cx="409575" cy="390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55" name="직사각형 54"/>
            <p:cNvSpPr/>
            <p:nvPr/>
          </p:nvSpPr>
          <p:spPr>
            <a:xfrm>
              <a:off x="11095578" y="2169754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고객</a:t>
              </a:r>
            </a:p>
          </p:txBody>
        </p:sp>
        <p:sp>
          <p:nvSpPr>
            <p:cNvPr id="56" name="타원 55"/>
            <p:cNvSpPr/>
            <p:nvPr/>
          </p:nvSpPr>
          <p:spPr>
            <a:xfrm>
              <a:off x="11127081" y="2233128"/>
              <a:ext cx="216000" cy="216000"/>
            </a:xfrm>
            <a:prstGeom prst="ellipse">
              <a:avLst/>
            </a:prstGeom>
            <a:solidFill>
              <a:srgbClr val="1BA6C7"/>
            </a:solidFill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11095498" y="2528234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상품</a:t>
              </a:r>
            </a:p>
          </p:txBody>
        </p:sp>
        <p:sp>
          <p:nvSpPr>
            <p:cNvPr id="58" name="타원 57"/>
            <p:cNvSpPr/>
            <p:nvPr/>
          </p:nvSpPr>
          <p:spPr>
            <a:xfrm>
              <a:off x="11127081" y="2591608"/>
              <a:ext cx="216000" cy="216000"/>
            </a:xfrm>
            <a:prstGeom prst="ellipse">
              <a:avLst/>
            </a:prstGeom>
            <a:noFill/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endParaRPr lang="ko-KR" altLang="en-US" sz="8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11095498" y="2888274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동의</a:t>
              </a:r>
            </a:p>
          </p:txBody>
        </p:sp>
        <p:sp>
          <p:nvSpPr>
            <p:cNvPr id="60" name="타원 59"/>
            <p:cNvSpPr/>
            <p:nvPr/>
          </p:nvSpPr>
          <p:spPr>
            <a:xfrm>
              <a:off x="11127081" y="2951648"/>
              <a:ext cx="216000" cy="216000"/>
            </a:xfrm>
            <a:prstGeom prst="ellipse">
              <a:avLst/>
            </a:prstGeom>
            <a:noFill/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endParaRPr lang="ko-KR" altLang="en-US" sz="8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9641240" y="6274520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눈물 방울 39"/>
          <p:cNvSpPr/>
          <p:nvPr/>
        </p:nvSpPr>
        <p:spPr>
          <a:xfrm rot="5400000">
            <a:off x="9390553" y="6311859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173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고객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856184" y="1269586"/>
            <a:ext cx="720000" cy="288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다음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40160" y="909514"/>
            <a:ext cx="3744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화면 내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 항목이 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96662" y="1269586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</a:t>
            </a:r>
          </a:p>
        </p:txBody>
      </p:sp>
      <p:sp>
        <p:nvSpPr>
          <p:cNvPr id="16" name="눈물 방울 15"/>
          <p:cNvSpPr/>
          <p:nvPr/>
        </p:nvSpPr>
        <p:spPr>
          <a:xfrm rot="5400000">
            <a:off x="356894" y="925963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grpSp>
        <p:nvGrpSpPr>
          <p:cNvPr id="12" name="그룹 11"/>
          <p:cNvGrpSpPr/>
          <p:nvPr/>
        </p:nvGrpSpPr>
        <p:grpSpPr>
          <a:xfrm>
            <a:off x="566654" y="2812587"/>
            <a:ext cx="2881818" cy="1397063"/>
            <a:chOff x="5875124" y="3832891"/>
            <a:chExt cx="2881818" cy="1397063"/>
          </a:xfrm>
        </p:grpSpPr>
        <p:sp>
          <p:nvSpPr>
            <p:cNvPr id="18" name="직사각형 17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XXX 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입력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선택해 주세요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1" name="직사각형 20"/>
          <p:cNvSpPr/>
          <p:nvPr/>
        </p:nvSpPr>
        <p:spPr>
          <a:xfrm>
            <a:off x="620665" y="2517733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필수값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미입력시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73136" y="1981629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sp>
        <p:nvSpPr>
          <p:cNvPr id="25" name="눈물 방울 24"/>
          <p:cNvSpPr/>
          <p:nvPr/>
        </p:nvSpPr>
        <p:spPr>
          <a:xfrm rot="5400000">
            <a:off x="363821" y="2488925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3736504" y="2812587"/>
            <a:ext cx="2881818" cy="1397063"/>
            <a:chOff x="5875124" y="3832891"/>
            <a:chExt cx="2881818" cy="1397063"/>
          </a:xfrm>
        </p:grpSpPr>
        <p:sp>
          <p:nvSpPr>
            <p:cNvPr id="27" name="직사각형 26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XXX 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체크해 주세요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3790515" y="2517733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필수 인증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체크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미완료시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4708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339383"/>
              </p:ext>
            </p:extLst>
          </p:nvPr>
        </p:nvGraphicFramePr>
        <p:xfrm>
          <a:off x="10505256" y="788950"/>
          <a:ext cx="2130330" cy="5289595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고객유형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선택에 따라 입력 항목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디폴트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고객유형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내국인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방문고객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내국인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외국인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(Foreigner) :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미노출하고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으로 고정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미성년자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(19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 미만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외국인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(Foreigner)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미성년자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미노출하고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대리인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으로 고정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공공기관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선택하도록 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디폴트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본인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가입자 정보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디폴트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성별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남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유효성 인증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생년월일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안중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생년월일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계약정보 유효성체크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(Y04)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고객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내국인</a:t>
            </a:r>
            <a:r>
              <a:rPr lang="en-US" altLang="ko-KR" sz="1000" dirty="0">
                <a:latin typeface="+mn-ea"/>
                <a:ea typeface="+mn-ea"/>
              </a:rPr>
              <a:t>, </a:t>
            </a:r>
            <a:r>
              <a:rPr lang="ko-KR" altLang="en-US" sz="1000" dirty="0">
                <a:latin typeface="+mn-ea"/>
                <a:ea typeface="+mn-ea"/>
              </a:rPr>
              <a:t>외국인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1072208" y="2433776"/>
            <a:ext cx="5391974" cy="252000"/>
            <a:chOff x="640160" y="-566622"/>
            <a:chExt cx="5391974" cy="252000"/>
          </a:xfrm>
        </p:grpSpPr>
        <p:sp>
          <p:nvSpPr>
            <p:cNvPr id="121" name="TextBox 120"/>
            <p:cNvSpPr txBox="1"/>
            <p:nvPr/>
          </p:nvSpPr>
          <p:spPr>
            <a:xfrm>
              <a:off x="640160" y="-556038"/>
              <a:ext cx="4683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이름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2112151" y="-566622"/>
              <a:ext cx="3919983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이름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1072208" y="2793816"/>
            <a:ext cx="5391974" cy="252000"/>
            <a:chOff x="640160" y="-566622"/>
            <a:chExt cx="5391974" cy="252000"/>
          </a:xfrm>
        </p:grpSpPr>
        <p:sp>
          <p:nvSpPr>
            <p:cNvPr id="132" name="TextBox 131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생년월일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2109197" y="-566622"/>
              <a:ext cx="3922937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8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(YYYYMMDD)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1072208" y="2037704"/>
            <a:ext cx="9252000" cy="246221"/>
            <a:chOff x="1072208" y="1117425"/>
            <a:chExt cx="9252000" cy="246221"/>
          </a:xfrm>
        </p:grpSpPr>
        <p:sp>
          <p:nvSpPr>
            <p:cNvPr id="135" name="TextBox 134"/>
            <p:cNvSpPr txBox="1"/>
            <p:nvPr/>
          </p:nvSpPr>
          <p:spPr>
            <a:xfrm>
              <a:off x="1072208" y="1117425"/>
              <a:ext cx="8707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가입자 정보</a:t>
              </a:r>
            </a:p>
          </p:txBody>
        </p:sp>
        <p:cxnSp>
          <p:nvCxnSpPr>
            <p:cNvPr id="136" name="직선 연결선 135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눈물 방울 142"/>
          <p:cNvSpPr/>
          <p:nvPr/>
        </p:nvSpPr>
        <p:spPr>
          <a:xfrm rot="5400000">
            <a:off x="932957" y="198486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1059141" y="3463868"/>
            <a:ext cx="5405041" cy="252000"/>
            <a:chOff x="424136" y="-566622"/>
            <a:chExt cx="5405041" cy="252000"/>
          </a:xfrm>
        </p:grpSpPr>
        <p:sp>
          <p:nvSpPr>
            <p:cNvPr id="46" name="TextBox 45"/>
            <p:cNvSpPr txBox="1"/>
            <p:nvPr/>
          </p:nvSpPr>
          <p:spPr>
            <a:xfrm>
              <a:off x="424136" y="-556038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변경 휴대폰번호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5" name="눈물 방울 54"/>
          <p:cNvSpPr/>
          <p:nvPr/>
        </p:nvSpPr>
        <p:spPr>
          <a:xfrm rot="5400000">
            <a:off x="7344371" y="347503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6542922" y="3465826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grpSp>
        <p:nvGrpSpPr>
          <p:cNvPr id="88" name="그룹 87"/>
          <p:cNvGrpSpPr/>
          <p:nvPr/>
        </p:nvGrpSpPr>
        <p:grpSpPr>
          <a:xfrm>
            <a:off x="1072208" y="1167349"/>
            <a:ext cx="9252000" cy="246221"/>
            <a:chOff x="1072208" y="1117425"/>
            <a:chExt cx="9252000" cy="246221"/>
          </a:xfrm>
        </p:grpSpPr>
        <p:sp>
          <p:nvSpPr>
            <p:cNvPr id="89" name="TextBox 88"/>
            <p:cNvSpPr txBox="1"/>
            <p:nvPr/>
          </p:nvSpPr>
          <p:spPr>
            <a:xfrm>
              <a:off x="1072208" y="1117425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고객유형</a:t>
              </a:r>
            </a:p>
          </p:txBody>
        </p:sp>
        <p:cxnSp>
          <p:nvCxnSpPr>
            <p:cNvPr id="90" name="직선 연결선 89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눈물 방울 90"/>
          <p:cNvSpPr/>
          <p:nvPr/>
        </p:nvSpPr>
        <p:spPr>
          <a:xfrm rot="5400000">
            <a:off x="967461" y="111930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92" name="그룹 91"/>
          <p:cNvGrpSpPr/>
          <p:nvPr/>
        </p:nvGrpSpPr>
        <p:grpSpPr>
          <a:xfrm>
            <a:off x="1053932" y="1521610"/>
            <a:ext cx="7867148" cy="252000"/>
            <a:chOff x="640160" y="-566622"/>
            <a:chExt cx="7867148" cy="252000"/>
          </a:xfrm>
        </p:grpSpPr>
        <p:sp>
          <p:nvSpPr>
            <p:cNvPr id="93" name="직사각형 92"/>
            <p:cNvSpPr/>
            <p:nvPr/>
          </p:nvSpPr>
          <p:spPr>
            <a:xfrm>
              <a:off x="2135204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내국인</a:t>
              </a: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2912391" y="-566622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미성년자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(19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세 미만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4114820" y="-566622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외국인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(Foreigner)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고객유형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5301602" y="-566622"/>
              <a:ext cx="162153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외국인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(Foreigner)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미성년자</a:t>
              </a: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6995268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법인</a:t>
              </a: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7787308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공공기관</a:t>
              </a:r>
            </a:p>
          </p:txBody>
        </p:sp>
      </p:grpSp>
      <p:grpSp>
        <p:nvGrpSpPr>
          <p:cNvPr id="150" name="그룹 149"/>
          <p:cNvGrpSpPr/>
          <p:nvPr/>
        </p:nvGrpSpPr>
        <p:grpSpPr>
          <a:xfrm>
            <a:off x="6631509" y="2835740"/>
            <a:ext cx="897050" cy="234014"/>
            <a:chOff x="4999694" y="-1228030"/>
            <a:chExt cx="897050" cy="234014"/>
          </a:xfrm>
        </p:grpSpPr>
        <p:grpSp>
          <p:nvGrpSpPr>
            <p:cNvPr id="151" name="그룹 150"/>
            <p:cNvGrpSpPr/>
            <p:nvPr/>
          </p:nvGrpSpPr>
          <p:grpSpPr>
            <a:xfrm>
              <a:off x="4999694" y="-1193269"/>
              <a:ext cx="144000" cy="144000"/>
              <a:chOff x="4999694" y="-1193269"/>
              <a:chExt cx="144000" cy="144000"/>
            </a:xfrm>
          </p:grpSpPr>
          <p:sp>
            <p:nvSpPr>
              <p:cNvPr id="155" name="타원 154"/>
              <p:cNvSpPr/>
              <p:nvPr/>
            </p:nvSpPr>
            <p:spPr>
              <a:xfrm>
                <a:off x="4999694" y="-1193269"/>
                <a:ext cx="144000" cy="144000"/>
              </a:xfrm>
              <a:prstGeom prst="ellipse">
                <a:avLst/>
              </a:prstGeom>
              <a:solidFill>
                <a:schemeClr val="bg1">
                  <a:alpha val="7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6" name="타원 155"/>
              <p:cNvSpPr/>
              <p:nvPr/>
            </p:nvSpPr>
            <p:spPr>
              <a:xfrm>
                <a:off x="5024022" y="-1177206"/>
                <a:ext cx="108000" cy="108000"/>
              </a:xfrm>
              <a:prstGeom prst="ellipse">
                <a:avLst/>
              </a:prstGeom>
              <a:solidFill>
                <a:schemeClr val="tx1">
                  <a:alpha val="7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52" name="타원 151"/>
            <p:cNvSpPr/>
            <p:nvPr/>
          </p:nvSpPr>
          <p:spPr>
            <a:xfrm>
              <a:off x="5519468" y="-1195970"/>
              <a:ext cx="144000" cy="144000"/>
            </a:xfrm>
            <a:prstGeom prst="ellipse">
              <a:avLst/>
            </a:prstGeom>
            <a:solidFill>
              <a:schemeClr val="bg1">
                <a:alpha val="7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096030" y="-1228030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남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596662" y="-1224848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여</a:t>
              </a: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1072148" y="3141762"/>
            <a:ext cx="5400600" cy="252000"/>
            <a:chOff x="640160" y="-566622"/>
            <a:chExt cx="5400600" cy="252000"/>
          </a:xfrm>
        </p:grpSpPr>
        <p:sp>
          <p:nvSpPr>
            <p:cNvPr id="52" name="TextBox 51"/>
            <p:cNvSpPr txBox="1"/>
            <p:nvPr/>
          </p:nvSpPr>
          <p:spPr>
            <a:xfrm>
              <a:off x="640160" y="-556038"/>
              <a:ext cx="9925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사업자등록번호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210919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앞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3477349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265511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871379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5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659541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61" name="직사각형 60"/>
          <p:cNvSpPr/>
          <p:nvPr/>
        </p:nvSpPr>
        <p:spPr>
          <a:xfrm>
            <a:off x="6544816" y="3147366"/>
            <a:ext cx="3744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rPr>
              <a:t>※ 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rPr>
              <a:t>개인사업자인 경우만 입력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132844"/>
              </p:ext>
            </p:extLst>
          </p:nvPr>
        </p:nvGraphicFramePr>
        <p:xfrm>
          <a:off x="12914755" y="109568"/>
          <a:ext cx="3443089" cy="1091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추가 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개인사업자 사업자 등록번호 항목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689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913466"/>
              </p:ext>
            </p:extLst>
          </p:nvPr>
        </p:nvGraphicFramePr>
        <p:xfrm>
          <a:off x="10505256" y="788950"/>
          <a:ext cx="2130330" cy="4386251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미성년자 법정대리인 정보 입력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신청인과의 관계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 외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디폴트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신청인과의 관계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없음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성별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남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법정대리인 안내사항 확인 및 동의 사항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B4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 발송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신청인과의 관계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주민등록번호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연락처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신청인과의 관계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주민등록번호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연락처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SMS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SMS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전산 모듈 이용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B5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상세 팝업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고객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미성년자</a:t>
            </a:r>
            <a:r>
              <a:rPr lang="en-US" altLang="ko-KR" sz="1000" dirty="0">
                <a:latin typeface="+mn-ea"/>
                <a:ea typeface="+mn-ea"/>
              </a:rPr>
              <a:t>, </a:t>
            </a:r>
            <a:r>
              <a:rPr lang="ko-KR" altLang="en-US" sz="1000" dirty="0">
                <a:latin typeface="+mn-ea"/>
                <a:ea typeface="+mn-ea"/>
              </a:rPr>
              <a:t>외국인 미성년자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1072208" y="2433776"/>
            <a:ext cx="5391974" cy="252000"/>
            <a:chOff x="640160" y="-566622"/>
            <a:chExt cx="5391974" cy="252000"/>
          </a:xfrm>
        </p:grpSpPr>
        <p:sp>
          <p:nvSpPr>
            <p:cNvPr id="121" name="TextBox 120"/>
            <p:cNvSpPr txBox="1"/>
            <p:nvPr/>
          </p:nvSpPr>
          <p:spPr>
            <a:xfrm>
              <a:off x="640160" y="-556038"/>
              <a:ext cx="4683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이름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2112151" y="-566622"/>
              <a:ext cx="3919983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이름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1072208" y="2793816"/>
            <a:ext cx="5391974" cy="252000"/>
            <a:chOff x="640160" y="-566622"/>
            <a:chExt cx="5391974" cy="252000"/>
          </a:xfrm>
        </p:grpSpPr>
        <p:sp>
          <p:nvSpPr>
            <p:cNvPr id="132" name="TextBox 131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생년월일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2109197" y="-566622"/>
              <a:ext cx="3922937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8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(YYYYMMDD)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1072208" y="2037704"/>
            <a:ext cx="9252000" cy="246221"/>
            <a:chOff x="1072208" y="1117425"/>
            <a:chExt cx="9252000" cy="246221"/>
          </a:xfrm>
        </p:grpSpPr>
        <p:sp>
          <p:nvSpPr>
            <p:cNvPr id="135" name="TextBox 134"/>
            <p:cNvSpPr txBox="1"/>
            <p:nvPr/>
          </p:nvSpPr>
          <p:spPr>
            <a:xfrm>
              <a:off x="1072208" y="1117425"/>
              <a:ext cx="14766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가입자 정보</a:t>
              </a:r>
              <a:r>
                <a:rPr lang="en-US" altLang="ko-KR" sz="1000" b="1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미성년자</a:t>
              </a:r>
              <a:r>
                <a:rPr lang="en-US" altLang="ko-KR" sz="10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36" name="직선 연결선 135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눈물 방울 142"/>
          <p:cNvSpPr/>
          <p:nvPr/>
        </p:nvSpPr>
        <p:spPr>
          <a:xfrm rot="5400000">
            <a:off x="932957" y="198486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1059141" y="3153800"/>
            <a:ext cx="5405041" cy="252000"/>
            <a:chOff x="424136" y="-566622"/>
            <a:chExt cx="5405041" cy="252000"/>
          </a:xfrm>
        </p:grpSpPr>
        <p:sp>
          <p:nvSpPr>
            <p:cNvPr id="46" name="TextBox 45"/>
            <p:cNvSpPr txBox="1"/>
            <p:nvPr/>
          </p:nvSpPr>
          <p:spPr>
            <a:xfrm>
              <a:off x="424136" y="-556038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변경 휴대폰번호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5" name="눈물 방울 54"/>
          <p:cNvSpPr/>
          <p:nvPr/>
        </p:nvSpPr>
        <p:spPr>
          <a:xfrm rot="5400000">
            <a:off x="7344371" y="316497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6542922" y="3155758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grpSp>
        <p:nvGrpSpPr>
          <p:cNvPr id="88" name="그룹 87"/>
          <p:cNvGrpSpPr/>
          <p:nvPr/>
        </p:nvGrpSpPr>
        <p:grpSpPr>
          <a:xfrm>
            <a:off x="1072208" y="1167349"/>
            <a:ext cx="9252000" cy="246221"/>
            <a:chOff x="1072208" y="1117425"/>
            <a:chExt cx="9252000" cy="246221"/>
          </a:xfrm>
        </p:grpSpPr>
        <p:sp>
          <p:nvSpPr>
            <p:cNvPr id="89" name="TextBox 88"/>
            <p:cNvSpPr txBox="1"/>
            <p:nvPr/>
          </p:nvSpPr>
          <p:spPr>
            <a:xfrm>
              <a:off x="1072208" y="1117425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고객유형</a:t>
              </a:r>
            </a:p>
          </p:txBody>
        </p:sp>
        <p:cxnSp>
          <p:nvCxnSpPr>
            <p:cNvPr id="90" name="직선 연결선 89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눈물 방울 90"/>
          <p:cNvSpPr/>
          <p:nvPr/>
        </p:nvSpPr>
        <p:spPr>
          <a:xfrm rot="5400000">
            <a:off x="967461" y="111930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92" name="그룹 91"/>
          <p:cNvGrpSpPr/>
          <p:nvPr/>
        </p:nvGrpSpPr>
        <p:grpSpPr>
          <a:xfrm>
            <a:off x="1053932" y="1521610"/>
            <a:ext cx="7867148" cy="252000"/>
            <a:chOff x="640160" y="-566622"/>
            <a:chExt cx="7867148" cy="252000"/>
          </a:xfrm>
        </p:grpSpPr>
        <p:sp>
          <p:nvSpPr>
            <p:cNvPr id="93" name="직사각형 92"/>
            <p:cNvSpPr/>
            <p:nvPr/>
          </p:nvSpPr>
          <p:spPr>
            <a:xfrm>
              <a:off x="2135204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내국인</a:t>
              </a: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2912391" y="-566622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미성년자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(19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세 미만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4114820" y="-566622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외국인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(Foreigner)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고객유형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5301602" y="-566622"/>
              <a:ext cx="162153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외국인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(Foreigner)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미성년자</a:t>
              </a: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6995268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법인</a:t>
              </a: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7787308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공공기관</a:t>
              </a:r>
            </a:p>
          </p:txBody>
        </p:sp>
      </p:grpSp>
      <p:grpSp>
        <p:nvGrpSpPr>
          <p:cNvPr id="150" name="그룹 149"/>
          <p:cNvGrpSpPr/>
          <p:nvPr/>
        </p:nvGrpSpPr>
        <p:grpSpPr>
          <a:xfrm>
            <a:off x="6631509" y="2835740"/>
            <a:ext cx="897050" cy="234014"/>
            <a:chOff x="4999694" y="-1228030"/>
            <a:chExt cx="897050" cy="234014"/>
          </a:xfrm>
        </p:grpSpPr>
        <p:grpSp>
          <p:nvGrpSpPr>
            <p:cNvPr id="151" name="그룹 150"/>
            <p:cNvGrpSpPr/>
            <p:nvPr/>
          </p:nvGrpSpPr>
          <p:grpSpPr>
            <a:xfrm>
              <a:off x="4999694" y="-1193269"/>
              <a:ext cx="144000" cy="144000"/>
              <a:chOff x="4999694" y="-1193269"/>
              <a:chExt cx="144000" cy="144000"/>
            </a:xfrm>
          </p:grpSpPr>
          <p:sp>
            <p:nvSpPr>
              <p:cNvPr id="155" name="타원 154"/>
              <p:cNvSpPr/>
              <p:nvPr/>
            </p:nvSpPr>
            <p:spPr>
              <a:xfrm>
                <a:off x="4999694" y="-1193269"/>
                <a:ext cx="144000" cy="144000"/>
              </a:xfrm>
              <a:prstGeom prst="ellipse">
                <a:avLst/>
              </a:prstGeom>
              <a:solidFill>
                <a:schemeClr val="bg1">
                  <a:alpha val="7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6" name="타원 155"/>
              <p:cNvSpPr/>
              <p:nvPr/>
            </p:nvSpPr>
            <p:spPr>
              <a:xfrm>
                <a:off x="5024022" y="-1177206"/>
                <a:ext cx="108000" cy="108000"/>
              </a:xfrm>
              <a:prstGeom prst="ellipse">
                <a:avLst/>
              </a:prstGeom>
              <a:solidFill>
                <a:schemeClr val="tx1">
                  <a:alpha val="7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52" name="타원 151"/>
            <p:cNvSpPr/>
            <p:nvPr/>
          </p:nvSpPr>
          <p:spPr>
            <a:xfrm>
              <a:off x="5519468" y="-1195970"/>
              <a:ext cx="144000" cy="144000"/>
            </a:xfrm>
            <a:prstGeom prst="ellipse">
              <a:avLst/>
            </a:prstGeom>
            <a:solidFill>
              <a:schemeClr val="bg1">
                <a:alpha val="7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096030" y="-1228030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남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596662" y="-1224848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여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1072209" y="4017952"/>
            <a:ext cx="6264695" cy="252000"/>
            <a:chOff x="640160" y="-566622"/>
            <a:chExt cx="6264695" cy="252000"/>
          </a:xfrm>
        </p:grpSpPr>
        <p:sp>
          <p:nvSpPr>
            <p:cNvPr id="80" name="TextBox 79"/>
            <p:cNvSpPr txBox="1"/>
            <p:nvPr/>
          </p:nvSpPr>
          <p:spPr>
            <a:xfrm>
              <a:off x="640160" y="-556038"/>
              <a:ext cx="4683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이름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2112150" y="-566622"/>
              <a:ext cx="479270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이름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8" name="그룹 97"/>
          <p:cNvGrpSpPr/>
          <p:nvPr/>
        </p:nvGrpSpPr>
        <p:grpSpPr>
          <a:xfrm>
            <a:off x="1072209" y="3621880"/>
            <a:ext cx="9252000" cy="246221"/>
            <a:chOff x="1072208" y="1117425"/>
            <a:chExt cx="9252000" cy="246221"/>
          </a:xfrm>
        </p:grpSpPr>
        <p:sp>
          <p:nvSpPr>
            <p:cNvPr id="99" name="TextBox 98"/>
            <p:cNvSpPr txBox="1"/>
            <p:nvPr/>
          </p:nvSpPr>
          <p:spPr>
            <a:xfrm>
              <a:off x="1072208" y="1117425"/>
              <a:ext cx="112723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법정대리인 정보</a:t>
              </a:r>
            </a:p>
          </p:txBody>
        </p:sp>
        <p:cxnSp>
          <p:nvCxnSpPr>
            <p:cNvPr id="100" name="직선 연결선 99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눈물 방울 100"/>
          <p:cNvSpPr/>
          <p:nvPr/>
        </p:nvSpPr>
        <p:spPr>
          <a:xfrm rot="5400000">
            <a:off x="932958" y="356904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6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41" name="그룹 140"/>
          <p:cNvGrpSpPr/>
          <p:nvPr/>
        </p:nvGrpSpPr>
        <p:grpSpPr>
          <a:xfrm>
            <a:off x="1072208" y="5098072"/>
            <a:ext cx="5391974" cy="252000"/>
            <a:chOff x="640160" y="-566622"/>
            <a:chExt cx="5391974" cy="252000"/>
          </a:xfrm>
        </p:grpSpPr>
        <p:sp>
          <p:nvSpPr>
            <p:cNvPr id="142" name="TextBox 141"/>
            <p:cNvSpPr txBox="1"/>
            <p:nvPr/>
          </p:nvSpPr>
          <p:spPr>
            <a:xfrm>
              <a:off x="640160" y="-556038"/>
              <a:ext cx="101341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연락처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2113382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3481534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3269696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8" name="직사각형 147"/>
            <p:cNvSpPr/>
            <p:nvPr/>
          </p:nvSpPr>
          <p:spPr>
            <a:xfrm>
              <a:off x="4862753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4650915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57" name="그룹 156"/>
          <p:cNvGrpSpPr/>
          <p:nvPr/>
        </p:nvGrpSpPr>
        <p:grpSpPr>
          <a:xfrm>
            <a:off x="1072208" y="5555354"/>
            <a:ext cx="9252000" cy="246221"/>
            <a:chOff x="1072208" y="1117425"/>
            <a:chExt cx="9252000" cy="246221"/>
          </a:xfrm>
        </p:grpSpPr>
        <p:sp>
          <p:nvSpPr>
            <p:cNvPr id="166" name="TextBox 165"/>
            <p:cNvSpPr txBox="1"/>
            <p:nvPr/>
          </p:nvSpPr>
          <p:spPr>
            <a:xfrm>
              <a:off x="1072208" y="1117425"/>
              <a:ext cx="21595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법정대리인 안내사항 확인 및 동의</a:t>
              </a:r>
            </a:p>
          </p:txBody>
        </p:sp>
        <p:cxnSp>
          <p:nvCxnSpPr>
            <p:cNvPr id="167" name="직선 연결선 166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8" name="눈물 방울 167"/>
          <p:cNvSpPr/>
          <p:nvPr/>
        </p:nvSpPr>
        <p:spPr>
          <a:xfrm rot="5400000">
            <a:off x="932958" y="5470544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7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1163507" y="5912182"/>
            <a:ext cx="8758499" cy="253916"/>
            <a:chOff x="1936304" y="-857339"/>
            <a:chExt cx="8758499" cy="253916"/>
          </a:xfrm>
        </p:grpSpPr>
        <p:sp>
          <p:nvSpPr>
            <p:cNvPr id="170" name="타원 169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2116304" y="-857339"/>
              <a:ext cx="23631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본인은 안내사항을 확인하였습니다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0413957" y="-857339"/>
              <a:ext cx="28084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72208" y="4365898"/>
            <a:ext cx="5391974" cy="252000"/>
            <a:chOff x="640160" y="-566622"/>
            <a:chExt cx="5391974" cy="252000"/>
          </a:xfrm>
        </p:grpSpPr>
        <p:sp>
          <p:nvSpPr>
            <p:cNvPr id="122" name="TextBox 121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생년월일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4" name="직사각형 123"/>
            <p:cNvSpPr/>
            <p:nvPr/>
          </p:nvSpPr>
          <p:spPr>
            <a:xfrm>
              <a:off x="2109197" y="-566622"/>
              <a:ext cx="3922937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8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(YYYYMMDD)</a:t>
              </a:r>
            </a:p>
          </p:txBody>
        </p:sp>
      </p:grpSp>
      <p:grpSp>
        <p:nvGrpSpPr>
          <p:cNvPr id="125" name="그룹 124"/>
          <p:cNvGrpSpPr/>
          <p:nvPr/>
        </p:nvGrpSpPr>
        <p:grpSpPr>
          <a:xfrm>
            <a:off x="6631509" y="4407822"/>
            <a:ext cx="897050" cy="234014"/>
            <a:chOff x="4999694" y="-1228030"/>
            <a:chExt cx="897050" cy="234014"/>
          </a:xfrm>
        </p:grpSpPr>
        <p:grpSp>
          <p:nvGrpSpPr>
            <p:cNvPr id="126" name="그룹 125"/>
            <p:cNvGrpSpPr/>
            <p:nvPr/>
          </p:nvGrpSpPr>
          <p:grpSpPr>
            <a:xfrm>
              <a:off x="4999694" y="-1193269"/>
              <a:ext cx="144000" cy="144000"/>
              <a:chOff x="4999694" y="-1193269"/>
              <a:chExt cx="144000" cy="144000"/>
            </a:xfrm>
          </p:grpSpPr>
          <p:sp>
            <p:nvSpPr>
              <p:cNvPr id="130" name="타원 129"/>
              <p:cNvSpPr/>
              <p:nvPr/>
            </p:nvSpPr>
            <p:spPr>
              <a:xfrm>
                <a:off x="4999694" y="-1193269"/>
                <a:ext cx="144000" cy="144000"/>
              </a:xfrm>
              <a:prstGeom prst="ellipse">
                <a:avLst/>
              </a:prstGeom>
              <a:solidFill>
                <a:schemeClr val="bg1">
                  <a:alpha val="7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7" name="타원 136"/>
              <p:cNvSpPr/>
              <p:nvPr/>
            </p:nvSpPr>
            <p:spPr>
              <a:xfrm>
                <a:off x="5024022" y="-1177206"/>
                <a:ext cx="108000" cy="108000"/>
              </a:xfrm>
              <a:prstGeom prst="ellipse">
                <a:avLst/>
              </a:prstGeom>
              <a:solidFill>
                <a:schemeClr val="tx1">
                  <a:alpha val="7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27" name="타원 126"/>
            <p:cNvSpPr/>
            <p:nvPr/>
          </p:nvSpPr>
          <p:spPr>
            <a:xfrm>
              <a:off x="5519468" y="-1195970"/>
              <a:ext cx="144000" cy="144000"/>
            </a:xfrm>
            <a:prstGeom prst="ellipse">
              <a:avLst/>
            </a:prstGeom>
            <a:solidFill>
              <a:schemeClr val="bg1">
                <a:alpha val="7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5096030" y="-1228030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남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5596662" y="-1224848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여</a:t>
              </a:r>
            </a:p>
          </p:txBody>
        </p:sp>
      </p:grpSp>
      <p:grpSp>
        <p:nvGrpSpPr>
          <p:cNvPr id="138" name="그룹 137"/>
          <p:cNvGrpSpPr/>
          <p:nvPr/>
        </p:nvGrpSpPr>
        <p:grpSpPr>
          <a:xfrm>
            <a:off x="1072208" y="4725938"/>
            <a:ext cx="3087718" cy="252000"/>
            <a:chOff x="640160" y="-566622"/>
            <a:chExt cx="3087718" cy="252000"/>
          </a:xfrm>
        </p:grpSpPr>
        <p:sp>
          <p:nvSpPr>
            <p:cNvPr id="139" name="TextBox 138"/>
            <p:cNvSpPr txBox="1"/>
            <p:nvPr/>
          </p:nvSpPr>
          <p:spPr>
            <a:xfrm>
              <a:off x="640160" y="-556038"/>
              <a:ext cx="108555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신청인과의 관계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47" name="그룹 146"/>
            <p:cNvGrpSpPr/>
            <p:nvPr/>
          </p:nvGrpSpPr>
          <p:grpSpPr>
            <a:xfrm>
              <a:off x="2112152" y="-566622"/>
              <a:ext cx="1615726" cy="252000"/>
              <a:chOff x="2112152" y="-566622"/>
              <a:chExt cx="1615726" cy="252000"/>
            </a:xfrm>
          </p:grpSpPr>
          <p:sp>
            <p:nvSpPr>
              <p:cNvPr id="158" name="직사각형 157"/>
              <p:cNvSpPr/>
              <p:nvPr/>
            </p:nvSpPr>
            <p:spPr>
              <a:xfrm>
                <a:off x="2112152" y="-566622"/>
                <a:ext cx="1615726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선택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59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2048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96" name="눈물 방울 95"/>
          <p:cNvSpPr/>
          <p:nvPr/>
        </p:nvSpPr>
        <p:spPr>
          <a:xfrm rot="5400000">
            <a:off x="7634297" y="5114148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6544816" y="5104935"/>
            <a:ext cx="972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눈물 방울 101"/>
          <p:cNvSpPr/>
          <p:nvPr/>
        </p:nvSpPr>
        <p:spPr>
          <a:xfrm rot="5400000">
            <a:off x="9792643" y="588553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B5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553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764964"/>
              </p:ext>
            </p:extLst>
          </p:nvPr>
        </p:nvGraphicFramePr>
        <p:xfrm>
          <a:off x="10505256" y="788950"/>
          <a:ext cx="2130330" cy="1244123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대리인 위임 정보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디폴트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생년월일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남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고객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 smtClean="0">
                <a:latin typeface="+mn-ea"/>
                <a:ea typeface="+mn-ea"/>
              </a:rPr>
              <a:t>법인</a:t>
            </a:r>
            <a:r>
              <a:rPr lang="en-US" altLang="ko-KR" sz="1000" dirty="0" smtClean="0"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latin typeface="+mn-ea"/>
                <a:ea typeface="+mn-ea"/>
              </a:rPr>
              <a:t>공공기관</a:t>
            </a:r>
            <a:r>
              <a:rPr lang="en-US" altLang="ko-KR" sz="1000" dirty="0" smtClean="0">
                <a:latin typeface="+mn-ea"/>
                <a:ea typeface="+mn-ea"/>
              </a:rPr>
              <a:t>)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962696" y="981522"/>
            <a:ext cx="9468000" cy="576064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1072208" y="2835627"/>
            <a:ext cx="5391974" cy="252000"/>
            <a:chOff x="640160" y="-566622"/>
            <a:chExt cx="5391974" cy="252000"/>
          </a:xfrm>
        </p:grpSpPr>
        <p:sp>
          <p:nvSpPr>
            <p:cNvPr id="121" name="TextBox 120"/>
            <p:cNvSpPr txBox="1"/>
            <p:nvPr/>
          </p:nvSpPr>
          <p:spPr>
            <a:xfrm>
              <a:off x="640160" y="-556038"/>
              <a:ext cx="4683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이름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2112151" y="-566622"/>
              <a:ext cx="3919983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이름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1072208" y="2439555"/>
            <a:ext cx="9252000" cy="246221"/>
            <a:chOff x="1072208" y="1117425"/>
            <a:chExt cx="9252000" cy="246221"/>
          </a:xfrm>
        </p:grpSpPr>
        <p:sp>
          <p:nvSpPr>
            <p:cNvPr id="135" name="TextBox 134"/>
            <p:cNvSpPr txBox="1"/>
            <p:nvPr/>
          </p:nvSpPr>
          <p:spPr>
            <a:xfrm>
              <a:off x="1072208" y="1117425"/>
              <a:ext cx="8707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가입자 정보</a:t>
              </a:r>
            </a:p>
          </p:txBody>
        </p:sp>
        <p:cxnSp>
          <p:nvCxnSpPr>
            <p:cNvPr id="136" name="직선 연결선 135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눈물 방울 142"/>
          <p:cNvSpPr/>
          <p:nvPr/>
        </p:nvSpPr>
        <p:spPr>
          <a:xfrm rot="5400000">
            <a:off x="932957" y="2386720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1059141" y="4255956"/>
            <a:ext cx="5405041" cy="252000"/>
            <a:chOff x="424136" y="-566622"/>
            <a:chExt cx="5405041" cy="252000"/>
          </a:xfrm>
        </p:grpSpPr>
        <p:sp>
          <p:nvSpPr>
            <p:cNvPr id="46" name="TextBox 45"/>
            <p:cNvSpPr txBox="1"/>
            <p:nvPr/>
          </p:nvSpPr>
          <p:spPr>
            <a:xfrm>
              <a:off x="424136" y="-556038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변경 휴대폰번호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5" name="눈물 방울 54"/>
          <p:cNvSpPr/>
          <p:nvPr/>
        </p:nvSpPr>
        <p:spPr>
          <a:xfrm rot="5400000">
            <a:off x="7344371" y="426712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6542922" y="4257914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</a:t>
            </a:r>
          </a:p>
        </p:txBody>
      </p:sp>
      <p:grpSp>
        <p:nvGrpSpPr>
          <p:cNvPr id="88" name="그룹 87"/>
          <p:cNvGrpSpPr/>
          <p:nvPr/>
        </p:nvGrpSpPr>
        <p:grpSpPr>
          <a:xfrm>
            <a:off x="1072208" y="1167349"/>
            <a:ext cx="9252000" cy="246221"/>
            <a:chOff x="1072208" y="1117425"/>
            <a:chExt cx="9252000" cy="246221"/>
          </a:xfrm>
        </p:grpSpPr>
        <p:sp>
          <p:nvSpPr>
            <p:cNvPr id="89" name="TextBox 88"/>
            <p:cNvSpPr txBox="1"/>
            <p:nvPr/>
          </p:nvSpPr>
          <p:spPr>
            <a:xfrm>
              <a:off x="1072208" y="1117425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고객유형</a:t>
              </a:r>
            </a:p>
          </p:txBody>
        </p:sp>
        <p:cxnSp>
          <p:nvCxnSpPr>
            <p:cNvPr id="90" name="직선 연결선 89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눈물 방울 90"/>
          <p:cNvSpPr/>
          <p:nvPr/>
        </p:nvSpPr>
        <p:spPr>
          <a:xfrm rot="5400000">
            <a:off x="967461" y="111930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92" name="그룹 91"/>
          <p:cNvGrpSpPr/>
          <p:nvPr/>
        </p:nvGrpSpPr>
        <p:grpSpPr>
          <a:xfrm>
            <a:off x="1053932" y="1521610"/>
            <a:ext cx="7829714" cy="252000"/>
            <a:chOff x="640160" y="-566622"/>
            <a:chExt cx="7829714" cy="252000"/>
          </a:xfrm>
        </p:grpSpPr>
        <p:sp>
          <p:nvSpPr>
            <p:cNvPr id="93" name="직사각형 92"/>
            <p:cNvSpPr/>
            <p:nvPr/>
          </p:nvSpPr>
          <p:spPr>
            <a:xfrm>
              <a:off x="2135204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내국인</a:t>
              </a: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2912391" y="-566622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미성년자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(19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세 미만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4114820" y="-566622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외국인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(Foreigner)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고객유형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5301602" y="-566622"/>
              <a:ext cx="162153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외국인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(Foreigner)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미성년자</a:t>
              </a: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6995268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법인</a:t>
              </a: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7749874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공공기관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1072208" y="3183573"/>
            <a:ext cx="4006570" cy="252000"/>
            <a:chOff x="640160" y="-566622"/>
            <a:chExt cx="4006570" cy="252000"/>
          </a:xfrm>
        </p:grpSpPr>
        <p:sp>
          <p:nvSpPr>
            <p:cNvPr id="41" name="TextBox 40"/>
            <p:cNvSpPr txBox="1"/>
            <p:nvPr/>
          </p:nvSpPr>
          <p:spPr>
            <a:xfrm>
              <a:off x="640160" y="-556038"/>
              <a:ext cx="93006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법인등록번호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210919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앞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6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477349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7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265511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1053884" y="1881650"/>
            <a:ext cx="2992231" cy="252000"/>
            <a:chOff x="640160" y="-566622"/>
            <a:chExt cx="2992231" cy="252000"/>
          </a:xfrm>
        </p:grpSpPr>
        <p:sp>
          <p:nvSpPr>
            <p:cNvPr id="78" name="직사각형 77"/>
            <p:cNvSpPr/>
            <p:nvPr/>
          </p:nvSpPr>
          <p:spPr>
            <a:xfrm>
              <a:off x="2135204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본인</a:t>
              </a:r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대표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2912391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대리인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방문고객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1072208" y="3537834"/>
            <a:ext cx="5400600" cy="252000"/>
            <a:chOff x="640160" y="-566622"/>
            <a:chExt cx="5400600" cy="252000"/>
          </a:xfrm>
        </p:grpSpPr>
        <p:sp>
          <p:nvSpPr>
            <p:cNvPr id="82" name="TextBox 81"/>
            <p:cNvSpPr txBox="1"/>
            <p:nvPr/>
          </p:nvSpPr>
          <p:spPr>
            <a:xfrm>
              <a:off x="640160" y="-556038"/>
              <a:ext cx="9925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사업자등록번호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210919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앞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3477349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265511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4871379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5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659541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1072208" y="4846016"/>
            <a:ext cx="9252000" cy="246221"/>
            <a:chOff x="1072208" y="1117425"/>
            <a:chExt cx="9252000" cy="246221"/>
          </a:xfrm>
        </p:grpSpPr>
        <p:sp>
          <p:nvSpPr>
            <p:cNvPr id="100" name="TextBox 99"/>
            <p:cNvSpPr txBox="1"/>
            <p:nvPr/>
          </p:nvSpPr>
          <p:spPr>
            <a:xfrm>
              <a:off x="1072208" y="1117425"/>
              <a:ext cx="11721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대리인 위임</a:t>
              </a:r>
              <a:r>
                <a:rPr lang="en-US" altLang="ko-KR" sz="1000" b="1" dirty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정보</a:t>
              </a:r>
            </a:p>
          </p:txBody>
        </p:sp>
        <p:cxnSp>
          <p:nvCxnSpPr>
            <p:cNvPr id="101" name="직선 연결선 100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눈물 방울 101"/>
          <p:cNvSpPr/>
          <p:nvPr/>
        </p:nvSpPr>
        <p:spPr>
          <a:xfrm rot="5400000">
            <a:off x="932957" y="479318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10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1072208" y="5206112"/>
            <a:ext cx="5391974" cy="252000"/>
            <a:chOff x="640160" y="-566622"/>
            <a:chExt cx="5391974" cy="252000"/>
          </a:xfrm>
        </p:grpSpPr>
        <p:sp>
          <p:nvSpPr>
            <p:cNvPr id="104" name="TextBox 103"/>
            <p:cNvSpPr txBox="1"/>
            <p:nvPr/>
          </p:nvSpPr>
          <p:spPr>
            <a:xfrm>
              <a:off x="640160" y="-556038"/>
              <a:ext cx="124104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위임받은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 고객 이름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2112151" y="-566622"/>
              <a:ext cx="3919983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이름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1072208" y="5566152"/>
            <a:ext cx="5391974" cy="252000"/>
            <a:chOff x="640160" y="-566622"/>
            <a:chExt cx="5391974" cy="252000"/>
          </a:xfrm>
        </p:grpSpPr>
        <p:sp>
          <p:nvSpPr>
            <p:cNvPr id="110" name="TextBox 109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생년월일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2109197" y="-566622"/>
              <a:ext cx="3922937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8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(YYYYMMDD)</a:t>
              </a:r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1059141" y="6286176"/>
            <a:ext cx="5405041" cy="252000"/>
            <a:chOff x="424136" y="-566622"/>
            <a:chExt cx="5405041" cy="252000"/>
          </a:xfrm>
        </p:grpSpPr>
        <p:sp>
          <p:nvSpPr>
            <p:cNvPr id="113" name="TextBox 112"/>
            <p:cNvSpPr txBox="1"/>
            <p:nvPr/>
          </p:nvSpPr>
          <p:spPr>
            <a:xfrm>
              <a:off x="424136" y="-556038"/>
              <a:ext cx="5838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연락처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앞자리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6631509" y="5584082"/>
            <a:ext cx="897050" cy="234014"/>
            <a:chOff x="4999694" y="-1228030"/>
            <a:chExt cx="897050" cy="234014"/>
          </a:xfrm>
        </p:grpSpPr>
        <p:grpSp>
          <p:nvGrpSpPr>
            <p:cNvPr id="122" name="그룹 121"/>
            <p:cNvGrpSpPr/>
            <p:nvPr/>
          </p:nvGrpSpPr>
          <p:grpSpPr>
            <a:xfrm>
              <a:off x="4999694" y="-1193269"/>
              <a:ext cx="144000" cy="144000"/>
              <a:chOff x="4999694" y="-1193269"/>
              <a:chExt cx="144000" cy="144000"/>
            </a:xfrm>
          </p:grpSpPr>
          <p:sp>
            <p:nvSpPr>
              <p:cNvPr id="127" name="타원 126"/>
              <p:cNvSpPr/>
              <p:nvPr/>
            </p:nvSpPr>
            <p:spPr>
              <a:xfrm>
                <a:off x="4999694" y="-1193269"/>
                <a:ext cx="144000" cy="144000"/>
              </a:xfrm>
              <a:prstGeom prst="ellipse">
                <a:avLst/>
              </a:prstGeom>
              <a:solidFill>
                <a:schemeClr val="bg1">
                  <a:alpha val="7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28" name="타원 127"/>
              <p:cNvSpPr/>
              <p:nvPr/>
            </p:nvSpPr>
            <p:spPr>
              <a:xfrm>
                <a:off x="5024022" y="-1177206"/>
                <a:ext cx="108000" cy="108000"/>
              </a:xfrm>
              <a:prstGeom prst="ellipse">
                <a:avLst/>
              </a:prstGeom>
              <a:solidFill>
                <a:schemeClr val="tx1">
                  <a:alpha val="7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24" name="타원 123"/>
            <p:cNvSpPr/>
            <p:nvPr/>
          </p:nvSpPr>
          <p:spPr>
            <a:xfrm>
              <a:off x="5519468" y="-1195970"/>
              <a:ext cx="144000" cy="144000"/>
            </a:xfrm>
            <a:prstGeom prst="ellipse">
              <a:avLst/>
            </a:prstGeom>
            <a:solidFill>
              <a:schemeClr val="bg1">
                <a:alpha val="7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096030" y="-1228030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남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596662" y="-1224848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여</a:t>
              </a:r>
            </a:p>
          </p:txBody>
        </p:sp>
      </p:grpSp>
      <p:grpSp>
        <p:nvGrpSpPr>
          <p:cNvPr id="129" name="그룹 128"/>
          <p:cNvGrpSpPr/>
          <p:nvPr/>
        </p:nvGrpSpPr>
        <p:grpSpPr>
          <a:xfrm>
            <a:off x="1072208" y="5926136"/>
            <a:ext cx="3087718" cy="252000"/>
            <a:chOff x="640160" y="-566622"/>
            <a:chExt cx="3087718" cy="252000"/>
          </a:xfrm>
        </p:grpSpPr>
        <p:sp>
          <p:nvSpPr>
            <p:cNvPr id="130" name="TextBox 129"/>
            <p:cNvSpPr txBox="1"/>
            <p:nvPr/>
          </p:nvSpPr>
          <p:spPr>
            <a:xfrm>
              <a:off x="640160" y="-556038"/>
              <a:ext cx="108555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신청인과의 관계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31" name="그룹 130"/>
            <p:cNvGrpSpPr/>
            <p:nvPr/>
          </p:nvGrpSpPr>
          <p:grpSpPr>
            <a:xfrm>
              <a:off x="2112152" y="-566622"/>
              <a:ext cx="1615726" cy="252000"/>
              <a:chOff x="2112152" y="-566622"/>
              <a:chExt cx="1615726" cy="252000"/>
            </a:xfrm>
          </p:grpSpPr>
          <p:sp>
            <p:nvSpPr>
              <p:cNvPr id="132" name="직사각형 131"/>
              <p:cNvSpPr/>
              <p:nvPr/>
            </p:nvSpPr>
            <p:spPr>
              <a:xfrm>
                <a:off x="2112152" y="-566622"/>
                <a:ext cx="1615726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선택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33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2048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137" name="오른쪽 중괄호 136"/>
          <p:cNvSpPr/>
          <p:nvPr/>
        </p:nvSpPr>
        <p:spPr>
          <a:xfrm>
            <a:off x="7696904" y="4797946"/>
            <a:ext cx="313910" cy="18002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8027715" y="5631845"/>
            <a:ext cx="22775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방문고객이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‘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대리인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’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 경우만 영역 노출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42" name="그룹 141"/>
          <p:cNvGrpSpPr/>
          <p:nvPr/>
        </p:nvGrpSpPr>
        <p:grpSpPr>
          <a:xfrm>
            <a:off x="1065798" y="3897874"/>
            <a:ext cx="3087718" cy="252000"/>
            <a:chOff x="640160" y="-566622"/>
            <a:chExt cx="3087718" cy="252000"/>
          </a:xfrm>
        </p:grpSpPr>
        <p:sp>
          <p:nvSpPr>
            <p:cNvPr id="144" name="TextBox 143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대표자명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2112152" y="-566622"/>
              <a:ext cx="1615726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대표자명 입력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46" name="오른쪽 중괄호 145"/>
          <p:cNvSpPr/>
          <p:nvPr/>
        </p:nvSpPr>
        <p:spPr>
          <a:xfrm>
            <a:off x="7696944" y="3069755"/>
            <a:ext cx="313910" cy="108012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직사각형 146"/>
          <p:cNvSpPr/>
          <p:nvPr/>
        </p:nvSpPr>
        <p:spPr>
          <a:xfrm>
            <a:off x="8027755" y="3471605"/>
            <a:ext cx="204549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법인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공공기관만 항목 노출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82492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고객</a:t>
            </a:r>
          </a:p>
        </p:txBody>
      </p:sp>
      <p:sp>
        <p:nvSpPr>
          <p:cNvPr id="19" name="눈물 방울 18"/>
          <p:cNvSpPr/>
          <p:nvPr/>
        </p:nvSpPr>
        <p:spPr>
          <a:xfrm rot="5400000">
            <a:off x="328139" y="279786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692410" y="1267596"/>
            <a:ext cx="5405041" cy="252000"/>
            <a:chOff x="424136" y="-566622"/>
            <a:chExt cx="5405041" cy="252000"/>
          </a:xfrm>
        </p:grpSpPr>
        <p:sp>
          <p:nvSpPr>
            <p:cNvPr id="21" name="TextBox 20"/>
            <p:cNvSpPr txBox="1"/>
            <p:nvPr/>
          </p:nvSpPr>
          <p:spPr>
            <a:xfrm>
              <a:off x="424136" y="-556038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변경 휴대폰번호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2222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7" name="눈물 방울 26"/>
          <p:cNvSpPr/>
          <p:nvPr/>
        </p:nvSpPr>
        <p:spPr>
          <a:xfrm rot="5400000">
            <a:off x="230130" y="977240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8" name="눈물 방울 27"/>
          <p:cNvSpPr/>
          <p:nvPr/>
        </p:nvSpPr>
        <p:spPr>
          <a:xfrm rot="5400000">
            <a:off x="6977640" y="127876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176191" y="1269554"/>
            <a:ext cx="7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인증</a:t>
            </a:r>
          </a:p>
        </p:txBody>
      </p:sp>
      <p:grpSp>
        <p:nvGrpSpPr>
          <p:cNvPr id="30" name="그룹 29"/>
          <p:cNvGrpSpPr/>
          <p:nvPr/>
        </p:nvGrpSpPr>
        <p:grpSpPr>
          <a:xfrm>
            <a:off x="699101" y="2023708"/>
            <a:ext cx="5405041" cy="252000"/>
            <a:chOff x="424136" y="-566622"/>
            <a:chExt cx="5405041" cy="252000"/>
          </a:xfrm>
        </p:grpSpPr>
        <p:sp>
          <p:nvSpPr>
            <p:cNvPr id="31" name="TextBox 30"/>
            <p:cNvSpPr txBox="1"/>
            <p:nvPr/>
          </p:nvSpPr>
          <p:spPr>
            <a:xfrm>
              <a:off x="424136" y="-556038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변경 휴대폰번호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2222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7" name="눈물 방울 36"/>
          <p:cNvSpPr/>
          <p:nvPr/>
        </p:nvSpPr>
        <p:spPr>
          <a:xfrm rot="5400000">
            <a:off x="6984331" y="203487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182882" y="2025666"/>
            <a:ext cx="72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 완료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513396" y="981522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13396" y="1743413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 성공 이후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-&gt;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버튼명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변경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비활성화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수정 불가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73136" y="2499227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grpSp>
        <p:nvGrpSpPr>
          <p:cNvPr id="43" name="그룹 42"/>
          <p:cNvGrpSpPr/>
          <p:nvPr/>
        </p:nvGrpSpPr>
        <p:grpSpPr>
          <a:xfrm>
            <a:off x="568152" y="3097482"/>
            <a:ext cx="2881818" cy="1397063"/>
            <a:chOff x="5875124" y="3832891"/>
            <a:chExt cx="2881818" cy="1397063"/>
          </a:xfrm>
        </p:grpSpPr>
        <p:sp>
          <p:nvSpPr>
            <p:cNvPr id="44" name="직사각형 43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고객 정보와 휴대폰번호가 일치하지 않습니다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휴대폰번호를 다시 확인해 주세요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47" name="직사각형 46"/>
          <p:cNvSpPr/>
          <p:nvPr/>
        </p:nvSpPr>
        <p:spPr>
          <a:xfrm>
            <a:off x="622163" y="2802628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휴대폰번호 유효성 오류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48" name="그룹 47"/>
          <p:cNvGrpSpPr/>
          <p:nvPr/>
        </p:nvGrpSpPr>
        <p:grpSpPr>
          <a:xfrm>
            <a:off x="3795207" y="3097482"/>
            <a:ext cx="2881818" cy="1397063"/>
            <a:chOff x="5875124" y="3832891"/>
            <a:chExt cx="2881818" cy="1397063"/>
          </a:xfrm>
        </p:grpSpPr>
        <p:sp>
          <p:nvSpPr>
            <p:cNvPr id="49" name="직사각형 48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휴대폰번호 인증이 완료되었습니다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52" name="직사각형 51"/>
          <p:cNvSpPr/>
          <p:nvPr/>
        </p:nvSpPr>
        <p:spPr>
          <a:xfrm>
            <a:off x="3849218" y="2802628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휴대폰번호 유효성 체크 완료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4529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고객 </a:t>
            </a:r>
            <a:r>
              <a:rPr lang="en-US" altLang="ko-KR" sz="1000" dirty="0" smtClean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미성년자</a:t>
            </a:r>
            <a:r>
              <a:rPr lang="en-US" altLang="ko-KR" sz="1000" dirty="0">
                <a:latin typeface="+mn-ea"/>
                <a:ea typeface="+mn-ea"/>
              </a:rPr>
              <a:t>(19</a:t>
            </a:r>
            <a:r>
              <a:rPr lang="ko-KR" altLang="en-US" sz="1000" dirty="0">
                <a:latin typeface="+mn-ea"/>
                <a:ea typeface="+mn-ea"/>
              </a:rPr>
              <a:t>세 미만</a:t>
            </a:r>
            <a:r>
              <a:rPr lang="en-US" altLang="ko-KR" sz="1000" dirty="0" smtClean="0">
                <a:latin typeface="+mn-ea"/>
                <a:ea typeface="+mn-ea"/>
              </a:rPr>
              <a:t>), </a:t>
            </a:r>
            <a:r>
              <a:rPr lang="ko-KR" altLang="en-US" sz="1000" dirty="0" smtClean="0">
                <a:latin typeface="+mn-ea"/>
                <a:ea typeface="+mn-ea"/>
              </a:rPr>
              <a:t>외국인 </a:t>
            </a:r>
            <a:r>
              <a:rPr lang="ko-KR" altLang="en-US" sz="1000" dirty="0">
                <a:latin typeface="+mn-ea"/>
                <a:ea typeface="+mn-ea"/>
              </a:rPr>
              <a:t>미성년자</a:t>
            </a:r>
            <a:r>
              <a:rPr lang="en-US" altLang="ko-KR" sz="1000" dirty="0">
                <a:latin typeface="+mn-ea"/>
                <a:ea typeface="+mn-ea"/>
              </a:rPr>
              <a:t>(19</a:t>
            </a:r>
            <a:r>
              <a:rPr lang="ko-KR" altLang="en-US" sz="1000" dirty="0">
                <a:latin typeface="+mn-ea"/>
                <a:ea typeface="+mn-ea"/>
              </a:rPr>
              <a:t>세 미만</a:t>
            </a:r>
            <a:r>
              <a:rPr lang="en-US" altLang="ko-KR" sz="1000" dirty="0">
                <a:latin typeface="+mn-ea"/>
                <a:ea typeface="+mn-ea"/>
              </a:rPr>
              <a:t>))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graphicFrame>
        <p:nvGraphicFramePr>
          <p:cNvPr id="68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457691"/>
              </p:ext>
            </p:extLst>
          </p:nvPr>
        </p:nvGraphicFramePr>
        <p:xfrm>
          <a:off x="10505256" y="788950"/>
          <a:ext cx="2130330" cy="6508795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B4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 확인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해당 영역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비노출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남은 시간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3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기준으로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시작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SMS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 확인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SMS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전산 모듈 이용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B4-1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재발송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신청인과의 관계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주민등록번호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연락처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재발송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이후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남은 시간 다시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3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기준으로 처음부터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시작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SMS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SMS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전산 모듈 이용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B4-2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 확인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신청인과의 관계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주민등록번호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연락처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SMS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SMS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전산 모듈 이용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S102020101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1107206" y="1267596"/>
            <a:ext cx="5405041" cy="252000"/>
            <a:chOff x="424136" y="-566622"/>
            <a:chExt cx="5405041" cy="252000"/>
          </a:xfrm>
        </p:grpSpPr>
        <p:sp>
          <p:nvSpPr>
            <p:cNvPr id="59" name="TextBox 58"/>
            <p:cNvSpPr txBox="1"/>
            <p:nvPr/>
          </p:nvSpPr>
          <p:spPr>
            <a:xfrm>
              <a:off x="424136" y="-556038"/>
              <a:ext cx="1053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연락처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2222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65" name="눈물 방울 64"/>
          <p:cNvSpPr/>
          <p:nvPr/>
        </p:nvSpPr>
        <p:spPr>
          <a:xfrm rot="5400000">
            <a:off x="7629702" y="127876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6590987" y="1269554"/>
            <a:ext cx="90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1113897" y="4039932"/>
            <a:ext cx="5405041" cy="252000"/>
            <a:chOff x="424136" y="-566622"/>
            <a:chExt cx="5405041" cy="252000"/>
          </a:xfrm>
        </p:grpSpPr>
        <p:sp>
          <p:nvSpPr>
            <p:cNvPr id="80" name="TextBox 79"/>
            <p:cNvSpPr txBox="1"/>
            <p:nvPr/>
          </p:nvSpPr>
          <p:spPr>
            <a:xfrm>
              <a:off x="424136" y="-556038"/>
              <a:ext cx="1053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연락처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2222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96" name="눈물 방울 95"/>
          <p:cNvSpPr/>
          <p:nvPr/>
        </p:nvSpPr>
        <p:spPr>
          <a:xfrm rot="5400000">
            <a:off x="7399127" y="405110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6597678" y="4041890"/>
            <a:ext cx="72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 완료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928192" y="981522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활성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928192" y="3759637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 성공 이후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-&gt;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버튼명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변경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비활성화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수정 불가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928192" y="1701602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[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발송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]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클릭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01" name="그룹 100"/>
          <p:cNvGrpSpPr/>
          <p:nvPr/>
        </p:nvGrpSpPr>
        <p:grpSpPr>
          <a:xfrm>
            <a:off x="1107206" y="1989634"/>
            <a:ext cx="5405041" cy="252000"/>
            <a:chOff x="424136" y="-566622"/>
            <a:chExt cx="5405041" cy="252000"/>
          </a:xfrm>
        </p:grpSpPr>
        <p:sp>
          <p:nvSpPr>
            <p:cNvPr id="102" name="TextBox 101"/>
            <p:cNvSpPr txBox="1"/>
            <p:nvPr/>
          </p:nvSpPr>
          <p:spPr>
            <a:xfrm>
              <a:off x="424136" y="-556038"/>
              <a:ext cx="1053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연락처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2222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10" name="눈물 방울 109"/>
          <p:cNvSpPr/>
          <p:nvPr/>
        </p:nvSpPr>
        <p:spPr>
          <a:xfrm rot="5400000">
            <a:off x="7696976" y="1969570"/>
            <a:ext cx="252000" cy="324000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B4-1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6590986" y="1991592"/>
            <a:ext cx="1016698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인증번호 </a:t>
            </a:r>
            <a:r>
              <a:rPr lang="ko-KR" altLang="en-US" sz="1000" b="1" dirty="0" err="1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재발송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" name="제목 1"/>
          <p:cNvSpPr txBox="1">
            <a:spLocks/>
          </p:cNvSpPr>
          <p:nvPr/>
        </p:nvSpPr>
        <p:spPr bwMode="auto">
          <a:xfrm>
            <a:off x="3808512" y="2279624"/>
            <a:ext cx="1074374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6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남은시간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02:33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2596597" y="2333624"/>
            <a:ext cx="1169381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 입력</a:t>
            </a: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4" name="눈물 방울 123"/>
          <p:cNvSpPr/>
          <p:nvPr/>
        </p:nvSpPr>
        <p:spPr>
          <a:xfrm rot="5400000">
            <a:off x="6040792" y="2311602"/>
            <a:ext cx="252000" cy="324000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B4-2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960639" y="2333624"/>
            <a:ext cx="973607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 확인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928192" y="2707796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입력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1107206" y="2995828"/>
            <a:ext cx="5405041" cy="252000"/>
            <a:chOff x="424136" y="-566622"/>
            <a:chExt cx="5405041" cy="252000"/>
          </a:xfrm>
        </p:grpSpPr>
        <p:sp>
          <p:nvSpPr>
            <p:cNvPr id="130" name="TextBox 129"/>
            <p:cNvSpPr txBox="1"/>
            <p:nvPr/>
          </p:nvSpPr>
          <p:spPr>
            <a:xfrm>
              <a:off x="424136" y="-556038"/>
              <a:ext cx="1053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연락처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8" name="직사각형 147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2222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50" name="눈물 방울 149"/>
          <p:cNvSpPr/>
          <p:nvPr/>
        </p:nvSpPr>
        <p:spPr>
          <a:xfrm rot="5400000">
            <a:off x="7696976" y="2975764"/>
            <a:ext cx="252000" cy="324000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B4-1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6590986" y="2997786"/>
            <a:ext cx="1016698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인증번호 </a:t>
            </a:r>
            <a:r>
              <a:rPr lang="ko-KR" altLang="en-US" sz="1000" b="1" dirty="0" err="1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재발송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2" name="제목 1"/>
          <p:cNvSpPr txBox="1">
            <a:spLocks/>
          </p:cNvSpPr>
          <p:nvPr/>
        </p:nvSpPr>
        <p:spPr bwMode="auto">
          <a:xfrm>
            <a:off x="3808512" y="3285818"/>
            <a:ext cx="1074374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6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남은시간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02:33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2596597" y="3339818"/>
            <a:ext cx="1169381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 입력</a:t>
            </a: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4" name="눈물 방울 153"/>
          <p:cNvSpPr/>
          <p:nvPr/>
        </p:nvSpPr>
        <p:spPr>
          <a:xfrm rot="5400000">
            <a:off x="6040792" y="3317796"/>
            <a:ext cx="252000" cy="324000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B4-2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4960639" y="3339818"/>
            <a:ext cx="973607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인증번호 확인</a:t>
            </a:r>
          </a:p>
        </p:txBody>
      </p:sp>
      <p:sp>
        <p:nvSpPr>
          <p:cNvPr id="156" name="눈물 방울 155"/>
          <p:cNvSpPr/>
          <p:nvPr/>
        </p:nvSpPr>
        <p:spPr>
          <a:xfrm rot="5400000">
            <a:off x="356894" y="976757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6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813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smtClean="0">
                <a:latin typeface="+mn-ea"/>
                <a:ea typeface="+mn-ea"/>
              </a:rPr>
              <a:t>서비스변</a:t>
            </a:r>
            <a:r>
              <a:rPr lang="ko-KR" altLang="en-US" sz="1000" dirty="0">
                <a:latin typeface="+mn-ea"/>
                <a:ea typeface="+mn-ea"/>
              </a:rPr>
              <a:t>경</a:t>
            </a:r>
            <a:r>
              <a:rPr lang="ko-KR" altLang="en-US" sz="1000" dirty="0" smtClean="0">
                <a:latin typeface="+mn-ea"/>
                <a:ea typeface="+mn-ea"/>
              </a:rPr>
              <a:t> </a:t>
            </a:r>
            <a:r>
              <a:rPr lang="ko-KR" altLang="en-US" sz="1000" dirty="0">
                <a:latin typeface="+mn-ea"/>
                <a:ea typeface="+mn-ea"/>
              </a:rPr>
              <a:t>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고객 </a:t>
            </a:r>
            <a:r>
              <a:rPr lang="en-US" altLang="ko-KR" sz="1000" dirty="0" smtClean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미성년자</a:t>
            </a:r>
            <a:r>
              <a:rPr lang="en-US" altLang="ko-KR" sz="1000" dirty="0">
                <a:latin typeface="+mn-ea"/>
                <a:ea typeface="+mn-ea"/>
              </a:rPr>
              <a:t>(19</a:t>
            </a:r>
            <a:r>
              <a:rPr lang="ko-KR" altLang="en-US" sz="1000" dirty="0">
                <a:latin typeface="+mn-ea"/>
                <a:ea typeface="+mn-ea"/>
              </a:rPr>
              <a:t>세 미만</a:t>
            </a:r>
            <a:r>
              <a:rPr lang="en-US" altLang="ko-KR" sz="1000" dirty="0" smtClean="0">
                <a:latin typeface="+mn-ea"/>
                <a:ea typeface="+mn-ea"/>
              </a:rPr>
              <a:t>), </a:t>
            </a:r>
            <a:r>
              <a:rPr lang="ko-KR" altLang="en-US" sz="1000" dirty="0" smtClean="0">
                <a:latin typeface="+mn-ea"/>
                <a:ea typeface="+mn-ea"/>
              </a:rPr>
              <a:t>외국인 </a:t>
            </a:r>
            <a:r>
              <a:rPr lang="ko-KR" altLang="en-US" sz="1000" dirty="0">
                <a:latin typeface="+mn-ea"/>
                <a:ea typeface="+mn-ea"/>
              </a:rPr>
              <a:t>미성년자</a:t>
            </a:r>
            <a:r>
              <a:rPr lang="en-US" altLang="ko-KR" sz="1000" dirty="0">
                <a:latin typeface="+mn-ea"/>
                <a:ea typeface="+mn-ea"/>
              </a:rPr>
              <a:t>(19</a:t>
            </a:r>
            <a:r>
              <a:rPr lang="ko-KR" altLang="en-US" sz="1000" dirty="0">
                <a:latin typeface="+mn-ea"/>
                <a:ea typeface="+mn-ea"/>
              </a:rPr>
              <a:t>세 미만</a:t>
            </a:r>
            <a:r>
              <a:rPr lang="en-US" altLang="ko-KR" sz="1000" dirty="0">
                <a:latin typeface="+mn-ea"/>
                <a:ea typeface="+mn-ea"/>
              </a:rPr>
              <a:t>))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73136" y="693490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sp>
        <p:nvSpPr>
          <p:cNvPr id="91" name="눈물 방울 90"/>
          <p:cNvSpPr/>
          <p:nvPr/>
        </p:nvSpPr>
        <p:spPr>
          <a:xfrm rot="5400000">
            <a:off x="627761" y="102785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928192" y="1072148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발송 처리 후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93" name="그룹 92"/>
          <p:cNvGrpSpPr/>
          <p:nvPr/>
        </p:nvGrpSpPr>
        <p:grpSpPr>
          <a:xfrm>
            <a:off x="620358" y="1348481"/>
            <a:ext cx="2880000" cy="1400103"/>
            <a:chOff x="620358" y="4765995"/>
            <a:chExt cx="2880000" cy="1400103"/>
          </a:xfrm>
        </p:grpSpPr>
        <p:sp>
          <p:nvSpPr>
            <p:cNvPr id="94" name="직사각형 93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인증번호가 발송되었습니다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622994" y="5806098"/>
              <a:ext cx="2877363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sp>
        <p:nvSpPr>
          <p:cNvPr id="97" name="눈물 방울 96"/>
          <p:cNvSpPr/>
          <p:nvPr/>
        </p:nvSpPr>
        <p:spPr>
          <a:xfrm rot="5400000">
            <a:off x="555753" y="295984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4053413" y="1072147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미발송된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3745579" y="1348480"/>
            <a:ext cx="2880000" cy="1400103"/>
            <a:chOff x="620358" y="4765995"/>
            <a:chExt cx="2880000" cy="1400103"/>
          </a:xfrm>
        </p:grpSpPr>
        <p:sp>
          <p:nvSpPr>
            <p:cNvPr id="100" name="직사각형 99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 발송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]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버튼을 클릭하시면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</a:p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인증번호가 등록된 휴대폰으로 발송됩니다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622994" y="5806098"/>
              <a:ext cx="2877363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sp>
        <p:nvSpPr>
          <p:cNvPr id="103" name="직사각형 102"/>
          <p:cNvSpPr/>
          <p:nvPr/>
        </p:nvSpPr>
        <p:spPr>
          <a:xfrm>
            <a:off x="928192" y="3007738"/>
            <a:ext cx="278851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미입력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혹은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6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자리가 아닌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04" name="그룹 103"/>
          <p:cNvGrpSpPr/>
          <p:nvPr/>
        </p:nvGrpSpPr>
        <p:grpSpPr>
          <a:xfrm>
            <a:off x="657325" y="3284071"/>
            <a:ext cx="2880000" cy="1400103"/>
            <a:chOff x="620358" y="4765995"/>
            <a:chExt cx="2880000" cy="1400103"/>
          </a:xfrm>
        </p:grpSpPr>
        <p:sp>
          <p:nvSpPr>
            <p:cNvPr id="105" name="직사각형 104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인증번호는 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6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 숫자로 입력해 주세요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622994" y="5806098"/>
              <a:ext cx="2877363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sp>
        <p:nvSpPr>
          <p:cNvPr id="110" name="직사각형 109"/>
          <p:cNvSpPr/>
          <p:nvPr/>
        </p:nvSpPr>
        <p:spPr>
          <a:xfrm>
            <a:off x="3880520" y="3007738"/>
            <a:ext cx="278851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일치하지 않는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11" name="그룹 110"/>
          <p:cNvGrpSpPr/>
          <p:nvPr/>
        </p:nvGrpSpPr>
        <p:grpSpPr>
          <a:xfrm>
            <a:off x="3609653" y="3284071"/>
            <a:ext cx="2880000" cy="1400103"/>
            <a:chOff x="620358" y="4765995"/>
            <a:chExt cx="2880000" cy="1400103"/>
          </a:xfrm>
        </p:grpSpPr>
        <p:sp>
          <p:nvSpPr>
            <p:cNvPr id="112" name="직사각형 111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인증번호가 일치하지 않습니다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4" name="직사각형 123"/>
            <p:cNvSpPr/>
            <p:nvPr/>
          </p:nvSpPr>
          <p:spPr>
            <a:xfrm>
              <a:off x="622994" y="5806098"/>
              <a:ext cx="2877363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sp>
        <p:nvSpPr>
          <p:cNvPr id="127" name="직사각형 126"/>
          <p:cNvSpPr/>
          <p:nvPr/>
        </p:nvSpPr>
        <p:spPr>
          <a:xfrm>
            <a:off x="6832848" y="3004132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유효시간 경과된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28" name="그룹 127"/>
          <p:cNvGrpSpPr/>
          <p:nvPr/>
        </p:nvGrpSpPr>
        <p:grpSpPr>
          <a:xfrm>
            <a:off x="6561981" y="3280465"/>
            <a:ext cx="2880000" cy="1400103"/>
            <a:chOff x="620358" y="4765995"/>
            <a:chExt cx="2880000" cy="1400103"/>
          </a:xfrm>
        </p:grpSpPr>
        <p:sp>
          <p:nvSpPr>
            <p:cNvPr id="129" name="직사각형 128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0" name="직사각형 129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 유효시간이 종료되었습니다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 </a:t>
              </a: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재발송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]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버튼을 클릭하시면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</a:p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인증번호가 </a:t>
              </a: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재발송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됩니다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622994" y="5806098"/>
              <a:ext cx="2877363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4" name="눈물 방울 33"/>
          <p:cNvSpPr/>
          <p:nvPr/>
        </p:nvSpPr>
        <p:spPr>
          <a:xfrm rot="5400000">
            <a:off x="356894" y="977240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6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612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691779"/>
              </p:ext>
            </p:extLst>
          </p:nvPr>
        </p:nvGraphicFramePr>
        <p:xfrm>
          <a:off x="10505256" y="788950"/>
          <a:ext cx="2130330" cy="1438088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연락처 정보 입력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우편번호 팝업 표시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 smtClean="0">
                <a:latin typeface="+mn-ea"/>
                <a:ea typeface="+mn-ea"/>
              </a:rPr>
              <a:t>고객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1072208" y="1182256"/>
            <a:ext cx="9252000" cy="246221"/>
            <a:chOff x="1072208" y="1117425"/>
            <a:chExt cx="9252000" cy="246221"/>
          </a:xfrm>
        </p:grpSpPr>
        <p:sp>
          <p:nvSpPr>
            <p:cNvPr id="175" name="TextBox 174"/>
            <p:cNvSpPr txBox="1"/>
            <p:nvPr/>
          </p:nvSpPr>
          <p:spPr>
            <a:xfrm>
              <a:off x="1072208" y="1117425"/>
              <a:ext cx="9989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가입자 연락처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76" name="직선 연결선 175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그룹 176"/>
          <p:cNvGrpSpPr/>
          <p:nvPr/>
        </p:nvGrpSpPr>
        <p:grpSpPr>
          <a:xfrm>
            <a:off x="1059141" y="1536517"/>
            <a:ext cx="5405041" cy="252000"/>
            <a:chOff x="424136" y="-566622"/>
            <a:chExt cx="5405041" cy="252000"/>
          </a:xfrm>
        </p:grpSpPr>
        <p:sp>
          <p:nvSpPr>
            <p:cNvPr id="178" name="TextBox 177"/>
            <p:cNvSpPr txBox="1"/>
            <p:nvPr/>
          </p:nvSpPr>
          <p:spPr>
            <a:xfrm>
              <a:off x="424136" y="-556038"/>
              <a:ext cx="8146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9" name="직사각형 178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180" name="직사각형 179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84" name="그룹 183"/>
          <p:cNvGrpSpPr/>
          <p:nvPr/>
        </p:nvGrpSpPr>
        <p:grpSpPr>
          <a:xfrm>
            <a:off x="1059141" y="1896557"/>
            <a:ext cx="5405041" cy="252000"/>
            <a:chOff x="424136" y="-566622"/>
            <a:chExt cx="5405041" cy="252000"/>
          </a:xfrm>
        </p:grpSpPr>
        <p:sp>
          <p:nvSpPr>
            <p:cNvPr id="185" name="TextBox 184"/>
            <p:cNvSpPr txBox="1"/>
            <p:nvPr/>
          </p:nvSpPr>
          <p:spPr>
            <a:xfrm>
              <a:off x="424136" y="-556038"/>
              <a:ext cx="6463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전화번호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지역번호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7" name="직사각형 186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9" name="직사각형 188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91" name="그룹 190"/>
          <p:cNvGrpSpPr/>
          <p:nvPr/>
        </p:nvGrpSpPr>
        <p:grpSpPr>
          <a:xfrm>
            <a:off x="1054956" y="2256597"/>
            <a:ext cx="5409226" cy="252000"/>
            <a:chOff x="424136" y="-566622"/>
            <a:chExt cx="5409226" cy="252000"/>
          </a:xfrm>
        </p:grpSpPr>
        <p:sp>
          <p:nvSpPr>
            <p:cNvPr id="192" name="TextBox 191"/>
            <p:cNvSpPr txBox="1"/>
            <p:nvPr/>
          </p:nvSpPr>
          <p:spPr>
            <a:xfrm>
              <a:off x="424136" y="-556038"/>
              <a:ext cx="8146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이메일주소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1910424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이메일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아이디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4" name="직사각형 193"/>
            <p:cNvSpPr/>
            <p:nvPr/>
          </p:nvSpPr>
          <p:spPr>
            <a:xfrm>
              <a:off x="3282762" y="-566622"/>
              <a:ext cx="25506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이메일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도메인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3025049" y="-554080"/>
              <a:ext cx="2984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@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96" name="눈물 방울 195"/>
          <p:cNvSpPr/>
          <p:nvPr/>
        </p:nvSpPr>
        <p:spPr>
          <a:xfrm rot="5400000">
            <a:off x="878602" y="11207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97" name="그룹 196"/>
          <p:cNvGrpSpPr/>
          <p:nvPr/>
        </p:nvGrpSpPr>
        <p:grpSpPr>
          <a:xfrm>
            <a:off x="1059141" y="2622416"/>
            <a:ext cx="2207811" cy="252000"/>
            <a:chOff x="424136" y="-566622"/>
            <a:chExt cx="2207811" cy="252000"/>
          </a:xfrm>
        </p:grpSpPr>
        <p:sp>
          <p:nvSpPr>
            <p:cNvPr id="198" name="TextBox 197"/>
            <p:cNvSpPr txBox="1"/>
            <p:nvPr/>
          </p:nvSpPr>
          <p:spPr>
            <a:xfrm>
              <a:off x="424136" y="-556038"/>
              <a:ext cx="4683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주소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9" name="직사각형 198"/>
            <p:cNvSpPr/>
            <p:nvPr/>
          </p:nvSpPr>
          <p:spPr>
            <a:xfrm>
              <a:off x="1911947" y="-566622"/>
              <a:ext cx="72000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우편번호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00" name="그룹 199"/>
          <p:cNvGrpSpPr/>
          <p:nvPr/>
        </p:nvGrpSpPr>
        <p:grpSpPr>
          <a:xfrm>
            <a:off x="2541846" y="2982456"/>
            <a:ext cx="5400000" cy="576064"/>
            <a:chOff x="1911026" y="-566622"/>
            <a:chExt cx="5400000" cy="576064"/>
          </a:xfrm>
        </p:grpSpPr>
        <p:sp>
          <p:nvSpPr>
            <p:cNvPr id="201" name="직사각형 200"/>
            <p:cNvSpPr/>
            <p:nvPr/>
          </p:nvSpPr>
          <p:spPr>
            <a:xfrm>
              <a:off x="1911026" y="-566622"/>
              <a:ext cx="540000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주소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2" name="직사각형 201"/>
            <p:cNvSpPr/>
            <p:nvPr/>
          </p:nvSpPr>
          <p:spPr>
            <a:xfrm>
              <a:off x="1911026" y="-242558"/>
              <a:ext cx="540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상세주소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03" name="눈물 방울 202"/>
          <p:cNvSpPr/>
          <p:nvPr/>
        </p:nvSpPr>
        <p:spPr>
          <a:xfrm rot="5400000">
            <a:off x="4536059" y="262988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3349186" y="2622416"/>
            <a:ext cx="108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우편번호 찾기</a:t>
            </a: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756152"/>
              </p:ext>
            </p:extLst>
          </p:nvPr>
        </p:nvGraphicFramePr>
        <p:xfrm>
          <a:off x="12914755" y="109568"/>
          <a:ext cx="3443089" cy="96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휴대폰번호 항목에 안내 문구추가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직사각형 38"/>
          <p:cNvSpPr/>
          <p:nvPr/>
        </p:nvSpPr>
        <p:spPr>
          <a:xfrm>
            <a:off x="6544816" y="1549059"/>
            <a:ext cx="3744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rPr>
              <a:t>※ 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rPr>
              <a:t>신청서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rPr>
              <a:t>발송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rPr>
              <a:t>요청시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rPr>
              <a:t> 추가로 발송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1088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 smtClean="0">
                <a:latin typeface="+mn-ea"/>
                <a:ea typeface="+mn-ea"/>
              </a:rPr>
              <a:t>고객</a:t>
            </a:r>
            <a:endParaRPr lang="ko-KR" altLang="en-US" sz="1000" dirty="0">
              <a:latin typeface="+mn-ea"/>
              <a:ea typeface="+mn-ea"/>
            </a:endParaRPr>
          </a:p>
        </p:txBody>
      </p:sp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401807"/>
              </p:ext>
            </p:extLst>
          </p:nvPr>
        </p:nvGraphicFramePr>
        <p:xfrm>
          <a:off x="12914755" y="109568"/>
          <a:ext cx="3443089" cy="1091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 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동시처리 불가 업무 체크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직사각형 59"/>
          <p:cNvSpPr/>
          <p:nvPr/>
        </p:nvSpPr>
        <p:spPr>
          <a:xfrm>
            <a:off x="12881520" y="1638465"/>
            <a:ext cx="2880320" cy="1431289"/>
          </a:xfrm>
          <a:prstGeom prst="rect">
            <a:avLst/>
          </a:prstGeom>
          <a:solidFill>
            <a:srgbClr val="FFFF00">
              <a:alpha val="75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b="1" dirty="0" smtClean="0">
                <a:solidFill>
                  <a:srgbClr val="FF0000"/>
                </a:solidFill>
                <a:latin typeface="+mn-ea"/>
                <a:ea typeface="+mn-ea"/>
              </a:rPr>
              <a:t>(2026.03.10)</a:t>
            </a:r>
          </a:p>
          <a:p>
            <a:pPr>
              <a:spcBef>
                <a:spcPct val="50000"/>
              </a:spcBef>
            </a:pP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서비스 선택을 카테고리화해서 디자인 </a:t>
            </a:r>
            <a:r>
              <a:rPr lang="ko-KR" altLang="en-US" sz="1000" b="1" dirty="0" smtClean="0">
                <a:solidFill>
                  <a:srgbClr val="FF0000"/>
                </a:solidFill>
                <a:latin typeface="+mn-ea"/>
                <a:ea typeface="+mn-ea"/>
              </a:rPr>
              <a:t>여부</a:t>
            </a:r>
            <a:endParaRPr lang="en-US" altLang="ko-KR" sz="1000" b="1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ko-KR" sz="1000" b="1" dirty="0" smtClean="0">
                <a:solidFill>
                  <a:srgbClr val="FF0000"/>
                </a:solidFill>
                <a:latin typeface="+mn-ea"/>
                <a:ea typeface="+mn-ea"/>
              </a:rPr>
              <a:t>=&gt; </a:t>
            </a:r>
            <a:r>
              <a:rPr lang="ko-KR" altLang="en-US" sz="1000" b="1" dirty="0" err="1">
                <a:solidFill>
                  <a:srgbClr val="FF0000"/>
                </a:solidFill>
                <a:latin typeface="+mn-ea"/>
                <a:ea typeface="+mn-ea"/>
              </a:rPr>
              <a:t>유통영업팀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 확인 후 피드백 예정</a:t>
            </a:r>
            <a:endParaRPr lang="ko-KR" altLang="en-US" sz="1000" b="1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962696" y="981522"/>
            <a:ext cx="9468000" cy="669674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015190"/>
              </p:ext>
            </p:extLst>
          </p:nvPr>
        </p:nvGraphicFramePr>
        <p:xfrm>
          <a:off x="10505256" y="788950"/>
          <a:ext cx="2130330" cy="6802539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디폴트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업무 화면에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디폴트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없음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전체선택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동시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불가능 업무 제외하고 모두 선택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동시 변경 불가능 업무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번호변경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분실복구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일시정지해제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신청</a:t>
                      </a:r>
                      <a:endParaRPr lang="ko-KR" altLang="en-US" sz="800" b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 선택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동시 변경 불가능 업무 중 먼저 선택한 업무를 제외하고는 선택 불가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동시 변경 불가능 업무 중 선택 해제 하면 나머지 업무 선택 가능하도록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대상 서비스 선택 여부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동시 변경 불가능 업무 유효성 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코드관리에 등록된 대상 서비스 변경 대상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 시점 기준 유효한 등록 정보에 한하여 조회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동시 처리 가능 여부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이미징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 대상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대리점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로그인 아이디의 설정 대리점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 체크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 완료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 체크 여부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1072208" y="1086715"/>
            <a:ext cx="9252000" cy="246221"/>
            <a:chOff x="1072208" y="1117425"/>
            <a:chExt cx="9252000" cy="246221"/>
          </a:xfrm>
        </p:grpSpPr>
        <p:sp>
          <p:nvSpPr>
            <p:cNvPr id="3" name="TextBox 2"/>
            <p:cNvSpPr txBox="1"/>
            <p:nvPr/>
          </p:nvSpPr>
          <p:spPr>
            <a:xfrm>
              <a:off x="1072208" y="1117425"/>
              <a:ext cx="11721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서비스 </a:t>
              </a:r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변경 선택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8" name="눈물 방울 197"/>
          <p:cNvSpPr/>
          <p:nvPr/>
        </p:nvSpPr>
        <p:spPr>
          <a:xfrm rot="5400000">
            <a:off x="967461" y="98754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053932" y="1512984"/>
            <a:ext cx="8731244" cy="1224024"/>
            <a:chOff x="1053932" y="1593618"/>
            <a:chExt cx="8731244" cy="1224024"/>
          </a:xfrm>
        </p:grpSpPr>
        <p:sp>
          <p:nvSpPr>
            <p:cNvPr id="88" name="직사각형 87"/>
            <p:cNvSpPr/>
            <p:nvPr/>
          </p:nvSpPr>
          <p:spPr>
            <a:xfrm>
              <a:off x="2538387" y="1593618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무선데이터차단 서비스</a:t>
              </a: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4986659" y="1593618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정보료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상한금액 설정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053932" y="1604202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서비스 선택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7434931" y="1593618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부가서비스 신청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2541293" y="1917626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요금제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4986659" y="1917626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번호변경</a:t>
              </a: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7434931" y="1917626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분실복구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일시정지해제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신청</a:t>
              </a: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2541293" y="2241634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단말보험 가입</a:t>
              </a: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4986659" y="2241690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2541293" y="2565642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가입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4986659" y="2565642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아무나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SOLO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결합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E6AAF79A-EDEC-FD25-3FC1-7CC9DF383ABB}"/>
              </a:ext>
            </a:extLst>
          </p:cNvPr>
          <p:cNvGrpSpPr/>
          <p:nvPr/>
        </p:nvGrpSpPr>
        <p:grpSpPr>
          <a:xfrm>
            <a:off x="1000200" y="3961256"/>
            <a:ext cx="3240360" cy="252000"/>
            <a:chOff x="568152" y="-568150"/>
            <a:chExt cx="3240360" cy="252000"/>
          </a:xfrm>
        </p:grpSpPr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E4D2D81B-444E-77AF-7549-638F68744F44}"/>
                </a:ext>
              </a:extLst>
            </p:cNvPr>
            <p:cNvSpPr txBox="1"/>
            <p:nvPr/>
          </p:nvSpPr>
          <p:spPr>
            <a:xfrm>
              <a:off x="568152" y="-556038"/>
              <a:ext cx="5838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대리점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="" xmlns:a16="http://schemas.microsoft.com/office/drawing/2014/main" id="{EA98527B-75A9-9959-F099-A147BB681391}"/>
                </a:ext>
              </a:extLst>
            </p:cNvPr>
            <p:cNvGrpSpPr/>
            <p:nvPr/>
          </p:nvGrpSpPr>
          <p:grpSpPr>
            <a:xfrm>
              <a:off x="2111550" y="-568150"/>
              <a:ext cx="1696962" cy="252000"/>
              <a:chOff x="2111550" y="-568150"/>
              <a:chExt cx="1696962" cy="252000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="" xmlns:a16="http://schemas.microsoft.com/office/drawing/2014/main" id="{663140B6-8AFF-32EE-66F2-059AC482B454}"/>
                  </a:ext>
                </a:extLst>
              </p:cNvPr>
              <p:cNvSpPr/>
              <p:nvPr/>
            </p:nvSpPr>
            <p:spPr>
              <a:xfrm>
                <a:off x="2111550" y="-568150"/>
                <a:ext cx="1696962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대리점 선택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3" name="Picture 4">
                <a:extLst>
                  <a:ext uri="{FF2B5EF4-FFF2-40B4-BE49-F238E27FC236}">
                    <a16:creationId xmlns="" xmlns:a16="http://schemas.microsoft.com/office/drawing/2014/main" id="{C235DA18-4AD8-9E37-EB65-EAE87F90E2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91886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40" name="TextBox 39"/>
          <p:cNvSpPr txBox="1"/>
          <p:nvPr/>
        </p:nvSpPr>
        <p:spPr>
          <a:xfrm>
            <a:off x="2510926" y="3089728"/>
            <a:ext cx="3230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동시 변경 불가능 업무</a:t>
            </a:r>
          </a:p>
          <a:p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  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요금제 변경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번호변경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분실복구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일시정지해제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신청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2584376" y="2845104"/>
            <a:ext cx="866406" cy="230832"/>
            <a:chOff x="1936304" y="-857339"/>
            <a:chExt cx="866406" cy="230832"/>
          </a:xfrm>
        </p:grpSpPr>
        <p:sp>
          <p:nvSpPr>
            <p:cNvPr id="42" name="타원 41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116304" y="-857339"/>
              <a:ext cx="6864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 smtClean="0">
                  <a:latin typeface="+mn-ea"/>
                  <a:ea typeface="+mn-ea"/>
                </a:rPr>
                <a:t>전체 선택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5" name="눈물 방울 44"/>
          <p:cNvSpPr/>
          <p:nvPr/>
        </p:nvSpPr>
        <p:spPr>
          <a:xfrm rot="5400000">
            <a:off x="3383931" y="353842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2582482" y="3529208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서비스 체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크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10926" y="6742162"/>
            <a:ext cx="3230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동시 변경 불가능 업무</a:t>
            </a:r>
          </a:p>
          <a:p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  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요금제 변경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번호변경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분실복구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일시정지해제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신청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5" name="눈물 방울 84"/>
          <p:cNvSpPr/>
          <p:nvPr/>
        </p:nvSpPr>
        <p:spPr>
          <a:xfrm rot="5400000">
            <a:off x="3383931" y="719085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2582482" y="7181642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서비스 체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크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1053932" y="5013970"/>
            <a:ext cx="8731244" cy="1584176"/>
            <a:chOff x="1053932" y="5013970"/>
            <a:chExt cx="8731244" cy="1584176"/>
          </a:xfrm>
        </p:grpSpPr>
        <p:sp>
          <p:nvSpPr>
            <p:cNvPr id="70" name="직사각형 69"/>
            <p:cNvSpPr/>
            <p:nvPr/>
          </p:nvSpPr>
          <p:spPr>
            <a:xfrm>
              <a:off x="2538387" y="5013970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무선데이터차단 서비스</a:t>
              </a: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4986658" y="5013970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정보료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상한금액 설정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53932" y="5024554"/>
              <a:ext cx="11592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요금제</a:t>
              </a:r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부가서비스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7434931" y="5013970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부가서비스 신청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2538387" y="5337978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요금제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2538387" y="6346146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번호변경</a:t>
              </a: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2538387" y="6022082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분실복구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일시정지해제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신청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4986658" y="5337978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단말보험 가입</a:t>
              </a: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4986658" y="6324978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2538387" y="5691932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가입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4986658" y="5662042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아무나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SOLO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결합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65044" y="6022082"/>
              <a:ext cx="92845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일시</a:t>
              </a:r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분실정지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056968" y="6346146"/>
              <a:ext cx="9172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가입정보 변경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065044" y="5662042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결합서비스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92" name="직사각형 91"/>
          <p:cNvSpPr/>
          <p:nvPr/>
        </p:nvSpPr>
        <p:spPr>
          <a:xfrm>
            <a:off x="402788" y="4622333"/>
            <a:ext cx="2880320" cy="247621"/>
          </a:xfrm>
          <a:prstGeom prst="rect">
            <a:avLst/>
          </a:prstGeom>
          <a:solidFill>
            <a:srgbClr val="FFFF00">
              <a:alpha val="75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b="1" dirty="0" smtClean="0">
                <a:solidFill>
                  <a:srgbClr val="FF0000"/>
                </a:solidFill>
                <a:latin typeface="+mn-ea"/>
                <a:ea typeface="+mn-ea"/>
              </a:rPr>
              <a:t>서비스 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선택을 </a:t>
            </a:r>
            <a:r>
              <a:rPr lang="ko-KR" altLang="en-US" sz="1000" b="1" dirty="0" smtClean="0">
                <a:solidFill>
                  <a:srgbClr val="FF0000"/>
                </a:solidFill>
                <a:latin typeface="+mn-ea"/>
                <a:ea typeface="+mn-ea"/>
              </a:rPr>
              <a:t>카테고리화</a:t>
            </a:r>
          </a:p>
        </p:txBody>
      </p:sp>
    </p:spTree>
    <p:extLst>
      <p:ext uri="{BB962C8B-B14F-4D97-AF65-F5344CB8AC3E}">
        <p14:creationId xmlns:p14="http://schemas.microsoft.com/office/powerpoint/2010/main" val="1219942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640160" y="2997746"/>
            <a:ext cx="3744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73136" y="2709715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73136" y="4573917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566654" y="5273091"/>
            <a:ext cx="2881818" cy="1397063"/>
            <a:chOff x="5875124" y="3832891"/>
            <a:chExt cx="2881818" cy="1397063"/>
          </a:xfrm>
        </p:grpSpPr>
        <p:sp>
          <p:nvSpPr>
            <p:cNvPr id="31" name="직사각형 30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동시 처리 불가능한 업무가 있습니다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번호변경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분실복구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일시정지해제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신청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요금제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핸드폰 기변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일반기변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4" name="직사각형 33"/>
          <p:cNvSpPr/>
          <p:nvPr/>
        </p:nvSpPr>
        <p:spPr>
          <a:xfrm>
            <a:off x="620665" y="4978237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동시 불가능 업무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6" name="눈물 방울 35"/>
          <p:cNvSpPr/>
          <p:nvPr/>
        </p:nvSpPr>
        <p:spPr>
          <a:xfrm rot="5400000">
            <a:off x="396968" y="5009205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 smtClean="0">
                <a:latin typeface="+mn-ea"/>
                <a:ea typeface="+mn-ea"/>
              </a:rPr>
              <a:t>고객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59" name="눈물 방울 58"/>
          <p:cNvSpPr/>
          <p:nvPr/>
        </p:nvSpPr>
        <p:spPr>
          <a:xfrm rot="5400000">
            <a:off x="374464" y="303541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856184" y="3285778"/>
            <a:ext cx="7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서비스 체크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622590" y="3681850"/>
            <a:ext cx="3744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체크 완료 후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-&gt;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버튼명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변경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,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비활성화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(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수정 불가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838614" y="3969882"/>
            <a:ext cx="72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서비스 </a:t>
            </a: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완료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1053932" y="1341674"/>
            <a:ext cx="8731244" cy="1224024"/>
            <a:chOff x="1053932" y="5014082"/>
            <a:chExt cx="8731244" cy="1224024"/>
          </a:xfrm>
        </p:grpSpPr>
        <p:sp>
          <p:nvSpPr>
            <p:cNvPr id="20" name="직사각형 19"/>
            <p:cNvSpPr/>
            <p:nvPr/>
          </p:nvSpPr>
          <p:spPr>
            <a:xfrm>
              <a:off x="2538387" y="5014082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무선데이터차단 서비스</a:t>
              </a: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4986659" y="5014082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정보료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상한금액 설정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53932" y="5024666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서비스 선택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7434931" y="5014082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부가서비스 신청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2541293" y="5338090"/>
              <a:ext cx="2350245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요금제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4986659" y="5338090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번호변경</a:t>
              </a: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434931" y="5338090"/>
              <a:ext cx="2350245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분실복구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일시정지해제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신청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541293" y="5662098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단말보험 가입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986659" y="5662154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541293" y="5986106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가입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4986659" y="5986106"/>
              <a:ext cx="235024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아무나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SOLO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결합</a:t>
              </a:r>
            </a:p>
          </p:txBody>
        </p:sp>
      </p:grpSp>
      <p:sp>
        <p:nvSpPr>
          <p:cNvPr id="40" name="직사각형 39"/>
          <p:cNvSpPr/>
          <p:nvPr/>
        </p:nvSpPr>
        <p:spPr>
          <a:xfrm>
            <a:off x="640160" y="1023445"/>
            <a:ext cx="568863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동시 변경 불가능 업무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선택시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나머지 동시 변경 불가 업무 선택 불가하도록 비활성화 처리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73136" y="693490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 err="1">
                <a:latin typeface="+mn-ea"/>
                <a:ea typeface="+mn-ea"/>
              </a:rPr>
              <a:t>케이스별</a:t>
            </a:r>
            <a:r>
              <a:rPr lang="ko-KR" altLang="en-US" sz="1200" b="1" dirty="0">
                <a:latin typeface="+mn-ea"/>
                <a:ea typeface="+mn-ea"/>
              </a:rPr>
              <a:t> 항목 </a:t>
            </a:r>
            <a:r>
              <a:rPr lang="ko-KR" altLang="en-US" sz="1200" b="1" dirty="0" err="1">
                <a:latin typeface="+mn-ea"/>
                <a:ea typeface="+mn-ea"/>
              </a:rPr>
              <a:t>세팅</a:t>
            </a:r>
            <a:endParaRPr lang="ko-KR" altLang="en-US" sz="12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8381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928021"/>
              </p:ext>
            </p:extLst>
          </p:nvPr>
        </p:nvGraphicFramePr>
        <p:xfrm>
          <a:off x="10505256" y="788950"/>
          <a:ext cx="2130330" cy="2973115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좌측 메뉴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작성단계에 맞춰 활성화 되어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서비스변경을 신청한 영역만 화면에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영역에 맞는 사전 정보 조회 및 유효성 체크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항목이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선택되면 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업무별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 신청서 양식 펼침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62696" y="1062156"/>
            <a:ext cx="9468000" cy="558468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08192" y="1057862"/>
            <a:ext cx="720000" cy="4368542"/>
            <a:chOff x="208192" y="1057862"/>
            <a:chExt cx="720000" cy="4368542"/>
          </a:xfrm>
        </p:grpSpPr>
        <p:sp>
          <p:nvSpPr>
            <p:cNvPr id="48" name="직사각형 47"/>
            <p:cNvSpPr/>
            <p:nvPr/>
          </p:nvSpPr>
          <p:spPr>
            <a:xfrm>
              <a:off x="208192" y="1057862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신규</a:t>
              </a:r>
              <a:r>
                <a:rPr lang="en-US" altLang="ko-KR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208192" y="1601009"/>
              <a:ext cx="720000" cy="540000"/>
            </a:xfrm>
            <a:prstGeom prst="rect">
              <a:avLst/>
            </a:prstGeom>
            <a:solidFill>
              <a:srgbClr val="1BA6C7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208192" y="3267915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명의변경</a:t>
              </a: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208192" y="3807411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208192" y="4346907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부가기능</a:t>
              </a:r>
            </a:p>
          </p:txBody>
        </p:sp>
        <p:grpSp>
          <p:nvGrpSpPr>
            <p:cNvPr id="53" name="그룹 52"/>
            <p:cNvGrpSpPr/>
            <p:nvPr/>
          </p:nvGrpSpPr>
          <p:grpSpPr>
            <a:xfrm>
              <a:off x="208192" y="4886404"/>
              <a:ext cx="720000" cy="540000"/>
              <a:chOff x="1648352" y="5642535"/>
              <a:chExt cx="720000" cy="540000"/>
            </a:xfrm>
          </p:grpSpPr>
          <p:sp>
            <p:nvSpPr>
              <p:cNvPr id="60" name="직사각형 59"/>
              <p:cNvSpPr/>
              <p:nvPr/>
            </p:nvSpPr>
            <p:spPr>
              <a:xfrm>
                <a:off x="1648352" y="5642535"/>
                <a:ext cx="720000" cy="540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3CC4E4"/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12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61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03535" y="5720463"/>
                <a:ext cx="409575" cy="390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54" name="직사각형 53"/>
            <p:cNvSpPr/>
            <p:nvPr/>
          </p:nvSpPr>
          <p:spPr>
            <a:xfrm>
              <a:off x="245696" y="2169754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고객</a:t>
              </a:r>
            </a:p>
          </p:txBody>
        </p:sp>
        <p:sp>
          <p:nvSpPr>
            <p:cNvPr id="55" name="타원 54"/>
            <p:cNvSpPr/>
            <p:nvPr/>
          </p:nvSpPr>
          <p:spPr>
            <a:xfrm>
              <a:off x="277199" y="2233128"/>
              <a:ext cx="216000" cy="216000"/>
            </a:xfrm>
            <a:prstGeom prst="ellipse">
              <a:avLst/>
            </a:prstGeom>
            <a:solidFill>
              <a:srgbClr val="1BA6C7"/>
            </a:solidFill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245616" y="2528234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    상품</a:t>
              </a:r>
            </a:p>
          </p:txBody>
        </p:sp>
        <p:sp>
          <p:nvSpPr>
            <p:cNvPr id="57" name="타원 56"/>
            <p:cNvSpPr/>
            <p:nvPr/>
          </p:nvSpPr>
          <p:spPr>
            <a:xfrm>
              <a:off x="277199" y="2591608"/>
              <a:ext cx="216000" cy="216000"/>
            </a:xfrm>
            <a:prstGeom prst="ellipse">
              <a:avLst/>
            </a:prstGeom>
            <a:solidFill>
              <a:srgbClr val="1BA6C7"/>
            </a:solidFill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45616" y="2888274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동의</a:t>
              </a:r>
            </a:p>
          </p:txBody>
        </p:sp>
        <p:sp>
          <p:nvSpPr>
            <p:cNvPr id="59" name="타원 58"/>
            <p:cNvSpPr/>
            <p:nvPr/>
          </p:nvSpPr>
          <p:spPr>
            <a:xfrm>
              <a:off x="277199" y="2951648"/>
              <a:ext cx="216000" cy="216000"/>
            </a:xfrm>
            <a:prstGeom prst="ellipse">
              <a:avLst/>
            </a:prstGeom>
            <a:noFill/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endParaRPr lang="ko-KR" altLang="en-US" sz="8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072208" y="1125809"/>
            <a:ext cx="9252000" cy="1080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b="1" dirty="0">
                <a:latin typeface="+mn-ea"/>
                <a:ea typeface="+mn-ea"/>
              </a:rPr>
              <a:t>고객 영역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072208" y="2337442"/>
            <a:ext cx="9252000" cy="1080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b="1" dirty="0">
                <a:latin typeface="+mn-ea"/>
                <a:ea typeface="+mn-ea"/>
              </a:rPr>
              <a:t>상품 영역</a:t>
            </a:r>
          </a:p>
        </p:txBody>
      </p:sp>
      <p:sp>
        <p:nvSpPr>
          <p:cNvPr id="33" name="눈물 방울 32"/>
          <p:cNvSpPr/>
          <p:nvPr/>
        </p:nvSpPr>
        <p:spPr>
          <a:xfrm rot="5400000">
            <a:off x="967462" y="220089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4" name="눈물 방울 33"/>
          <p:cNvSpPr/>
          <p:nvPr/>
        </p:nvSpPr>
        <p:spPr>
          <a:xfrm rot="5400000">
            <a:off x="212878" y="8449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9641240" y="6274520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눈물 방울 35"/>
          <p:cNvSpPr/>
          <p:nvPr/>
        </p:nvSpPr>
        <p:spPr>
          <a:xfrm rot="5400000">
            <a:off x="9390553" y="6311859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175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80310"/>
              </p:ext>
            </p:extLst>
          </p:nvPr>
        </p:nvGraphicFramePr>
        <p:xfrm>
          <a:off x="10505256" y="788950"/>
          <a:ext cx="2130330" cy="1000312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설명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다음장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참조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grpSp>
        <p:nvGrpSpPr>
          <p:cNvPr id="63" name="그룹 62"/>
          <p:cNvGrpSpPr/>
          <p:nvPr/>
        </p:nvGrpSpPr>
        <p:grpSpPr>
          <a:xfrm>
            <a:off x="1072208" y="1233578"/>
            <a:ext cx="9252000" cy="246221"/>
            <a:chOff x="1072208" y="1117425"/>
            <a:chExt cx="9252000" cy="246221"/>
          </a:xfrm>
        </p:grpSpPr>
        <p:sp>
          <p:nvSpPr>
            <p:cNvPr id="64" name="TextBox 63"/>
            <p:cNvSpPr txBox="1"/>
            <p:nvPr/>
          </p:nvSpPr>
          <p:spPr>
            <a:xfrm>
              <a:off x="1072208" y="1117425"/>
              <a:ext cx="15119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무선데이터차단 서비스</a:t>
              </a:r>
            </a:p>
          </p:txBody>
        </p:sp>
        <p:cxnSp>
          <p:nvCxnSpPr>
            <p:cNvPr id="65" name="직선 연결선 64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그룹 133"/>
          <p:cNvGrpSpPr/>
          <p:nvPr/>
        </p:nvGrpSpPr>
        <p:grpSpPr>
          <a:xfrm>
            <a:off x="1072209" y="2425355"/>
            <a:ext cx="9252000" cy="246221"/>
            <a:chOff x="1072208" y="1117425"/>
            <a:chExt cx="9252000" cy="246221"/>
          </a:xfrm>
        </p:grpSpPr>
        <p:sp>
          <p:nvSpPr>
            <p:cNvPr id="135" name="TextBox 134"/>
            <p:cNvSpPr txBox="1"/>
            <p:nvPr/>
          </p:nvSpPr>
          <p:spPr>
            <a:xfrm>
              <a:off x="1072208" y="1117425"/>
              <a:ext cx="17411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err="1">
                  <a:latin typeface="맑은 고딕" pitchFamily="50" charset="-127"/>
                  <a:ea typeface="맑은 고딕" pitchFamily="50" charset="-127"/>
                </a:rPr>
                <a:t>정보료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 상한금액 설정</a:t>
              </a:r>
              <a:r>
                <a:rPr lang="en-US" altLang="ko-KR" sz="1000" b="1" dirty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cxnSp>
          <p:nvCxnSpPr>
            <p:cNvPr id="136" name="직선 연결선 135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눈물 방울 136"/>
          <p:cNvSpPr/>
          <p:nvPr/>
        </p:nvSpPr>
        <p:spPr>
          <a:xfrm rot="5400000">
            <a:off x="932958" y="2372520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1053932" y="1659791"/>
            <a:ext cx="4554780" cy="252000"/>
            <a:chOff x="1053932" y="-1220529"/>
            <a:chExt cx="4554780" cy="252000"/>
          </a:xfrm>
        </p:grpSpPr>
        <p:sp>
          <p:nvSpPr>
            <p:cNvPr id="38" name="직사각형 37"/>
            <p:cNvSpPr/>
            <p:nvPr/>
          </p:nvSpPr>
          <p:spPr>
            <a:xfrm>
              <a:off x="2796415" y="-1220529"/>
              <a:ext cx="1044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무선데이터 이용</a:t>
              </a: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916712" y="-1220529"/>
              <a:ext cx="169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무선데이터차단 서비스 이용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53932" y="-1209945"/>
              <a:ext cx="162736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무선데이터차단 이용 여부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1054956" y="2817754"/>
            <a:ext cx="5629971" cy="252000"/>
            <a:chOff x="1053932" y="-1220529"/>
            <a:chExt cx="5629971" cy="252000"/>
          </a:xfrm>
        </p:grpSpPr>
        <p:sp>
          <p:nvSpPr>
            <p:cNvPr id="68" name="직사각형 67"/>
            <p:cNvSpPr/>
            <p:nvPr/>
          </p:nvSpPr>
          <p:spPr>
            <a:xfrm>
              <a:off x="2795391" y="-1220529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원</a:t>
              </a: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3591464" y="-1220529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천원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53932" y="-1209945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정보료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 상한금액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4379647" y="-1220529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만원</a:t>
              </a: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175720" y="-1220529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만원</a:t>
              </a: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5963903" y="-1220529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만원</a:t>
              </a:r>
            </a:p>
          </p:txBody>
        </p:sp>
      </p:grpSp>
      <p:sp>
        <p:nvSpPr>
          <p:cNvPr id="75" name="눈물 방울 74"/>
          <p:cNvSpPr/>
          <p:nvPr/>
        </p:nvSpPr>
        <p:spPr>
          <a:xfrm rot="5400000">
            <a:off x="932958" y="11207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680720" y="1665626"/>
            <a:ext cx="90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눈물 방울 52"/>
          <p:cNvSpPr/>
          <p:nvPr/>
        </p:nvSpPr>
        <p:spPr>
          <a:xfrm rot="5400000">
            <a:off x="6633170" y="1626334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6760840" y="2817754"/>
            <a:ext cx="90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눈물 방울 54"/>
          <p:cNvSpPr/>
          <p:nvPr/>
        </p:nvSpPr>
        <p:spPr>
          <a:xfrm rot="5400000">
            <a:off x="7713290" y="2778462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95" name="표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688393"/>
              </p:ext>
            </p:extLst>
          </p:nvPr>
        </p:nvGraphicFramePr>
        <p:xfrm>
          <a:off x="12914755" y="109568"/>
          <a:ext cx="3443089" cy="1091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추가 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-&gt;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사전체크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5863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graphicFrame>
        <p:nvGraphicFramePr>
          <p:cNvPr id="6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393807"/>
              </p:ext>
            </p:extLst>
          </p:nvPr>
        </p:nvGraphicFramePr>
        <p:xfrm>
          <a:off x="352128" y="765498"/>
          <a:ext cx="4896544" cy="5702477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3751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디폴트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무선데이터차단 이용 여부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없음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 가능 부가서비스 목록 조회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무선데이터차단 서비스 현재 이용여부에 따라 선택 옵션 선택 가능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무선데이터 차단 서비스 사용중인 경우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무선데이터 이용 선택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무선데이터 차단 서비스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미사용중인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경우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무선데이터차단 서비스 이용 선택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메시지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무선데이터 이용 중입니다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.”, 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무선데이터차단 서비스 이용 중입니다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.”</a:t>
                      </a:r>
                    </a:p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가입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 여부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가입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무선데이터 이용 선택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무선데이터차단 서비스 해지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무선데이터차단 서비스 이용 선택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무선데이터차단 서비스 가입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가입중인 부가서비스 조회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(X97)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 사전체크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(multi)(Y24)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상품변경처리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(multi)(Y25)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해지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(X38)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디폴트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무선데이터차단 이용 여부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없음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 가능 부가서비스 목록 조회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정보료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상한금액 설정 서비스 현재 이용여부에 따라 선택 옵션 선택 가능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이용중인 경우 해당 옵션 선택 불가하고 나머지 옵션만 선택 가능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메시지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설정된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정보료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상한금액 입니다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.”</a:t>
                      </a:r>
                    </a:p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가입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 여부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가입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정보료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상한금액 설정 기 사용중인 경우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정보료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상한금액 변경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정보료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상한금액 설정 미 사용중인 경우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정보료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상한금액 가입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가입중인 부가서비스 조회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(X97)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 사전체크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(multi)(Y24)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상품변경처리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(multi)(Y25)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해지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(X38)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716975"/>
              </p:ext>
            </p:extLst>
          </p:nvPr>
        </p:nvGraphicFramePr>
        <p:xfrm>
          <a:off x="5680720" y="765498"/>
          <a:ext cx="4896544" cy="2269358"/>
        </p:xfrm>
        <a:graphic>
          <a:graphicData uri="http://schemas.openxmlformats.org/drawingml/2006/table">
            <a:tbl>
              <a:tblPr/>
              <a:tblGrid>
                <a:gridCol w="259032"/>
                <a:gridCol w="4637512"/>
              </a:tblGrid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무선데이터 이용 선택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 완료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부가서비스 가입 가능 여부 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가입이 불가한 경우 가입 불가 메시지 표시 후 선택 버튼 해제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 사전체크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(multi)(Y24)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929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83" name="그룹 82"/>
          <p:cNvGrpSpPr/>
          <p:nvPr/>
        </p:nvGrpSpPr>
        <p:grpSpPr>
          <a:xfrm>
            <a:off x="482797" y="2991967"/>
            <a:ext cx="5629971" cy="252000"/>
            <a:chOff x="1053932" y="-1220529"/>
            <a:chExt cx="5629971" cy="252000"/>
          </a:xfrm>
        </p:grpSpPr>
        <p:sp>
          <p:nvSpPr>
            <p:cNvPr id="95" name="직사각형 94"/>
            <p:cNvSpPr/>
            <p:nvPr/>
          </p:nvSpPr>
          <p:spPr>
            <a:xfrm>
              <a:off x="2795391" y="-1220529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원</a:t>
              </a: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3591464" y="-1220529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천원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053932" y="-1209945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정보료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 상한금액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4379647" y="-1220529"/>
              <a:ext cx="720000" cy="25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만원</a:t>
              </a: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5175720" y="-1220529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만원</a:t>
              </a: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5963903" y="-1220529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만원</a:t>
              </a:r>
            </a:p>
          </p:txBody>
        </p:sp>
      </p:grpSp>
      <p:sp>
        <p:nvSpPr>
          <p:cNvPr id="110" name="직사각형 109"/>
          <p:cNvSpPr/>
          <p:nvPr/>
        </p:nvSpPr>
        <p:spPr>
          <a:xfrm>
            <a:off x="482797" y="2658259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기 가입 상태인 경우 기존 설정 옵션 선택 불가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11" name="그룹 110"/>
          <p:cNvGrpSpPr/>
          <p:nvPr/>
        </p:nvGrpSpPr>
        <p:grpSpPr>
          <a:xfrm>
            <a:off x="469450" y="2127871"/>
            <a:ext cx="5629971" cy="252000"/>
            <a:chOff x="4443237" y="5266026"/>
            <a:chExt cx="5629971" cy="252000"/>
          </a:xfrm>
        </p:grpSpPr>
        <p:sp>
          <p:nvSpPr>
            <p:cNvPr id="112" name="직사각형 111"/>
            <p:cNvSpPr/>
            <p:nvPr/>
          </p:nvSpPr>
          <p:spPr>
            <a:xfrm>
              <a:off x="6184696" y="5266026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원</a:t>
              </a:r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6980769" y="5266026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천원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4443237" y="5276610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정보료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 상한금액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7768952" y="5266026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만원</a:t>
              </a: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8565025" y="5266026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만원</a:t>
              </a: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9353208" y="5266026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만원</a:t>
              </a:r>
            </a:p>
          </p:txBody>
        </p:sp>
      </p:grpSp>
      <p:sp>
        <p:nvSpPr>
          <p:cNvPr id="118" name="직사각형 117"/>
          <p:cNvSpPr/>
          <p:nvPr/>
        </p:nvSpPr>
        <p:spPr>
          <a:xfrm>
            <a:off x="482797" y="1773610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19" name="눈물 방울 118"/>
          <p:cNvSpPr/>
          <p:nvPr/>
        </p:nvSpPr>
        <p:spPr>
          <a:xfrm rot="5400000">
            <a:off x="271539" y="1799042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0" name="눈물 방울 119"/>
          <p:cNvSpPr/>
          <p:nvPr/>
        </p:nvSpPr>
        <p:spPr>
          <a:xfrm rot="5400000">
            <a:off x="271539" y="2663138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96144" y="1032624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22" name="눈물 방울 121"/>
          <p:cNvSpPr/>
          <p:nvPr/>
        </p:nvSpPr>
        <p:spPr>
          <a:xfrm rot="5400000">
            <a:off x="287587" y="104009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477868" y="1356688"/>
            <a:ext cx="4554780" cy="252000"/>
            <a:chOff x="4438308" y="2745746"/>
            <a:chExt cx="4554780" cy="252000"/>
          </a:xfrm>
        </p:grpSpPr>
        <p:sp>
          <p:nvSpPr>
            <p:cNvPr id="124" name="직사각형 123"/>
            <p:cNvSpPr/>
            <p:nvPr/>
          </p:nvSpPr>
          <p:spPr>
            <a:xfrm>
              <a:off x="6180791" y="2745746"/>
              <a:ext cx="1044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무선데이터 이용</a:t>
              </a: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7301088" y="2745746"/>
              <a:ext cx="169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무선데이터차단 서비스 이용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4438308" y="2756330"/>
              <a:ext cx="162736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무선데이터차단 이용 여부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27" name="직사각형 126"/>
          <p:cNvSpPr/>
          <p:nvPr/>
        </p:nvSpPr>
        <p:spPr>
          <a:xfrm>
            <a:off x="173136" y="693490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 err="1">
                <a:latin typeface="+mn-ea"/>
                <a:ea typeface="+mn-ea"/>
              </a:rPr>
              <a:t>케이스별</a:t>
            </a:r>
            <a:r>
              <a:rPr lang="ko-KR" altLang="en-US" sz="1200" b="1" dirty="0">
                <a:latin typeface="+mn-ea"/>
                <a:ea typeface="+mn-ea"/>
              </a:rPr>
              <a:t> 항목 </a:t>
            </a:r>
            <a:r>
              <a:rPr lang="ko-KR" altLang="en-US" sz="1200" b="1" dirty="0" err="1">
                <a:latin typeface="+mn-ea"/>
                <a:ea typeface="+mn-ea"/>
              </a:rPr>
              <a:t>세팅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5104656" y="1334278"/>
            <a:ext cx="90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9" name="눈물 방울 128"/>
          <p:cNvSpPr/>
          <p:nvPr/>
        </p:nvSpPr>
        <p:spPr>
          <a:xfrm rot="5400000">
            <a:off x="6057106" y="1294986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6175897" y="2126366"/>
            <a:ext cx="90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확</a:t>
            </a: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인</a:t>
            </a:r>
          </a:p>
        </p:txBody>
      </p:sp>
      <p:sp>
        <p:nvSpPr>
          <p:cNvPr id="131" name="눈물 방울 130"/>
          <p:cNvSpPr/>
          <p:nvPr/>
        </p:nvSpPr>
        <p:spPr>
          <a:xfrm rot="5400000">
            <a:off x="7128347" y="2087074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6184776" y="2991967"/>
            <a:ext cx="90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" name="눈물 방울 132"/>
          <p:cNvSpPr/>
          <p:nvPr/>
        </p:nvSpPr>
        <p:spPr>
          <a:xfrm rot="5400000">
            <a:off x="7137226" y="295267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7480920" y="1278845"/>
            <a:ext cx="81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</a:t>
            </a: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완료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9" name="눈물 방울 138"/>
          <p:cNvSpPr/>
          <p:nvPr/>
        </p:nvSpPr>
        <p:spPr>
          <a:xfrm rot="5400000">
            <a:off x="8348587" y="1288896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7480920" y="1002427"/>
            <a:ext cx="20162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체크 완료 후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>
            <a:off x="640160" y="4417000"/>
            <a:ext cx="2881818" cy="1397063"/>
            <a:chOff x="5875124" y="3832891"/>
            <a:chExt cx="2881818" cy="1397063"/>
          </a:xfrm>
        </p:grpSpPr>
        <p:sp>
          <p:nvSpPr>
            <p:cNvPr id="142" name="직사각형 141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가입이 불가능한 서비스입니다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45" name="눈물 방울 144"/>
          <p:cNvSpPr/>
          <p:nvPr/>
        </p:nvSpPr>
        <p:spPr>
          <a:xfrm rot="5400000">
            <a:off x="485614" y="416583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671617" y="4128173"/>
            <a:ext cx="27063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가입 불가한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47" name="그룹 146"/>
          <p:cNvGrpSpPr/>
          <p:nvPr/>
        </p:nvGrpSpPr>
        <p:grpSpPr>
          <a:xfrm>
            <a:off x="3736504" y="4417491"/>
            <a:ext cx="2881818" cy="1397063"/>
            <a:chOff x="5875124" y="3832891"/>
            <a:chExt cx="2881818" cy="1397063"/>
          </a:xfrm>
        </p:grpSpPr>
        <p:sp>
          <p:nvSpPr>
            <p:cNvPr id="148" name="직사각형 147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9" name="직사각형 148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150" name="직사각형 149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가입 가능한 서비스입니다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51" name="직사각형 150"/>
          <p:cNvSpPr/>
          <p:nvPr/>
        </p:nvSpPr>
        <p:spPr>
          <a:xfrm>
            <a:off x="3767961" y="4128664"/>
            <a:ext cx="27063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가입 가능한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173136" y="3717826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</p:spTree>
    <p:extLst>
      <p:ext uri="{BB962C8B-B14F-4D97-AF65-F5344CB8AC3E}">
        <p14:creationId xmlns:p14="http://schemas.microsoft.com/office/powerpoint/2010/main" val="1258837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75992"/>
              </p:ext>
            </p:extLst>
          </p:nvPr>
        </p:nvGraphicFramePr>
        <p:xfrm>
          <a:off x="10505256" y="788950"/>
          <a:ext cx="2130330" cy="1000312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설명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다음장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참조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38" name="눈물 방울 37"/>
          <p:cNvSpPr/>
          <p:nvPr/>
        </p:nvSpPr>
        <p:spPr>
          <a:xfrm rot="5400000">
            <a:off x="932959" y="11207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1072210" y="1173608"/>
            <a:ext cx="9252000" cy="246221"/>
            <a:chOff x="1072208" y="1117425"/>
            <a:chExt cx="9252000" cy="246221"/>
          </a:xfrm>
        </p:grpSpPr>
        <p:sp>
          <p:nvSpPr>
            <p:cNvPr id="40" name="TextBox 39"/>
            <p:cNvSpPr txBox="1"/>
            <p:nvPr/>
          </p:nvSpPr>
          <p:spPr>
            <a:xfrm>
              <a:off x="1072208" y="1117425"/>
              <a:ext cx="14398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부가서비스 신청</a:t>
              </a:r>
              <a:r>
                <a:rPr lang="en-US" altLang="ko-KR" sz="1000" b="1" dirty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cxnSp>
          <p:nvCxnSpPr>
            <p:cNvPr id="41" name="직선 연결선 40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59141" y="1563845"/>
            <a:ext cx="10326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무료 부가서비스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="" xmlns:a16="http://schemas.microsoft.com/office/drawing/2014/main" id="{F4D390E8-2A4A-4727-AA8D-7611F67FF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716537"/>
              </p:ext>
            </p:extLst>
          </p:nvPr>
        </p:nvGraphicFramePr>
        <p:xfrm>
          <a:off x="2546872" y="1557586"/>
          <a:ext cx="5400000" cy="1512000"/>
        </p:xfrm>
        <a:graphic>
          <a:graphicData uri="http://schemas.openxmlformats.org/drawingml/2006/table">
            <a:tbl>
              <a:tblPr/>
              <a:tblGrid>
                <a:gridCol w="31263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3684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3684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무선데이터 차단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국제전화발신제한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익명호수신거부</a:t>
                      </a:r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네트워크유해차단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불법</a:t>
                      </a:r>
                      <a:r>
                        <a:rPr lang="en-US" altLang="ko-KR" sz="9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TM</a:t>
                      </a:r>
                      <a:r>
                        <a:rPr lang="ko-KR" altLang="en-US" sz="9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수신차단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번호도용 차단 서비스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1059141" y="3220029"/>
            <a:ext cx="10326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유료 부가서비스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="" xmlns:a16="http://schemas.microsoft.com/office/drawing/2014/main" id="{F4D390E8-2A4A-4727-AA8D-7611F67FF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967926"/>
              </p:ext>
            </p:extLst>
          </p:nvPr>
        </p:nvGraphicFramePr>
        <p:xfrm>
          <a:off x="2546872" y="3213770"/>
          <a:ext cx="5400000" cy="756000"/>
        </p:xfrm>
        <a:graphic>
          <a:graphicData uri="http://schemas.openxmlformats.org/drawingml/2006/table">
            <a:tbl>
              <a:tblPr/>
              <a:tblGrid>
                <a:gridCol w="31263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3684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3684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링투유</a:t>
                      </a:r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990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캐치콜</a:t>
                      </a:r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550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</a:t>
                      </a:r>
                      <a:r>
                        <a:rPr lang="en-US" altLang="ko-KR" sz="9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900" b="0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로밍</a:t>
                      </a:r>
                      <a:r>
                        <a:rPr lang="ko-KR" altLang="en-US" sz="9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하루종일</a:t>
                      </a:r>
                      <a:r>
                        <a:rPr lang="en-US" altLang="ko-KR" sz="9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ON</a:t>
                      </a:r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2,200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/1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2510926" y="4063058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합계</a:t>
            </a:r>
            <a:r>
              <a:rPr lang="en-US" altLang="ko-KR" sz="900" b="1" dirty="0">
                <a:latin typeface="+mn-ea"/>
                <a:ea typeface="+mn-ea"/>
              </a:rPr>
              <a:t>(VAT </a:t>
            </a:r>
            <a:r>
              <a:rPr lang="ko-KR" altLang="en-US" sz="900" b="1" dirty="0">
                <a:latin typeface="+mn-ea"/>
                <a:ea typeface="+mn-ea"/>
              </a:rPr>
              <a:t>포함</a:t>
            </a:r>
            <a:r>
              <a:rPr lang="en-US" altLang="ko-KR" sz="900" b="1" dirty="0">
                <a:latin typeface="+mn-ea"/>
                <a:ea typeface="+mn-ea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0722" y="4061964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b="1" dirty="0">
                <a:solidFill>
                  <a:srgbClr val="FF0000"/>
                </a:solidFill>
                <a:latin typeface="+mn-ea"/>
                <a:ea typeface="+mn-ea"/>
              </a:rPr>
              <a:t>3,740 </a:t>
            </a:r>
            <a:r>
              <a:rPr lang="ko-KR" altLang="en-US" sz="900" b="1" dirty="0">
                <a:solidFill>
                  <a:srgbClr val="FF0000"/>
                </a:solidFill>
                <a:latin typeface="+mn-ea"/>
                <a:ea typeface="+mn-ea"/>
              </a:rPr>
              <a:t>원</a:t>
            </a:r>
            <a:endParaRPr lang="en-US" altLang="ko-KR" sz="9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2558818" y="4313980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삭제</a:t>
            </a:r>
          </a:p>
        </p:txBody>
      </p:sp>
      <p:sp>
        <p:nvSpPr>
          <p:cNvPr id="51" name="눈물 방울 50"/>
          <p:cNvSpPr/>
          <p:nvPr/>
        </p:nvSpPr>
        <p:spPr>
          <a:xfrm rot="5400000">
            <a:off x="3537191" y="430921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169271" y="5224312"/>
            <a:ext cx="3086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부가서비스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미선택한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173136" y="4869954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 err="1">
                <a:latin typeface="+mn-ea"/>
                <a:ea typeface="+mn-ea"/>
              </a:rPr>
              <a:t>케이스별</a:t>
            </a:r>
            <a:r>
              <a:rPr lang="ko-KR" altLang="en-US" sz="1200" b="1" dirty="0">
                <a:latin typeface="+mn-ea"/>
                <a:ea typeface="+mn-ea"/>
              </a:rPr>
              <a:t> 항목 </a:t>
            </a:r>
            <a:r>
              <a:rPr lang="ko-KR" altLang="en-US" sz="1200" b="1" dirty="0" err="1">
                <a:latin typeface="+mn-ea"/>
                <a:ea typeface="+mn-ea"/>
              </a:rPr>
              <a:t>세팅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54" name="눈물 방울 53"/>
          <p:cNvSpPr/>
          <p:nvPr/>
        </p:nvSpPr>
        <p:spPr>
          <a:xfrm rot="5400000">
            <a:off x="932958" y="527633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72208" y="5647234"/>
            <a:ext cx="10326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무료 부가서비스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72208" y="5878066"/>
            <a:ext cx="10326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유료 부가서비스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510926" y="5647234"/>
            <a:ext cx="18309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선택한 무료 서비스가 없습니다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12368" y="5863258"/>
            <a:ext cx="18309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선택한 유료 서비스가 없습니다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7043027" y="2854515"/>
            <a:ext cx="720000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</a:p>
        </p:txBody>
      </p:sp>
      <p:sp>
        <p:nvSpPr>
          <p:cNvPr id="43" name="눈물 방울 42"/>
          <p:cNvSpPr/>
          <p:nvPr/>
        </p:nvSpPr>
        <p:spPr>
          <a:xfrm rot="5400000">
            <a:off x="7842502" y="281716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7048872" y="2598287"/>
            <a:ext cx="720000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</a:p>
        </p:txBody>
      </p:sp>
      <p:sp>
        <p:nvSpPr>
          <p:cNvPr id="113" name="눈물 방울 112"/>
          <p:cNvSpPr/>
          <p:nvPr/>
        </p:nvSpPr>
        <p:spPr>
          <a:xfrm rot="5400000">
            <a:off x="7848347" y="256093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7048872" y="3753850"/>
            <a:ext cx="720000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</a:p>
        </p:txBody>
      </p:sp>
      <p:sp>
        <p:nvSpPr>
          <p:cNvPr id="60" name="눈물 방울 59"/>
          <p:cNvSpPr/>
          <p:nvPr/>
        </p:nvSpPr>
        <p:spPr>
          <a:xfrm rot="5400000">
            <a:off x="7848347" y="3716496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2881520" y="1638465"/>
            <a:ext cx="2880320" cy="1431289"/>
          </a:xfrm>
          <a:prstGeom prst="rect">
            <a:avLst/>
          </a:prstGeom>
          <a:solidFill>
            <a:srgbClr val="FFFF00">
              <a:alpha val="75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b="1" dirty="0" smtClean="0">
                <a:solidFill>
                  <a:srgbClr val="FF0000"/>
                </a:solidFill>
                <a:latin typeface="+mn-ea"/>
                <a:ea typeface="+mn-ea"/>
              </a:rPr>
              <a:t>(2026.03.10)</a:t>
            </a:r>
          </a:p>
          <a:p>
            <a:pPr>
              <a:spcBef>
                <a:spcPct val="50000"/>
              </a:spcBef>
            </a:pP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대상 부가서비스 목록 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  <a:ea typeface="+mn-ea"/>
              </a:rPr>
              <a:t>: ITO 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에 </a:t>
            </a:r>
            <a:r>
              <a:rPr lang="ko-KR" altLang="en-US" sz="1000" b="1" dirty="0" err="1">
                <a:solidFill>
                  <a:srgbClr val="FF0000"/>
                </a:solidFill>
                <a:latin typeface="+mn-ea"/>
                <a:ea typeface="+mn-ea"/>
              </a:rPr>
              <a:t>다이렉트몰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 부가서비스 목록 수령해서 </a:t>
            </a:r>
            <a:r>
              <a:rPr lang="ko-KR" altLang="en-US" sz="1000" b="1" dirty="0" err="1">
                <a:solidFill>
                  <a:srgbClr val="FF0000"/>
                </a:solidFill>
                <a:latin typeface="+mn-ea"/>
                <a:ea typeface="+mn-ea"/>
              </a:rPr>
              <a:t>유통영업팀에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 전달</a:t>
            </a:r>
          </a:p>
          <a:p>
            <a:pPr>
              <a:spcBef>
                <a:spcPct val="50000"/>
              </a:spcBef>
            </a:pPr>
            <a:r>
              <a:rPr lang="en-US" altLang="ko-KR" sz="1000" b="1" dirty="0" smtClean="0">
                <a:solidFill>
                  <a:srgbClr val="FF0000"/>
                </a:solidFill>
                <a:latin typeface="+mn-ea"/>
                <a:ea typeface="+mn-ea"/>
              </a:rPr>
              <a:t>=&gt; </a:t>
            </a:r>
            <a:r>
              <a:rPr lang="ko-KR" altLang="en-US" sz="1000" b="1" dirty="0" err="1">
                <a:solidFill>
                  <a:srgbClr val="FF0000"/>
                </a:solidFill>
                <a:latin typeface="+mn-ea"/>
                <a:ea typeface="+mn-ea"/>
              </a:rPr>
              <a:t>유통영업팀에서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 대상 부가서비스 확정해서 피드백 예정</a:t>
            </a:r>
            <a:endParaRPr lang="ko-KR" altLang="en-US" sz="1000" b="1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952528" y="4329922"/>
            <a:ext cx="90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눈물 방울 34"/>
          <p:cNvSpPr/>
          <p:nvPr/>
        </p:nvSpPr>
        <p:spPr>
          <a:xfrm rot="5400000">
            <a:off x="4904978" y="4290630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976864" y="5578420"/>
            <a:ext cx="81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</a:t>
            </a: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완료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눈물 방울 60"/>
          <p:cNvSpPr/>
          <p:nvPr/>
        </p:nvSpPr>
        <p:spPr>
          <a:xfrm rot="5400000">
            <a:off x="7844531" y="558847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6976864" y="5302002"/>
            <a:ext cx="20162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체크 완료 후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4744616" y="5302002"/>
            <a:ext cx="20162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부가서비스 선택 후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4951761" y="5554058"/>
            <a:ext cx="90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눈물 방울 66"/>
          <p:cNvSpPr/>
          <p:nvPr/>
        </p:nvSpPr>
        <p:spPr>
          <a:xfrm rot="5400000">
            <a:off x="5904211" y="558526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910528"/>
              </p:ext>
            </p:extLst>
          </p:nvPr>
        </p:nvGraphicFramePr>
        <p:xfrm>
          <a:off x="12914755" y="109568"/>
          <a:ext cx="3443089" cy="1091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추가 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-&gt;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사전체크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766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graphicFrame>
        <p:nvGraphicFramePr>
          <p:cNvPr id="4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504474"/>
              </p:ext>
            </p:extLst>
          </p:nvPr>
        </p:nvGraphicFramePr>
        <p:xfrm>
          <a:off x="280120" y="765498"/>
          <a:ext cx="5472608" cy="4677271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1357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 가능한 부가서비스 화면에 출력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가입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설정된 부가서비스 체크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일정액인 경우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0,000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/1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일으로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시작일이 당일인 경우 해지 불가하도록 체크박스 비활성화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부가정보가 있는 부가서비스의 경우 부가정보 설정 팝업에서 부가정보 설정한 경우만 가입 가능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기존 사용중인 부가서비스 중 부가정보 설정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대상인 경우 변경 가능 서비스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불법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TM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수신차단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기존 사용중인 부가서비스 중 부가정보 설정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대상인 경우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설정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대상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번호도용 차단 서비스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altLang="ko-KR" sz="8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</a:t>
                      </a:r>
                      <a:r>
                        <a:rPr lang="en-US" altLang="ko-KR" sz="8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0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로밍</a:t>
                      </a:r>
                      <a:r>
                        <a:rPr lang="ko-KR" altLang="en-US" sz="8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하루종일</a:t>
                      </a:r>
                      <a:r>
                        <a:rPr lang="en-US" altLang="ko-KR" sz="8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ON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가입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 여부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부가서비스 가입 제약 체크하여 부가서비스 신청 불가 사유 안내 메시지 노출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배타 관계 요금제 이용중인 경우 불가 안내 메시지 노출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가입 불가 고객인 경우 불가 안내 메시지 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가입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기존 사용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미체크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기존 미사용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 처리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기존 사용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&amp;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부가정보 변경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가입중인 부가서비스 조회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(X97)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 사전체크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(multi)(Y24)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상품변경처리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(multi)(Y25)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해지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(X38)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부가서비스 추가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삭제 팝업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부가서비스 부가정보 설정 팝업 표시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189858"/>
              </p:ext>
            </p:extLst>
          </p:nvPr>
        </p:nvGraphicFramePr>
        <p:xfrm>
          <a:off x="5968752" y="765498"/>
          <a:ext cx="5472608" cy="2269358"/>
        </p:xfrm>
        <a:graphic>
          <a:graphicData uri="http://schemas.openxmlformats.org/drawingml/2006/table">
            <a:tbl>
              <a:tblPr/>
              <a:tblGrid>
                <a:gridCol w="259032"/>
                <a:gridCol w="5213576"/>
              </a:tblGrid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선택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 완료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부가서비스 가입 가능 여부 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가입이 불가한 경우 가입 불가 메시지 표시 후 선택 버튼 해제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 사전체크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(multi)(Y24)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258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240252"/>
              </p:ext>
            </p:extLst>
          </p:nvPr>
        </p:nvGraphicFramePr>
        <p:xfrm>
          <a:off x="10505256" y="788950"/>
          <a:ext cx="2130330" cy="1000312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설명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다음장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참조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grpSp>
        <p:nvGrpSpPr>
          <p:cNvPr id="28" name="그룹 27"/>
          <p:cNvGrpSpPr/>
          <p:nvPr/>
        </p:nvGrpSpPr>
        <p:grpSpPr>
          <a:xfrm>
            <a:off x="1072211" y="1173608"/>
            <a:ext cx="9252000" cy="246221"/>
            <a:chOff x="1072208" y="1117425"/>
            <a:chExt cx="9252000" cy="246221"/>
          </a:xfrm>
        </p:grpSpPr>
        <p:sp>
          <p:nvSpPr>
            <p:cNvPr id="29" name="TextBox 28"/>
            <p:cNvSpPr txBox="1"/>
            <p:nvPr/>
          </p:nvSpPr>
          <p:spPr>
            <a:xfrm>
              <a:off x="1072208" y="1117425"/>
              <a:ext cx="8707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요금제 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눈물 방울 30"/>
          <p:cNvSpPr/>
          <p:nvPr/>
        </p:nvSpPr>
        <p:spPr>
          <a:xfrm rot="5400000">
            <a:off x="932960" y="11207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1054956" y="2241690"/>
            <a:ext cx="3507075" cy="252000"/>
            <a:chOff x="1053932" y="-1220529"/>
            <a:chExt cx="3507075" cy="252000"/>
          </a:xfrm>
        </p:grpSpPr>
        <p:sp>
          <p:nvSpPr>
            <p:cNvPr id="40" name="직사각형 39"/>
            <p:cNvSpPr/>
            <p:nvPr/>
          </p:nvSpPr>
          <p:spPr>
            <a:xfrm>
              <a:off x="2545848" y="-1220529"/>
              <a:ext cx="969543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예약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익월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591464" y="-1220529"/>
              <a:ext cx="969543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즉시변경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53932" y="-1209945"/>
              <a:ext cx="73930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변경 일시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60072" y="4149874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3" name="눈물 방울 32"/>
          <p:cNvSpPr/>
          <p:nvPr/>
        </p:nvSpPr>
        <p:spPr>
          <a:xfrm rot="5400000">
            <a:off x="251515" y="415734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3" name="그룹 42"/>
          <p:cNvGrpSpPr/>
          <p:nvPr/>
        </p:nvGrpSpPr>
        <p:grpSpPr>
          <a:xfrm>
            <a:off x="441796" y="4473938"/>
            <a:ext cx="3942780" cy="252000"/>
            <a:chOff x="4438308" y="2745746"/>
            <a:chExt cx="3942780" cy="252000"/>
          </a:xfrm>
        </p:grpSpPr>
        <p:sp>
          <p:nvSpPr>
            <p:cNvPr id="44" name="직사각형 43"/>
            <p:cNvSpPr/>
            <p:nvPr/>
          </p:nvSpPr>
          <p:spPr>
            <a:xfrm>
              <a:off x="6180791" y="2745746"/>
              <a:ext cx="1044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예약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익월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일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7301088" y="2745746"/>
              <a:ext cx="108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즉시변경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38308" y="2756330"/>
              <a:ext cx="73930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변경 일시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7" name="직사각형 46"/>
          <p:cNvSpPr/>
          <p:nvPr/>
        </p:nvSpPr>
        <p:spPr>
          <a:xfrm>
            <a:off x="173136" y="3810740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 err="1">
                <a:latin typeface="+mn-ea"/>
                <a:ea typeface="+mn-ea"/>
              </a:rPr>
              <a:t>케이스별</a:t>
            </a:r>
            <a:r>
              <a:rPr lang="ko-KR" altLang="en-US" sz="1200" b="1" dirty="0">
                <a:latin typeface="+mn-ea"/>
                <a:ea typeface="+mn-ea"/>
              </a:rPr>
              <a:t> 항목 </a:t>
            </a:r>
            <a:r>
              <a:rPr lang="ko-KR" altLang="en-US" sz="1200" b="1" dirty="0" err="1">
                <a:latin typeface="+mn-ea"/>
                <a:ea typeface="+mn-ea"/>
              </a:rPr>
              <a:t>세팅</a:t>
            </a:r>
            <a:endParaRPr lang="ko-KR" altLang="en-US" sz="1200" b="1" dirty="0">
              <a:latin typeface="+mn-ea"/>
              <a:ea typeface="+mn-ea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1072208" y="1557586"/>
            <a:ext cx="7161045" cy="576064"/>
            <a:chOff x="640160" y="-566622"/>
            <a:chExt cx="7161045" cy="576064"/>
          </a:xfrm>
        </p:grpSpPr>
        <p:sp>
          <p:nvSpPr>
            <p:cNvPr id="50" name="TextBox 49"/>
            <p:cNvSpPr txBox="1"/>
            <p:nvPr/>
          </p:nvSpPr>
          <p:spPr>
            <a:xfrm>
              <a:off x="640160" y="-556038"/>
              <a:ext cx="5838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요금제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51" name="그룹 50"/>
            <p:cNvGrpSpPr/>
            <p:nvPr/>
          </p:nvGrpSpPr>
          <p:grpSpPr>
            <a:xfrm>
              <a:off x="2114824" y="-566622"/>
              <a:ext cx="5686381" cy="576064"/>
              <a:chOff x="2114824" y="-566622"/>
              <a:chExt cx="5686381" cy="576064"/>
            </a:xfrm>
          </p:grpSpPr>
          <p:sp>
            <p:nvSpPr>
              <p:cNvPr id="52" name="직사각형 51"/>
              <p:cNvSpPr/>
              <p:nvPr/>
            </p:nvSpPr>
            <p:spPr>
              <a:xfrm>
                <a:off x="2114824" y="-566622"/>
                <a:ext cx="2844625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추천 요금제</a:t>
                </a:r>
              </a:p>
            </p:txBody>
          </p:sp>
          <p:pic>
            <p:nvPicPr>
              <p:cNvPr id="53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44616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4" name="직사각형 53"/>
              <p:cNvSpPr/>
              <p:nvPr/>
            </p:nvSpPr>
            <p:spPr>
              <a:xfrm>
                <a:off x="2117693" y="-242558"/>
                <a:ext cx="5683512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5G </a:t>
                </a: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단말 </a:t>
                </a:r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(2GB/200</a:t>
                </a: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분</a:t>
                </a:r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) / </a:t>
                </a: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데이터 </a:t>
                </a:r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2GB(+</a:t>
                </a: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보답프로그램 </a:t>
                </a:r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50GB(6</a:t>
                </a: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개월</a:t>
                </a:r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)) | </a:t>
                </a: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음성 </a:t>
                </a:r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200</a:t>
                </a: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분 </a:t>
                </a:r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| </a:t>
                </a: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문자 </a:t>
                </a:r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건</a:t>
                </a:r>
              </a:p>
            </p:txBody>
          </p:sp>
          <p:pic>
            <p:nvPicPr>
              <p:cNvPr id="55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71570" y="-200607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grpSp>
        <p:nvGrpSpPr>
          <p:cNvPr id="36" name="그룹 35"/>
          <p:cNvGrpSpPr/>
          <p:nvPr/>
        </p:nvGrpSpPr>
        <p:grpSpPr>
          <a:xfrm>
            <a:off x="441796" y="4869954"/>
            <a:ext cx="3942780" cy="252000"/>
            <a:chOff x="4438308" y="2745746"/>
            <a:chExt cx="3942780" cy="252000"/>
          </a:xfrm>
        </p:grpSpPr>
        <p:sp>
          <p:nvSpPr>
            <p:cNvPr id="37" name="직사각형 36"/>
            <p:cNvSpPr/>
            <p:nvPr/>
          </p:nvSpPr>
          <p:spPr>
            <a:xfrm>
              <a:off x="6180791" y="2745746"/>
              <a:ext cx="1044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예약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익월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7301088" y="2745746"/>
              <a:ext cx="108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>
                  <a:latin typeface="맑은 고딕" pitchFamily="50" charset="-127"/>
                  <a:ea typeface="맑은 고딕" pitchFamily="50" charset="-127"/>
                </a:rPr>
                <a:t>즉시변경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438308" y="2756330"/>
              <a:ext cx="73930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변경 일시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8" name="직사각형 57"/>
          <p:cNvSpPr/>
          <p:nvPr/>
        </p:nvSpPr>
        <p:spPr>
          <a:xfrm>
            <a:off x="5935061" y="2637706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5896744" y="3099950"/>
            <a:ext cx="322055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요금제 즉시변경 사전 체크 후 불가한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6221742" y="3376283"/>
            <a:ext cx="2880000" cy="1400103"/>
            <a:chOff x="620358" y="4765995"/>
            <a:chExt cx="2880000" cy="1400103"/>
          </a:xfrm>
        </p:grpSpPr>
        <p:sp>
          <p:nvSpPr>
            <p:cNvPr id="61" name="직사각형 60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요금제 변경이 불가합니다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사유설명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622994" y="5806098"/>
              <a:ext cx="2877363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cxnSp>
        <p:nvCxnSpPr>
          <p:cNvPr id="3" name="꺾인 연결선 2"/>
          <p:cNvCxnSpPr>
            <a:stCxn id="109" idx="3"/>
            <a:endCxn id="63" idx="1"/>
          </p:cNvCxnSpPr>
          <p:nvPr/>
        </p:nvCxnSpPr>
        <p:spPr>
          <a:xfrm flipV="1">
            <a:off x="5396853" y="3981281"/>
            <a:ext cx="824890" cy="1014673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5896744" y="4993718"/>
            <a:ext cx="322055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요금제 즉시변경 가능한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471712"/>
              </p:ext>
            </p:extLst>
          </p:nvPr>
        </p:nvGraphicFramePr>
        <p:xfrm>
          <a:off x="12914755" y="109568"/>
          <a:ext cx="3443089" cy="1213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요금제 변경 처리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요금제 즉시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변경시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실시간 요금 조회 기능 추가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cxnSp>
        <p:nvCxnSpPr>
          <p:cNvPr id="71" name="꺾인 연결선 70"/>
          <p:cNvCxnSpPr>
            <a:stCxn id="109" idx="3"/>
            <a:endCxn id="75" idx="1"/>
          </p:cNvCxnSpPr>
          <p:nvPr/>
        </p:nvCxnSpPr>
        <p:spPr>
          <a:xfrm>
            <a:off x="5396853" y="4995954"/>
            <a:ext cx="807155" cy="16742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/>
          <p:cNvGrpSpPr/>
          <p:nvPr/>
        </p:nvGrpSpPr>
        <p:grpSpPr>
          <a:xfrm>
            <a:off x="6204008" y="5302002"/>
            <a:ext cx="4085224" cy="2736304"/>
            <a:chOff x="515376" y="1348578"/>
            <a:chExt cx="4085224" cy="2736304"/>
          </a:xfrm>
        </p:grpSpPr>
        <p:sp>
          <p:nvSpPr>
            <p:cNvPr id="75" name="직사각형 74"/>
            <p:cNvSpPr/>
            <p:nvPr/>
          </p:nvSpPr>
          <p:spPr>
            <a:xfrm>
              <a:off x="515376" y="1348578"/>
              <a:ext cx="4085224" cy="2736304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76" name="그룹 75"/>
            <p:cNvGrpSpPr/>
            <p:nvPr/>
          </p:nvGrpSpPr>
          <p:grpSpPr>
            <a:xfrm rot="2700000">
              <a:off x="4226981" y="1468991"/>
              <a:ext cx="214699" cy="216000"/>
              <a:chOff x="6609184" y="2719104"/>
              <a:chExt cx="1008112" cy="1008112"/>
            </a:xfrm>
          </p:grpSpPr>
          <p:cxnSp>
            <p:nvCxnSpPr>
              <p:cNvPr id="77" name="직선 연결선 76"/>
              <p:cNvCxnSpPr/>
              <p:nvPr/>
            </p:nvCxnSpPr>
            <p:spPr>
              <a:xfrm>
                <a:off x="6609184" y="3223160"/>
                <a:ext cx="1008112" cy="0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직선 연결선 77"/>
              <p:cNvCxnSpPr/>
              <p:nvPr/>
            </p:nvCxnSpPr>
            <p:spPr>
              <a:xfrm rot="5400000">
                <a:off x="6609184" y="3223160"/>
                <a:ext cx="1008112" cy="0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TextBox 79"/>
          <p:cNvSpPr txBox="1"/>
          <p:nvPr/>
        </p:nvSpPr>
        <p:spPr>
          <a:xfrm>
            <a:off x="6376257" y="5734050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latin typeface="맑은 고딕" pitchFamily="50" charset="-127"/>
                <a:ea typeface="맑은 고딕" pitchFamily="50" charset="-127"/>
              </a:rPr>
              <a:t>2026-01-01 ~ 2026-01-17 </a:t>
            </a:r>
            <a:r>
              <a:rPr lang="ko-KR" altLang="en-US" sz="900" b="1" dirty="0" smtClean="0">
                <a:latin typeface="맑은 고딕" pitchFamily="50" charset="-127"/>
                <a:ea typeface="맑은 고딕" pitchFamily="50" charset="-127"/>
              </a:rPr>
              <a:t>사용 요금 입니다</a:t>
            </a:r>
            <a:r>
              <a:rPr lang="en-US" altLang="ko-KR" sz="900" b="1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r>
              <a:rPr lang="en-US" altLang="ko-KR" sz="900" b="1" dirty="0" smtClean="0">
                <a:latin typeface="맑은 고딕" pitchFamily="50" charset="-127"/>
                <a:ea typeface="맑은 고딕" pitchFamily="50" charset="-127"/>
              </a:rPr>
              <a:t>(2026-01-18 </a:t>
            </a:r>
            <a:r>
              <a:rPr lang="ko-KR" altLang="en-US" sz="900" b="1" dirty="0" smtClean="0">
                <a:latin typeface="맑은 고딕" pitchFamily="50" charset="-127"/>
                <a:ea typeface="맑은 고딕" pitchFamily="50" charset="-127"/>
              </a:rPr>
              <a:t>부터는 변경 후 요금제 기준으로 사용요금이 부과 예정</a:t>
            </a:r>
            <a:r>
              <a:rPr lang="en-US" altLang="ko-KR" sz="900" b="1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900" b="1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xmlns="" id="{F4D390E8-2A4A-4727-AA8D-7611F67FF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394972"/>
              </p:ext>
            </p:extLst>
          </p:nvPr>
        </p:nvGraphicFramePr>
        <p:xfrm>
          <a:off x="6435302" y="6166354"/>
          <a:ext cx="3421882" cy="1440000"/>
        </p:xfrm>
        <a:graphic>
          <a:graphicData uri="http://schemas.openxmlformats.org/drawingml/2006/table">
            <a:tbl>
              <a:tblPr/>
              <a:tblGrid>
                <a:gridCol w="17109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109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kern="12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요금항목명</a:t>
                      </a:r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kern="12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사용금액</a:t>
                      </a:r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89" name="눈물 방울 88"/>
          <p:cNvSpPr/>
          <p:nvPr/>
        </p:nvSpPr>
        <p:spPr>
          <a:xfrm rot="5400000">
            <a:off x="8573174" y="771560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768952" y="7678266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</a:p>
        </p:txBody>
      </p:sp>
      <p:cxnSp>
        <p:nvCxnSpPr>
          <p:cNvPr id="93" name="직선 화살표 연결선 92"/>
          <p:cNvCxnSpPr/>
          <p:nvPr/>
        </p:nvCxnSpPr>
        <p:spPr>
          <a:xfrm flipH="1">
            <a:off x="10022962" y="6137093"/>
            <a:ext cx="2" cy="1512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375036" y="5374010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사용 요금</a:t>
            </a:r>
            <a:endParaRPr lang="ko-KR" altLang="en-US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4653256" y="2231106"/>
            <a:ext cx="90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</a:t>
            </a:r>
          </a:p>
        </p:txBody>
      </p:sp>
      <p:sp>
        <p:nvSpPr>
          <p:cNvPr id="106" name="눈물 방울 105"/>
          <p:cNvSpPr/>
          <p:nvPr/>
        </p:nvSpPr>
        <p:spPr>
          <a:xfrm rot="5400000">
            <a:off x="5605706" y="2191814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491497" y="4463354"/>
            <a:ext cx="90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8" name="눈물 방울 107"/>
          <p:cNvSpPr/>
          <p:nvPr/>
        </p:nvSpPr>
        <p:spPr>
          <a:xfrm rot="5400000">
            <a:off x="5443947" y="449456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4496853" y="4869954"/>
            <a:ext cx="90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0" name="눈물 방울 109"/>
          <p:cNvSpPr/>
          <p:nvPr/>
        </p:nvSpPr>
        <p:spPr>
          <a:xfrm rot="5400000">
            <a:off x="5449303" y="490116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543577" y="5798544"/>
            <a:ext cx="81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체크 완료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" name="눈물 방울 111"/>
          <p:cNvSpPr/>
          <p:nvPr/>
        </p:nvSpPr>
        <p:spPr>
          <a:xfrm rot="5400000">
            <a:off x="1411244" y="580859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543577" y="5522126"/>
            <a:ext cx="20162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체크 완료 후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14" name="눈물 방울 113"/>
          <p:cNvSpPr/>
          <p:nvPr/>
        </p:nvSpPr>
        <p:spPr>
          <a:xfrm rot="5400000">
            <a:off x="6166480" y="532185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777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graphicFrame>
        <p:nvGraphicFramePr>
          <p:cNvPr id="4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014409"/>
              </p:ext>
            </p:extLst>
          </p:nvPr>
        </p:nvGraphicFramePr>
        <p:xfrm>
          <a:off x="280120" y="788950"/>
          <a:ext cx="4752528" cy="5702477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49349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가능한 요금제 조회하여 화면에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현재와 동일한 요금제인 경우 선택 불가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당월 요금제 기 변경한 경우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예약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익월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)’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 선택 가능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카테고리별로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요금제 조회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카테고리 우선순위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우선순위로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USIM/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휴대폰에 따라 대상요금제 조회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정책에 따라 대상요금제 조회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가입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 여부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요금제 변경 불가능한 경우 안내 메시지 노출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당월 이미 요금을 변경한 경우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미성년자인 경우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법인고객인 경우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변경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‘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예약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익월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)’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변경 예약 처리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익월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일로 예약 변경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.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 요금제 변경 예약 데이터 적재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‘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즉시변경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.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변경 예약 되어 있는 경우 예약 취소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.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즉시 변경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배타 관계 부가서비스 해지 처리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변경 처리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3)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프로모션 및 필수 부가서비스 가입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가입중인 요금제 조회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(Y02)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 사전체크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(multi)(Y24)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상품변경처리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(multi)(Y25)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변경 예약 조회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(X89)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변경 예약 취소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(X90)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변경 예약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(X88)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즉시변경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선택한 경우 요금제 변경 제약 체크하여 요금제 변경 가능한 경우 현재일까지 사용한 요금 조회하여 화면에 노출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실시간요금조회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(X18)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816648"/>
              </p:ext>
            </p:extLst>
          </p:nvPr>
        </p:nvGraphicFramePr>
        <p:xfrm>
          <a:off x="5392688" y="765498"/>
          <a:ext cx="4752528" cy="2707163"/>
        </p:xfrm>
        <a:graphic>
          <a:graphicData uri="http://schemas.openxmlformats.org/drawingml/2006/table">
            <a:tbl>
              <a:tblPr/>
              <a:tblGrid>
                <a:gridCol w="259032"/>
                <a:gridCol w="4493496"/>
              </a:tblGrid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선택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일시 선택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 완료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즉시변경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선택한 경우 요금제 변경 제약 체크하여 요금제 변경 불가 사유 안내 메시지 노출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배타 관계 부가서비스가 가입된 경우 요금제 불가 안내 메시지 노출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변경 불가 고객인 경우 요금제 불가 안내 메시지 노출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메시지 처리 후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즉시변경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선택 해제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 사전체크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(multi)(Y24)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팝업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Close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367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직사각형 94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419270"/>
              </p:ext>
            </p:extLst>
          </p:nvPr>
        </p:nvGraphicFramePr>
        <p:xfrm>
          <a:off x="10505256" y="788950"/>
          <a:ext cx="2130330" cy="8531531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조회 후 선택된 신규가입 번호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번호변경 유효성 체크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선택된 번호가 있는지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여부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번호변경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신규 번호 조회 횟수 조회하여 화면에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DB Table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조회 횟수 조회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번호조회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예약번호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번호조회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선택취소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예약번호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번호변경 유효성 체크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번호변경 가능 시간대가 아닌 경우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번호변경 가능한 시간은 평일 오전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오후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시까지 가능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주말 공휴일은 불가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번호변경 횟수가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개월내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 초과된 경우 번호변경 불가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번호조회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입력값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희망번호가 숫자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자리로 입력되었는지 여부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조회가능 횟수가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 이상인지 여부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희망번호 검색은 일 최대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회까지 조회가능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 가능 횟수가 초과된 경우 횟수 초과 안내 메시지가 표시되고 번호조회 팝업 표시 안됨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번호조회 팝업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신청서와 동일 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이용</a:t>
                      </a:r>
                      <a:endParaRPr lang="en-US" altLang="ko-KR" sz="800" b="1" kern="12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선택취소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예약번호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취소 이후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선택취소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번호조회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활성화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예약번호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선택된 번호 선택 취소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번호예약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(NU2)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grpSp>
        <p:nvGrpSpPr>
          <p:cNvPr id="47" name="그룹 46"/>
          <p:cNvGrpSpPr/>
          <p:nvPr/>
        </p:nvGrpSpPr>
        <p:grpSpPr>
          <a:xfrm>
            <a:off x="1072212" y="1170761"/>
            <a:ext cx="9252000" cy="246221"/>
            <a:chOff x="1072208" y="1117425"/>
            <a:chExt cx="9252000" cy="246221"/>
          </a:xfrm>
        </p:grpSpPr>
        <p:sp>
          <p:nvSpPr>
            <p:cNvPr id="63" name="TextBox 62"/>
            <p:cNvSpPr txBox="1"/>
            <p:nvPr/>
          </p:nvSpPr>
          <p:spPr>
            <a:xfrm>
              <a:off x="1072208" y="1117425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번호변경</a:t>
              </a:r>
            </a:p>
          </p:txBody>
        </p:sp>
        <p:cxnSp>
          <p:nvCxnSpPr>
            <p:cNvPr id="64" name="직선 연결선 63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눈물 방울 64"/>
          <p:cNvSpPr/>
          <p:nvPr/>
        </p:nvSpPr>
        <p:spPr>
          <a:xfrm rot="5400000">
            <a:off x="952745" y="114064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104" name="그룹 103"/>
          <p:cNvGrpSpPr/>
          <p:nvPr/>
        </p:nvGrpSpPr>
        <p:grpSpPr>
          <a:xfrm>
            <a:off x="1059141" y="1559114"/>
            <a:ext cx="5405041" cy="252000"/>
            <a:chOff x="424136" y="-566622"/>
            <a:chExt cx="5405041" cy="252000"/>
          </a:xfrm>
        </p:grpSpPr>
        <p:sp>
          <p:nvSpPr>
            <p:cNvPr id="105" name="TextBox 104"/>
            <p:cNvSpPr txBox="1"/>
            <p:nvPr/>
          </p:nvSpPr>
          <p:spPr>
            <a:xfrm>
              <a:off x="424136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번호예약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****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11" name="직사각형 110"/>
          <p:cNvSpPr/>
          <p:nvPr/>
        </p:nvSpPr>
        <p:spPr>
          <a:xfrm>
            <a:off x="6616824" y="1565571"/>
            <a:ext cx="90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번호조회</a:t>
            </a:r>
          </a:p>
        </p:txBody>
      </p:sp>
      <p:sp>
        <p:nvSpPr>
          <p:cNvPr id="112" name="눈물 방울 111"/>
          <p:cNvSpPr/>
          <p:nvPr/>
        </p:nvSpPr>
        <p:spPr>
          <a:xfrm rot="5400000">
            <a:off x="6981630" y="130229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510926" y="1867564"/>
            <a:ext cx="34339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조회 가능 횟수를 초과할 경우 신청서를 </a:t>
            </a: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재작성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해야 합니다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7552928" y="1579350"/>
            <a:ext cx="13773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accent6"/>
                </a:solidFill>
                <a:latin typeface="+mn-ea"/>
                <a:ea typeface="+mn-ea"/>
              </a:rPr>
              <a:t>(</a:t>
            </a:r>
            <a:r>
              <a:rPr lang="ko-KR" altLang="en-US" sz="900" dirty="0">
                <a:solidFill>
                  <a:schemeClr val="accent6"/>
                </a:solidFill>
                <a:latin typeface="+mn-ea"/>
                <a:ea typeface="+mn-ea"/>
              </a:rPr>
              <a:t>조회 가능 횟수 </a:t>
            </a:r>
            <a:r>
              <a:rPr lang="en-US" altLang="ko-KR" sz="900" dirty="0">
                <a:solidFill>
                  <a:schemeClr val="accent6"/>
                </a:solidFill>
                <a:latin typeface="+mn-ea"/>
                <a:ea typeface="+mn-ea"/>
              </a:rPr>
              <a:t>: 20</a:t>
            </a:r>
            <a:r>
              <a:rPr lang="ko-KR" altLang="en-US" sz="900" dirty="0">
                <a:solidFill>
                  <a:schemeClr val="accent6"/>
                </a:solidFill>
                <a:latin typeface="+mn-ea"/>
                <a:ea typeface="+mn-ea"/>
              </a:rPr>
              <a:t>회</a:t>
            </a:r>
            <a:r>
              <a:rPr lang="en-US" altLang="ko-KR" sz="900" dirty="0">
                <a:solidFill>
                  <a:schemeClr val="accent6"/>
                </a:solidFill>
                <a:latin typeface="+mn-ea"/>
                <a:ea typeface="+mn-ea"/>
              </a:rPr>
              <a:t>)</a:t>
            </a:r>
            <a:endParaRPr lang="ko-KR" altLang="en-US" sz="900" dirty="0">
              <a:solidFill>
                <a:schemeClr val="accent6"/>
              </a:solidFill>
              <a:latin typeface="+mn-ea"/>
              <a:ea typeface="+mn-ea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2543701" y="2094965"/>
            <a:ext cx="3920481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선택된 희망 신규번호</a:t>
            </a: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6616824" y="2097674"/>
            <a:ext cx="90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선택취소</a:t>
            </a:r>
          </a:p>
        </p:txBody>
      </p:sp>
      <p:sp>
        <p:nvSpPr>
          <p:cNvPr id="117" name="눈물 방울 116"/>
          <p:cNvSpPr/>
          <p:nvPr/>
        </p:nvSpPr>
        <p:spPr>
          <a:xfrm rot="5400000">
            <a:off x="7414928" y="2058382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8" name="눈물 방울 117"/>
          <p:cNvSpPr/>
          <p:nvPr/>
        </p:nvSpPr>
        <p:spPr>
          <a:xfrm rot="5400000">
            <a:off x="7920435" y="138653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18515" y="5168439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조회 가능 횟수 초과한 경우 안내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506077" y="5446018"/>
            <a:ext cx="2881818" cy="1397063"/>
            <a:chOff x="5875124" y="3832891"/>
            <a:chExt cx="2881818" cy="1397063"/>
          </a:xfrm>
        </p:grpSpPr>
        <p:sp>
          <p:nvSpPr>
            <p:cNvPr id="81" name="직사각형 80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신규 번호 조회 가능 횟수를 초과 하셨습니다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신청서를 </a:t>
              </a: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재작성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해주세요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84" name="눈물 방울 83"/>
          <p:cNvSpPr/>
          <p:nvPr/>
        </p:nvSpPr>
        <p:spPr>
          <a:xfrm rot="5400000">
            <a:off x="244869" y="521061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94357" y="3917091"/>
            <a:ext cx="4388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번호 선택 이후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742651" y="4541732"/>
            <a:ext cx="3920481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010-1111-2222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5815774" y="4544441"/>
            <a:ext cx="90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선택취소</a:t>
            </a:r>
          </a:p>
        </p:txBody>
      </p:sp>
      <p:sp>
        <p:nvSpPr>
          <p:cNvPr id="57" name="눈물 방울 56"/>
          <p:cNvSpPr/>
          <p:nvPr/>
        </p:nvSpPr>
        <p:spPr>
          <a:xfrm rot="5400000">
            <a:off x="6768224" y="450514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8" name="눈물 방울 57"/>
          <p:cNvSpPr/>
          <p:nvPr/>
        </p:nvSpPr>
        <p:spPr>
          <a:xfrm rot="5400000">
            <a:off x="314825" y="2900550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96061" y="2904832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0" name="눈물 방울 59"/>
          <p:cNvSpPr/>
          <p:nvPr/>
        </p:nvSpPr>
        <p:spPr>
          <a:xfrm rot="5400000">
            <a:off x="287504" y="389913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265570" y="3213770"/>
            <a:ext cx="5405041" cy="252000"/>
            <a:chOff x="424136" y="-566622"/>
            <a:chExt cx="5405041" cy="252000"/>
          </a:xfrm>
        </p:grpSpPr>
        <p:sp>
          <p:nvSpPr>
            <p:cNvPr id="66" name="TextBox 65"/>
            <p:cNvSpPr txBox="1"/>
            <p:nvPr/>
          </p:nvSpPr>
          <p:spPr>
            <a:xfrm>
              <a:off x="424136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번호예약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****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72" name="직사각형 71"/>
          <p:cNvSpPr/>
          <p:nvPr/>
        </p:nvSpPr>
        <p:spPr>
          <a:xfrm>
            <a:off x="5823253" y="3220227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번호조회</a:t>
            </a:r>
          </a:p>
        </p:txBody>
      </p:sp>
      <p:sp>
        <p:nvSpPr>
          <p:cNvPr id="73" name="눈물 방울 72"/>
          <p:cNvSpPr/>
          <p:nvPr/>
        </p:nvSpPr>
        <p:spPr>
          <a:xfrm rot="5400000">
            <a:off x="6768307" y="322154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752981" y="3577558"/>
            <a:ext cx="3920481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선택된 희망 신규번호</a:t>
            </a: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5826104" y="3580267"/>
            <a:ext cx="90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선택취소</a:t>
            </a:r>
          </a:p>
        </p:txBody>
      </p:sp>
      <p:sp>
        <p:nvSpPr>
          <p:cNvPr id="76" name="눈물 방울 75"/>
          <p:cNvSpPr/>
          <p:nvPr/>
        </p:nvSpPr>
        <p:spPr>
          <a:xfrm rot="5400000">
            <a:off x="6768224" y="3611478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265487" y="4179449"/>
            <a:ext cx="5405041" cy="252000"/>
            <a:chOff x="424136" y="-566622"/>
            <a:chExt cx="5405041" cy="252000"/>
          </a:xfrm>
        </p:grpSpPr>
        <p:sp>
          <p:nvSpPr>
            <p:cNvPr id="85" name="TextBox 84"/>
            <p:cNvSpPr txBox="1"/>
            <p:nvPr/>
          </p:nvSpPr>
          <p:spPr>
            <a:xfrm>
              <a:off x="424136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번호예약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****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91" name="직사각형 90"/>
          <p:cNvSpPr/>
          <p:nvPr/>
        </p:nvSpPr>
        <p:spPr>
          <a:xfrm>
            <a:off x="5823170" y="4185906"/>
            <a:ext cx="90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번호조회</a:t>
            </a:r>
          </a:p>
        </p:txBody>
      </p:sp>
      <p:sp>
        <p:nvSpPr>
          <p:cNvPr id="92" name="눈물 방울 91"/>
          <p:cNvSpPr/>
          <p:nvPr/>
        </p:nvSpPr>
        <p:spPr>
          <a:xfrm rot="5400000">
            <a:off x="6768224" y="4187226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73136" y="490131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173136" y="2565698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</p:spTree>
    <p:extLst>
      <p:ext uri="{BB962C8B-B14F-4D97-AF65-F5344CB8AC3E}">
        <p14:creationId xmlns:p14="http://schemas.microsoft.com/office/powerpoint/2010/main" val="700810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535652"/>
              </p:ext>
            </p:extLst>
          </p:nvPr>
        </p:nvGraphicFramePr>
        <p:xfrm>
          <a:off x="10505256" y="788950"/>
          <a:ext cx="2130330" cy="5461419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이력 조회하여 정지유형에 따라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해제 화면에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상태가 아닌 경우 불가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일시정지해제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 여부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해제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상태인 경우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해제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분실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상태인 경우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분실접수 해제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일시정지해제신청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(X30)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미납정지해제신청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(X63)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부정사용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일시정지해제신청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(X65)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해제 가능 여부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일시정지해제가능여부조회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(X28)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1072213" y="1173608"/>
            <a:ext cx="9252000" cy="246221"/>
            <a:chOff x="1072208" y="1117425"/>
            <a:chExt cx="9252000" cy="246221"/>
          </a:xfrm>
        </p:grpSpPr>
        <p:sp>
          <p:nvSpPr>
            <p:cNvPr id="33" name="TextBox 32"/>
            <p:cNvSpPr txBox="1"/>
            <p:nvPr/>
          </p:nvSpPr>
          <p:spPr>
            <a:xfrm>
              <a:off x="1072208" y="1117425"/>
              <a:ext cx="18245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분실복구</a:t>
              </a:r>
              <a:r>
                <a:rPr lang="en-US" altLang="ko-KR" sz="1000" b="1" dirty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00" b="1" dirty="0" err="1">
                  <a:latin typeface="맑은 고딕" pitchFamily="50" charset="-127"/>
                  <a:ea typeface="맑은 고딕" pitchFamily="50" charset="-127"/>
                </a:rPr>
                <a:t>일시정지해제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 신청</a:t>
              </a:r>
            </a:p>
          </p:txBody>
        </p:sp>
        <p:cxnSp>
          <p:nvCxnSpPr>
            <p:cNvPr id="34" name="직선 연결선 33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눈물 방울 34"/>
          <p:cNvSpPr/>
          <p:nvPr/>
        </p:nvSpPr>
        <p:spPr>
          <a:xfrm rot="5400000">
            <a:off x="932962" y="11207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1072208" y="1575439"/>
            <a:ext cx="5794664" cy="252000"/>
            <a:chOff x="640160" y="-566622"/>
            <a:chExt cx="5794664" cy="252000"/>
          </a:xfrm>
        </p:grpSpPr>
        <p:sp>
          <p:nvSpPr>
            <p:cNvPr id="37" name="TextBox 36"/>
            <p:cNvSpPr txBox="1"/>
            <p:nvPr/>
          </p:nvSpPr>
          <p:spPr>
            <a:xfrm>
              <a:off x="640160" y="-556038"/>
              <a:ext cx="141897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일시정지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 해제 비밀번호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114824" y="-566622"/>
              <a:ext cx="43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일시정지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해제 비밀번호</a:t>
              </a: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6943661" y="1565285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</a:p>
        </p:txBody>
      </p:sp>
      <p:sp>
        <p:nvSpPr>
          <p:cNvPr id="40" name="눈물 방울 39"/>
          <p:cNvSpPr/>
          <p:nvPr/>
        </p:nvSpPr>
        <p:spPr>
          <a:xfrm rot="5400000">
            <a:off x="7701710" y="1561036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45041" y="3717826"/>
            <a:ext cx="4388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일시정지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상태가 아닌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354829" y="4030254"/>
            <a:ext cx="5794664" cy="252000"/>
            <a:chOff x="640160" y="-566622"/>
            <a:chExt cx="5794664" cy="252000"/>
          </a:xfrm>
        </p:grpSpPr>
        <p:sp>
          <p:nvSpPr>
            <p:cNvPr id="43" name="TextBox 42"/>
            <p:cNvSpPr txBox="1"/>
            <p:nvPr/>
          </p:nvSpPr>
          <p:spPr>
            <a:xfrm>
              <a:off x="640160" y="-556038"/>
              <a:ext cx="141897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일시정지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 해제 비밀번호</a:t>
              </a: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2114824" y="-566622"/>
              <a:ext cx="4320000" cy="25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일시정지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해제 비밀번호</a:t>
              </a:r>
            </a:p>
          </p:txBody>
        </p:sp>
      </p:grpSp>
      <p:sp>
        <p:nvSpPr>
          <p:cNvPr id="46" name="직사각형 45"/>
          <p:cNvSpPr/>
          <p:nvPr/>
        </p:nvSpPr>
        <p:spPr>
          <a:xfrm>
            <a:off x="430802" y="4785072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일시정지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해제 불가능한 경우 안내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355429" y="5129075"/>
            <a:ext cx="2881818" cy="1397063"/>
            <a:chOff x="5875124" y="3832891"/>
            <a:chExt cx="2881818" cy="1397063"/>
          </a:xfrm>
        </p:grpSpPr>
        <p:sp>
          <p:nvSpPr>
            <p:cNvPr id="63" name="직사각형 62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일시정지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해제가 불가능합니다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66" name="눈물 방울 65"/>
          <p:cNvSpPr/>
          <p:nvPr/>
        </p:nvSpPr>
        <p:spPr>
          <a:xfrm rot="5400000">
            <a:off x="284886" y="476414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0" name="그룹 69"/>
          <p:cNvGrpSpPr/>
          <p:nvPr/>
        </p:nvGrpSpPr>
        <p:grpSpPr>
          <a:xfrm>
            <a:off x="3550271" y="5124830"/>
            <a:ext cx="2881818" cy="1397063"/>
            <a:chOff x="5875124" y="3832891"/>
            <a:chExt cx="2881818" cy="1397063"/>
          </a:xfrm>
        </p:grpSpPr>
        <p:sp>
          <p:nvSpPr>
            <p:cNvPr id="71" name="직사각형 70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일시정지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해제 비밀번호가 일치하지 않습니다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70853" y="2421682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9" name="눈물 방울 88"/>
          <p:cNvSpPr/>
          <p:nvPr/>
        </p:nvSpPr>
        <p:spPr>
          <a:xfrm rot="5400000">
            <a:off x="359595" y="242914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570853" y="3069754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 성공 이후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-&gt;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버튼명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변경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비활성화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수정 불가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354829" y="2745746"/>
            <a:ext cx="5794664" cy="252000"/>
            <a:chOff x="640160" y="-566622"/>
            <a:chExt cx="5794664" cy="252000"/>
          </a:xfrm>
        </p:grpSpPr>
        <p:sp>
          <p:nvSpPr>
            <p:cNvPr id="100" name="TextBox 99"/>
            <p:cNvSpPr txBox="1"/>
            <p:nvPr/>
          </p:nvSpPr>
          <p:spPr>
            <a:xfrm>
              <a:off x="640160" y="-556038"/>
              <a:ext cx="141897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일시정지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 해제 비밀번호</a:t>
              </a: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2114824" y="-566622"/>
              <a:ext cx="43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******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02" name="직사각형 101"/>
          <p:cNvSpPr/>
          <p:nvPr/>
        </p:nvSpPr>
        <p:spPr>
          <a:xfrm>
            <a:off x="6226282" y="2735592"/>
            <a:ext cx="7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</a:p>
        </p:txBody>
      </p:sp>
      <p:sp>
        <p:nvSpPr>
          <p:cNvPr id="103" name="눈물 방울 102"/>
          <p:cNvSpPr/>
          <p:nvPr/>
        </p:nvSpPr>
        <p:spPr>
          <a:xfrm rot="5400000">
            <a:off x="6984331" y="273134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04" name="그룹 103"/>
          <p:cNvGrpSpPr/>
          <p:nvPr/>
        </p:nvGrpSpPr>
        <p:grpSpPr>
          <a:xfrm>
            <a:off x="354829" y="3326129"/>
            <a:ext cx="5794664" cy="252000"/>
            <a:chOff x="640160" y="-566622"/>
            <a:chExt cx="5794664" cy="252000"/>
          </a:xfrm>
        </p:grpSpPr>
        <p:sp>
          <p:nvSpPr>
            <p:cNvPr id="105" name="TextBox 104"/>
            <p:cNvSpPr txBox="1"/>
            <p:nvPr/>
          </p:nvSpPr>
          <p:spPr>
            <a:xfrm>
              <a:off x="640160" y="-556038"/>
              <a:ext cx="141897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일시정지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 해제 비밀번호</a:t>
              </a: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2114824" y="-566622"/>
              <a:ext cx="432000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******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07" name="직사각형 106"/>
          <p:cNvSpPr/>
          <p:nvPr/>
        </p:nvSpPr>
        <p:spPr>
          <a:xfrm>
            <a:off x="6226282" y="3315975"/>
            <a:ext cx="72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확인 완료</a:t>
            </a:r>
          </a:p>
        </p:txBody>
      </p:sp>
      <p:sp>
        <p:nvSpPr>
          <p:cNvPr id="108" name="눈물 방울 107"/>
          <p:cNvSpPr/>
          <p:nvPr/>
        </p:nvSpPr>
        <p:spPr>
          <a:xfrm rot="5400000">
            <a:off x="6984331" y="3311726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73136" y="4448359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173136" y="2133650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6688832" y="4785072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일시정지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해제 비밀번호 일치한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6757475" y="5129075"/>
            <a:ext cx="2881818" cy="1397063"/>
            <a:chOff x="5875124" y="3832891"/>
            <a:chExt cx="2881818" cy="1397063"/>
          </a:xfrm>
        </p:grpSpPr>
        <p:sp>
          <p:nvSpPr>
            <p:cNvPr id="55" name="직사각형 54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일시정지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해제 </a:t>
              </a: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비밀반호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확인이 완료되었습니다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58" name="직사각형 57"/>
          <p:cNvSpPr/>
          <p:nvPr/>
        </p:nvSpPr>
        <p:spPr>
          <a:xfrm>
            <a:off x="3520480" y="4797946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일시정지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해제 비밀번호 불일치한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9836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442674"/>
              </p:ext>
            </p:extLst>
          </p:nvPr>
        </p:nvGraphicFramePr>
        <p:xfrm>
          <a:off x="10505256" y="788950"/>
          <a:ext cx="2130330" cy="8603576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 가능한 안심 보험 조회하여 화면에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디폴트 선택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첫번째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현재와 동일한 안심 보험인 경우 선택 불가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따라 대상 안심보험 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카테고리별로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안심보험 조회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카테고리 우선순위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안심보험 우선순위로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단말기 보험 가입 유효성 체크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 여부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단말보험 가입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스마트신청서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안심보험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카테고리에 해당하는 안심보험 목록 조회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카테고리에 정의된 안심보험 상품 정보는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동일하게 조회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API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가입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(X21)</a:t>
                      </a:r>
                      <a:endParaRPr lang="ko-KR" altLang="en-US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안심보험 가입 약관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선택 체크 박스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약관 전체 항목 동의 체크 처리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동의 체크 박스 중 일부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체크해제된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경우 전체 선택 체크 해제 처리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선택항목 하위에 여러 개인 경우 중첩 표시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동의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선택 체크 박스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약관 전체 항목 동의 체크 처리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동의 체크 박스 중 일부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체크해제된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경우 전체 선택 체크 해제 처리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안심보험 선택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안심보험 선택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안심 보험 가입 가능 여부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가입이 불가한 경우 가입 불가 메시지 표시 후 선택 버튼 해제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 사전체크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(multi)(Y24)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펼침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약관 전체 펼침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상세 팝업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1072214" y="1190945"/>
            <a:ext cx="9252000" cy="246221"/>
            <a:chOff x="1072208" y="1117425"/>
            <a:chExt cx="9252000" cy="246221"/>
          </a:xfrm>
        </p:grpSpPr>
        <p:sp>
          <p:nvSpPr>
            <p:cNvPr id="33" name="TextBox 32"/>
            <p:cNvSpPr txBox="1"/>
            <p:nvPr/>
          </p:nvSpPr>
          <p:spPr>
            <a:xfrm>
              <a:off x="1072208" y="1117425"/>
              <a:ext cx="9989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단말보험 가입</a:t>
              </a:r>
            </a:p>
          </p:txBody>
        </p:sp>
        <p:cxnSp>
          <p:nvCxnSpPr>
            <p:cNvPr id="34" name="직선 연결선 33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눈물 방울 34"/>
          <p:cNvSpPr/>
          <p:nvPr/>
        </p:nvSpPr>
        <p:spPr>
          <a:xfrm rot="5400000">
            <a:off x="932963" y="1138110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4956" y="1568170"/>
            <a:ext cx="9573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안심 보험 가입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8314514" y="1589138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</a:p>
        </p:txBody>
      </p:sp>
      <p:sp>
        <p:nvSpPr>
          <p:cNvPr id="65" name="눈물 방울 64"/>
          <p:cNvSpPr/>
          <p:nvPr/>
        </p:nvSpPr>
        <p:spPr>
          <a:xfrm rot="5400000">
            <a:off x="9072563" y="158488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1163507" y="1994459"/>
            <a:ext cx="8758499" cy="253916"/>
            <a:chOff x="1936304" y="-857339"/>
            <a:chExt cx="8758499" cy="253916"/>
          </a:xfrm>
        </p:grpSpPr>
        <p:sp>
          <p:nvSpPr>
            <p:cNvPr id="69" name="타원 68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116304" y="-857339"/>
              <a:ext cx="424026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안심서비스 보험가입 동의를 확인하였으며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보험가입에 모두 동의합니다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413957" y="-857339"/>
              <a:ext cx="28084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sp>
        <p:nvSpPr>
          <p:cNvPr id="74" name="눈물 방울 73"/>
          <p:cNvSpPr/>
          <p:nvPr/>
        </p:nvSpPr>
        <p:spPr>
          <a:xfrm rot="5400000">
            <a:off x="791643" y="1989694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50" name="그룹 49"/>
          <p:cNvGrpSpPr/>
          <p:nvPr/>
        </p:nvGrpSpPr>
        <p:grpSpPr>
          <a:xfrm>
            <a:off x="2541366" y="1593618"/>
            <a:ext cx="5689018" cy="252000"/>
            <a:chOff x="2109318" y="-566622"/>
            <a:chExt cx="5689018" cy="252000"/>
          </a:xfrm>
        </p:grpSpPr>
        <p:sp>
          <p:nvSpPr>
            <p:cNvPr id="51" name="직사각형 50"/>
            <p:cNvSpPr/>
            <p:nvPr/>
          </p:nvSpPr>
          <p:spPr>
            <a:xfrm>
              <a:off x="4367324" y="-566622"/>
              <a:ext cx="3431012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안드로이드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플래티넘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월 기본료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4,900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원</a:t>
              </a:r>
            </a:p>
          </p:txBody>
        </p:sp>
        <p:pic>
          <p:nvPicPr>
            <p:cNvPr id="5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8701" y="-524671"/>
              <a:ext cx="180000" cy="1466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3" name="직사각형 52"/>
            <p:cNvSpPr/>
            <p:nvPr/>
          </p:nvSpPr>
          <p:spPr>
            <a:xfrm>
              <a:off x="2109318" y="-566622"/>
              <a:ext cx="219813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추천 카테고리</a:t>
              </a:r>
            </a:p>
          </p:txBody>
        </p:sp>
        <p:pic>
          <p:nvPicPr>
            <p:cNvPr id="5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7813" y="-524671"/>
              <a:ext cx="90000" cy="1466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6" name="직사각형 55"/>
          <p:cNvSpPr/>
          <p:nvPr/>
        </p:nvSpPr>
        <p:spPr>
          <a:xfrm>
            <a:off x="12881520" y="1638465"/>
            <a:ext cx="2880320" cy="2091371"/>
          </a:xfrm>
          <a:prstGeom prst="rect">
            <a:avLst/>
          </a:prstGeom>
          <a:solidFill>
            <a:srgbClr val="FFFF00">
              <a:alpha val="75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b="1" dirty="0" smtClean="0">
                <a:solidFill>
                  <a:srgbClr val="FF0000"/>
                </a:solidFill>
                <a:latin typeface="+mn-ea"/>
                <a:ea typeface="+mn-ea"/>
              </a:rPr>
              <a:t>(2026.03.10)</a:t>
            </a:r>
          </a:p>
          <a:p>
            <a:pPr>
              <a:spcBef>
                <a:spcPct val="50000"/>
              </a:spcBef>
            </a:pP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단말기보험 가입 </a:t>
            </a:r>
            <a:r>
              <a:rPr lang="ko-KR" altLang="en-US" sz="1000" b="1" dirty="0" smtClean="0">
                <a:solidFill>
                  <a:srgbClr val="FF0000"/>
                </a:solidFill>
                <a:latin typeface="+mn-ea"/>
                <a:ea typeface="+mn-ea"/>
              </a:rPr>
              <a:t>처리 프로세스</a:t>
            </a:r>
            <a:endParaRPr lang="en-US" altLang="ko-KR" sz="1000" b="1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ko-KR" sz="1000" b="1" dirty="0" smtClean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 err="1" smtClean="0">
                <a:solidFill>
                  <a:srgbClr val="FF0000"/>
                </a:solidFill>
                <a:latin typeface="+mn-ea"/>
                <a:ea typeface="+mn-ea"/>
              </a:rPr>
              <a:t>다이렉트몰의</a:t>
            </a:r>
            <a:r>
              <a:rPr lang="ko-KR" altLang="en-US" sz="1000" b="1" dirty="0" smtClean="0">
                <a:solidFill>
                  <a:srgbClr val="FF0000"/>
                </a:solidFill>
                <a:latin typeface="+mn-ea"/>
                <a:ea typeface="+mn-ea"/>
              </a:rPr>
              <a:t> 경우 </a:t>
            </a:r>
            <a:r>
              <a:rPr lang="en-US" altLang="ko-KR" sz="1000" b="1" dirty="0" smtClean="0">
                <a:solidFill>
                  <a:srgbClr val="FF0000"/>
                </a:solidFill>
                <a:latin typeface="+mn-ea"/>
                <a:ea typeface="+mn-ea"/>
              </a:rPr>
              <a:t>M</a:t>
            </a:r>
            <a:r>
              <a:rPr lang="ko-KR" altLang="en-US" sz="1000" b="1" dirty="0" smtClean="0">
                <a:solidFill>
                  <a:srgbClr val="FF0000"/>
                </a:solidFill>
                <a:latin typeface="+mn-ea"/>
                <a:ea typeface="+mn-ea"/>
              </a:rPr>
              <a:t>플랫폼에 가입 처리 후 </a:t>
            </a:r>
            <a:r>
              <a:rPr lang="en-US" altLang="ko-KR" sz="1000" b="1" dirty="0" smtClean="0">
                <a:solidFill>
                  <a:srgbClr val="FF0000"/>
                </a:solidFill>
                <a:latin typeface="+mn-ea"/>
                <a:ea typeface="+mn-ea"/>
              </a:rPr>
              <a:t>M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전산에서 보험업체가 검증하는 절차로 </a:t>
            </a:r>
            <a:r>
              <a:rPr lang="ko-KR" altLang="en-US" sz="1000" b="1" dirty="0" smtClean="0">
                <a:solidFill>
                  <a:srgbClr val="FF0000"/>
                </a:solidFill>
                <a:latin typeface="+mn-ea"/>
                <a:ea typeface="+mn-ea"/>
              </a:rPr>
              <a:t>진행 </a:t>
            </a:r>
            <a:r>
              <a:rPr lang="en-US" altLang="ko-KR" sz="1000" b="1" dirty="0" smtClean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1000" b="1" dirty="0" err="1" smtClean="0">
                <a:solidFill>
                  <a:srgbClr val="FF0000"/>
                </a:solidFill>
                <a:latin typeface="+mn-ea"/>
                <a:ea typeface="+mn-ea"/>
              </a:rPr>
              <a:t>검증시</a:t>
            </a:r>
            <a:r>
              <a:rPr lang="ko-KR" altLang="en-US" sz="1000" b="1" dirty="0" smtClean="0">
                <a:solidFill>
                  <a:srgbClr val="FF0000"/>
                </a:solidFill>
                <a:latin typeface="+mn-ea"/>
                <a:ea typeface="+mn-ea"/>
              </a:rPr>
              <a:t> 휴대폰 사진 정보 전송 필요함</a:t>
            </a:r>
            <a:r>
              <a:rPr lang="en-US" altLang="ko-KR" sz="1000" b="1" dirty="0" smtClean="0">
                <a:solidFill>
                  <a:srgbClr val="FF0000"/>
                </a:solidFill>
                <a:latin typeface="+mn-ea"/>
                <a:ea typeface="+mn-ea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en-US" altLang="ko-KR" sz="1000" b="1" dirty="0" smtClean="0">
                <a:solidFill>
                  <a:srgbClr val="FF0000"/>
                </a:solidFill>
                <a:latin typeface="+mn-ea"/>
                <a:ea typeface="+mn-ea"/>
              </a:rPr>
              <a:t>-&gt; </a:t>
            </a:r>
            <a:r>
              <a:rPr lang="ko-KR" altLang="en-US" sz="1000" b="1" dirty="0" smtClean="0">
                <a:solidFill>
                  <a:srgbClr val="FF0000"/>
                </a:solidFill>
                <a:latin typeface="+mn-ea"/>
                <a:ea typeface="+mn-ea"/>
              </a:rPr>
              <a:t>판매점에서 가입 처리시에는 검증 절차 진행할지 여부 프로세스 확인 필요</a:t>
            </a:r>
            <a:endParaRPr lang="en-US" altLang="ko-KR" sz="1000" b="1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ko-KR" sz="1000" b="1" dirty="0">
                <a:solidFill>
                  <a:srgbClr val="FF0000"/>
                </a:solidFill>
                <a:latin typeface="+mn-ea"/>
                <a:ea typeface="+mn-ea"/>
              </a:rPr>
              <a:t>=&gt; </a:t>
            </a:r>
            <a:r>
              <a:rPr lang="ko-KR" altLang="en-US" sz="1000" b="1" dirty="0" smtClean="0">
                <a:solidFill>
                  <a:srgbClr val="FF0000"/>
                </a:solidFill>
                <a:latin typeface="+mn-ea"/>
                <a:ea typeface="+mn-ea"/>
              </a:rPr>
              <a:t>보험 가입 절차 </a:t>
            </a:r>
            <a:r>
              <a:rPr lang="ko-KR" altLang="en-US" sz="1000" b="1" dirty="0" err="1" smtClean="0">
                <a:solidFill>
                  <a:srgbClr val="FF0000"/>
                </a:solidFill>
                <a:latin typeface="+mn-ea"/>
                <a:ea typeface="+mn-ea"/>
              </a:rPr>
              <a:t>유통영업팀</a:t>
            </a:r>
            <a:r>
              <a:rPr lang="ko-KR" altLang="en-US" sz="1000" b="1" dirty="0" smtClean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확인 후 피드백 예정</a:t>
            </a:r>
          </a:p>
          <a:p>
            <a:pPr>
              <a:spcBef>
                <a:spcPct val="50000"/>
              </a:spcBef>
            </a:pPr>
            <a:endParaRPr lang="ko-KR" altLang="en-US" sz="1000" b="1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343506" y="2421682"/>
            <a:ext cx="8980707" cy="2592288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1504256" y="2565698"/>
            <a:ext cx="8629740" cy="504056"/>
            <a:chOff x="1936304" y="-857339"/>
            <a:chExt cx="8629740" cy="504056"/>
          </a:xfrm>
        </p:grpSpPr>
        <p:sp>
          <p:nvSpPr>
            <p:cNvPr id="58" name="타원 57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116304" y="-857339"/>
              <a:ext cx="42803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안심서비스 보험가입 동의를 확인하였으며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보험가입에 모두 동의합니다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0296418" y="-857339"/>
              <a:ext cx="26962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V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124353" y="-584115"/>
              <a:ext cx="418415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※ 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고객님의 편의를 위한 모든 약관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선택약관 포함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에 일괄동의 하시겠습니까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?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1504256" y="3213770"/>
            <a:ext cx="8639358" cy="253916"/>
            <a:chOff x="1936304" y="-857339"/>
            <a:chExt cx="8639358" cy="253916"/>
          </a:xfrm>
        </p:grpSpPr>
        <p:sp>
          <p:nvSpPr>
            <p:cNvPr id="67" name="타원 66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029641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1504256" y="3537177"/>
            <a:ext cx="8639358" cy="253916"/>
            <a:chOff x="1936304" y="-857339"/>
            <a:chExt cx="8639358" cy="253916"/>
          </a:xfrm>
        </p:grpSpPr>
        <p:sp>
          <p:nvSpPr>
            <p:cNvPr id="79" name="타원 78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029641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1504256" y="3860584"/>
            <a:ext cx="8639358" cy="253916"/>
            <a:chOff x="1936304" y="-857339"/>
            <a:chExt cx="8639358" cy="253916"/>
          </a:xfrm>
        </p:grpSpPr>
        <p:sp>
          <p:nvSpPr>
            <p:cNvPr id="105" name="타원 104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029641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108" name="그룹 107"/>
          <p:cNvGrpSpPr/>
          <p:nvPr/>
        </p:nvGrpSpPr>
        <p:grpSpPr>
          <a:xfrm>
            <a:off x="1504256" y="4183990"/>
            <a:ext cx="8629740" cy="253916"/>
            <a:chOff x="1936304" y="-857339"/>
            <a:chExt cx="8629740" cy="253916"/>
          </a:xfrm>
        </p:grpSpPr>
        <p:sp>
          <p:nvSpPr>
            <p:cNvPr id="109" name="타원 108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(</a:t>
              </a:r>
              <a:r>
                <a:rPr lang="ko-KR" altLang="en-US" sz="900" dirty="0">
                  <a:latin typeface="+mn-ea"/>
                  <a:ea typeface="+mn-ea"/>
                </a:rPr>
                <a:t>선택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10296418" y="-857339"/>
              <a:ext cx="26962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 smtClean="0">
                  <a:latin typeface="+mn-ea"/>
                  <a:ea typeface="+mn-ea"/>
                </a:rPr>
                <a:t>V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sp>
        <p:nvSpPr>
          <p:cNvPr id="112" name="눈물 방울 111"/>
          <p:cNvSpPr/>
          <p:nvPr/>
        </p:nvSpPr>
        <p:spPr>
          <a:xfrm rot="5400000">
            <a:off x="9648627" y="320900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13" name="그룹 112"/>
          <p:cNvGrpSpPr/>
          <p:nvPr/>
        </p:nvGrpSpPr>
        <p:grpSpPr>
          <a:xfrm>
            <a:off x="1793890" y="4472022"/>
            <a:ext cx="8342538" cy="253916"/>
            <a:chOff x="1936304" y="-857339"/>
            <a:chExt cx="8342538" cy="253916"/>
          </a:xfrm>
        </p:grpSpPr>
        <p:sp>
          <p:nvSpPr>
            <p:cNvPr id="114" name="타원 113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(</a:t>
              </a:r>
              <a:r>
                <a:rPr lang="ko-KR" altLang="en-US" sz="900" dirty="0">
                  <a:latin typeface="+mn-ea"/>
                  <a:ea typeface="+mn-ea"/>
                </a:rPr>
                <a:t>선택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999959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1792288" y="4725938"/>
            <a:ext cx="8342538" cy="253916"/>
            <a:chOff x="1936304" y="-857339"/>
            <a:chExt cx="8342538" cy="253916"/>
          </a:xfrm>
        </p:grpSpPr>
        <p:sp>
          <p:nvSpPr>
            <p:cNvPr id="118" name="타원 117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(</a:t>
              </a:r>
              <a:r>
                <a:rPr lang="ko-KR" altLang="en-US" sz="900" dirty="0">
                  <a:latin typeface="+mn-ea"/>
                  <a:ea typeface="+mn-ea"/>
                </a:rPr>
                <a:t>선택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999959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sp>
        <p:nvSpPr>
          <p:cNvPr id="121" name="눈물 방울 120"/>
          <p:cNvSpPr/>
          <p:nvPr/>
        </p:nvSpPr>
        <p:spPr>
          <a:xfrm rot="5400000">
            <a:off x="9501910" y="189097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cxnSp>
        <p:nvCxnSpPr>
          <p:cNvPr id="122" name="구부러진 연결선 121"/>
          <p:cNvCxnSpPr/>
          <p:nvPr/>
        </p:nvCxnSpPr>
        <p:spPr>
          <a:xfrm rot="16200000" flipH="1">
            <a:off x="9625062" y="2362178"/>
            <a:ext cx="466166" cy="153126"/>
          </a:xfrm>
          <a:prstGeom prst="curved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3" name="표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11023"/>
              </p:ext>
            </p:extLst>
          </p:nvPr>
        </p:nvGraphicFramePr>
        <p:xfrm>
          <a:off x="12914755" y="109568"/>
          <a:ext cx="3443089" cy="96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latin typeface="+mn-ea"/>
                          <a:cs typeface="Segoe UI" panose="020B0502040204020203" pitchFamily="34" charset="0"/>
                        </a:rPr>
                        <a:t>선택 약관 하위 표시 추가</a:t>
                      </a:r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9685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30802" y="2624832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안심보험 가입 불가능한 경우 안내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355429" y="2968835"/>
            <a:ext cx="2881818" cy="1397063"/>
            <a:chOff x="5875124" y="3832891"/>
            <a:chExt cx="2881818" cy="1397063"/>
          </a:xfrm>
        </p:grpSpPr>
        <p:sp>
          <p:nvSpPr>
            <p:cNvPr id="26" name="직사각형 25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안심보험 가입이 불가능합니다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사유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9" name="눈물 방울 28"/>
          <p:cNvSpPr/>
          <p:nvPr/>
        </p:nvSpPr>
        <p:spPr>
          <a:xfrm rot="5400000">
            <a:off x="284886" y="260390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70853" y="919967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9" name="눈물 방울 38"/>
          <p:cNvSpPr/>
          <p:nvPr/>
        </p:nvSpPr>
        <p:spPr>
          <a:xfrm rot="5400000">
            <a:off x="359595" y="927434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70853" y="1568039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 성공 이후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-&gt;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버튼명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변경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비활성화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수정 불가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7594434" y="1233877"/>
            <a:ext cx="7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</a:p>
        </p:txBody>
      </p:sp>
      <p:sp>
        <p:nvSpPr>
          <p:cNvPr id="48" name="눈물 방울 47"/>
          <p:cNvSpPr/>
          <p:nvPr/>
        </p:nvSpPr>
        <p:spPr>
          <a:xfrm rot="5400000">
            <a:off x="8352483" y="1229628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7594434" y="1814260"/>
            <a:ext cx="72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확인 완료</a:t>
            </a:r>
          </a:p>
        </p:txBody>
      </p:sp>
      <p:sp>
        <p:nvSpPr>
          <p:cNvPr id="53" name="눈물 방울 52"/>
          <p:cNvSpPr/>
          <p:nvPr/>
        </p:nvSpPr>
        <p:spPr>
          <a:xfrm rot="5400000">
            <a:off x="8352483" y="181001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73136" y="2288119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3304456" y="2624832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안심보험 가입 가능한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3373099" y="2968835"/>
            <a:ext cx="2881818" cy="1397063"/>
            <a:chOff x="5875124" y="3832891"/>
            <a:chExt cx="2881818" cy="1397063"/>
          </a:xfrm>
        </p:grpSpPr>
        <p:sp>
          <p:nvSpPr>
            <p:cNvPr id="58" name="직사각형 57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안심보험 가입 가능여부 확인이 완료되었습니다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352128" y="1207999"/>
            <a:ext cx="9573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안심 보험 가입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52128" y="1784063"/>
            <a:ext cx="9573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안심 보험 가입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grpSp>
        <p:nvGrpSpPr>
          <p:cNvPr id="36" name="그룹 35"/>
          <p:cNvGrpSpPr/>
          <p:nvPr/>
        </p:nvGrpSpPr>
        <p:grpSpPr>
          <a:xfrm>
            <a:off x="1864296" y="1233578"/>
            <a:ext cx="5689018" cy="252000"/>
            <a:chOff x="2109318" y="-566622"/>
            <a:chExt cx="5689018" cy="252000"/>
          </a:xfrm>
        </p:grpSpPr>
        <p:sp>
          <p:nvSpPr>
            <p:cNvPr id="37" name="직사각형 36"/>
            <p:cNvSpPr/>
            <p:nvPr/>
          </p:nvSpPr>
          <p:spPr>
            <a:xfrm>
              <a:off x="4367324" y="-566622"/>
              <a:ext cx="3431012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안드로이드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플래티넘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월 기본료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4,900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원</a:t>
              </a:r>
            </a:p>
          </p:txBody>
        </p:sp>
        <p:pic>
          <p:nvPicPr>
            <p:cNvPr id="41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8701" y="-524671"/>
              <a:ext cx="180000" cy="1466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2" name="직사각형 41"/>
            <p:cNvSpPr/>
            <p:nvPr/>
          </p:nvSpPr>
          <p:spPr>
            <a:xfrm>
              <a:off x="2109318" y="-566622"/>
              <a:ext cx="219813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추천 카테고리</a:t>
              </a:r>
            </a:p>
          </p:txBody>
        </p:sp>
        <p:pic>
          <p:nvPicPr>
            <p:cNvPr id="43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7813" y="-524671"/>
              <a:ext cx="90000" cy="1466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5" name="그룹 44"/>
          <p:cNvGrpSpPr/>
          <p:nvPr/>
        </p:nvGrpSpPr>
        <p:grpSpPr>
          <a:xfrm>
            <a:off x="1864296" y="1809642"/>
            <a:ext cx="5689018" cy="252000"/>
            <a:chOff x="2109318" y="-566622"/>
            <a:chExt cx="5689018" cy="252000"/>
          </a:xfrm>
        </p:grpSpPr>
        <p:sp>
          <p:nvSpPr>
            <p:cNvPr id="46" name="직사각형 45"/>
            <p:cNvSpPr/>
            <p:nvPr/>
          </p:nvSpPr>
          <p:spPr>
            <a:xfrm>
              <a:off x="4367324" y="-566622"/>
              <a:ext cx="3431012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안드로이드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플래티넘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월 기본료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4,900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원</a:t>
              </a:r>
            </a:p>
          </p:txBody>
        </p:sp>
        <p:pic>
          <p:nvPicPr>
            <p:cNvPr id="47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8701" y="-524671"/>
              <a:ext cx="180000" cy="1466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9" name="직사각형 48"/>
            <p:cNvSpPr/>
            <p:nvPr/>
          </p:nvSpPr>
          <p:spPr>
            <a:xfrm>
              <a:off x="2109318" y="-566622"/>
              <a:ext cx="219813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추천 카테고리</a:t>
              </a:r>
            </a:p>
          </p:txBody>
        </p:sp>
        <p:pic>
          <p:nvPicPr>
            <p:cNvPr id="50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7813" y="-524671"/>
              <a:ext cx="90000" cy="1466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6298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310259"/>
              </p:ext>
            </p:extLst>
          </p:nvPr>
        </p:nvGraphicFramePr>
        <p:xfrm>
          <a:off x="10505256" y="788950"/>
          <a:ext cx="2130330" cy="5411515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정보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변경유효성 체크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 여부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처리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API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유심변경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(UC0)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스캔 팝업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번호의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유효하지 않은 경우 사용 불가 안내 메시지 표시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동일</a:t>
                      </a:r>
                      <a:endParaRPr lang="en-US" altLang="ko-KR" sz="800" b="1" kern="12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: USIM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(X85)</a:t>
                      </a:r>
                      <a:endParaRPr lang="en-US" altLang="ko-KR" sz="800" b="0" kern="12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1072216" y="1167349"/>
            <a:ext cx="9252000" cy="246221"/>
            <a:chOff x="1072208" y="1117425"/>
            <a:chExt cx="9252000" cy="246221"/>
          </a:xfrm>
        </p:grpSpPr>
        <p:sp>
          <p:nvSpPr>
            <p:cNvPr id="65" name="TextBox 64"/>
            <p:cNvSpPr txBox="1"/>
            <p:nvPr/>
          </p:nvSpPr>
          <p:spPr>
            <a:xfrm>
              <a:off x="1072208" y="1117425"/>
              <a:ext cx="8146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맑은 고딕" pitchFamily="50" charset="-127"/>
                  <a:ea typeface="맑은 고딕" pitchFamily="50" charset="-127"/>
                </a:rPr>
                <a:t>USIM 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cxnSp>
          <p:nvCxnSpPr>
            <p:cNvPr id="66" name="직선 연결선 65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눈물 방울 66"/>
          <p:cNvSpPr/>
          <p:nvPr/>
        </p:nvSpPr>
        <p:spPr>
          <a:xfrm rot="5400000">
            <a:off x="932965" y="126478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1034704" y="1881650"/>
            <a:ext cx="3908684" cy="252000"/>
            <a:chOff x="602656" y="-566622"/>
            <a:chExt cx="3908684" cy="252000"/>
          </a:xfrm>
        </p:grpSpPr>
        <p:sp>
          <p:nvSpPr>
            <p:cNvPr id="124" name="TextBox 123"/>
            <p:cNvSpPr txBox="1"/>
            <p:nvPr/>
          </p:nvSpPr>
          <p:spPr>
            <a:xfrm>
              <a:off x="602656" y="-556038"/>
              <a:ext cx="8050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2114988" y="-566622"/>
              <a:ext cx="2396352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번호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19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26" name="직사각형 125"/>
          <p:cNvSpPr/>
          <p:nvPr/>
        </p:nvSpPr>
        <p:spPr>
          <a:xfrm>
            <a:off x="6040884" y="1880902"/>
            <a:ext cx="16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USIM</a:t>
            </a: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번호 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유효성 체크</a:t>
            </a:r>
          </a:p>
        </p:txBody>
      </p:sp>
      <p:sp>
        <p:nvSpPr>
          <p:cNvPr id="127" name="눈물 방울 126"/>
          <p:cNvSpPr/>
          <p:nvPr/>
        </p:nvSpPr>
        <p:spPr>
          <a:xfrm rot="5400000">
            <a:off x="6874907" y="1655094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8" name="눈물 방울 127"/>
          <p:cNvSpPr/>
          <p:nvPr/>
        </p:nvSpPr>
        <p:spPr>
          <a:xfrm rot="5400000">
            <a:off x="5492179" y="162482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5032648" y="1881650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1053932" y="1514512"/>
            <a:ext cx="4014628" cy="259098"/>
            <a:chOff x="640160" y="-566622"/>
            <a:chExt cx="4014628" cy="259098"/>
          </a:xfrm>
        </p:grpSpPr>
        <p:sp>
          <p:nvSpPr>
            <p:cNvPr id="61" name="직사각형 60"/>
            <p:cNvSpPr/>
            <p:nvPr/>
          </p:nvSpPr>
          <p:spPr>
            <a:xfrm>
              <a:off x="2129491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보유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2944032" y="-566622"/>
              <a:ext cx="828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구매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40160" y="-556038"/>
              <a:ext cx="72006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보유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826788" y="-559524"/>
              <a:ext cx="828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err="1" smtClean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eSIM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269322"/>
              </p:ext>
            </p:extLst>
          </p:nvPr>
        </p:nvGraphicFramePr>
        <p:xfrm>
          <a:off x="12914755" y="109568"/>
          <a:ext cx="3443089" cy="96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eSIM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9507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11" name="눈물 방울 110"/>
          <p:cNvSpPr/>
          <p:nvPr/>
        </p:nvSpPr>
        <p:spPr>
          <a:xfrm rot="5400000">
            <a:off x="278220" y="507953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1067745" y="3399661"/>
            <a:ext cx="3908684" cy="252000"/>
            <a:chOff x="602656" y="-566622"/>
            <a:chExt cx="3908684" cy="252000"/>
          </a:xfrm>
        </p:grpSpPr>
        <p:sp>
          <p:nvSpPr>
            <p:cNvPr id="78" name="TextBox 77"/>
            <p:cNvSpPr txBox="1"/>
            <p:nvPr/>
          </p:nvSpPr>
          <p:spPr>
            <a:xfrm>
              <a:off x="602656" y="-556038"/>
              <a:ext cx="8050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2114988" y="-566622"/>
              <a:ext cx="2396352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1234567890123456789</a:t>
              </a:r>
            </a:p>
          </p:txBody>
        </p:sp>
      </p:grpSp>
      <p:sp>
        <p:nvSpPr>
          <p:cNvPr id="91" name="직사각형 90"/>
          <p:cNvSpPr/>
          <p:nvPr/>
        </p:nvSpPr>
        <p:spPr>
          <a:xfrm>
            <a:off x="6073925" y="3398913"/>
            <a:ext cx="16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USIM</a:t>
            </a: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번호 </a:t>
            </a: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유효성 체크</a:t>
            </a:r>
          </a:p>
        </p:txBody>
      </p:sp>
      <p:sp>
        <p:nvSpPr>
          <p:cNvPr id="97" name="눈물 방울 96"/>
          <p:cNvSpPr/>
          <p:nvPr/>
        </p:nvSpPr>
        <p:spPr>
          <a:xfrm rot="5400000">
            <a:off x="6907948" y="317310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5065689" y="3399661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1070764" y="4155709"/>
            <a:ext cx="3908684" cy="252000"/>
            <a:chOff x="602656" y="-566622"/>
            <a:chExt cx="3908684" cy="252000"/>
          </a:xfrm>
        </p:grpSpPr>
        <p:sp>
          <p:nvSpPr>
            <p:cNvPr id="100" name="TextBox 99"/>
            <p:cNvSpPr txBox="1"/>
            <p:nvPr/>
          </p:nvSpPr>
          <p:spPr>
            <a:xfrm>
              <a:off x="602656" y="-556038"/>
              <a:ext cx="8050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2114988" y="-566622"/>
              <a:ext cx="2396352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1234567890123456789</a:t>
              </a:r>
            </a:p>
          </p:txBody>
        </p:sp>
      </p:grpSp>
      <p:sp>
        <p:nvSpPr>
          <p:cNvPr id="102" name="직사각형 101"/>
          <p:cNvSpPr/>
          <p:nvPr/>
        </p:nvSpPr>
        <p:spPr>
          <a:xfrm>
            <a:off x="6076944" y="4154961"/>
            <a:ext cx="162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USIM</a:t>
            </a: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번호 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유효성 체크 완료</a:t>
            </a:r>
          </a:p>
        </p:txBody>
      </p:sp>
      <p:sp>
        <p:nvSpPr>
          <p:cNvPr id="103" name="눈물 방울 102"/>
          <p:cNvSpPr/>
          <p:nvPr/>
        </p:nvSpPr>
        <p:spPr>
          <a:xfrm rot="5400000">
            <a:off x="6910967" y="392915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5068708" y="4155709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5" name="눈물 방울 104"/>
          <p:cNvSpPr/>
          <p:nvPr/>
        </p:nvSpPr>
        <p:spPr>
          <a:xfrm rot="5400000">
            <a:off x="212878" y="310728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496144" y="3111565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496144" y="3873456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 성공 이후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-&gt;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버튼명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변경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비활성화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수정 불가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73136" y="4724264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173136" y="2708040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grpSp>
        <p:nvGrpSpPr>
          <p:cNvPr id="45" name="그룹 44"/>
          <p:cNvGrpSpPr/>
          <p:nvPr/>
        </p:nvGrpSpPr>
        <p:grpSpPr>
          <a:xfrm>
            <a:off x="640160" y="5344608"/>
            <a:ext cx="2881818" cy="1397063"/>
            <a:chOff x="5875124" y="3832891"/>
            <a:chExt cx="2881818" cy="1397063"/>
          </a:xfrm>
        </p:grpSpPr>
        <p:sp>
          <p:nvSpPr>
            <p:cNvPr id="46" name="직사각형 45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유효하지 않은 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번호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입니다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49" name="직사각형 48"/>
          <p:cNvSpPr/>
          <p:nvPr/>
        </p:nvSpPr>
        <p:spPr>
          <a:xfrm>
            <a:off x="671617" y="5055781"/>
            <a:ext cx="27063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유효하지 않은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USIM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50" name="그룹 49"/>
          <p:cNvGrpSpPr/>
          <p:nvPr/>
        </p:nvGrpSpPr>
        <p:grpSpPr>
          <a:xfrm>
            <a:off x="3736504" y="5345099"/>
            <a:ext cx="2881818" cy="1397063"/>
            <a:chOff x="5875124" y="3832891"/>
            <a:chExt cx="2881818" cy="1397063"/>
          </a:xfrm>
        </p:grpSpPr>
        <p:sp>
          <p:nvSpPr>
            <p:cNvPr id="51" name="직사각형 50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사용 가능한 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번호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입니다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54" name="직사각형 53"/>
          <p:cNvSpPr/>
          <p:nvPr/>
        </p:nvSpPr>
        <p:spPr>
          <a:xfrm>
            <a:off x="3767961" y="5056272"/>
            <a:ext cx="27063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유효한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USIM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73" name="그룹 72"/>
          <p:cNvGrpSpPr/>
          <p:nvPr/>
        </p:nvGrpSpPr>
        <p:grpSpPr>
          <a:xfrm>
            <a:off x="1053932" y="1239002"/>
            <a:ext cx="3978716" cy="254196"/>
            <a:chOff x="640160" y="-566622"/>
            <a:chExt cx="3978716" cy="254196"/>
          </a:xfrm>
        </p:grpSpPr>
        <p:sp>
          <p:nvSpPr>
            <p:cNvPr id="74" name="직사각형 73"/>
            <p:cNvSpPr/>
            <p:nvPr/>
          </p:nvSpPr>
          <p:spPr>
            <a:xfrm>
              <a:off x="2129491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보유</a:t>
              </a: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2944032" y="-566622"/>
              <a:ext cx="828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구매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40160" y="-556038"/>
              <a:ext cx="72006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보유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898876" y="-564426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err="1" smtClean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eSIM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1056973" y="1599042"/>
            <a:ext cx="3535001" cy="252000"/>
            <a:chOff x="640160" y="-566622"/>
            <a:chExt cx="3535001" cy="252000"/>
          </a:xfrm>
        </p:grpSpPr>
        <p:sp>
          <p:nvSpPr>
            <p:cNvPr id="80" name="직사각형 79"/>
            <p:cNvSpPr/>
            <p:nvPr/>
          </p:nvSpPr>
          <p:spPr>
            <a:xfrm>
              <a:off x="2126450" y="-566622"/>
              <a:ext cx="97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일반 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6,600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원</a:t>
              </a: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3203161" y="-566622"/>
              <a:ext cx="97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NFC 8,800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원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40160" y="-556038"/>
              <a:ext cx="8050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선택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1059267" y="1953379"/>
            <a:ext cx="3884121" cy="252000"/>
            <a:chOff x="627219" y="-566622"/>
            <a:chExt cx="3884121" cy="252000"/>
          </a:xfrm>
        </p:grpSpPr>
        <p:sp>
          <p:nvSpPr>
            <p:cNvPr id="86" name="TextBox 85"/>
            <p:cNvSpPr txBox="1"/>
            <p:nvPr/>
          </p:nvSpPr>
          <p:spPr>
            <a:xfrm>
              <a:off x="627219" y="-556038"/>
              <a:ext cx="8050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2114988" y="-566622"/>
              <a:ext cx="2396352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번호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19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88" name="직사각형 87"/>
          <p:cNvSpPr/>
          <p:nvPr/>
        </p:nvSpPr>
        <p:spPr>
          <a:xfrm>
            <a:off x="6040884" y="1958334"/>
            <a:ext cx="16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USIM</a:t>
            </a: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번호 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유효성 체크</a:t>
            </a:r>
          </a:p>
        </p:txBody>
      </p:sp>
      <p:sp>
        <p:nvSpPr>
          <p:cNvPr id="89" name="눈물 방울 88"/>
          <p:cNvSpPr/>
          <p:nvPr/>
        </p:nvSpPr>
        <p:spPr>
          <a:xfrm rot="5400000">
            <a:off x="6874907" y="177426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2" name="눈물 방울 91"/>
          <p:cNvSpPr/>
          <p:nvPr/>
        </p:nvSpPr>
        <p:spPr>
          <a:xfrm rot="5400000">
            <a:off x="5492179" y="175946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032648" y="1959082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1053932" y="2312024"/>
            <a:ext cx="3743872" cy="252000"/>
            <a:chOff x="640160" y="-566622"/>
            <a:chExt cx="3743872" cy="252000"/>
          </a:xfrm>
        </p:grpSpPr>
        <p:sp>
          <p:nvSpPr>
            <p:cNvPr id="95" name="직사각형 94"/>
            <p:cNvSpPr/>
            <p:nvPr/>
          </p:nvSpPr>
          <p:spPr>
            <a:xfrm>
              <a:off x="2129491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즉시납부</a:t>
              </a: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2944032" y="-566622"/>
              <a:ext cx="144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다음달 요금에 합산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640160" y="-556038"/>
              <a:ext cx="10759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구매 방식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77" name="직사각형 76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 err="1">
                <a:latin typeface="+mn-ea"/>
                <a:ea typeface="+mn-ea"/>
              </a:rPr>
              <a:t>케이스별</a:t>
            </a:r>
            <a:r>
              <a:rPr lang="ko-KR" altLang="en-US" sz="1200" b="1" dirty="0">
                <a:latin typeface="+mn-ea"/>
                <a:ea typeface="+mn-ea"/>
              </a:rPr>
              <a:t> 항목 </a:t>
            </a:r>
            <a:r>
              <a:rPr lang="ko-KR" altLang="en-US" sz="1200" b="1" dirty="0" err="1">
                <a:latin typeface="+mn-ea"/>
                <a:ea typeface="+mn-ea"/>
              </a:rPr>
              <a:t>세팅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108" name="눈물 방울 107"/>
          <p:cNvSpPr/>
          <p:nvPr/>
        </p:nvSpPr>
        <p:spPr>
          <a:xfrm rot="5400000">
            <a:off x="212878" y="94704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496144" y="951325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‘USIM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구매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’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81060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 err="1">
                <a:latin typeface="+mn-ea"/>
                <a:ea typeface="+mn-ea"/>
              </a:rPr>
              <a:t>케이스별</a:t>
            </a:r>
            <a:r>
              <a:rPr lang="ko-KR" altLang="en-US" sz="1200" b="1" dirty="0">
                <a:latin typeface="+mn-ea"/>
                <a:ea typeface="+mn-ea"/>
              </a:rPr>
              <a:t> 항목 </a:t>
            </a:r>
            <a:r>
              <a:rPr lang="ko-KR" altLang="en-US" sz="1200" b="1" dirty="0" err="1">
                <a:latin typeface="+mn-ea"/>
                <a:ea typeface="+mn-ea"/>
              </a:rPr>
              <a:t>세팅</a:t>
            </a:r>
            <a:endParaRPr lang="ko-KR" altLang="en-US" sz="1200" b="1" dirty="0">
              <a:latin typeface="+mn-ea"/>
              <a:ea typeface="+mn-ea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1072208" y="1053530"/>
            <a:ext cx="9252000" cy="246221"/>
            <a:chOff x="1072208" y="1117425"/>
            <a:chExt cx="9252000" cy="246221"/>
          </a:xfrm>
        </p:grpSpPr>
        <p:sp>
          <p:nvSpPr>
            <p:cNvPr id="60" name="TextBox 59"/>
            <p:cNvSpPr txBox="1"/>
            <p:nvPr/>
          </p:nvSpPr>
          <p:spPr>
            <a:xfrm>
              <a:off x="1072208" y="1117425"/>
              <a:ext cx="7216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 smtClean="0">
                  <a:latin typeface="맑은 고딕" pitchFamily="50" charset="-127"/>
                  <a:ea typeface="맑은 고딕" pitchFamily="50" charset="-127"/>
                </a:rPr>
                <a:t>SIM</a:t>
              </a:r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정보</a:t>
              </a:r>
            </a:p>
          </p:txBody>
        </p:sp>
        <p:cxnSp>
          <p:nvCxnSpPr>
            <p:cNvPr id="61" name="직선 연결선 60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그룹 61"/>
          <p:cNvGrpSpPr/>
          <p:nvPr/>
        </p:nvGrpSpPr>
        <p:grpSpPr>
          <a:xfrm>
            <a:off x="1053932" y="1407791"/>
            <a:ext cx="4050724" cy="259098"/>
            <a:chOff x="640160" y="-566622"/>
            <a:chExt cx="4050724" cy="259098"/>
          </a:xfrm>
        </p:grpSpPr>
        <p:sp>
          <p:nvSpPr>
            <p:cNvPr id="63" name="직사각형 62"/>
            <p:cNvSpPr/>
            <p:nvPr/>
          </p:nvSpPr>
          <p:spPr>
            <a:xfrm>
              <a:off x="2129491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보유</a:t>
              </a: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2944032" y="-566622"/>
              <a:ext cx="828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구매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40160" y="-556038"/>
              <a:ext cx="72006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보유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3862884" y="-559524"/>
              <a:ext cx="828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 err="1">
                  <a:latin typeface="맑은 고딕" pitchFamily="50" charset="-127"/>
                  <a:ea typeface="맑은 고딕" pitchFamily="50" charset="-127"/>
                </a:rPr>
                <a:t>eSIM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1072208" y="1771637"/>
            <a:ext cx="8547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휴대폰 정보</a:t>
            </a:r>
            <a:r>
              <a:rPr lang="en-US" altLang="ko-KR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2546366" y="1761053"/>
            <a:ext cx="2126242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휴대폰 모델명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778614" y="1761053"/>
            <a:ext cx="2126242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EID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2546366" y="2049085"/>
            <a:ext cx="2126242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IMEI1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4778614" y="2049085"/>
            <a:ext cx="2126242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IMEI2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눈물 방울 101"/>
          <p:cNvSpPr/>
          <p:nvPr/>
        </p:nvSpPr>
        <p:spPr>
          <a:xfrm rot="5400000">
            <a:off x="3813278" y="2346010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2544831" y="2336797"/>
            <a:ext cx="1188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이미지 등록</a:t>
            </a:r>
          </a:p>
        </p:txBody>
      </p:sp>
      <p:graphicFrame>
        <p:nvGraphicFramePr>
          <p:cNvPr id="104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725506"/>
              </p:ext>
            </p:extLst>
          </p:nvPr>
        </p:nvGraphicFramePr>
        <p:xfrm>
          <a:off x="10505256" y="788950"/>
          <a:ext cx="2130330" cy="3754539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1-1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 입력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 정보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항목 모두 비활성화되어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 등록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활성화 되어 표시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 등록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이미지 선택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브라우져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 정보 유효성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DB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등록된 판매점 재고 유효성 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기기원부조회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(Y13)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107" name="눈물 방울 106"/>
          <p:cNvSpPr/>
          <p:nvPr/>
        </p:nvSpPr>
        <p:spPr>
          <a:xfrm rot="5400000">
            <a:off x="644926" y="3014370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928192" y="3018652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 성공 이후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-&gt;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버튼명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변경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비활성화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수정 불가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09" name="그룹 108"/>
          <p:cNvGrpSpPr/>
          <p:nvPr/>
        </p:nvGrpSpPr>
        <p:grpSpPr>
          <a:xfrm>
            <a:off x="670118" y="4913051"/>
            <a:ext cx="2881818" cy="1397063"/>
            <a:chOff x="5875124" y="3832891"/>
            <a:chExt cx="2881818" cy="1397063"/>
          </a:xfrm>
        </p:grpSpPr>
        <p:sp>
          <p:nvSpPr>
            <p:cNvPr id="110" name="직사각형 109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휴대폰 정보 인증에 실패하였습니다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휴대폰 정보를 다시 확인해 주세요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실패 사유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13" name="직사각형 112"/>
          <p:cNvSpPr/>
          <p:nvPr/>
        </p:nvSpPr>
        <p:spPr>
          <a:xfrm>
            <a:off x="724129" y="4618197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휴대폰 정보 유효성 오류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14" name="눈물 방울 113"/>
          <p:cNvSpPr/>
          <p:nvPr/>
        </p:nvSpPr>
        <p:spPr>
          <a:xfrm rot="5400000">
            <a:off x="356894" y="4620254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15" name="그룹 114"/>
          <p:cNvGrpSpPr/>
          <p:nvPr/>
        </p:nvGrpSpPr>
        <p:grpSpPr>
          <a:xfrm>
            <a:off x="3897173" y="4913051"/>
            <a:ext cx="2881818" cy="1397063"/>
            <a:chOff x="5875124" y="3832891"/>
            <a:chExt cx="2881818" cy="1397063"/>
          </a:xfrm>
        </p:grpSpPr>
        <p:sp>
          <p:nvSpPr>
            <p:cNvPr id="116" name="직사각형 115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휴대폰 정보 인증이 완료되었습니다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119" name="직사각형 118"/>
          <p:cNvSpPr/>
          <p:nvPr/>
        </p:nvSpPr>
        <p:spPr>
          <a:xfrm>
            <a:off x="3951184" y="4618197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휴대폰 정보 유효성 체크 완료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173136" y="265861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sp>
        <p:nvSpPr>
          <p:cNvPr id="121" name="직사각형 120"/>
          <p:cNvSpPr/>
          <p:nvPr/>
        </p:nvSpPr>
        <p:spPr>
          <a:xfrm>
            <a:off x="173136" y="4242788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72208" y="3281612"/>
            <a:ext cx="8547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휴대폰 정보</a:t>
            </a:r>
            <a:r>
              <a:rPr lang="en-US" altLang="ko-KR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2546366" y="3271028"/>
            <a:ext cx="2126242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휴대폰 모델명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4778614" y="3271028"/>
            <a:ext cx="2126242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EID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2546366" y="3559060"/>
            <a:ext cx="2126242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IMEI1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4778614" y="3559060"/>
            <a:ext cx="2126242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IMEI2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7" name="눈물 방울 126"/>
          <p:cNvSpPr/>
          <p:nvPr/>
        </p:nvSpPr>
        <p:spPr>
          <a:xfrm rot="5400000">
            <a:off x="3813278" y="385598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2544831" y="3846772"/>
            <a:ext cx="1188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이미지 등록 완료</a:t>
            </a:r>
          </a:p>
        </p:txBody>
      </p:sp>
      <p:sp>
        <p:nvSpPr>
          <p:cNvPr id="130" name="눈물 방울 129"/>
          <p:cNvSpPr/>
          <p:nvPr/>
        </p:nvSpPr>
        <p:spPr>
          <a:xfrm rot="5400000">
            <a:off x="667786" y="113300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858877"/>
              </p:ext>
            </p:extLst>
          </p:nvPr>
        </p:nvGraphicFramePr>
        <p:xfrm>
          <a:off x="12914755" y="109568"/>
          <a:ext cx="3443089" cy="96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eSIM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27696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663665"/>
              </p:ext>
            </p:extLst>
          </p:nvPr>
        </p:nvGraphicFramePr>
        <p:xfrm>
          <a:off x="10505256" y="788950"/>
          <a:ext cx="2130330" cy="1000312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설명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다음장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참조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1072217" y="1173608"/>
            <a:ext cx="9252000" cy="246221"/>
            <a:chOff x="1072208" y="1117425"/>
            <a:chExt cx="9252000" cy="246221"/>
          </a:xfrm>
        </p:grpSpPr>
        <p:sp>
          <p:nvSpPr>
            <p:cNvPr id="33" name="TextBox 32"/>
            <p:cNvSpPr txBox="1"/>
            <p:nvPr/>
          </p:nvSpPr>
          <p:spPr>
            <a:xfrm>
              <a:off x="1072208" y="1117425"/>
              <a:ext cx="15680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err="1"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 가입</a:t>
              </a:r>
              <a:r>
                <a:rPr lang="en-US" altLang="ko-KR" sz="1000" b="1" dirty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cxnSp>
          <p:nvCxnSpPr>
            <p:cNvPr id="34" name="직선 연결선 33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눈물 방울 34"/>
          <p:cNvSpPr/>
          <p:nvPr/>
        </p:nvSpPr>
        <p:spPr>
          <a:xfrm rot="5400000">
            <a:off x="932966" y="11207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1053932" y="1659791"/>
            <a:ext cx="4096854" cy="252000"/>
            <a:chOff x="1053932" y="-1220529"/>
            <a:chExt cx="4096854" cy="252000"/>
          </a:xfrm>
        </p:grpSpPr>
        <p:sp>
          <p:nvSpPr>
            <p:cNvPr id="37" name="직사각형 36"/>
            <p:cNvSpPr/>
            <p:nvPr/>
          </p:nvSpPr>
          <p:spPr>
            <a:xfrm>
              <a:off x="2554513" y="-1220529"/>
              <a:ext cx="126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가입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890786" y="-1220529"/>
              <a:ext cx="126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해지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3932" y="-1209945"/>
              <a:ext cx="147187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 이용 여부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1072208" y="2045798"/>
            <a:ext cx="4091645" cy="252000"/>
            <a:chOff x="424136" y="-566622"/>
            <a:chExt cx="4091645" cy="252000"/>
          </a:xfrm>
        </p:grpSpPr>
        <p:sp>
          <p:nvSpPr>
            <p:cNvPr id="41" name="TextBox 40"/>
            <p:cNvSpPr txBox="1"/>
            <p:nvPr/>
          </p:nvSpPr>
          <p:spPr>
            <a:xfrm>
              <a:off x="424136" y="-556038"/>
              <a:ext cx="8146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910425" y="-566622"/>
              <a:ext cx="2605356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휴대폰번호 입력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(“-”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제외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</p:txBody>
        </p:sp>
      </p:grpSp>
      <p:sp>
        <p:nvSpPr>
          <p:cNvPr id="89" name="직사각형 88"/>
          <p:cNvSpPr/>
          <p:nvPr/>
        </p:nvSpPr>
        <p:spPr>
          <a:xfrm>
            <a:off x="5225795" y="2045830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</a:t>
            </a:r>
          </a:p>
        </p:txBody>
      </p:sp>
      <p:sp>
        <p:nvSpPr>
          <p:cNvPr id="90" name="눈물 방울 89"/>
          <p:cNvSpPr/>
          <p:nvPr/>
        </p:nvSpPr>
        <p:spPr>
          <a:xfrm rot="5400000">
            <a:off x="6048227" y="206513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9" name="오른쪽 중괄호 68"/>
          <p:cNvSpPr/>
          <p:nvPr/>
        </p:nvSpPr>
        <p:spPr>
          <a:xfrm>
            <a:off x="7768952" y="1917626"/>
            <a:ext cx="290733" cy="95509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8088837" y="2203691"/>
            <a:ext cx="18233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데이터쉐어링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‘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가입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’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인 경우만 영역 노출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1072208" y="2457714"/>
            <a:ext cx="3871180" cy="252000"/>
            <a:chOff x="640160" y="-566622"/>
            <a:chExt cx="3871180" cy="252000"/>
          </a:xfrm>
        </p:grpSpPr>
        <p:sp>
          <p:nvSpPr>
            <p:cNvPr id="77" name="TextBox 76"/>
            <p:cNvSpPr txBox="1"/>
            <p:nvPr/>
          </p:nvSpPr>
          <p:spPr>
            <a:xfrm>
              <a:off x="640160" y="-556038"/>
              <a:ext cx="8050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114988" y="-566622"/>
              <a:ext cx="2396352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번호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19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79" name="직사각형 78"/>
          <p:cNvSpPr/>
          <p:nvPr/>
        </p:nvSpPr>
        <p:spPr>
          <a:xfrm>
            <a:off x="6040884" y="2456966"/>
            <a:ext cx="16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USIM</a:t>
            </a: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번호 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유효성 체크</a:t>
            </a:r>
          </a:p>
        </p:txBody>
      </p:sp>
      <p:sp>
        <p:nvSpPr>
          <p:cNvPr id="80" name="눈물 방울 79"/>
          <p:cNvSpPr/>
          <p:nvPr/>
        </p:nvSpPr>
        <p:spPr>
          <a:xfrm rot="5400000">
            <a:off x="7455835" y="235030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5032648" y="2457714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" name="눈물 방울 90"/>
          <p:cNvSpPr/>
          <p:nvPr/>
        </p:nvSpPr>
        <p:spPr>
          <a:xfrm rot="5400000">
            <a:off x="846685" y="285585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92" name="그룹 91"/>
          <p:cNvGrpSpPr/>
          <p:nvPr/>
        </p:nvGrpSpPr>
        <p:grpSpPr>
          <a:xfrm>
            <a:off x="1163507" y="2858555"/>
            <a:ext cx="8758499" cy="253916"/>
            <a:chOff x="1936304" y="-857339"/>
            <a:chExt cx="8758499" cy="253916"/>
          </a:xfrm>
        </p:grpSpPr>
        <p:sp>
          <p:nvSpPr>
            <p:cNvPr id="93" name="타원 92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2116304" y="-857339"/>
              <a:ext cx="404630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이용약관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개인정보 수집</a:t>
              </a:r>
              <a:r>
                <a:rPr lang="en-US" altLang="ko-KR" sz="900" dirty="0">
                  <a:latin typeface="+mn-ea"/>
                  <a:ea typeface="+mn-ea"/>
                </a:rPr>
                <a:t>/</a:t>
              </a:r>
              <a:r>
                <a:rPr lang="ko-KR" altLang="en-US" sz="900" dirty="0">
                  <a:latin typeface="+mn-ea"/>
                  <a:ea typeface="+mn-ea"/>
                </a:rPr>
                <a:t>이용 및 선택동의 항목에 모두 동의합니다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0413957" y="-857339"/>
              <a:ext cx="28084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sp>
        <p:nvSpPr>
          <p:cNvPr id="81" name="눈물 방울 80"/>
          <p:cNvSpPr/>
          <p:nvPr/>
        </p:nvSpPr>
        <p:spPr>
          <a:xfrm rot="5400000">
            <a:off x="5774568" y="239898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343506" y="3391902"/>
            <a:ext cx="8980707" cy="2592288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1504256" y="3535918"/>
            <a:ext cx="8629740" cy="504056"/>
            <a:chOff x="1936304" y="-857339"/>
            <a:chExt cx="8629740" cy="504056"/>
          </a:xfrm>
        </p:grpSpPr>
        <p:sp>
          <p:nvSpPr>
            <p:cNvPr id="61" name="타원 60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116304" y="-857339"/>
              <a:ext cx="416171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이용약관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개인정보 수집</a:t>
              </a:r>
              <a:r>
                <a:rPr lang="en-US" altLang="ko-KR" sz="900" dirty="0">
                  <a:latin typeface="+mn-ea"/>
                  <a:ea typeface="+mn-ea"/>
                </a:rPr>
                <a:t>/</a:t>
              </a:r>
              <a:r>
                <a:rPr lang="ko-KR" altLang="en-US" sz="900" dirty="0">
                  <a:latin typeface="+mn-ea"/>
                  <a:ea typeface="+mn-ea"/>
                </a:rPr>
                <a:t>이용 및 선택동의 항목에 모두 동의합니다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296418" y="-857339"/>
              <a:ext cx="26962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V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124353" y="-584115"/>
              <a:ext cx="418415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※ 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고객님의 편의를 위한 모든 약관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선택약관 포함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에 일괄동의 하시겠습니까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?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1504256" y="4183990"/>
            <a:ext cx="8639358" cy="253916"/>
            <a:chOff x="1936304" y="-857339"/>
            <a:chExt cx="8639358" cy="253916"/>
          </a:xfrm>
        </p:grpSpPr>
        <p:sp>
          <p:nvSpPr>
            <p:cNvPr id="68" name="타원 67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29641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1504256" y="4507397"/>
            <a:ext cx="8639358" cy="253916"/>
            <a:chOff x="1936304" y="-857339"/>
            <a:chExt cx="8639358" cy="253916"/>
          </a:xfrm>
        </p:grpSpPr>
        <p:sp>
          <p:nvSpPr>
            <p:cNvPr id="75" name="타원 74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029641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1504256" y="4830804"/>
            <a:ext cx="8639358" cy="253916"/>
            <a:chOff x="1936304" y="-857339"/>
            <a:chExt cx="8639358" cy="253916"/>
          </a:xfrm>
        </p:grpSpPr>
        <p:sp>
          <p:nvSpPr>
            <p:cNvPr id="86" name="타원 85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029641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121" name="그룹 120"/>
          <p:cNvGrpSpPr/>
          <p:nvPr/>
        </p:nvGrpSpPr>
        <p:grpSpPr>
          <a:xfrm>
            <a:off x="1504256" y="5154210"/>
            <a:ext cx="8629740" cy="253916"/>
            <a:chOff x="1936304" y="-857339"/>
            <a:chExt cx="8629740" cy="253916"/>
          </a:xfrm>
        </p:grpSpPr>
        <p:sp>
          <p:nvSpPr>
            <p:cNvPr id="122" name="타원 121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(</a:t>
              </a:r>
              <a:r>
                <a:rPr lang="ko-KR" altLang="en-US" sz="900" dirty="0">
                  <a:latin typeface="+mn-ea"/>
                  <a:ea typeface="+mn-ea"/>
                </a:rPr>
                <a:t>선택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0296418" y="-857339"/>
              <a:ext cx="26962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 smtClean="0">
                  <a:latin typeface="+mn-ea"/>
                  <a:ea typeface="+mn-ea"/>
                </a:rPr>
                <a:t>V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sp>
        <p:nvSpPr>
          <p:cNvPr id="125" name="눈물 방울 124"/>
          <p:cNvSpPr/>
          <p:nvPr/>
        </p:nvSpPr>
        <p:spPr>
          <a:xfrm rot="5400000">
            <a:off x="9648627" y="417922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B5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26" name="그룹 125"/>
          <p:cNvGrpSpPr/>
          <p:nvPr/>
        </p:nvGrpSpPr>
        <p:grpSpPr>
          <a:xfrm>
            <a:off x="1793890" y="5442242"/>
            <a:ext cx="8342538" cy="253916"/>
            <a:chOff x="1936304" y="-857339"/>
            <a:chExt cx="8342538" cy="253916"/>
          </a:xfrm>
        </p:grpSpPr>
        <p:sp>
          <p:nvSpPr>
            <p:cNvPr id="127" name="타원 126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(</a:t>
              </a:r>
              <a:r>
                <a:rPr lang="ko-KR" altLang="en-US" sz="900" dirty="0">
                  <a:latin typeface="+mn-ea"/>
                  <a:ea typeface="+mn-ea"/>
                </a:rPr>
                <a:t>선택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999959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1792288" y="5696158"/>
            <a:ext cx="8342538" cy="253916"/>
            <a:chOff x="1936304" y="-857339"/>
            <a:chExt cx="8342538" cy="253916"/>
          </a:xfrm>
        </p:grpSpPr>
        <p:sp>
          <p:nvSpPr>
            <p:cNvPr id="131" name="타원 130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(</a:t>
              </a:r>
              <a:r>
                <a:rPr lang="ko-KR" altLang="en-US" sz="900" dirty="0">
                  <a:latin typeface="+mn-ea"/>
                  <a:ea typeface="+mn-ea"/>
                </a:rPr>
                <a:t>선택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999959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cxnSp>
        <p:nvCxnSpPr>
          <p:cNvPr id="103" name="구부러진 연결선 102"/>
          <p:cNvCxnSpPr/>
          <p:nvPr/>
        </p:nvCxnSpPr>
        <p:spPr>
          <a:xfrm rot="16200000" flipH="1">
            <a:off x="9625062" y="3268991"/>
            <a:ext cx="466166" cy="153126"/>
          </a:xfrm>
          <a:prstGeom prst="curved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눈물 방울 133"/>
          <p:cNvSpPr/>
          <p:nvPr/>
        </p:nvSpPr>
        <p:spPr>
          <a:xfrm rot="5400000">
            <a:off x="9501910" y="286119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135" name="표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11023"/>
              </p:ext>
            </p:extLst>
          </p:nvPr>
        </p:nvGraphicFramePr>
        <p:xfrm>
          <a:off x="12914755" y="109568"/>
          <a:ext cx="3443089" cy="96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latin typeface="+mn-ea"/>
                          <a:cs typeface="Segoe UI" panose="020B0502040204020203" pitchFamily="34" charset="0"/>
                        </a:rPr>
                        <a:t>선택 약관 하위 표시 추가</a:t>
                      </a:r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0063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graphicFrame>
        <p:nvGraphicFramePr>
          <p:cNvPr id="4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306723"/>
              </p:ext>
            </p:extLst>
          </p:nvPr>
        </p:nvGraphicFramePr>
        <p:xfrm>
          <a:off x="280120" y="788950"/>
          <a:ext cx="4176464" cy="5336717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174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기 가입 여부에 따라 화면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 가입 상태인 경우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해지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미가입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상태인 경우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 여부에 따라 화면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해지인 경우 휴대폰번호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항목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입력값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유효성 체크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 완료 여부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중 필수 항목 동의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여부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 가능 여부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해지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해지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개통 요청 처리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개통 불가능한 경우 안내 메시지 처리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불가한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경우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기타 가입 불가능한 경우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개통 가능한 경우 개통 처리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대표회선 개통 처리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사전체크 및 가입 가능 대상 조회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서식지 작성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서식지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이미징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 및 전송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서식지 리포트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이미징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'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사전체크 및 가입 가능 대상 조회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(X69)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결합 중인 대상 조회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(X71)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 처리 서비스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(X70)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선택 체크 박스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약관 전체 항목 동의 체크 처리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동의 체크 박스 중 일부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체크해제된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경우 전체 선택 체크 해제 처리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선택항목 하위에 여러 개인 경우 중첩 표시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동의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선택 체크 박스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약관 전체 항목 동의 체크 처리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동의 체크 박스 중 일부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체크해제된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경우 전체 선택 체크 해제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429086"/>
              </p:ext>
            </p:extLst>
          </p:nvPr>
        </p:nvGraphicFramePr>
        <p:xfrm>
          <a:off x="4744616" y="765498"/>
          <a:ext cx="4176464" cy="6215051"/>
        </p:xfrm>
        <a:graphic>
          <a:graphicData uri="http://schemas.openxmlformats.org/drawingml/2006/table">
            <a:tbl>
              <a:tblPr/>
              <a:tblGrid>
                <a:gridCol w="259032"/>
                <a:gridCol w="3917432"/>
              </a:tblGrid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 가능 여부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해당 휴대폰번호가 개통된 회선이 아닌 경우 가입 불가 메시지 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선택된 회선의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 가능 여부 체크 후 결과값 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회선의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 불가 사유 노출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회선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일시정지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회선이 가입 불가 요금제 사용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쉐어링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기가입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상태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노출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기타 가입 불가 사유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안중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 : 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계약정보 유효성체크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(Y04)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사전체크 및 가입 가능 대상 조회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(X69)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스캔 팝업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신청서와 동일 이용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번호의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 가능한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경우 사용가능 안내 메시지 노출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 불가능한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경우 사용불가능 안내 메시지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노출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: USIM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유효성 체크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(X85)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B4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펼침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약관 전체 펼침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B5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상세 팝업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3093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667876" y="5000035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데이터쉐어링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가입 불가능한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73" name="그룹 72"/>
          <p:cNvGrpSpPr/>
          <p:nvPr/>
        </p:nvGrpSpPr>
        <p:grpSpPr>
          <a:xfrm>
            <a:off x="721660" y="5345099"/>
            <a:ext cx="2881818" cy="1397063"/>
            <a:chOff x="5875124" y="3832891"/>
            <a:chExt cx="2881818" cy="1397063"/>
          </a:xfrm>
        </p:grpSpPr>
        <p:sp>
          <p:nvSpPr>
            <p:cNvPr id="76" name="직사각형 75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입력하신 휴대폰 번호와 </a:t>
              </a: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가입이 불가능 합니다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불가능 문구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79" name="눈물 방울 78"/>
          <p:cNvSpPr/>
          <p:nvPr/>
        </p:nvSpPr>
        <p:spPr>
          <a:xfrm rot="5400000">
            <a:off x="428902" y="4979190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784176" y="3495810"/>
            <a:ext cx="4091645" cy="252000"/>
            <a:chOff x="424136" y="-566622"/>
            <a:chExt cx="4091645" cy="252000"/>
          </a:xfrm>
        </p:grpSpPr>
        <p:sp>
          <p:nvSpPr>
            <p:cNvPr id="81" name="TextBox 80"/>
            <p:cNvSpPr txBox="1"/>
            <p:nvPr/>
          </p:nvSpPr>
          <p:spPr>
            <a:xfrm>
              <a:off x="424136" y="-556038"/>
              <a:ext cx="8146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1910425" y="-566622"/>
              <a:ext cx="2605356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01011112222</a:t>
              </a:r>
            </a:p>
          </p:txBody>
        </p:sp>
      </p:grpSp>
      <p:sp>
        <p:nvSpPr>
          <p:cNvPr id="83" name="직사각형 82"/>
          <p:cNvSpPr/>
          <p:nvPr/>
        </p:nvSpPr>
        <p:spPr>
          <a:xfrm>
            <a:off x="4937763" y="3495842"/>
            <a:ext cx="7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인증</a:t>
            </a:r>
          </a:p>
        </p:txBody>
      </p:sp>
      <p:sp>
        <p:nvSpPr>
          <p:cNvPr id="84" name="눈물 방울 83"/>
          <p:cNvSpPr/>
          <p:nvPr/>
        </p:nvSpPr>
        <p:spPr>
          <a:xfrm rot="5400000">
            <a:off x="5760195" y="351514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4" name="눈물 방울 93"/>
          <p:cNvSpPr/>
          <p:nvPr/>
        </p:nvSpPr>
        <p:spPr>
          <a:xfrm rot="5400000">
            <a:off x="356894" y="3167496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640160" y="3171778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640160" y="3813424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 성공 이후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-&gt;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버튼명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변경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비활성화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수정 불가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16" name="그룹 115"/>
          <p:cNvGrpSpPr/>
          <p:nvPr/>
        </p:nvGrpSpPr>
        <p:grpSpPr>
          <a:xfrm>
            <a:off x="784176" y="4131653"/>
            <a:ext cx="4091645" cy="252000"/>
            <a:chOff x="424136" y="-566622"/>
            <a:chExt cx="4091645" cy="252000"/>
          </a:xfrm>
        </p:grpSpPr>
        <p:sp>
          <p:nvSpPr>
            <p:cNvPr id="117" name="TextBox 116"/>
            <p:cNvSpPr txBox="1"/>
            <p:nvPr/>
          </p:nvSpPr>
          <p:spPr>
            <a:xfrm>
              <a:off x="424136" y="-556038"/>
              <a:ext cx="8146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1910425" y="-566622"/>
              <a:ext cx="2605356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01011112222</a:t>
              </a:r>
            </a:p>
          </p:txBody>
        </p:sp>
      </p:grpSp>
      <p:sp>
        <p:nvSpPr>
          <p:cNvPr id="122" name="직사각형 121"/>
          <p:cNvSpPr/>
          <p:nvPr/>
        </p:nvSpPr>
        <p:spPr>
          <a:xfrm>
            <a:off x="4937763" y="4131685"/>
            <a:ext cx="72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 완료</a:t>
            </a:r>
          </a:p>
        </p:txBody>
      </p:sp>
      <p:sp>
        <p:nvSpPr>
          <p:cNvPr id="123" name="눈물 방울 122"/>
          <p:cNvSpPr/>
          <p:nvPr/>
        </p:nvSpPr>
        <p:spPr>
          <a:xfrm rot="5400000">
            <a:off x="5760195" y="4150992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568152" y="1989634"/>
            <a:ext cx="4388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데이터쉐어링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기가입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상태인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2347279" y="2339089"/>
            <a:ext cx="126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데이터쉐어링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가입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3683552" y="2339089"/>
            <a:ext cx="126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 err="1">
                <a:latin typeface="맑은 고딕" pitchFamily="50" charset="-127"/>
                <a:ea typeface="맑은 고딕" pitchFamily="50" charset="-127"/>
              </a:rPr>
              <a:t>데이터쉐어링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 해지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46698" y="2349673"/>
            <a:ext cx="14718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err="1">
                <a:latin typeface="맑은 고딕" pitchFamily="50" charset="-127"/>
                <a:ea typeface="맑은 고딕" pitchFamily="50" charset="-127"/>
              </a:rPr>
              <a:t>데이터쉐어링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 이용 여부</a:t>
            </a:r>
            <a:r>
              <a:rPr lang="en-US" altLang="ko-KR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851907" y="2740940"/>
            <a:ext cx="4091645" cy="252000"/>
            <a:chOff x="589753" y="3105786"/>
            <a:chExt cx="4091645" cy="252000"/>
          </a:xfrm>
        </p:grpSpPr>
        <p:sp>
          <p:nvSpPr>
            <p:cNvPr id="131" name="TextBox 130"/>
            <p:cNvSpPr txBox="1"/>
            <p:nvPr/>
          </p:nvSpPr>
          <p:spPr>
            <a:xfrm>
              <a:off x="589753" y="3116370"/>
              <a:ext cx="8146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2076042" y="3105786"/>
              <a:ext cx="2605356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휴대폰번호 입력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(“-”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제외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</p:txBody>
        </p:sp>
      </p:grpSp>
      <p:sp>
        <p:nvSpPr>
          <p:cNvPr id="133" name="직사각형 132"/>
          <p:cNvSpPr/>
          <p:nvPr/>
        </p:nvSpPr>
        <p:spPr>
          <a:xfrm>
            <a:off x="532788" y="951507"/>
            <a:ext cx="4388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데이터쉐어링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미가입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상태인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34" name="그룹 133"/>
          <p:cNvGrpSpPr/>
          <p:nvPr/>
        </p:nvGrpSpPr>
        <p:grpSpPr>
          <a:xfrm>
            <a:off x="848674" y="1305768"/>
            <a:ext cx="4096854" cy="252000"/>
            <a:chOff x="1053932" y="3207991"/>
            <a:chExt cx="4096854" cy="252000"/>
          </a:xfrm>
        </p:grpSpPr>
        <p:sp>
          <p:nvSpPr>
            <p:cNvPr id="135" name="직사각형 134"/>
            <p:cNvSpPr/>
            <p:nvPr/>
          </p:nvSpPr>
          <p:spPr>
            <a:xfrm>
              <a:off x="2554513" y="3207991"/>
              <a:ext cx="126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 가입</a:t>
              </a:r>
            </a:p>
          </p:txBody>
        </p:sp>
        <p:sp>
          <p:nvSpPr>
            <p:cNvPr id="136" name="직사각형 135"/>
            <p:cNvSpPr/>
            <p:nvPr/>
          </p:nvSpPr>
          <p:spPr>
            <a:xfrm>
              <a:off x="3890786" y="3207991"/>
              <a:ext cx="126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해지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053932" y="3218575"/>
              <a:ext cx="147187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 이용 여부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43" name="눈물 방울 142"/>
          <p:cNvSpPr/>
          <p:nvPr/>
        </p:nvSpPr>
        <p:spPr>
          <a:xfrm rot="5400000">
            <a:off x="343841" y="94674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44" name="그룹 143"/>
          <p:cNvGrpSpPr/>
          <p:nvPr/>
        </p:nvGrpSpPr>
        <p:grpSpPr>
          <a:xfrm>
            <a:off x="856184" y="1671587"/>
            <a:ext cx="4091645" cy="252000"/>
            <a:chOff x="424136" y="-566622"/>
            <a:chExt cx="4091645" cy="252000"/>
          </a:xfrm>
        </p:grpSpPr>
        <p:sp>
          <p:nvSpPr>
            <p:cNvPr id="145" name="TextBox 144"/>
            <p:cNvSpPr txBox="1"/>
            <p:nvPr/>
          </p:nvSpPr>
          <p:spPr>
            <a:xfrm>
              <a:off x="424136" y="-556038"/>
              <a:ext cx="8146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1910425" y="-566622"/>
              <a:ext cx="2605356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휴대폰번호 입력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(“-” 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제외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</p:txBody>
        </p:sp>
      </p:grpSp>
      <p:sp>
        <p:nvSpPr>
          <p:cNvPr id="147" name="직사각형 146"/>
          <p:cNvSpPr/>
          <p:nvPr/>
        </p:nvSpPr>
        <p:spPr>
          <a:xfrm>
            <a:off x="5009771" y="1671619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</a:t>
            </a:r>
          </a:p>
        </p:txBody>
      </p:sp>
      <p:sp>
        <p:nvSpPr>
          <p:cNvPr id="148" name="눈물 방울 147"/>
          <p:cNvSpPr/>
          <p:nvPr/>
        </p:nvSpPr>
        <p:spPr>
          <a:xfrm rot="5400000">
            <a:off x="5832203" y="1690926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3808512" y="4953757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데이터쉐어링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가입 불가능한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50" name="그룹 149"/>
          <p:cNvGrpSpPr/>
          <p:nvPr/>
        </p:nvGrpSpPr>
        <p:grpSpPr>
          <a:xfrm>
            <a:off x="3879022" y="5315083"/>
            <a:ext cx="2881818" cy="1397063"/>
            <a:chOff x="5875124" y="3832891"/>
            <a:chExt cx="2881818" cy="1397063"/>
          </a:xfrm>
        </p:grpSpPr>
        <p:sp>
          <p:nvSpPr>
            <p:cNvPr id="151" name="직사각형 150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2" name="직사각형 151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153" name="직사각형 152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가입이 불가능합니다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49" name="직사각형 48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73136" y="461462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6976864" y="4953757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데이터쉐어링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가입 가능한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7047374" y="5315083"/>
            <a:ext cx="2881818" cy="1397063"/>
            <a:chOff x="5875124" y="3832891"/>
            <a:chExt cx="2881818" cy="1397063"/>
          </a:xfrm>
        </p:grpSpPr>
        <p:sp>
          <p:nvSpPr>
            <p:cNvPr id="54" name="직사각형 53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데이터쉐어링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가입이 가능합니다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96522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1037723" y="1269618"/>
            <a:ext cx="3908684" cy="252000"/>
            <a:chOff x="602656" y="-566622"/>
            <a:chExt cx="3908684" cy="252000"/>
          </a:xfrm>
        </p:grpSpPr>
        <p:sp>
          <p:nvSpPr>
            <p:cNvPr id="56" name="TextBox 55"/>
            <p:cNvSpPr txBox="1"/>
            <p:nvPr/>
          </p:nvSpPr>
          <p:spPr>
            <a:xfrm>
              <a:off x="602656" y="-556038"/>
              <a:ext cx="8050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2114988" y="-566622"/>
              <a:ext cx="2396352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1234567890123456789</a:t>
              </a:r>
            </a:p>
          </p:txBody>
        </p:sp>
      </p:grpSp>
      <p:sp>
        <p:nvSpPr>
          <p:cNvPr id="58" name="직사각형 57"/>
          <p:cNvSpPr/>
          <p:nvPr/>
        </p:nvSpPr>
        <p:spPr>
          <a:xfrm>
            <a:off x="6043903" y="1268870"/>
            <a:ext cx="16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USIM</a:t>
            </a: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번호 </a:t>
            </a: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유효성 체크</a:t>
            </a:r>
          </a:p>
        </p:txBody>
      </p:sp>
      <p:sp>
        <p:nvSpPr>
          <p:cNvPr id="59" name="눈물 방울 58"/>
          <p:cNvSpPr/>
          <p:nvPr/>
        </p:nvSpPr>
        <p:spPr>
          <a:xfrm rot="5400000">
            <a:off x="6877926" y="1043062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5035667" y="1269618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1040742" y="2025666"/>
            <a:ext cx="3908684" cy="252000"/>
            <a:chOff x="602656" y="-566622"/>
            <a:chExt cx="3908684" cy="252000"/>
          </a:xfrm>
        </p:grpSpPr>
        <p:sp>
          <p:nvSpPr>
            <p:cNvPr id="63" name="TextBox 62"/>
            <p:cNvSpPr txBox="1"/>
            <p:nvPr/>
          </p:nvSpPr>
          <p:spPr>
            <a:xfrm>
              <a:off x="602656" y="-556038"/>
              <a:ext cx="8050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2114988" y="-566622"/>
              <a:ext cx="2396352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1234567890123456789</a:t>
              </a:r>
            </a:p>
          </p:txBody>
        </p:sp>
      </p:grpSp>
      <p:sp>
        <p:nvSpPr>
          <p:cNvPr id="65" name="직사각형 64"/>
          <p:cNvSpPr/>
          <p:nvPr/>
        </p:nvSpPr>
        <p:spPr>
          <a:xfrm>
            <a:off x="6046922" y="2024918"/>
            <a:ext cx="162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USIM</a:t>
            </a: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번호 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유효성 체크 완료</a:t>
            </a:r>
          </a:p>
        </p:txBody>
      </p:sp>
      <p:sp>
        <p:nvSpPr>
          <p:cNvPr id="66" name="눈물 방울 65"/>
          <p:cNvSpPr/>
          <p:nvPr/>
        </p:nvSpPr>
        <p:spPr>
          <a:xfrm rot="5400000">
            <a:off x="6880945" y="1799110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038686" y="2025666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눈물 방울 67"/>
          <p:cNvSpPr/>
          <p:nvPr/>
        </p:nvSpPr>
        <p:spPr>
          <a:xfrm rot="5400000">
            <a:off x="644926" y="977240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928192" y="981522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928192" y="1743413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 성공 이후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-&gt;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버튼명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변경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비활성화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수정 불가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7" name="눈물 방울 86"/>
          <p:cNvSpPr/>
          <p:nvPr/>
        </p:nvSpPr>
        <p:spPr>
          <a:xfrm rot="5400000">
            <a:off x="428902" y="306498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73136" y="2658612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grpSp>
        <p:nvGrpSpPr>
          <p:cNvPr id="30" name="그룹 29"/>
          <p:cNvGrpSpPr/>
          <p:nvPr/>
        </p:nvGrpSpPr>
        <p:grpSpPr>
          <a:xfrm>
            <a:off x="640160" y="3357786"/>
            <a:ext cx="2881818" cy="1397063"/>
            <a:chOff x="5875124" y="3832891"/>
            <a:chExt cx="2881818" cy="1397063"/>
          </a:xfrm>
        </p:grpSpPr>
        <p:sp>
          <p:nvSpPr>
            <p:cNvPr id="31" name="직사각형 30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유효하지 않은 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번호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입니다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34" name="직사각형 33"/>
          <p:cNvSpPr/>
          <p:nvPr/>
        </p:nvSpPr>
        <p:spPr>
          <a:xfrm>
            <a:off x="671617" y="3068959"/>
            <a:ext cx="27063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유효하지 않은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USIM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3736504" y="3358277"/>
            <a:ext cx="2881818" cy="1397063"/>
            <a:chOff x="5875124" y="3832891"/>
            <a:chExt cx="2881818" cy="1397063"/>
          </a:xfrm>
        </p:grpSpPr>
        <p:sp>
          <p:nvSpPr>
            <p:cNvPr id="36" name="직사각형 35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사용 가능한 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USIM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번호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입니다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3767961" y="3069450"/>
            <a:ext cx="27063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유효한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USIM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260075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675471"/>
              </p:ext>
            </p:extLst>
          </p:nvPr>
        </p:nvGraphicFramePr>
        <p:xfrm>
          <a:off x="10505256" y="788950"/>
          <a:ext cx="2130330" cy="7018616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아무나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SOLO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결합 가입 화면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입력값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유효성 체크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 가능여부 체크 완료 여부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중 필수 항목 동의 여부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아무나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SOLO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결합 가입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가입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결합 처리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아무나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SOLO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결합 약관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선택 체크 박스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약관 전체 항목 동의 체크 처리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동의 체크 박스 중 일부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체크해제된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경우 전체 선택 체크 해제 처리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선택항목 하위에 여러 개인 경우 중첩 표시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동의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선택 체크 박스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약관 전체 항목 동의 체크 처리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동의 체크 박스 중 일부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체크해제된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경우 전체 선택 체크 해제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아무나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SOLO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결합 가입 가능 여부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대상 요금제에 따라 가능한 요금제 인 경우 해당 용량 표시하고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불가한 요금제인 경우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0MB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 표시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상품변경 사전체크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(multi)(Y24)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결합 가능여부 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펼침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약관 전체 펼침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상세 팝업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1072217" y="1173608"/>
            <a:ext cx="9252000" cy="246221"/>
            <a:chOff x="1072208" y="1117425"/>
            <a:chExt cx="9252000" cy="246221"/>
          </a:xfrm>
        </p:grpSpPr>
        <p:sp>
          <p:nvSpPr>
            <p:cNvPr id="33" name="TextBox 32"/>
            <p:cNvSpPr txBox="1"/>
            <p:nvPr/>
          </p:nvSpPr>
          <p:spPr>
            <a:xfrm>
              <a:off x="1072208" y="1117425"/>
              <a:ext cx="12522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아무나 </a:t>
              </a:r>
              <a:r>
                <a:rPr lang="en-US" altLang="ko-KR" sz="1000" b="1" dirty="0">
                  <a:latin typeface="맑은 고딕" pitchFamily="50" charset="-127"/>
                  <a:ea typeface="맑은 고딕" pitchFamily="50" charset="-127"/>
                </a:rPr>
                <a:t>SOLO 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결합</a:t>
              </a:r>
            </a:p>
          </p:txBody>
        </p:sp>
        <p:cxnSp>
          <p:nvCxnSpPr>
            <p:cNvPr id="34" name="직선 연결선 33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눈물 방울 34"/>
          <p:cNvSpPr/>
          <p:nvPr/>
        </p:nvSpPr>
        <p:spPr>
          <a:xfrm rot="5400000">
            <a:off x="932966" y="11207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76" name="눈물 방울 75"/>
          <p:cNvSpPr/>
          <p:nvPr/>
        </p:nvSpPr>
        <p:spPr>
          <a:xfrm rot="5400000">
            <a:off x="932958" y="199710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1163507" y="1989634"/>
            <a:ext cx="8758499" cy="253916"/>
            <a:chOff x="1936304" y="-857339"/>
            <a:chExt cx="8758499" cy="253916"/>
          </a:xfrm>
        </p:grpSpPr>
        <p:sp>
          <p:nvSpPr>
            <p:cNvPr id="78" name="타원 77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116304" y="-857339"/>
              <a:ext cx="404630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이용약관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개인정보 수집</a:t>
              </a:r>
              <a:r>
                <a:rPr lang="en-US" altLang="ko-KR" sz="900" dirty="0">
                  <a:latin typeface="+mn-ea"/>
                  <a:ea typeface="+mn-ea"/>
                </a:rPr>
                <a:t>/</a:t>
              </a:r>
              <a:r>
                <a:rPr lang="ko-KR" altLang="en-US" sz="900" dirty="0">
                  <a:latin typeface="+mn-ea"/>
                  <a:ea typeface="+mn-ea"/>
                </a:rPr>
                <a:t>이용 및 선택동의 항목에 모두 동의합니다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0413957" y="-857339"/>
              <a:ext cx="28084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1053932" y="1521610"/>
            <a:ext cx="2760581" cy="252000"/>
            <a:chOff x="1053932" y="-1220529"/>
            <a:chExt cx="2760581" cy="252000"/>
          </a:xfrm>
        </p:grpSpPr>
        <p:sp>
          <p:nvSpPr>
            <p:cNvPr id="52" name="직사각형 51"/>
            <p:cNvSpPr/>
            <p:nvPr/>
          </p:nvSpPr>
          <p:spPr>
            <a:xfrm>
              <a:off x="2554513" y="-1220529"/>
              <a:ext cx="126000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53932" y="-1209945"/>
              <a:ext cx="5838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데이터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5" name="직사각형 54"/>
          <p:cNvSpPr/>
          <p:nvPr/>
        </p:nvSpPr>
        <p:spPr>
          <a:xfrm>
            <a:off x="3949772" y="1511026"/>
            <a:ext cx="972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눈물 방울 55"/>
          <p:cNvSpPr/>
          <p:nvPr/>
        </p:nvSpPr>
        <p:spPr>
          <a:xfrm rot="5400000">
            <a:off x="5040115" y="1512288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762838"/>
              </p:ext>
            </p:extLst>
          </p:nvPr>
        </p:nvGraphicFramePr>
        <p:xfrm>
          <a:off x="12914755" y="109568"/>
          <a:ext cx="3443089" cy="96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아무나 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SOLO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결합 가입 프로세스 변경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latin typeface="+mn-ea"/>
                          <a:cs typeface="Segoe UI" panose="020B0502040204020203" pitchFamily="34" charset="0"/>
                        </a:rPr>
                        <a:t>선택 약관 하위 표시 추가</a:t>
                      </a:r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7" name="직사각형 46"/>
          <p:cNvSpPr/>
          <p:nvPr/>
        </p:nvSpPr>
        <p:spPr>
          <a:xfrm>
            <a:off x="1343506" y="2421682"/>
            <a:ext cx="8980707" cy="2592288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8" name="그룹 47"/>
          <p:cNvGrpSpPr/>
          <p:nvPr/>
        </p:nvGrpSpPr>
        <p:grpSpPr>
          <a:xfrm>
            <a:off x="1504256" y="2565698"/>
            <a:ext cx="8629740" cy="504056"/>
            <a:chOff x="1936304" y="-857339"/>
            <a:chExt cx="8629740" cy="504056"/>
          </a:xfrm>
        </p:grpSpPr>
        <p:sp>
          <p:nvSpPr>
            <p:cNvPr id="49" name="타원 48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116304" y="-857339"/>
              <a:ext cx="416171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이용약관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개인정보 수집</a:t>
              </a:r>
              <a:r>
                <a:rPr lang="en-US" altLang="ko-KR" sz="900" dirty="0">
                  <a:latin typeface="+mn-ea"/>
                  <a:ea typeface="+mn-ea"/>
                </a:rPr>
                <a:t>/</a:t>
              </a:r>
              <a:r>
                <a:rPr lang="ko-KR" altLang="en-US" sz="900" dirty="0">
                  <a:latin typeface="+mn-ea"/>
                  <a:ea typeface="+mn-ea"/>
                </a:rPr>
                <a:t>이용 및 선택동의 항목에 모두 동의합니다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296418" y="-857339"/>
              <a:ext cx="26962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V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124353" y="-584115"/>
              <a:ext cx="418415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※ 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고객님의 편의를 위한 모든 약관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선택약관 포함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에 일괄동의 하시겠습니까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?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1504256" y="3213770"/>
            <a:ext cx="8639358" cy="253916"/>
            <a:chOff x="1936304" y="-857339"/>
            <a:chExt cx="8639358" cy="253916"/>
          </a:xfrm>
        </p:grpSpPr>
        <p:sp>
          <p:nvSpPr>
            <p:cNvPr id="60" name="타원 59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29641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1504256" y="3537177"/>
            <a:ext cx="8639358" cy="253916"/>
            <a:chOff x="1936304" y="-857339"/>
            <a:chExt cx="8639358" cy="253916"/>
          </a:xfrm>
        </p:grpSpPr>
        <p:sp>
          <p:nvSpPr>
            <p:cNvPr id="65" name="타원 64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029641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68" name="그룹 67"/>
          <p:cNvGrpSpPr/>
          <p:nvPr/>
        </p:nvGrpSpPr>
        <p:grpSpPr>
          <a:xfrm>
            <a:off x="1504256" y="3860584"/>
            <a:ext cx="8639358" cy="253916"/>
            <a:chOff x="1936304" y="-857339"/>
            <a:chExt cx="8639358" cy="253916"/>
          </a:xfrm>
        </p:grpSpPr>
        <p:sp>
          <p:nvSpPr>
            <p:cNvPr id="69" name="타원 68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29641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1504256" y="4183990"/>
            <a:ext cx="8629740" cy="253916"/>
            <a:chOff x="1936304" y="-857339"/>
            <a:chExt cx="8629740" cy="253916"/>
          </a:xfrm>
        </p:grpSpPr>
        <p:sp>
          <p:nvSpPr>
            <p:cNvPr id="74" name="타원 73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(</a:t>
              </a:r>
              <a:r>
                <a:rPr lang="ko-KR" altLang="en-US" sz="900" dirty="0">
                  <a:latin typeface="+mn-ea"/>
                  <a:ea typeface="+mn-ea"/>
                </a:rPr>
                <a:t>선택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0296418" y="-857339"/>
              <a:ext cx="26962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 smtClean="0">
                  <a:latin typeface="+mn-ea"/>
                  <a:ea typeface="+mn-ea"/>
                </a:rPr>
                <a:t>V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sp>
        <p:nvSpPr>
          <p:cNvPr id="107" name="눈물 방울 106"/>
          <p:cNvSpPr/>
          <p:nvPr/>
        </p:nvSpPr>
        <p:spPr>
          <a:xfrm rot="5400000">
            <a:off x="9648627" y="320900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08" name="그룹 107"/>
          <p:cNvGrpSpPr/>
          <p:nvPr/>
        </p:nvGrpSpPr>
        <p:grpSpPr>
          <a:xfrm>
            <a:off x="1793890" y="4472022"/>
            <a:ext cx="8342538" cy="253916"/>
            <a:chOff x="1936304" y="-857339"/>
            <a:chExt cx="8342538" cy="253916"/>
          </a:xfrm>
        </p:grpSpPr>
        <p:sp>
          <p:nvSpPr>
            <p:cNvPr id="109" name="타원 108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(</a:t>
              </a:r>
              <a:r>
                <a:rPr lang="ko-KR" altLang="en-US" sz="900" dirty="0">
                  <a:latin typeface="+mn-ea"/>
                  <a:ea typeface="+mn-ea"/>
                </a:rPr>
                <a:t>선택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99959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1792288" y="4725938"/>
            <a:ext cx="8342538" cy="253916"/>
            <a:chOff x="1936304" y="-857339"/>
            <a:chExt cx="8342538" cy="253916"/>
          </a:xfrm>
        </p:grpSpPr>
        <p:sp>
          <p:nvSpPr>
            <p:cNvPr id="113" name="타원 112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(</a:t>
              </a:r>
              <a:r>
                <a:rPr lang="ko-KR" altLang="en-US" sz="900" dirty="0">
                  <a:latin typeface="+mn-ea"/>
                  <a:ea typeface="+mn-ea"/>
                </a:rPr>
                <a:t>선택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999959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sp>
        <p:nvSpPr>
          <p:cNvPr id="116" name="눈물 방울 115"/>
          <p:cNvSpPr/>
          <p:nvPr/>
        </p:nvSpPr>
        <p:spPr>
          <a:xfrm rot="5400000">
            <a:off x="9501910" y="189097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cxnSp>
        <p:nvCxnSpPr>
          <p:cNvPr id="117" name="구부러진 연결선 116"/>
          <p:cNvCxnSpPr/>
          <p:nvPr/>
        </p:nvCxnSpPr>
        <p:spPr>
          <a:xfrm rot="16200000" flipH="1">
            <a:off x="9625062" y="2362178"/>
            <a:ext cx="466166" cy="153126"/>
          </a:xfrm>
          <a:prstGeom prst="curved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1531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40160" y="3703891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아무나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SOLE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결합 가입 불가능한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721660" y="4048955"/>
            <a:ext cx="2881818" cy="1397063"/>
            <a:chOff x="5875124" y="3832891"/>
            <a:chExt cx="2881818" cy="1397063"/>
          </a:xfrm>
        </p:grpSpPr>
        <p:sp>
          <p:nvSpPr>
            <p:cNvPr id="70" name="직사각형 69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아무나 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SOLE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결합 가입이 불가능 합니다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불가능 문구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74" name="눈물 방울 73"/>
          <p:cNvSpPr/>
          <p:nvPr/>
        </p:nvSpPr>
        <p:spPr>
          <a:xfrm rot="5400000">
            <a:off x="491418" y="3699126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5" name="눈물 방울 74"/>
          <p:cNvSpPr/>
          <p:nvPr/>
        </p:nvSpPr>
        <p:spPr>
          <a:xfrm rot="5400000">
            <a:off x="500910" y="98898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712168" y="981522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조회 후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73136" y="3364757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808512" y="3702911"/>
            <a:ext cx="3168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아무나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SOLE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결합 가입 가능한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3890012" y="4047975"/>
            <a:ext cx="2881818" cy="1397063"/>
            <a:chOff x="5875124" y="3832891"/>
            <a:chExt cx="2881818" cy="1397063"/>
          </a:xfrm>
        </p:grpSpPr>
        <p:sp>
          <p:nvSpPr>
            <p:cNvPr id="22" name="직사각형 21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아무나 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SOLE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결합 가입이 가능 합니다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1053932" y="1352146"/>
            <a:ext cx="2760581" cy="252000"/>
            <a:chOff x="1053932" y="-1220529"/>
            <a:chExt cx="2760581" cy="252000"/>
          </a:xfrm>
        </p:grpSpPr>
        <p:sp>
          <p:nvSpPr>
            <p:cNvPr id="26" name="직사각형 25"/>
            <p:cNvSpPr/>
            <p:nvPr/>
          </p:nvSpPr>
          <p:spPr>
            <a:xfrm>
              <a:off x="2554513" y="-1220529"/>
              <a:ext cx="126000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 MB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53932" y="-1209945"/>
              <a:ext cx="5838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데이터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8" name="직사각형 27"/>
          <p:cNvSpPr/>
          <p:nvPr/>
        </p:nvSpPr>
        <p:spPr>
          <a:xfrm>
            <a:off x="3949772" y="1341562"/>
            <a:ext cx="972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확인 완료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눈물 방울 28"/>
          <p:cNvSpPr/>
          <p:nvPr/>
        </p:nvSpPr>
        <p:spPr>
          <a:xfrm rot="5400000">
            <a:off x="5040115" y="1342824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1053932" y="1784194"/>
            <a:ext cx="2760581" cy="252000"/>
            <a:chOff x="1053932" y="-1220529"/>
            <a:chExt cx="2760581" cy="252000"/>
          </a:xfrm>
        </p:grpSpPr>
        <p:sp>
          <p:nvSpPr>
            <p:cNvPr id="36" name="직사각형 35"/>
            <p:cNvSpPr/>
            <p:nvPr/>
          </p:nvSpPr>
          <p:spPr>
            <a:xfrm>
              <a:off x="2554513" y="-1220529"/>
              <a:ext cx="126000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5 MB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53932" y="-1209945"/>
              <a:ext cx="5838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데이터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8" name="직사각형 37"/>
          <p:cNvSpPr/>
          <p:nvPr/>
        </p:nvSpPr>
        <p:spPr>
          <a:xfrm>
            <a:off x="3949772" y="1773610"/>
            <a:ext cx="972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</a:t>
            </a: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완료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눈물 방울 38"/>
          <p:cNvSpPr/>
          <p:nvPr/>
        </p:nvSpPr>
        <p:spPr>
          <a:xfrm rot="5400000">
            <a:off x="5040115" y="1774872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1053932" y="2216242"/>
            <a:ext cx="2760581" cy="252000"/>
            <a:chOff x="1053932" y="-1220529"/>
            <a:chExt cx="2760581" cy="252000"/>
          </a:xfrm>
        </p:grpSpPr>
        <p:sp>
          <p:nvSpPr>
            <p:cNvPr id="41" name="직사각형 40"/>
            <p:cNvSpPr/>
            <p:nvPr/>
          </p:nvSpPr>
          <p:spPr>
            <a:xfrm>
              <a:off x="2554513" y="-1220529"/>
              <a:ext cx="126000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10 MB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53932" y="-1209945"/>
              <a:ext cx="5838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데이터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3" name="직사각형 42"/>
          <p:cNvSpPr/>
          <p:nvPr/>
        </p:nvSpPr>
        <p:spPr>
          <a:xfrm>
            <a:off x="3949772" y="2205658"/>
            <a:ext cx="972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</a:t>
            </a: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완료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눈물 방울 43"/>
          <p:cNvSpPr/>
          <p:nvPr/>
        </p:nvSpPr>
        <p:spPr>
          <a:xfrm rot="5400000">
            <a:off x="5040115" y="2206920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1053932" y="2648290"/>
            <a:ext cx="2760581" cy="252000"/>
            <a:chOff x="1053932" y="-1220529"/>
            <a:chExt cx="2760581" cy="252000"/>
          </a:xfrm>
        </p:grpSpPr>
        <p:sp>
          <p:nvSpPr>
            <p:cNvPr id="46" name="직사각형 45"/>
            <p:cNvSpPr/>
            <p:nvPr/>
          </p:nvSpPr>
          <p:spPr>
            <a:xfrm>
              <a:off x="2554513" y="-1220529"/>
              <a:ext cx="126000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20 MB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53932" y="-1209945"/>
              <a:ext cx="5838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데이터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9" name="직사각형 48"/>
          <p:cNvSpPr/>
          <p:nvPr/>
        </p:nvSpPr>
        <p:spPr>
          <a:xfrm>
            <a:off x="3949772" y="2637706"/>
            <a:ext cx="972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확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</a:t>
            </a: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완료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눈물 방울 49"/>
          <p:cNvSpPr/>
          <p:nvPr/>
        </p:nvSpPr>
        <p:spPr>
          <a:xfrm rot="5400000">
            <a:off x="5040115" y="2638968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5694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232038"/>
              </p:ext>
            </p:extLst>
          </p:nvPr>
        </p:nvGraphicFramePr>
        <p:xfrm>
          <a:off x="10505256" y="788950"/>
          <a:ext cx="2130330" cy="1000312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메모 입력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S102030101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1100614" y="1239357"/>
            <a:ext cx="9252000" cy="246221"/>
            <a:chOff x="1072208" y="1117425"/>
            <a:chExt cx="9252000" cy="246221"/>
          </a:xfrm>
        </p:grpSpPr>
        <p:sp>
          <p:nvSpPr>
            <p:cNvPr id="30" name="TextBox 29"/>
            <p:cNvSpPr txBox="1"/>
            <p:nvPr/>
          </p:nvSpPr>
          <p:spPr>
            <a:xfrm>
              <a:off x="1072208" y="1117425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메모</a:t>
              </a:r>
            </a:p>
          </p:txBody>
        </p:sp>
        <p:cxnSp>
          <p:nvCxnSpPr>
            <p:cNvPr id="31" name="직선 연결선 30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눈물 방울 35"/>
          <p:cNvSpPr/>
          <p:nvPr/>
        </p:nvSpPr>
        <p:spPr>
          <a:xfrm rot="5400000">
            <a:off x="961364" y="119131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1050508" y="1593618"/>
            <a:ext cx="8590652" cy="540032"/>
            <a:chOff x="1053932" y="-566622"/>
            <a:chExt cx="8590652" cy="540032"/>
          </a:xfrm>
        </p:grpSpPr>
        <p:sp>
          <p:nvSpPr>
            <p:cNvPr id="38" name="TextBox 37"/>
            <p:cNvSpPr txBox="1"/>
            <p:nvPr/>
          </p:nvSpPr>
          <p:spPr>
            <a:xfrm>
              <a:off x="1053932" y="-55603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메모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544200" y="-566622"/>
              <a:ext cx="7100384" cy="540032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72000" rIns="72000" bIns="72000" rtlCol="0"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메모 입력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46428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450838"/>
              </p:ext>
            </p:extLst>
          </p:nvPr>
        </p:nvGraphicFramePr>
        <p:xfrm>
          <a:off x="10505256" y="788950"/>
          <a:ext cx="2130330" cy="4652290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기존 설정번호 디폴트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세팅되어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화면에 출력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기존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미가입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상태인 경우 번호 입력 영역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차단 번호 입력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해당 번호 삭제 처리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항목을 화면에 추가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까지 추가 가능하고 초과시 초과 안내 메시지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노출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선택값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유효성 체크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앞자리 입력 여부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중간자리 입력 여부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뒷자리 입력 여부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입력값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설정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앞자리인 경우 번호만 입력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중간자리인 경우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*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번호*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뒷자리인 경우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*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선택된 부가서비스를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모창에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Close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Close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S102030102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31086" y="1070782"/>
            <a:ext cx="10202162" cy="5585258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3334709" y="1397209"/>
            <a:ext cx="4146211" cy="4756689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33" name="그룹 132"/>
          <p:cNvGrpSpPr/>
          <p:nvPr/>
        </p:nvGrpSpPr>
        <p:grpSpPr>
          <a:xfrm rot="2700000">
            <a:off x="7107302" y="1517622"/>
            <a:ext cx="214699" cy="216000"/>
            <a:chOff x="6609184" y="2719104"/>
            <a:chExt cx="1008112" cy="1008112"/>
          </a:xfrm>
        </p:grpSpPr>
        <p:cxnSp>
          <p:nvCxnSpPr>
            <p:cNvPr id="134" name="직선 연결선 133"/>
            <p:cNvCxnSpPr/>
            <p:nvPr/>
          </p:nvCxnSpPr>
          <p:spPr>
            <a:xfrm>
              <a:off x="6609184" y="3223160"/>
              <a:ext cx="100811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연결선 134"/>
            <p:cNvCxnSpPr/>
            <p:nvPr/>
          </p:nvCxnSpPr>
          <p:spPr>
            <a:xfrm rot="5400000">
              <a:off x="6609184" y="3223160"/>
              <a:ext cx="100811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TextBox 135"/>
          <p:cNvSpPr txBox="1"/>
          <p:nvPr/>
        </p:nvSpPr>
        <p:spPr>
          <a:xfrm>
            <a:off x="3527276" y="1483699"/>
            <a:ext cx="2883555" cy="357523"/>
          </a:xfrm>
          <a:prstGeom prst="rect">
            <a:avLst/>
          </a:prstGeom>
          <a:noFill/>
        </p:spPr>
        <p:txBody>
          <a:bodyPr wrap="square" lIns="107241" tIns="53620" rIns="107241" bIns="536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b="1" dirty="0">
                <a:solidFill>
                  <a:prstClr val="black"/>
                </a:solidFill>
                <a:latin typeface="+mn-ea"/>
                <a:ea typeface="+mn-ea"/>
              </a:rPr>
              <a:t>불법</a:t>
            </a:r>
            <a:r>
              <a:rPr lang="en-US" altLang="ko-KR" sz="1400" b="1" dirty="0">
                <a:solidFill>
                  <a:prstClr val="black"/>
                </a:solidFill>
                <a:latin typeface="+mn-ea"/>
                <a:ea typeface="+mn-ea"/>
              </a:rPr>
              <a:t>TM</a:t>
            </a:r>
            <a:r>
              <a:rPr lang="ko-KR" altLang="en-US" sz="1400" b="1" dirty="0">
                <a:solidFill>
                  <a:prstClr val="black"/>
                </a:solidFill>
                <a:latin typeface="+mn-ea"/>
                <a:ea typeface="+mn-ea"/>
              </a:rPr>
              <a:t>수신차단</a:t>
            </a:r>
            <a:endParaRPr lang="en-US" altLang="ko-KR" sz="1400" b="1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45" name="눈물 방울 144"/>
          <p:cNvSpPr/>
          <p:nvPr/>
        </p:nvSpPr>
        <p:spPr>
          <a:xfrm rot="5400000">
            <a:off x="3126153" y="1336797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상품 </a:t>
            </a:r>
            <a:r>
              <a:rPr lang="en-US" altLang="ko-KR" sz="1000" dirty="0">
                <a:latin typeface="+mn-ea"/>
                <a:ea typeface="+mn-ea"/>
              </a:rPr>
              <a:t>&gt; </a:t>
            </a:r>
            <a:r>
              <a:rPr lang="ko-KR" altLang="en-US" sz="1000" dirty="0">
                <a:latin typeface="+mn-ea"/>
                <a:ea typeface="+mn-ea"/>
              </a:rPr>
              <a:t>불법</a:t>
            </a:r>
            <a:r>
              <a:rPr lang="en-US" altLang="ko-KR" sz="1000" dirty="0">
                <a:latin typeface="+mn-ea"/>
                <a:ea typeface="+mn-ea"/>
              </a:rPr>
              <a:t>TM</a:t>
            </a:r>
            <a:r>
              <a:rPr lang="ko-KR" altLang="en-US" sz="1000" dirty="0">
                <a:latin typeface="+mn-ea"/>
                <a:ea typeface="+mn-ea"/>
              </a:rPr>
              <a:t>수신차단</a:t>
            </a: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74" b="25424"/>
          <a:stretch/>
        </p:blipFill>
        <p:spPr bwMode="auto">
          <a:xfrm>
            <a:off x="3592488" y="1905426"/>
            <a:ext cx="3479891" cy="2194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눈물 방울 35"/>
          <p:cNvSpPr/>
          <p:nvPr/>
        </p:nvSpPr>
        <p:spPr>
          <a:xfrm rot="5400000">
            <a:off x="3472410" y="2199714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64495" y="4569754"/>
            <a:ext cx="340788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수신차단 번호는 최대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50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개까지 설정 가능하며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등록한 번호로 수신되는 음성통화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문자메시지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음성사서함 모두 차단합니다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</a:p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각 </a:t>
            </a: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자리별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입력된 번호를 포함하는 번호는 모두 차단합니다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.(</a:t>
            </a: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자리별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부분 차단 가능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184776" y="1903637"/>
            <a:ext cx="7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번호추가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눈물 방울 29"/>
          <p:cNvSpPr/>
          <p:nvPr/>
        </p:nvSpPr>
        <p:spPr>
          <a:xfrm rot="5400000">
            <a:off x="5934089" y="1911104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1" name="눈물 방울 30"/>
          <p:cNvSpPr/>
          <p:nvPr/>
        </p:nvSpPr>
        <p:spPr>
          <a:xfrm rot="5400000">
            <a:off x="6552283" y="2352114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5" name="눈물 방울 24"/>
          <p:cNvSpPr/>
          <p:nvPr/>
        </p:nvSpPr>
        <p:spPr>
          <a:xfrm rot="5400000">
            <a:off x="6264251" y="562737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눈물 방울 25"/>
          <p:cNvSpPr/>
          <p:nvPr/>
        </p:nvSpPr>
        <p:spPr>
          <a:xfrm rot="5400000">
            <a:off x="4317334" y="562737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460029" y="5590034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4626647" y="5590034"/>
            <a:ext cx="720000" cy="288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취소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93004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436020"/>
              </p:ext>
            </p:extLst>
          </p:nvPr>
        </p:nvGraphicFramePr>
        <p:xfrm>
          <a:off x="10505256" y="788950"/>
          <a:ext cx="2130330" cy="1875893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번호도용 차단 서비스 설정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선택값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유효성 체크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동의 여부 체크 여부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선택된 부가서비스를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모창에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Close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Close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S102030103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31086" y="1070782"/>
            <a:ext cx="10202162" cy="5585258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3334709" y="1397209"/>
            <a:ext cx="4146211" cy="4756689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33" name="그룹 132"/>
          <p:cNvGrpSpPr/>
          <p:nvPr/>
        </p:nvGrpSpPr>
        <p:grpSpPr>
          <a:xfrm rot="2700000">
            <a:off x="7107302" y="1517622"/>
            <a:ext cx="214699" cy="216000"/>
            <a:chOff x="6609184" y="2719104"/>
            <a:chExt cx="1008112" cy="1008112"/>
          </a:xfrm>
        </p:grpSpPr>
        <p:cxnSp>
          <p:nvCxnSpPr>
            <p:cNvPr id="134" name="직선 연결선 133"/>
            <p:cNvCxnSpPr/>
            <p:nvPr/>
          </p:nvCxnSpPr>
          <p:spPr>
            <a:xfrm>
              <a:off x="6609184" y="3223160"/>
              <a:ext cx="100811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연결선 134"/>
            <p:cNvCxnSpPr/>
            <p:nvPr/>
          </p:nvCxnSpPr>
          <p:spPr>
            <a:xfrm rot="5400000">
              <a:off x="6609184" y="3223160"/>
              <a:ext cx="100811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TextBox 135"/>
          <p:cNvSpPr txBox="1"/>
          <p:nvPr/>
        </p:nvSpPr>
        <p:spPr>
          <a:xfrm>
            <a:off x="3527276" y="1483699"/>
            <a:ext cx="2883555" cy="388364"/>
          </a:xfrm>
          <a:prstGeom prst="rect">
            <a:avLst/>
          </a:prstGeom>
          <a:noFill/>
        </p:spPr>
        <p:txBody>
          <a:bodyPr wrap="square" lIns="107241" tIns="53620" rIns="107241" bIns="536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b="1" dirty="0">
                <a:solidFill>
                  <a:prstClr val="black"/>
                </a:solidFill>
                <a:latin typeface="+mn-ea"/>
                <a:ea typeface="+mn-ea"/>
              </a:rPr>
              <a:t>번호도용 차단 서비스</a:t>
            </a:r>
            <a:endParaRPr lang="en-US" altLang="ko-KR" sz="1400" b="1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45" name="눈물 방울 144"/>
          <p:cNvSpPr/>
          <p:nvPr/>
        </p:nvSpPr>
        <p:spPr>
          <a:xfrm rot="5400000">
            <a:off x="3126153" y="1336797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상품 </a:t>
            </a:r>
            <a:r>
              <a:rPr lang="en-US" altLang="ko-KR" sz="1000" dirty="0">
                <a:latin typeface="+mn-ea"/>
                <a:ea typeface="+mn-ea"/>
              </a:rPr>
              <a:t>&gt; </a:t>
            </a:r>
            <a:r>
              <a:rPr lang="ko-KR" altLang="en-US" sz="1000" dirty="0">
                <a:latin typeface="+mn-ea"/>
                <a:ea typeface="+mn-ea"/>
              </a:rPr>
              <a:t>번호도용 차단 서비스</a:t>
            </a:r>
          </a:p>
        </p:txBody>
      </p:sp>
      <p:pic>
        <p:nvPicPr>
          <p:cNvPr id="2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14" b="10242"/>
          <a:stretch/>
        </p:blipFill>
        <p:spPr bwMode="auto">
          <a:xfrm>
            <a:off x="3588568" y="1872063"/>
            <a:ext cx="3460304" cy="2538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3664495" y="4569754"/>
            <a:ext cx="3407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※ ‘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번호도용 차단 서비스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’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는 타 기관으로 고객정보를 제공하여 차단하는 서비스입니다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</a:p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타 기관에 고객정보를 제공하는데 동의하셔야 서비스를 이용하실 수 있습니다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22" name="눈물 방울 21"/>
          <p:cNvSpPr/>
          <p:nvPr/>
        </p:nvSpPr>
        <p:spPr>
          <a:xfrm rot="5400000">
            <a:off x="6264251" y="562737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4" name="눈물 방울 23"/>
          <p:cNvSpPr/>
          <p:nvPr/>
        </p:nvSpPr>
        <p:spPr>
          <a:xfrm rot="5400000">
            <a:off x="4317334" y="562737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460029" y="5590034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4626647" y="5590034"/>
            <a:ext cx="720000" cy="288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취소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9553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802401"/>
              </p:ext>
            </p:extLst>
          </p:nvPr>
        </p:nvGraphicFramePr>
        <p:xfrm>
          <a:off x="10505256" y="788950"/>
          <a:ext cx="2130330" cy="5533464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로밍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 기간 설정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기존 가입자인 경우 기존 설정 정보 조회하여 화면에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이용 기간 입력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일자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시간 선택 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시작일은 현재부터 최대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개월 이내 날짜만 입력 가능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종료일은 현재부터 최대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개월 이내 날짜만 입력 가능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시간선택은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시간 단위로 선택 가능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선택값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유효성 체크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시작일 선택 여부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종료일 선택 여부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시작일은 현재부터 최대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개월 이내인지 여부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종료일은 현재부터 최대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개월 이내인지 여부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시작일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종료일 로 정상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세팅되었는지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여부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시간 선택 여부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부가서비스 가입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처리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서비스시작일시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서비스종료일시값을</a:t>
                      </a:r>
                      <a:endParaRPr lang="ko-KR" altLang="en-US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순서대로 연동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구분자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':')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상품시작일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yyyyMMddHH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10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자리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 종료일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yyyyMMdd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8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예시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2019053011:20190601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선택된 부가서비스를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모창에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Close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Close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S102030104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31086" y="1070782"/>
            <a:ext cx="10202162" cy="5585258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3334709" y="1397209"/>
            <a:ext cx="4146211" cy="4756689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33" name="그룹 132"/>
          <p:cNvGrpSpPr/>
          <p:nvPr/>
        </p:nvGrpSpPr>
        <p:grpSpPr>
          <a:xfrm rot="2700000">
            <a:off x="7107302" y="1517622"/>
            <a:ext cx="214699" cy="216000"/>
            <a:chOff x="6609184" y="2719104"/>
            <a:chExt cx="1008112" cy="1008112"/>
          </a:xfrm>
        </p:grpSpPr>
        <p:cxnSp>
          <p:nvCxnSpPr>
            <p:cNvPr id="134" name="직선 연결선 133"/>
            <p:cNvCxnSpPr/>
            <p:nvPr/>
          </p:nvCxnSpPr>
          <p:spPr>
            <a:xfrm>
              <a:off x="6609184" y="3223160"/>
              <a:ext cx="100811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연결선 134"/>
            <p:cNvCxnSpPr/>
            <p:nvPr/>
          </p:nvCxnSpPr>
          <p:spPr>
            <a:xfrm rot="5400000">
              <a:off x="6609184" y="3223160"/>
              <a:ext cx="100811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TextBox 135"/>
          <p:cNvSpPr txBox="1"/>
          <p:nvPr/>
        </p:nvSpPr>
        <p:spPr>
          <a:xfrm>
            <a:off x="3527276" y="1483699"/>
            <a:ext cx="2883555" cy="357523"/>
          </a:xfrm>
          <a:prstGeom prst="rect">
            <a:avLst/>
          </a:prstGeom>
          <a:noFill/>
        </p:spPr>
        <p:txBody>
          <a:bodyPr wrap="square" lIns="107241" tIns="53620" rIns="107241" bIns="536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 b="1" dirty="0">
                <a:solidFill>
                  <a:prstClr val="black"/>
                </a:solidFill>
                <a:latin typeface="+mn-ea"/>
                <a:ea typeface="+mn-ea"/>
              </a:rPr>
              <a:t>(</a:t>
            </a:r>
            <a:r>
              <a:rPr lang="ko-KR" altLang="en-US" sz="1400" b="1" dirty="0">
                <a:solidFill>
                  <a:prstClr val="black"/>
                </a:solidFill>
                <a:latin typeface="+mn-ea"/>
                <a:ea typeface="+mn-ea"/>
              </a:rPr>
              <a:t>신</a:t>
            </a:r>
            <a:r>
              <a:rPr lang="en-US" altLang="ko-KR" sz="1400" b="1" dirty="0">
                <a:solidFill>
                  <a:prstClr val="black"/>
                </a:solidFill>
                <a:latin typeface="+mn-ea"/>
                <a:ea typeface="+mn-ea"/>
              </a:rPr>
              <a:t>)</a:t>
            </a:r>
            <a:r>
              <a:rPr lang="ko-KR" altLang="en-US" sz="1400" b="1" dirty="0" err="1">
                <a:solidFill>
                  <a:prstClr val="black"/>
                </a:solidFill>
                <a:latin typeface="+mn-ea"/>
                <a:ea typeface="+mn-ea"/>
              </a:rPr>
              <a:t>로밍</a:t>
            </a:r>
            <a:r>
              <a:rPr lang="ko-KR" altLang="en-US" sz="1400" b="1" dirty="0">
                <a:solidFill>
                  <a:prstClr val="black"/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 err="1">
                <a:solidFill>
                  <a:prstClr val="black"/>
                </a:solidFill>
                <a:latin typeface="+mn-ea"/>
                <a:ea typeface="+mn-ea"/>
              </a:rPr>
              <a:t>하루종일</a:t>
            </a:r>
            <a:r>
              <a:rPr lang="ko-KR" altLang="en-US" sz="1400" b="1" dirty="0">
                <a:solidFill>
                  <a:prstClr val="black"/>
                </a:solidFill>
                <a:latin typeface="+mn-ea"/>
                <a:ea typeface="+mn-ea"/>
              </a:rPr>
              <a:t> </a:t>
            </a:r>
            <a:r>
              <a:rPr lang="en-US" altLang="ko-KR" sz="1400" b="1" dirty="0">
                <a:solidFill>
                  <a:prstClr val="black"/>
                </a:solidFill>
                <a:latin typeface="+mn-ea"/>
                <a:ea typeface="+mn-ea"/>
              </a:rPr>
              <a:t>ON</a:t>
            </a:r>
          </a:p>
        </p:txBody>
      </p:sp>
      <p:sp>
        <p:nvSpPr>
          <p:cNvPr id="145" name="눈물 방울 144"/>
          <p:cNvSpPr/>
          <p:nvPr/>
        </p:nvSpPr>
        <p:spPr>
          <a:xfrm rot="5400000">
            <a:off x="3126153" y="1336797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상품 </a:t>
            </a:r>
            <a:r>
              <a:rPr lang="en-US" altLang="ko-KR" sz="1000" dirty="0">
                <a:latin typeface="+mn-ea"/>
                <a:ea typeface="+mn-ea"/>
              </a:rPr>
              <a:t>&gt; (</a:t>
            </a:r>
            <a:r>
              <a:rPr lang="ko-KR" altLang="en-US" sz="1000" dirty="0">
                <a:latin typeface="+mn-ea"/>
                <a:ea typeface="+mn-ea"/>
              </a:rPr>
              <a:t>신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  <a:r>
              <a:rPr lang="ko-KR" altLang="en-US" sz="1000" dirty="0" err="1">
                <a:latin typeface="+mn-ea"/>
                <a:ea typeface="+mn-ea"/>
              </a:rPr>
              <a:t>로밍</a:t>
            </a:r>
            <a:r>
              <a:rPr lang="ko-KR" altLang="en-US" sz="1000" dirty="0">
                <a:latin typeface="+mn-ea"/>
                <a:ea typeface="+mn-ea"/>
              </a:rPr>
              <a:t> </a:t>
            </a:r>
            <a:r>
              <a:rPr lang="ko-KR" altLang="en-US" sz="1000" dirty="0" err="1">
                <a:latin typeface="+mn-ea"/>
                <a:ea typeface="+mn-ea"/>
              </a:rPr>
              <a:t>하루종일</a:t>
            </a:r>
            <a:r>
              <a:rPr lang="ko-KR" altLang="en-US" sz="1000" dirty="0">
                <a:latin typeface="+mn-ea"/>
                <a:ea typeface="+mn-ea"/>
              </a:rPr>
              <a:t> </a:t>
            </a:r>
            <a:r>
              <a:rPr lang="en-US" altLang="ko-KR" sz="1000" dirty="0">
                <a:latin typeface="+mn-ea"/>
                <a:ea typeface="+mn-ea"/>
              </a:rPr>
              <a:t>ON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64495" y="5085978"/>
            <a:ext cx="3407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서비스 신청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변경이 완료되면 문자 메시지가 발송되오니 확인하여 주세요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pic>
        <p:nvPicPr>
          <p:cNvPr id="2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03" b="11579"/>
          <a:stretch/>
        </p:blipFill>
        <p:spPr bwMode="auto">
          <a:xfrm>
            <a:off x="3562264" y="1994708"/>
            <a:ext cx="3576479" cy="115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눈물 방울 24"/>
          <p:cNvSpPr/>
          <p:nvPr/>
        </p:nvSpPr>
        <p:spPr>
          <a:xfrm rot="5400000">
            <a:off x="6264251" y="562737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눈물 방울 25"/>
          <p:cNvSpPr/>
          <p:nvPr/>
        </p:nvSpPr>
        <p:spPr>
          <a:xfrm rot="5400000">
            <a:off x="4317334" y="562737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460029" y="5590034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4626647" y="5590034"/>
            <a:ext cx="720000" cy="288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취소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47572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056865"/>
              </p:ext>
            </p:extLst>
          </p:nvPr>
        </p:nvGraphicFramePr>
        <p:xfrm>
          <a:off x="10505256" y="788950"/>
          <a:ext cx="2130330" cy="3948475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좌측 메뉴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작성단계에 맞춰 활성화 되어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동의 정보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영역 화면에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항목이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선택되면 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필수값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 여부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입력값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서명 후 등록 가능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작성 내용 등록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내용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전송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리포트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이미징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이미징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시스템 전송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: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서비스별로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해당하는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호출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62696" y="1062156"/>
            <a:ext cx="9468000" cy="558468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08192" y="1057862"/>
            <a:ext cx="720000" cy="4368542"/>
            <a:chOff x="208192" y="1057862"/>
            <a:chExt cx="720000" cy="4368542"/>
          </a:xfrm>
        </p:grpSpPr>
        <p:sp>
          <p:nvSpPr>
            <p:cNvPr id="48" name="직사각형 47"/>
            <p:cNvSpPr/>
            <p:nvPr/>
          </p:nvSpPr>
          <p:spPr>
            <a:xfrm>
              <a:off x="208192" y="1057862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신규</a:t>
              </a:r>
              <a:r>
                <a:rPr lang="en-US" altLang="ko-KR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208192" y="1601009"/>
              <a:ext cx="720000" cy="540000"/>
            </a:xfrm>
            <a:prstGeom prst="rect">
              <a:avLst/>
            </a:prstGeom>
            <a:solidFill>
              <a:srgbClr val="1BA6C7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208192" y="3267915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명의변경</a:t>
              </a: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208192" y="3807411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208192" y="4346907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부가기능</a:t>
              </a:r>
            </a:p>
          </p:txBody>
        </p:sp>
        <p:grpSp>
          <p:nvGrpSpPr>
            <p:cNvPr id="53" name="그룹 52"/>
            <p:cNvGrpSpPr/>
            <p:nvPr/>
          </p:nvGrpSpPr>
          <p:grpSpPr>
            <a:xfrm>
              <a:off x="208192" y="4886404"/>
              <a:ext cx="720000" cy="540000"/>
              <a:chOff x="1648352" y="5642535"/>
              <a:chExt cx="720000" cy="540000"/>
            </a:xfrm>
          </p:grpSpPr>
          <p:sp>
            <p:nvSpPr>
              <p:cNvPr id="60" name="직사각형 59"/>
              <p:cNvSpPr/>
              <p:nvPr/>
            </p:nvSpPr>
            <p:spPr>
              <a:xfrm>
                <a:off x="1648352" y="5642535"/>
                <a:ext cx="720000" cy="540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3CC4E4"/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12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61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03535" y="5720463"/>
                <a:ext cx="409575" cy="390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54" name="직사각형 53"/>
            <p:cNvSpPr/>
            <p:nvPr/>
          </p:nvSpPr>
          <p:spPr>
            <a:xfrm>
              <a:off x="245696" y="2169754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고객</a:t>
              </a:r>
            </a:p>
          </p:txBody>
        </p:sp>
        <p:sp>
          <p:nvSpPr>
            <p:cNvPr id="55" name="타원 54"/>
            <p:cNvSpPr/>
            <p:nvPr/>
          </p:nvSpPr>
          <p:spPr>
            <a:xfrm>
              <a:off x="277199" y="2233128"/>
              <a:ext cx="216000" cy="216000"/>
            </a:xfrm>
            <a:prstGeom prst="ellipse">
              <a:avLst/>
            </a:prstGeom>
            <a:solidFill>
              <a:srgbClr val="1BA6C7"/>
            </a:solidFill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245616" y="2528234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    상품</a:t>
              </a:r>
            </a:p>
          </p:txBody>
        </p:sp>
        <p:sp>
          <p:nvSpPr>
            <p:cNvPr id="57" name="타원 56"/>
            <p:cNvSpPr/>
            <p:nvPr/>
          </p:nvSpPr>
          <p:spPr>
            <a:xfrm>
              <a:off x="277199" y="2591608"/>
              <a:ext cx="216000" cy="216000"/>
            </a:xfrm>
            <a:prstGeom prst="ellipse">
              <a:avLst/>
            </a:prstGeom>
            <a:solidFill>
              <a:srgbClr val="1BA6C7"/>
            </a:solidFill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45616" y="2888274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동의</a:t>
              </a:r>
            </a:p>
          </p:txBody>
        </p:sp>
        <p:sp>
          <p:nvSpPr>
            <p:cNvPr id="59" name="타원 58"/>
            <p:cNvSpPr/>
            <p:nvPr/>
          </p:nvSpPr>
          <p:spPr>
            <a:xfrm>
              <a:off x="277199" y="2951648"/>
              <a:ext cx="216000" cy="216000"/>
            </a:xfrm>
            <a:prstGeom prst="ellipse">
              <a:avLst/>
            </a:prstGeom>
            <a:noFill/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endParaRPr lang="ko-KR" altLang="en-US" sz="8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9" name="직사각형 28"/>
          <p:cNvSpPr/>
          <p:nvPr/>
        </p:nvSpPr>
        <p:spPr>
          <a:xfrm>
            <a:off x="1072208" y="1125809"/>
            <a:ext cx="9252000" cy="1080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b="1" dirty="0" smtClean="0">
                <a:latin typeface="+mn-ea"/>
                <a:ea typeface="+mn-ea"/>
              </a:rPr>
              <a:t>고</a:t>
            </a:r>
            <a:r>
              <a:rPr lang="ko-KR" altLang="en-US" sz="2000" b="1" dirty="0">
                <a:latin typeface="+mn-ea"/>
                <a:ea typeface="+mn-ea"/>
              </a:rPr>
              <a:t>객</a:t>
            </a:r>
            <a:r>
              <a:rPr lang="ko-KR" altLang="en-US" sz="2000" b="1" dirty="0" smtClean="0">
                <a:latin typeface="+mn-ea"/>
                <a:ea typeface="+mn-ea"/>
              </a:rPr>
              <a:t> </a:t>
            </a:r>
            <a:r>
              <a:rPr lang="ko-KR" altLang="en-US" sz="2000" b="1" dirty="0">
                <a:latin typeface="+mn-ea"/>
                <a:ea typeface="+mn-ea"/>
              </a:rPr>
              <a:t>영역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072208" y="2337442"/>
            <a:ext cx="9252000" cy="1080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b="1" dirty="0" smtClean="0">
                <a:latin typeface="+mn-ea"/>
                <a:ea typeface="+mn-ea"/>
              </a:rPr>
              <a:t>상</a:t>
            </a:r>
            <a:r>
              <a:rPr lang="ko-KR" altLang="en-US" sz="2000" b="1" dirty="0">
                <a:latin typeface="+mn-ea"/>
                <a:ea typeface="+mn-ea"/>
              </a:rPr>
              <a:t>품</a:t>
            </a:r>
            <a:r>
              <a:rPr lang="ko-KR" altLang="en-US" sz="2000" b="1" dirty="0" smtClean="0">
                <a:latin typeface="+mn-ea"/>
                <a:ea typeface="+mn-ea"/>
              </a:rPr>
              <a:t> </a:t>
            </a:r>
            <a:r>
              <a:rPr lang="ko-KR" altLang="en-US" sz="2000" b="1" dirty="0">
                <a:latin typeface="+mn-ea"/>
                <a:ea typeface="+mn-ea"/>
              </a:rPr>
              <a:t>영역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072208" y="3573930"/>
            <a:ext cx="9252000" cy="1080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b="1" dirty="0" smtClean="0">
                <a:latin typeface="+mn-ea"/>
                <a:ea typeface="+mn-ea"/>
              </a:rPr>
              <a:t>동</a:t>
            </a:r>
            <a:r>
              <a:rPr lang="ko-KR" altLang="en-US" sz="2000" b="1" dirty="0">
                <a:latin typeface="+mn-ea"/>
                <a:ea typeface="+mn-ea"/>
              </a:rPr>
              <a:t>의</a:t>
            </a:r>
            <a:r>
              <a:rPr lang="ko-KR" altLang="en-US" sz="2000" b="1" dirty="0" smtClean="0">
                <a:latin typeface="+mn-ea"/>
                <a:ea typeface="+mn-ea"/>
              </a:rPr>
              <a:t> </a:t>
            </a:r>
            <a:r>
              <a:rPr lang="ko-KR" altLang="en-US" sz="2000" b="1" dirty="0">
                <a:latin typeface="+mn-ea"/>
                <a:ea typeface="+mn-ea"/>
              </a:rPr>
              <a:t>영역</a:t>
            </a:r>
          </a:p>
        </p:txBody>
      </p:sp>
      <p:sp>
        <p:nvSpPr>
          <p:cNvPr id="34" name="눈물 방울 33"/>
          <p:cNvSpPr/>
          <p:nvPr/>
        </p:nvSpPr>
        <p:spPr>
          <a:xfrm rot="5400000">
            <a:off x="212878" y="8449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S102040101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동의</a:t>
            </a:r>
          </a:p>
        </p:txBody>
      </p:sp>
      <p:sp>
        <p:nvSpPr>
          <p:cNvPr id="42" name="눈물 방울 41"/>
          <p:cNvSpPr/>
          <p:nvPr/>
        </p:nvSpPr>
        <p:spPr>
          <a:xfrm rot="5400000">
            <a:off x="967462" y="356904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7" name="눈물 방울 36"/>
          <p:cNvSpPr/>
          <p:nvPr/>
        </p:nvSpPr>
        <p:spPr>
          <a:xfrm rot="5400000">
            <a:off x="9174529" y="6311859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9425136" y="6274520"/>
            <a:ext cx="900000" cy="288000"/>
          </a:xfrm>
          <a:prstGeom prst="rect">
            <a:avLst/>
          </a:prstGeom>
          <a:solidFill>
            <a:srgbClr val="008080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작성 완료</a:t>
            </a:r>
          </a:p>
        </p:txBody>
      </p:sp>
    </p:spTree>
    <p:extLst>
      <p:ext uri="{BB962C8B-B14F-4D97-AF65-F5344CB8AC3E}">
        <p14:creationId xmlns:p14="http://schemas.microsoft.com/office/powerpoint/2010/main" val="7183316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S102040101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동의</a:t>
            </a:r>
          </a:p>
        </p:txBody>
      </p:sp>
      <p:grpSp>
        <p:nvGrpSpPr>
          <p:cNvPr id="41" name="그룹 40"/>
          <p:cNvGrpSpPr/>
          <p:nvPr/>
        </p:nvGrpSpPr>
        <p:grpSpPr>
          <a:xfrm>
            <a:off x="3972650" y="2529775"/>
            <a:ext cx="2881818" cy="1397063"/>
            <a:chOff x="3735006" y="4762023"/>
            <a:chExt cx="2881818" cy="1397063"/>
          </a:xfrm>
        </p:grpSpPr>
        <p:sp>
          <p:nvSpPr>
            <p:cNvPr id="42" name="직사각형 41"/>
            <p:cNvSpPr/>
            <p:nvPr/>
          </p:nvSpPr>
          <p:spPr>
            <a:xfrm>
              <a:off x="3736824" y="4762023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735006" y="5799086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736825" y="5006964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신청서 등록이 완료되었습니다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5" name="직사각형 44"/>
          <p:cNvSpPr/>
          <p:nvPr/>
        </p:nvSpPr>
        <p:spPr>
          <a:xfrm>
            <a:off x="637459" y="2257414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확인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856184" y="2533747"/>
            <a:ext cx="2881818" cy="1400103"/>
            <a:chOff x="618540" y="4765995"/>
            <a:chExt cx="2881818" cy="1400103"/>
          </a:xfrm>
        </p:grpSpPr>
        <p:sp>
          <p:nvSpPr>
            <p:cNvPr id="47" name="직사각형 46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618540" y="5803058"/>
              <a:ext cx="1441818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신청서를 등록하시겠습니까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?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2053459" y="5806098"/>
              <a:ext cx="1441818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sp>
        <p:nvSpPr>
          <p:cNvPr id="51" name="직사각형 50"/>
          <p:cNvSpPr/>
          <p:nvPr/>
        </p:nvSpPr>
        <p:spPr>
          <a:xfrm>
            <a:off x="4262180" y="2263371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완료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7141002" y="2528168"/>
            <a:ext cx="2881818" cy="1397063"/>
            <a:chOff x="6903358" y="4760416"/>
            <a:chExt cx="2881818" cy="1397063"/>
          </a:xfrm>
        </p:grpSpPr>
        <p:sp>
          <p:nvSpPr>
            <p:cNvPr id="53" name="직사각형 52"/>
            <p:cNvSpPr/>
            <p:nvPr/>
          </p:nvSpPr>
          <p:spPr>
            <a:xfrm>
              <a:off x="6905176" y="4760416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6903358" y="5797479"/>
              <a:ext cx="2881818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6905177" y="5005357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신청서 등록이 실패하였습니다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다시 시도해 주세요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6" name="직사각형 55"/>
          <p:cNvSpPr/>
          <p:nvPr/>
        </p:nvSpPr>
        <p:spPr>
          <a:xfrm>
            <a:off x="7430532" y="2261764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실패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7" name="눈물 방울 56"/>
          <p:cNvSpPr/>
          <p:nvPr/>
        </p:nvSpPr>
        <p:spPr>
          <a:xfrm rot="5400000">
            <a:off x="359595" y="2285133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56184" y="1246133"/>
            <a:ext cx="900000" cy="288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작성 완료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1967712" y="1246133"/>
            <a:ext cx="900000" cy="288000"/>
          </a:xfrm>
          <a:prstGeom prst="rect">
            <a:avLst/>
          </a:prstGeom>
          <a:solidFill>
            <a:srgbClr val="008080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작성 완료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640160" y="909514"/>
            <a:ext cx="3744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화면 내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 항목이 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1" name="눈물 방울 60"/>
          <p:cNvSpPr/>
          <p:nvPr/>
        </p:nvSpPr>
        <p:spPr>
          <a:xfrm rot="5400000">
            <a:off x="356894" y="925963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173136" y="1917626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566654" y="4481003"/>
            <a:ext cx="2881818" cy="1397063"/>
            <a:chOff x="5875124" y="3832891"/>
            <a:chExt cx="2881818" cy="1397063"/>
          </a:xfrm>
        </p:grpSpPr>
        <p:sp>
          <p:nvSpPr>
            <p:cNvPr id="30" name="직사각형 29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XXX 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입력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선택해 주세요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3" name="직사각형 32"/>
          <p:cNvSpPr/>
          <p:nvPr/>
        </p:nvSpPr>
        <p:spPr>
          <a:xfrm>
            <a:off x="620665" y="4186149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필수값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미입력시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5" name="눈물 방울 34"/>
          <p:cNvSpPr/>
          <p:nvPr/>
        </p:nvSpPr>
        <p:spPr>
          <a:xfrm rot="5400000">
            <a:off x="363821" y="4157341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3736504" y="4481003"/>
            <a:ext cx="2881818" cy="1397063"/>
            <a:chOff x="5875124" y="3832891"/>
            <a:chExt cx="2881818" cy="1397063"/>
          </a:xfrm>
        </p:grpSpPr>
        <p:sp>
          <p:nvSpPr>
            <p:cNvPr id="37" name="직사각형 36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XXX 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체크해 주세요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0" name="직사각형 39"/>
          <p:cNvSpPr/>
          <p:nvPr/>
        </p:nvSpPr>
        <p:spPr>
          <a:xfrm>
            <a:off x="3790515" y="4186149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필수 인증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체크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미완료시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57075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S102040101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962696" y="1062156"/>
            <a:ext cx="9468000" cy="558468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동의</a:t>
            </a:r>
          </a:p>
        </p:txBody>
      </p:sp>
      <p:graphicFrame>
        <p:nvGraphicFramePr>
          <p:cNvPr id="31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003296"/>
              </p:ext>
            </p:extLst>
          </p:nvPr>
        </p:nvGraphicFramePr>
        <p:xfrm>
          <a:off x="10505256" y="788950"/>
          <a:ext cx="2130330" cy="1194277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확인 서명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신청서 확인 팝업 표시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2" name="직사각형 31"/>
          <p:cNvSpPr/>
          <p:nvPr/>
        </p:nvSpPr>
        <p:spPr>
          <a:xfrm>
            <a:off x="962696" y="1062156"/>
            <a:ext cx="9468000" cy="558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1072208" y="1233667"/>
            <a:ext cx="9252000" cy="246221"/>
            <a:chOff x="1072208" y="1117425"/>
            <a:chExt cx="9252000" cy="246221"/>
          </a:xfrm>
        </p:grpSpPr>
        <p:sp>
          <p:nvSpPr>
            <p:cNvPr id="60" name="TextBox 59"/>
            <p:cNvSpPr txBox="1"/>
            <p:nvPr/>
          </p:nvSpPr>
          <p:spPr>
            <a:xfrm>
              <a:off x="1072208" y="1117425"/>
              <a:ext cx="8707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신청서 확인</a:t>
              </a:r>
            </a:p>
          </p:txBody>
        </p:sp>
        <p:cxnSp>
          <p:nvCxnSpPr>
            <p:cNvPr id="61" name="직선 연결선 60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/>
          <p:cNvSpPr txBox="1"/>
          <p:nvPr/>
        </p:nvSpPr>
        <p:spPr>
          <a:xfrm>
            <a:off x="1216224" y="1551896"/>
            <a:ext cx="9001000" cy="6684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180000" rIns="180000" bIns="180000" rtlCol="0">
            <a:no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신청서 확인을 눌러서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신청서 작성 내용을 확인하신 후 가입자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대리인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서명을 등록해 주세요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69" name="눈물 방울 68"/>
          <p:cNvSpPr/>
          <p:nvPr/>
        </p:nvSpPr>
        <p:spPr>
          <a:xfrm rot="5400000">
            <a:off x="932958" y="119932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3" name="눈물 방울 72"/>
          <p:cNvSpPr/>
          <p:nvPr/>
        </p:nvSpPr>
        <p:spPr>
          <a:xfrm rot="5400000">
            <a:off x="4661477" y="245738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996424" y="2421682"/>
            <a:ext cx="1080000" cy="288000"/>
          </a:xfrm>
          <a:prstGeom prst="rect">
            <a:avLst/>
          </a:prstGeom>
          <a:solidFill>
            <a:srgbClr val="008080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신청서 확인</a:t>
            </a:r>
          </a:p>
        </p:txBody>
      </p:sp>
    </p:spTree>
    <p:extLst>
      <p:ext uri="{BB962C8B-B14F-4D97-AF65-F5344CB8AC3E}">
        <p14:creationId xmlns:p14="http://schemas.microsoft.com/office/powerpoint/2010/main" val="30209584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928509"/>
              </p:ext>
            </p:extLst>
          </p:nvPr>
        </p:nvGraphicFramePr>
        <p:xfrm>
          <a:off x="10505256" y="788950"/>
          <a:ext cx="2130330" cy="6336971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솔루션 양식에 신청서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작성 내용 조회하여 화면에 출력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아이프레임으로 신청서 솔루션 양식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솔루션 양식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신분증 파일을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BASE64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 전달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이미징 처리시 솔루션 내에서 신분증 합본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 smtClean="0">
                        <a:solidFill>
                          <a:schemeClr val="accent4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신청서 리포트 화면 </a:t>
                      </a:r>
                      <a:r>
                        <a:rPr lang="ko-KR" altLang="en-US" sz="800" b="1" kern="1200" dirty="0" err="1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1" kern="1200" dirty="0" smtClean="0">
                        <a:solidFill>
                          <a:srgbClr val="7030A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서비스변경 신청서</a:t>
                      </a:r>
                      <a:r>
                        <a:rPr lang="ko-KR" altLang="en-US" sz="800" b="1" kern="1200" baseline="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화면에 표시</a:t>
                      </a:r>
                      <a:endParaRPr lang="en-US" altLang="ko-KR" sz="800" b="1" kern="1200" dirty="0" smtClean="0">
                        <a:solidFill>
                          <a:srgbClr val="7030A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신청서 리포트 추가 </a:t>
                      </a:r>
                      <a:r>
                        <a:rPr lang="ko-KR" altLang="en-US" sz="800" b="1" kern="1200" dirty="0" err="1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1" kern="1200" dirty="0" smtClean="0">
                        <a:solidFill>
                          <a:srgbClr val="7030A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   . </a:t>
                      </a:r>
                      <a:r>
                        <a:rPr lang="ko-KR" altLang="en-US" sz="800" b="1" kern="1200" dirty="0" err="1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가입인 경우는 서비스변경 신청서만 화면에 표시하고 이용신청서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신규가입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는 </a:t>
                      </a:r>
                      <a:r>
                        <a:rPr lang="ko-KR" altLang="en-US" sz="800" b="1" kern="1200" dirty="0" err="1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제외</a:t>
                      </a:r>
                      <a:endParaRPr lang="en-US" altLang="ko-KR" sz="800" b="1" kern="1200" baseline="0" dirty="0" smtClean="0">
                        <a:solidFill>
                          <a:srgbClr val="7030A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baseline="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  . 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단말기 보험 가입인 경우 신청서 리포트를 추가로 표시</a:t>
                      </a:r>
                      <a:endParaRPr lang="en-US" altLang="ko-KR" sz="800" b="1" kern="1200" dirty="0" smtClean="0">
                        <a:solidFill>
                          <a:srgbClr val="7030A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-&gt; 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서비스변경 신청서 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endParaRPr lang="en-US" altLang="ko-KR" sz="800" b="1" kern="1200" dirty="0" smtClean="0">
                        <a:solidFill>
                          <a:srgbClr val="7030A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단말기보험 신청서 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1" kern="1200" dirty="0" err="1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안드로이드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혹은 </a:t>
                      </a:r>
                      <a:r>
                        <a:rPr lang="ko-KR" altLang="en-US" sz="800" b="1" kern="1200" dirty="0" err="1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아이폰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 smtClean="0">
                        <a:solidFill>
                          <a:srgbClr val="7030A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신청서 리포트 처리</a:t>
                      </a:r>
                      <a:endParaRPr lang="en-US" altLang="ko-KR" sz="800" b="1" kern="1200" dirty="0" smtClean="0">
                        <a:solidFill>
                          <a:srgbClr val="7030A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-&gt; 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서비스변경 대상 서비스에 따라 신청서를 모두 리포트 이미지 처리</a:t>
                      </a:r>
                      <a:endParaRPr lang="en-US" altLang="ko-KR" sz="800" b="1" kern="1200" dirty="0" smtClean="0">
                        <a:solidFill>
                          <a:srgbClr val="7030A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1" kern="1200" dirty="0" err="1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데이터쉐어링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--&gt; 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서비스변경 신청서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이용신청서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신규가입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1" kern="1200" dirty="0" smtClean="0">
                        <a:solidFill>
                          <a:srgbClr val="7030A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단말보험 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--&gt; 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서비스변경 신청서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단말보험용 신청서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1" kern="1200" dirty="0" err="1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안드로이드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 err="1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아이폰</a:t>
                      </a:r>
                      <a:r>
                        <a:rPr lang="ko-KR" altLang="en-US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 해당 신청서</a:t>
                      </a:r>
                      <a:r>
                        <a:rPr lang="en-US" altLang="ko-KR" sz="800" b="1" kern="120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솔루션 연동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서비스변경 신청서 폼 연동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신청서 작성 확인 완료로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내부적으로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이후 팝업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Close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서식지 작성 화면으로 이동하여 작성 내용 화면에 출력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서명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서명 팝업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판매자 서명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가입자 서명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솔루션 양식 내에서 서명 팝업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S102040103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동의 </a:t>
            </a:r>
            <a:r>
              <a:rPr lang="en-US" altLang="ko-KR" sz="1000" dirty="0">
                <a:latin typeface="+mn-ea"/>
                <a:ea typeface="+mn-ea"/>
              </a:rPr>
              <a:t>&gt; </a:t>
            </a:r>
            <a:r>
              <a:rPr lang="ko-KR" altLang="en-US" sz="1000" dirty="0">
                <a:latin typeface="+mn-ea"/>
                <a:ea typeface="+mn-ea"/>
              </a:rPr>
              <a:t>신청서 확인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231086" y="1027652"/>
            <a:ext cx="10202162" cy="5585258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755355" y="1181186"/>
            <a:ext cx="7524925" cy="5338408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 rot="2700000">
            <a:off x="8949487" y="1301598"/>
            <a:ext cx="214699" cy="216000"/>
            <a:chOff x="6609184" y="2719104"/>
            <a:chExt cx="1008112" cy="1008112"/>
          </a:xfrm>
        </p:grpSpPr>
        <p:cxnSp>
          <p:nvCxnSpPr>
            <p:cNvPr id="39" name="직선 연결선 38"/>
            <p:cNvCxnSpPr/>
            <p:nvPr/>
          </p:nvCxnSpPr>
          <p:spPr>
            <a:xfrm>
              <a:off x="6609184" y="3223160"/>
              <a:ext cx="100811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 rot="5400000">
              <a:off x="6609184" y="3223160"/>
              <a:ext cx="100811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1947922" y="1267675"/>
            <a:ext cx="2883555" cy="357523"/>
          </a:xfrm>
          <a:prstGeom prst="rect">
            <a:avLst/>
          </a:prstGeom>
          <a:noFill/>
        </p:spPr>
        <p:txBody>
          <a:bodyPr wrap="square" lIns="107241" tIns="53620" rIns="107241" bIns="536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b="1" dirty="0">
                <a:solidFill>
                  <a:prstClr val="black"/>
                </a:solidFill>
                <a:latin typeface="+mn-ea"/>
                <a:ea typeface="+mn-ea"/>
              </a:rPr>
              <a:t>신청서 확인</a:t>
            </a:r>
            <a:endParaRPr lang="en-US" altLang="ko-KR" sz="1400" b="1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3" name="눈물 방울 2">
            <a:extLst>
              <a:ext uri="{FF2B5EF4-FFF2-40B4-BE49-F238E27FC236}">
                <a16:creationId xmlns="" xmlns:a16="http://schemas.microsoft.com/office/drawing/2014/main" id="{35E9A5A8-FFFA-F340-FF58-F6BFC07B4E56}"/>
              </a:ext>
            </a:extLst>
          </p:cNvPr>
          <p:cNvSpPr/>
          <p:nvPr/>
        </p:nvSpPr>
        <p:spPr>
          <a:xfrm rot="5400000">
            <a:off x="6120235" y="605942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" name="눈물 방울 3">
            <a:extLst>
              <a:ext uri="{FF2B5EF4-FFF2-40B4-BE49-F238E27FC236}">
                <a16:creationId xmlns="" xmlns:a16="http://schemas.microsoft.com/office/drawing/2014/main" id="{5F7EA29C-649B-F044-970D-8AE0F7377101}"/>
              </a:ext>
            </a:extLst>
          </p:cNvPr>
          <p:cNvSpPr/>
          <p:nvPr/>
        </p:nvSpPr>
        <p:spPr>
          <a:xfrm rot="5400000">
            <a:off x="4173318" y="605942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74919DEB-BE1B-98E6-4E2E-B8CF243F177E}"/>
              </a:ext>
            </a:extLst>
          </p:cNvPr>
          <p:cNvSpPr/>
          <p:nvPr/>
        </p:nvSpPr>
        <p:spPr>
          <a:xfrm>
            <a:off x="5316013" y="6022082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508DBDDE-8A58-7209-0BF7-320B217DAA78}"/>
              </a:ext>
            </a:extLst>
          </p:cNvPr>
          <p:cNvSpPr/>
          <p:nvPr/>
        </p:nvSpPr>
        <p:spPr>
          <a:xfrm>
            <a:off x="4456584" y="6030336"/>
            <a:ext cx="720000" cy="288000"/>
          </a:xfrm>
          <a:prstGeom prst="rect">
            <a:avLst/>
          </a:prstGeom>
          <a:solidFill>
            <a:srgbClr val="008080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D5E1EB4D-D603-F56E-0731-2C8974EE5858}"/>
              </a:ext>
            </a:extLst>
          </p:cNvPr>
          <p:cNvSpPr/>
          <p:nvPr/>
        </p:nvSpPr>
        <p:spPr>
          <a:xfrm>
            <a:off x="2056334" y="2016933"/>
            <a:ext cx="6840000" cy="3933142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눈물 방울 10">
            <a:extLst>
              <a:ext uri="{FF2B5EF4-FFF2-40B4-BE49-F238E27FC236}">
                <a16:creationId xmlns="" xmlns:a16="http://schemas.microsoft.com/office/drawing/2014/main" id="{31F68C07-3AAA-6D29-530C-AB73C2A761B3}"/>
              </a:ext>
            </a:extLst>
          </p:cNvPr>
          <p:cNvSpPr/>
          <p:nvPr/>
        </p:nvSpPr>
        <p:spPr>
          <a:xfrm rot="5400000">
            <a:off x="1799755" y="191027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CB590D3D-51C6-D285-D7C9-084B2E97E1A3}"/>
              </a:ext>
            </a:extLst>
          </p:cNvPr>
          <p:cNvSpPr/>
          <p:nvPr/>
        </p:nvSpPr>
        <p:spPr>
          <a:xfrm>
            <a:off x="2036093" y="1773610"/>
            <a:ext cx="3515281" cy="252028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신청서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="" xmlns:a16="http://schemas.microsoft.com/office/drawing/2014/main" id="{DB488C1A-696B-6B8E-DA5F-0930AEBAFD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" b="19521"/>
          <a:stretch>
            <a:fillRect/>
          </a:stretch>
        </p:blipFill>
        <p:spPr bwMode="auto">
          <a:xfrm>
            <a:off x="2080320" y="2046537"/>
            <a:ext cx="6768752" cy="368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613278"/>
              </p:ext>
            </p:extLst>
          </p:nvPr>
        </p:nvGraphicFramePr>
        <p:xfrm>
          <a:off x="12914755" y="109568"/>
          <a:ext cx="3443089" cy="96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신청서 리포트 대상 업무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9918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S102050101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62696" y="1062156"/>
            <a:ext cx="9468000" cy="5544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208192" y="1062869"/>
            <a:ext cx="720000" cy="3237481"/>
            <a:chOff x="208192" y="1062869"/>
            <a:chExt cx="720000" cy="3237481"/>
          </a:xfrm>
        </p:grpSpPr>
        <p:sp>
          <p:nvSpPr>
            <p:cNvPr id="17" name="직사각형 16"/>
            <p:cNvSpPr/>
            <p:nvPr/>
          </p:nvSpPr>
          <p:spPr>
            <a:xfrm>
              <a:off x="208192" y="1062869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신규</a:t>
              </a:r>
              <a:r>
                <a:rPr lang="en-US" altLang="ko-KR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08192" y="1602365"/>
              <a:ext cx="720000" cy="540000"/>
            </a:xfrm>
            <a:prstGeom prst="rect">
              <a:avLst/>
            </a:prstGeom>
            <a:solidFill>
              <a:srgbClr val="1BA6C7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208192" y="2141861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명의변경</a:t>
              </a: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208192" y="2681357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208192" y="3220853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부가기능</a:t>
              </a:r>
            </a:p>
          </p:txBody>
        </p:sp>
        <p:grpSp>
          <p:nvGrpSpPr>
            <p:cNvPr id="22" name="그룹 21"/>
            <p:cNvGrpSpPr/>
            <p:nvPr/>
          </p:nvGrpSpPr>
          <p:grpSpPr>
            <a:xfrm>
              <a:off x="208192" y="3760350"/>
              <a:ext cx="720000" cy="540000"/>
              <a:chOff x="395258" y="4509914"/>
              <a:chExt cx="720000" cy="540000"/>
            </a:xfrm>
          </p:grpSpPr>
          <p:sp>
            <p:nvSpPr>
              <p:cNvPr id="25" name="직사각형 24"/>
              <p:cNvSpPr/>
              <p:nvPr/>
            </p:nvSpPr>
            <p:spPr>
              <a:xfrm>
                <a:off x="395258" y="4509914"/>
                <a:ext cx="720000" cy="540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3CC4E4"/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12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26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441" y="4587842"/>
                <a:ext cx="409575" cy="390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48" name="TextBox 47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>
                <a:latin typeface="+mn-ea"/>
                <a:ea typeface="+mn-ea"/>
              </a:rPr>
              <a:t>서비스변경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신청완료</a:t>
            </a:r>
          </a:p>
        </p:txBody>
      </p:sp>
      <p:graphicFrame>
        <p:nvGraphicFramePr>
          <p:cNvPr id="27" name="Group 175">
            <a:extLst>
              <a:ext uri="{FF2B5EF4-FFF2-40B4-BE49-F238E27FC236}">
                <a16:creationId xmlns="" xmlns:a16="http://schemas.microsoft.com/office/drawing/2014/main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233102"/>
              </p:ext>
            </p:extLst>
          </p:nvPr>
        </p:nvGraphicFramePr>
        <p:xfrm>
          <a:off x="10505256" y="788950"/>
          <a:ext cx="2130330" cy="6580840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en-US" altLang="ko-KR" sz="800" b="1" kern="12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작성 고객명 화면에 출력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열람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화면 표시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발송 번호 자동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교부 휴대폰번호 자동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성인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공공기관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개통한 휴대폰 번호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미성년자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법정대리인 휴대폰 번호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발송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가입자 연락처 휴대폰 번호로도 강제 발송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발송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입력된 휴대폰번호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입력된 휴대폰번호로 톡 발송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신청서 교부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발송시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가입자 연락처에 추가로 발송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SMS/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카톡 내에 열람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URL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솔루션사 화면 표시 후 해당 화면에서 패스워드 입력 후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이미징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열람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솔루션 제공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 발송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포시에스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신청서 교부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발송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다운로드 안내 발송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kt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모바일에서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제공하는 서비스를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이용할수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있습니다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신규가입에서 부가서비스의 신청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실시간 사용량 조회까지 다양한 서비스를 이용하실 수 있습니다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hlinkClick r:id="rId3"/>
                        </a:rPr>
                        <a:t>https://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hlinkClick r:id="rId3"/>
                        </a:rPr>
                        <a:t>play.google.com/store/apps/details?id=kt.co.ktmmobile&amp;hl=ko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모바일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SMS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발송 모듈 호출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8" name="직사각형 27"/>
          <p:cNvSpPr/>
          <p:nvPr/>
        </p:nvSpPr>
        <p:spPr>
          <a:xfrm>
            <a:off x="1432248" y="1341562"/>
            <a:ext cx="8280920" cy="3096344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180000" tIns="180000" rIns="180000" bIns="180000" rtlCol="0" anchor="t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6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rPr>
              <a:t>홍길</a:t>
            </a:r>
            <a:r>
              <a:rPr lang="en-US" altLang="ko-KR" sz="16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rPr>
              <a:t>*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님이 작성하신 신청서가 작성 완료되었습니다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algn="ctr">
              <a:spcBef>
                <a:spcPct val="50000"/>
              </a:spcBef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고객님께 신청서를 </a:t>
            </a:r>
            <a:r>
              <a:rPr lang="ko-KR" alt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발송해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주세요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algn="ctr">
              <a:spcBef>
                <a:spcPct val="50000"/>
              </a:spcBef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눈물 방울 40"/>
          <p:cNvSpPr/>
          <p:nvPr/>
        </p:nvSpPr>
        <p:spPr>
          <a:xfrm rot="5400000">
            <a:off x="2879875" y="140880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258326" y="2919200"/>
            <a:ext cx="1656184" cy="101465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180000" tIns="180000" rIns="180000" bIns="180000" rtlCol="0" anchor="t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신청서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726418" y="3472428"/>
            <a:ext cx="72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열람</a:t>
            </a:r>
          </a:p>
        </p:txBody>
      </p:sp>
      <p:sp>
        <p:nvSpPr>
          <p:cNvPr id="46" name="눈물 방울 45"/>
          <p:cNvSpPr/>
          <p:nvPr/>
        </p:nvSpPr>
        <p:spPr>
          <a:xfrm rot="5400000">
            <a:off x="4505275" y="3454176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432248" y="4486596"/>
            <a:ext cx="8280920" cy="1967534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180000" tIns="180000" rIns="180000" bIns="180000" rtlCol="0" anchor="t">
            <a:noAutofit/>
          </a:bodyPr>
          <a:lstStyle/>
          <a:p>
            <a:pPr>
              <a:spcBef>
                <a:spcPct val="50000"/>
              </a:spcBef>
            </a:pP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1" name="Picture 3" descr="D:\1_Working\2025년_엠모바일_스마트서식지\kt엠모바일 스마트서식지 프로젝트 관련_하현숙_추후삭제\App등록\앱스토어등록 이미지_0222\AOS\ktMmobile_android_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472" y="4570627"/>
            <a:ext cx="1002722" cy="178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직사각형 51"/>
          <p:cNvSpPr/>
          <p:nvPr/>
        </p:nvSpPr>
        <p:spPr>
          <a:xfrm>
            <a:off x="2890456" y="4624042"/>
            <a:ext cx="6552728" cy="965992"/>
          </a:xfrm>
          <a:prstGeom prst="rect">
            <a:avLst/>
          </a:prstGeom>
          <a:solidFill>
            <a:schemeClr val="bg1"/>
          </a:solidFill>
          <a:ln w="6350" algn="ctr">
            <a:noFill/>
            <a:miter lim="800000"/>
            <a:headEnd/>
            <a:tailEnd/>
          </a:ln>
        </p:spPr>
        <p:txBody>
          <a:bodyPr wrap="square" lIns="180000" tIns="180000" rIns="180000" bIns="18000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kt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M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모바일에서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제공하는 서비스를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이용할수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있도록 고객에게 안내 발송해 주세요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신규가입에서 부가서비스의 신청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변경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실시간 사용량 조회까지 다양한 서비스를 이용하실 수 있습니다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3088432" y="5392042"/>
            <a:ext cx="18002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휴대폰번호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‘-’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없이 입력</a:t>
            </a:r>
          </a:p>
        </p:txBody>
      </p:sp>
      <p:sp>
        <p:nvSpPr>
          <p:cNvPr id="54" name="눈물 방울 53"/>
          <p:cNvSpPr/>
          <p:nvPr/>
        </p:nvSpPr>
        <p:spPr>
          <a:xfrm rot="5400000">
            <a:off x="5729924" y="5384152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943468" y="5392790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발송</a:t>
            </a: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570296"/>
              </p:ext>
            </p:extLst>
          </p:nvPr>
        </p:nvGraphicFramePr>
        <p:xfrm>
          <a:off x="12914755" y="109568"/>
          <a:ext cx="3443089" cy="1213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발송 번호 자동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 사항 추가 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신청서 교부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발송시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가입자 연락처에 추가로 발송 처리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5058526" y="2919200"/>
            <a:ext cx="2928342" cy="101465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180000" tIns="180000" rIns="180000" bIns="180000" rtlCol="0" anchor="t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발송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32448" y="3996566"/>
            <a:ext cx="602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개통한 전화번호와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가입자 연락처 휴대폰번호로 동시에 발송됩니다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</a:p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고객님께서 신청서 출력을 원하실 경우 관리자 사이트에서 출력하여 제공해 주시기 바랍니다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6" name="눈물 방울 35"/>
          <p:cNvSpPr/>
          <p:nvPr/>
        </p:nvSpPr>
        <p:spPr>
          <a:xfrm rot="5400000">
            <a:off x="7848427" y="3458022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224766" y="3457875"/>
            <a:ext cx="18002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010-1111-2222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7074830" y="3450589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발송</a:t>
            </a:r>
          </a:p>
        </p:txBody>
      </p:sp>
    </p:spTree>
    <p:extLst>
      <p:ext uri="{BB962C8B-B14F-4D97-AF65-F5344CB8AC3E}">
        <p14:creationId xmlns:p14="http://schemas.microsoft.com/office/powerpoint/2010/main" val="2706208066"/>
      </p:ext>
    </p:extLst>
  </p:cSld>
  <p:clrMapOvr>
    <a:masterClrMapping/>
  </p:clrMapOvr>
</p:sld>
</file>

<file path=ppt/theme/theme1.xml><?xml version="1.0" encoding="utf-8"?>
<a:theme xmlns:a="http://schemas.openxmlformats.org/drawingml/2006/main" name="설명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65000"/>
            <a:lumOff val="35000"/>
            <a:alpha val="75000"/>
          </a:schemeClr>
        </a:solidFill>
        <a:ln w="6350" algn="ctr">
          <a:noFill/>
          <a:miter lim="800000"/>
          <a:headEnd/>
          <a:tailEnd/>
        </a:ln>
      </a:spPr>
      <a:bodyPr wrap="square" rtlCol="0" anchor="ctr">
        <a:spAutoFit/>
      </a:bodyPr>
      <a:lstStyle>
        <a:defPPr algn="ctr">
          <a:spcBef>
            <a:spcPct val="50000"/>
          </a:spcBef>
          <a:defRPr sz="800" b="1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sz="8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화면설계서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65000"/>
            <a:lumOff val="35000"/>
            <a:alpha val="75000"/>
          </a:schemeClr>
        </a:solidFill>
        <a:ln w="6350" algn="ctr">
          <a:noFill/>
          <a:miter lim="800000"/>
          <a:headEnd/>
          <a:tailEnd/>
        </a:ln>
      </a:spPr>
      <a:bodyPr wrap="square" rtlCol="0" anchor="ctr">
        <a:spAutoFit/>
      </a:bodyPr>
      <a:lstStyle>
        <a:defPPr algn="ctr">
          <a:spcBef>
            <a:spcPct val="50000"/>
          </a:spcBef>
          <a:defRPr sz="800" b="1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sz="80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1_화면설계서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65000"/>
            <a:lumOff val="35000"/>
            <a:alpha val="75000"/>
          </a:schemeClr>
        </a:solidFill>
        <a:ln w="6350" algn="ctr">
          <a:noFill/>
          <a:miter lim="800000"/>
          <a:headEnd/>
          <a:tailEnd/>
        </a:ln>
      </a:spPr>
      <a:bodyPr wrap="square" rtlCol="0" anchor="ctr">
        <a:spAutoFit/>
      </a:bodyPr>
      <a:lstStyle>
        <a:defPPr algn="ctr">
          <a:spcBef>
            <a:spcPct val="50000"/>
          </a:spcBef>
          <a:defRPr sz="800" b="1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sz="80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3DC77A828EE2C4D81AF024F460569B5" ma:contentTypeVersion="1" ma:contentTypeDescription="새 문서를 만듭니다." ma:contentTypeScope="" ma:versionID="cc9d5630a70d8196d048ee69f0fc4281">
  <xsd:schema xmlns:xsd="http://www.w3.org/2001/XMLSchema" xmlns:xs="http://www.w3.org/2001/XMLSchema" xmlns:p="http://schemas.microsoft.com/office/2006/metadata/properties" xmlns:ns2="38401c30-03ba-420f-896f-36299c68a925" targetNamespace="http://schemas.microsoft.com/office/2006/metadata/properties" ma:root="true" ma:fieldsID="f52a3d49948d89f7fa0004adad49ab67" ns2:_="">
    <xsd:import namespace="38401c30-03ba-420f-896f-36299c68a92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401c30-03ba-420f-896f-36299c68a92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문서 ID 값" ma:description="이 항목에 할당된 문서 ID 값입니다." ma:internalName="_dlc_DocId" ma:readOnly="true">
      <xsd:simpleType>
        <xsd:restriction base="dms:Text"/>
      </xsd:simpleType>
    </xsd:element>
    <xsd:element name="_dlc_DocIdUrl" ma:index="9" nillable="true" ma:displayName="문서 ID" ma:description="이 문서에 대한 영구 링크입니다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영구 ID" ma:description="추가 시 ID를 유지합니다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LongProperties xmlns="http://schemas.microsoft.com/office/2006/metadata/longProperties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0D073E-B96D-419D-A08A-BEEB1D2141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401c30-03ba-420f-896f-36299c68a9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DA953D-B00F-4D53-B01B-5A1C523FA2C0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EC7F5794-410F-4B53-A605-F79AEA507B76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474891BC-C640-43D5-8175-33BC5943071B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D3A49A56-48DF-45A9-B7BA-B180B664DF62}">
  <ds:schemaRefs>
    <ds:schemaRef ds:uri="http://purl.org/dc/terms/"/>
    <ds:schemaRef ds:uri="http://schemas.openxmlformats.org/package/2006/metadata/core-properties"/>
    <ds:schemaRef ds:uri="http://purl.org/dc/dcmitype/"/>
    <ds:schemaRef ds:uri="38401c30-03ba-420f-896f-36299c68a925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30745</TotalTime>
  <Words>8828</Words>
  <Application>Microsoft Office PowerPoint</Application>
  <PresentationFormat>사용자 지정</PresentationFormat>
  <Paragraphs>2316</Paragraphs>
  <Slides>50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설명</vt:lpstr>
      <vt:lpstr>2_화면설계서</vt:lpstr>
      <vt:lpstr>1_화면설계서</vt:lpstr>
      <vt:lpstr>Office 테마</vt:lpstr>
      <vt:lpstr>UI 설계서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Owner</dc:creator>
  <cp:lastModifiedBy>hsha</cp:lastModifiedBy>
  <cp:revision>5603</cp:revision>
  <dcterms:created xsi:type="dcterms:W3CDTF">2011-01-04T12:32:05Z</dcterms:created>
  <dcterms:modified xsi:type="dcterms:W3CDTF">2026-03-11T08:36:37Z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FCNHZ7S6XMZC-6-2714</vt:lpwstr>
  </property>
  <property fmtid="{D5CDD505-2E9C-101B-9397-08002B2CF9AE}" pid="3" name="_dlc_DocIdItemGuid">
    <vt:lpwstr>ab86fa6f-0ef5-4b90-9ff9-987649a96697</vt:lpwstr>
  </property>
  <property fmtid="{D5CDD505-2E9C-101B-9397-08002B2CF9AE}" pid="4" name="_dlc_DocIdUrl">
    <vt:lpwstr>https://ecm.ktds.co.kr/sites/ECM/_layouts/DocIdRedir.aspx?ID=FCNHZ7S6XMZC-6-2714, FCNHZ7S6XMZC-6-2714</vt:lpwstr>
  </property>
</Properties>
</file>