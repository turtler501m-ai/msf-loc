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4719" r:id="rId6"/>
    <p:sldMasterId id="2147484712" r:id="rId7"/>
    <p:sldMasterId id="2147484714" r:id="rId8"/>
    <p:sldMasterId id="2147483648" r:id="rId9"/>
  </p:sldMasterIdLst>
  <p:notesMasterIdLst>
    <p:notesMasterId r:id="rId56"/>
  </p:notesMasterIdLst>
  <p:handoutMasterIdLst>
    <p:handoutMasterId r:id="rId57"/>
  </p:handoutMasterIdLst>
  <p:sldIdLst>
    <p:sldId id="260" r:id="rId10"/>
    <p:sldId id="312" r:id="rId11"/>
    <p:sldId id="314" r:id="rId12"/>
    <p:sldId id="758" r:id="rId13"/>
    <p:sldId id="880" r:id="rId14"/>
    <p:sldId id="881" r:id="rId15"/>
    <p:sldId id="882" r:id="rId16"/>
    <p:sldId id="834" r:id="rId17"/>
    <p:sldId id="883" r:id="rId18"/>
    <p:sldId id="892" r:id="rId19"/>
    <p:sldId id="858" r:id="rId20"/>
    <p:sldId id="785" r:id="rId21"/>
    <p:sldId id="894" r:id="rId22"/>
    <p:sldId id="840" r:id="rId23"/>
    <p:sldId id="874" r:id="rId24"/>
    <p:sldId id="890" r:id="rId25"/>
    <p:sldId id="867" r:id="rId26"/>
    <p:sldId id="838" r:id="rId27"/>
    <p:sldId id="893" r:id="rId28"/>
    <p:sldId id="844" r:id="rId29"/>
    <p:sldId id="870" r:id="rId30"/>
    <p:sldId id="845" r:id="rId31"/>
    <p:sldId id="872" r:id="rId32"/>
    <p:sldId id="873" r:id="rId33"/>
    <p:sldId id="875" r:id="rId34"/>
    <p:sldId id="886" r:id="rId35"/>
    <p:sldId id="837" r:id="rId36"/>
    <p:sldId id="888" r:id="rId37"/>
    <p:sldId id="889" r:id="rId38"/>
    <p:sldId id="879" r:id="rId39"/>
    <p:sldId id="842" r:id="rId40"/>
    <p:sldId id="857" r:id="rId41"/>
    <p:sldId id="831" r:id="rId42"/>
    <p:sldId id="847" r:id="rId43"/>
    <p:sldId id="891" r:id="rId44"/>
    <p:sldId id="846" r:id="rId45"/>
    <p:sldId id="876" r:id="rId46"/>
    <p:sldId id="869" r:id="rId47"/>
    <p:sldId id="871" r:id="rId48"/>
    <p:sldId id="859" r:id="rId49"/>
    <p:sldId id="860" r:id="rId50"/>
    <p:sldId id="788" r:id="rId51"/>
    <p:sldId id="878" r:id="rId52"/>
    <p:sldId id="851" r:id="rId53"/>
    <p:sldId id="885" r:id="rId54"/>
    <p:sldId id="827" r:id="rId55"/>
  </p:sldIdLst>
  <p:sldSz cx="12801600" cy="6859588"/>
  <p:notesSz cx="6858000" cy="91440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536204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1072408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608612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2144817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681021" algn="l" defTabSz="1072408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6pPr>
    <a:lvl7pPr marL="3217225" algn="l" defTabSz="1072408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7pPr>
    <a:lvl8pPr marL="3753429" algn="l" defTabSz="1072408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8pPr>
    <a:lvl9pPr marL="4289633" algn="l" defTabSz="1072408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22F286AD-7015-4EE0-ADF9-893C2BCEA316}">
          <p14:sldIdLst>
            <p14:sldId id="260"/>
            <p14:sldId id="312"/>
            <p14:sldId id="314"/>
          </p14:sldIdLst>
        </p14:section>
        <p14:section name="UI 목록" id="{99E7F35F-4A4F-4AA1-9113-3806502FC2B2}">
          <p14:sldIdLst>
            <p14:sldId id="758"/>
          </p14:sldIdLst>
        </p14:section>
        <p14:section name="명의변경 신청서 작성 절차 및 프로세스" id="{6AED4245-5989-4A7D-9399-39FD80653FCE}">
          <p14:sldIdLst>
            <p14:sldId id="880"/>
            <p14:sldId id="881"/>
            <p14:sldId id="882"/>
          </p14:sldIdLst>
        </p14:section>
        <p14:section name="명의변경 신청서" id="{BD89E3BE-6990-4D5F-8647-FC617901EC68}">
          <p14:sldIdLst>
            <p14:sldId id="834"/>
            <p14:sldId id="883"/>
            <p14:sldId id="892"/>
          </p14:sldIdLst>
        </p14:section>
        <p14:section name="명의변경 신청서 - 고객" id="{345E7B64-4699-41E1-AFDE-15D5691536B8}">
          <p14:sldIdLst>
            <p14:sldId id="858"/>
            <p14:sldId id="785"/>
            <p14:sldId id="894"/>
            <p14:sldId id="840"/>
            <p14:sldId id="874"/>
            <p14:sldId id="890"/>
            <p14:sldId id="867"/>
            <p14:sldId id="838"/>
            <p14:sldId id="893"/>
            <p14:sldId id="844"/>
            <p14:sldId id="870"/>
            <p14:sldId id="845"/>
            <p14:sldId id="872"/>
            <p14:sldId id="873"/>
            <p14:sldId id="875"/>
            <p14:sldId id="886"/>
            <p14:sldId id="837"/>
            <p14:sldId id="888"/>
            <p14:sldId id="889"/>
            <p14:sldId id="879"/>
            <p14:sldId id="842"/>
          </p14:sldIdLst>
        </p14:section>
        <p14:section name="명의변경 신청서 - 상품" id="{4E38546A-62DE-4649-BF95-670D99D44CDC}">
          <p14:sldIdLst>
            <p14:sldId id="857"/>
            <p14:sldId id="831"/>
            <p14:sldId id="847"/>
            <p14:sldId id="891"/>
            <p14:sldId id="846"/>
            <p14:sldId id="876"/>
            <p14:sldId id="869"/>
            <p14:sldId id="871"/>
          </p14:sldIdLst>
        </p14:section>
        <p14:section name="명의변경 신청서 - 동의" id="{4C563858-1650-45A3-9582-9003F688C0D7}">
          <p14:sldIdLst>
            <p14:sldId id="859"/>
            <p14:sldId id="860"/>
            <p14:sldId id="788"/>
            <p14:sldId id="878"/>
            <p14:sldId id="851"/>
            <p14:sldId id="885"/>
          </p14:sldIdLst>
        </p14:section>
        <p14:section name="명의변경 신청서 - 신청완료" id="{BD69481C-3D18-4AD5-9958-CD8D2CF46933}">
          <p14:sldIdLst>
            <p14:sldId id="827"/>
          </p14:sldIdLst>
        </p14:section>
      </p14:sectionLst>
    </p:ext>
    <p:ext uri="{EFAFB233-063F-42B5-8137-9DF3F51BA10A}">
      <p15:sldGuideLst xmlns="" xmlns:p15="http://schemas.microsoft.com/office/powerpoint/2012/main">
        <p15:guide id="1" orient="horz" pos="2205">
          <p15:clr>
            <a:srgbClr val="A4A3A4"/>
          </p15:clr>
        </p15:guide>
        <p15:guide id="2" orient="horz" pos="527">
          <p15:clr>
            <a:srgbClr val="A4A3A4"/>
          </p15:clr>
        </p15:guide>
        <p15:guide id="3" pos="3120">
          <p15:clr>
            <a:srgbClr val="A4A3A4"/>
          </p15:clr>
        </p15:guide>
        <p15:guide id="4" pos="353">
          <p15:clr>
            <a:srgbClr val="A4A3A4"/>
          </p15:clr>
        </p15:guide>
        <p15:guide id="5" orient="horz" pos="2206">
          <p15:clr>
            <a:srgbClr val="A4A3A4"/>
          </p15:clr>
        </p15:guide>
        <p15:guide id="6" pos="4032">
          <p15:clr>
            <a:srgbClr val="A4A3A4"/>
          </p15:clr>
        </p15:guide>
        <p15:guide id="7" pos="456">
          <p15:clr>
            <a:srgbClr val="A4A3A4"/>
          </p15:clr>
        </p15:guide>
      </p15:sldGuideLst>
    </p:ext>
    <p:ext uri="{2D200454-40CA-4A62-9FC3-DE9A4176ACB9}">
      <p15:notesGuideLst xmlns=""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soffice463" initials="m" lastIdx="5" clrIdx="0">
    <p:extLst>
      <p:ext uri="{19B8F6BF-5375-455C-9EA6-DF929625EA0E}">
        <p15:presenceInfo xmlns="" xmlns:p15="http://schemas.microsoft.com/office/powerpoint/2012/main" userId="S::msoffice463@unsja.onmicrosoft.com::98a27196-cbe2-46a8-a975-4b2fdc4eb4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5959"/>
    <a:srgbClr val="1BA6C7"/>
    <a:srgbClr val="3CC4E4"/>
    <a:srgbClr val="FFFFFF"/>
    <a:srgbClr val="E8F8FC"/>
    <a:srgbClr val="FF3300"/>
    <a:srgbClr val="FFC000"/>
    <a:srgbClr val="FF0000"/>
    <a:srgbClr val="B7DEE8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92" autoAdjust="0"/>
    <p:restoredTop sz="94717" autoAdjust="0"/>
  </p:normalViewPr>
  <p:slideViewPr>
    <p:cSldViewPr>
      <p:cViewPr>
        <p:scale>
          <a:sx n="80" d="100"/>
          <a:sy n="80" d="100"/>
        </p:scale>
        <p:origin x="-922" y="-154"/>
      </p:cViewPr>
      <p:guideLst>
        <p:guide orient="horz" pos="2205"/>
        <p:guide orient="horz" pos="527"/>
        <p:guide orient="horz" pos="2206"/>
        <p:guide pos="3120"/>
        <p:guide pos="353"/>
        <p:guide pos="4032"/>
        <p:guide pos="456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9" d="100"/>
          <a:sy n="89" d="100"/>
        </p:scale>
        <p:origin x="-3846" y="-9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schemas.openxmlformats.org/officeDocument/2006/relationships/slide" Target="slides/slide17.xml"/><Relationship Id="rId39" Type="http://schemas.openxmlformats.org/officeDocument/2006/relationships/slide" Target="slides/slide30.xml"/><Relationship Id="rId21" Type="http://schemas.openxmlformats.org/officeDocument/2006/relationships/slide" Target="slides/slide12.xml"/><Relationship Id="rId34" Type="http://schemas.openxmlformats.org/officeDocument/2006/relationships/slide" Target="slides/slide25.xml"/><Relationship Id="rId42" Type="http://schemas.openxmlformats.org/officeDocument/2006/relationships/slide" Target="slides/slide33.xml"/><Relationship Id="rId47" Type="http://schemas.openxmlformats.org/officeDocument/2006/relationships/slide" Target="slides/slide38.xml"/><Relationship Id="rId50" Type="http://schemas.openxmlformats.org/officeDocument/2006/relationships/slide" Target="slides/slide41.xml"/><Relationship Id="rId55" Type="http://schemas.openxmlformats.org/officeDocument/2006/relationships/slide" Target="slides/slide46.xml"/><Relationship Id="rId7" Type="http://schemas.openxmlformats.org/officeDocument/2006/relationships/slideMaster" Target="slideMasters/slideMaster2.xml"/><Relationship Id="rId2" Type="http://schemas.openxmlformats.org/officeDocument/2006/relationships/customXml" Target="../customXml/item2.xml"/><Relationship Id="rId16" Type="http://schemas.openxmlformats.org/officeDocument/2006/relationships/slide" Target="slides/slide7.xml"/><Relationship Id="rId20" Type="http://schemas.openxmlformats.org/officeDocument/2006/relationships/slide" Target="slides/slide11.xml"/><Relationship Id="rId29" Type="http://schemas.openxmlformats.org/officeDocument/2006/relationships/slide" Target="slides/slide20.xml"/><Relationship Id="rId41" Type="http://schemas.openxmlformats.org/officeDocument/2006/relationships/slide" Target="slides/slide32.xml"/><Relationship Id="rId54" Type="http://schemas.openxmlformats.org/officeDocument/2006/relationships/slide" Target="slides/slide45.xml"/><Relationship Id="rId62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1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slide" Target="slides/slide23.xml"/><Relationship Id="rId37" Type="http://schemas.openxmlformats.org/officeDocument/2006/relationships/slide" Target="slides/slide28.xml"/><Relationship Id="rId40" Type="http://schemas.openxmlformats.org/officeDocument/2006/relationships/slide" Target="slides/slide31.xml"/><Relationship Id="rId45" Type="http://schemas.openxmlformats.org/officeDocument/2006/relationships/slide" Target="slides/slide36.xml"/><Relationship Id="rId53" Type="http://schemas.openxmlformats.org/officeDocument/2006/relationships/slide" Target="slides/slide44.xml"/><Relationship Id="rId58" Type="http://schemas.openxmlformats.org/officeDocument/2006/relationships/commentAuthors" Target="commentAuthors.xml"/><Relationship Id="rId5" Type="http://schemas.openxmlformats.org/officeDocument/2006/relationships/customXml" Target="../customXml/item5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36" Type="http://schemas.openxmlformats.org/officeDocument/2006/relationships/slide" Target="slides/slide27.xml"/><Relationship Id="rId49" Type="http://schemas.openxmlformats.org/officeDocument/2006/relationships/slide" Target="slides/slide40.xml"/><Relationship Id="rId57" Type="http://schemas.openxmlformats.org/officeDocument/2006/relationships/handoutMaster" Target="handoutMasters/handoutMaster1.xml"/><Relationship Id="rId61" Type="http://schemas.openxmlformats.org/officeDocument/2006/relationships/theme" Target="theme/theme1.xml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31" Type="http://schemas.openxmlformats.org/officeDocument/2006/relationships/slide" Target="slides/slide22.xml"/><Relationship Id="rId44" Type="http://schemas.openxmlformats.org/officeDocument/2006/relationships/slide" Target="slides/slide35.xml"/><Relationship Id="rId52" Type="http://schemas.openxmlformats.org/officeDocument/2006/relationships/slide" Target="slides/slide43.xml"/><Relationship Id="rId60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slideMaster" Target="slideMasters/slideMaster4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slide" Target="slides/slide26.xml"/><Relationship Id="rId43" Type="http://schemas.openxmlformats.org/officeDocument/2006/relationships/slide" Target="slides/slide34.xml"/><Relationship Id="rId48" Type="http://schemas.openxmlformats.org/officeDocument/2006/relationships/slide" Target="slides/slide39.xml"/><Relationship Id="rId56" Type="http://schemas.openxmlformats.org/officeDocument/2006/relationships/notesMaster" Target="notesMasters/notesMaster1.xml"/><Relationship Id="rId8" Type="http://schemas.openxmlformats.org/officeDocument/2006/relationships/slideMaster" Target="slideMasters/slideMaster3.xml"/><Relationship Id="rId51" Type="http://schemas.openxmlformats.org/officeDocument/2006/relationships/slide" Target="slides/slide42.xml"/><Relationship Id="rId3" Type="http://schemas.openxmlformats.org/officeDocument/2006/relationships/customXml" Target="../customXml/item3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slide" Target="slides/slide24.xml"/><Relationship Id="rId38" Type="http://schemas.openxmlformats.org/officeDocument/2006/relationships/slide" Target="slides/slide29.xml"/><Relationship Id="rId46" Type="http://schemas.openxmlformats.org/officeDocument/2006/relationships/slide" Target="slides/slide37.xml"/><Relationship Id="rId5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18A3FC-922A-4EA6-8220-C7D31A08AE20}" type="datetimeFigureOut">
              <a:rPr lang="ko-KR" altLang="en-US" smtClean="0"/>
              <a:t>2026-03-13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C60E98-F2DF-4BA5-9CEA-C7A72CA67F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73515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B9C0FC0A-8EC4-45F8-BAE3-5FBDF274FF84}" type="datetimeFigureOut">
              <a:rPr lang="ko-KR" altLang="en-US"/>
              <a:pPr>
                <a:defRPr/>
              </a:pPr>
              <a:t>2026-03-13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0188" y="685800"/>
            <a:ext cx="63976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1B8A35F2-6331-49D4-8813-E163F37982F4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555047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536204" algn="l" rtl="0" eaLnBrk="0" fontAlgn="base" latinLnBrk="1" hangingPunct="0">
      <a:spcBef>
        <a:spcPct val="30000"/>
      </a:spcBef>
      <a:spcAft>
        <a:spcPct val="0"/>
      </a:spcAft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1072408" algn="l" rtl="0" eaLnBrk="0" fontAlgn="base" latinLnBrk="1" hangingPunct="0">
      <a:spcBef>
        <a:spcPct val="30000"/>
      </a:spcBef>
      <a:spcAft>
        <a:spcPct val="0"/>
      </a:spcAft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608612" algn="l" rtl="0" eaLnBrk="0" fontAlgn="base" latinLnBrk="1" hangingPunct="0">
      <a:spcBef>
        <a:spcPct val="30000"/>
      </a:spcBef>
      <a:spcAft>
        <a:spcPct val="0"/>
      </a:spcAft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2144817" algn="l" rtl="0" eaLnBrk="0" fontAlgn="base" latinLnBrk="1" hangingPunct="0">
      <a:spcBef>
        <a:spcPct val="30000"/>
      </a:spcBef>
      <a:spcAft>
        <a:spcPct val="0"/>
      </a:spcAft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2681021" algn="l" defTabSz="1072408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3217225" algn="l" defTabSz="1072408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3753429" algn="l" defTabSz="1072408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4289633" algn="l" defTabSz="1072408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230188" y="685800"/>
            <a:ext cx="6397625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5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 sz="300" dirty="0"/>
          </a:p>
        </p:txBody>
      </p:sp>
      <p:sp>
        <p:nvSpPr>
          <p:cNvPr id="23556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hangingPunct="1"/>
            <a:fld id="{9897F6F4-9267-44EB-B43D-D3AB4AFE9860}" type="slidenum">
              <a:rPr lang="ko-KR" altLang="en-US" smtClean="0"/>
              <a:pPr eaLnBrk="1" hangingPunct="1"/>
              <a:t>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7058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C_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2640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C_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25840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C_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7151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C_3.계속 이어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7"/>
          <p:cNvSpPr/>
          <p:nvPr userDrawn="1"/>
        </p:nvSpPr>
        <p:spPr bwMode="auto">
          <a:xfrm>
            <a:off x="178642" y="6479107"/>
            <a:ext cx="10296000" cy="144000"/>
          </a:xfrm>
          <a:custGeom>
            <a:avLst/>
            <a:gdLst/>
            <a:ahLst/>
            <a:cxnLst/>
            <a:rect l="l" t="t" r="r" b="b"/>
            <a:pathLst>
              <a:path w="2492847" h="168396">
                <a:moveTo>
                  <a:pt x="320682" y="0"/>
                </a:moveTo>
                <a:lnTo>
                  <a:pt x="324312" y="1648"/>
                </a:lnTo>
                <a:lnTo>
                  <a:pt x="523917" y="1648"/>
                </a:lnTo>
                <a:lnTo>
                  <a:pt x="527547" y="0"/>
                </a:lnTo>
                <a:lnTo>
                  <a:pt x="531177" y="1648"/>
                </a:lnTo>
                <a:lnTo>
                  <a:pt x="729804" y="1648"/>
                </a:lnTo>
                <a:lnTo>
                  <a:pt x="733434" y="0"/>
                </a:lnTo>
                <a:lnTo>
                  <a:pt x="737064" y="1648"/>
                </a:lnTo>
                <a:lnTo>
                  <a:pt x="935691" y="1648"/>
                </a:lnTo>
                <a:lnTo>
                  <a:pt x="939321" y="0"/>
                </a:lnTo>
                <a:lnTo>
                  <a:pt x="942951" y="1648"/>
                </a:lnTo>
                <a:lnTo>
                  <a:pt x="1141578" y="1648"/>
                </a:lnTo>
                <a:lnTo>
                  <a:pt x="1145208" y="0"/>
                </a:lnTo>
                <a:lnTo>
                  <a:pt x="1148839" y="1648"/>
                </a:lnTo>
                <a:lnTo>
                  <a:pt x="1347465" y="1648"/>
                </a:lnTo>
                <a:lnTo>
                  <a:pt x="1351095" y="0"/>
                </a:lnTo>
                <a:lnTo>
                  <a:pt x="1354726" y="1648"/>
                </a:lnTo>
                <a:lnTo>
                  <a:pt x="1553352" y="1648"/>
                </a:lnTo>
                <a:lnTo>
                  <a:pt x="1556982" y="0"/>
                </a:lnTo>
                <a:lnTo>
                  <a:pt x="1560613" y="1648"/>
                </a:lnTo>
                <a:lnTo>
                  <a:pt x="1759239" y="1648"/>
                </a:lnTo>
                <a:lnTo>
                  <a:pt x="1762869" y="0"/>
                </a:lnTo>
                <a:lnTo>
                  <a:pt x="1766500" y="1648"/>
                </a:lnTo>
                <a:lnTo>
                  <a:pt x="1965126" y="1648"/>
                </a:lnTo>
                <a:lnTo>
                  <a:pt x="1968756" y="0"/>
                </a:lnTo>
                <a:lnTo>
                  <a:pt x="1972387" y="1648"/>
                </a:lnTo>
                <a:lnTo>
                  <a:pt x="2171013" y="1648"/>
                </a:lnTo>
                <a:lnTo>
                  <a:pt x="2174643" y="0"/>
                </a:lnTo>
                <a:lnTo>
                  <a:pt x="2178274" y="1648"/>
                </a:lnTo>
                <a:lnTo>
                  <a:pt x="2376900" y="1648"/>
                </a:lnTo>
                <a:lnTo>
                  <a:pt x="2380530" y="0"/>
                </a:lnTo>
                <a:lnTo>
                  <a:pt x="2384161" y="1648"/>
                </a:lnTo>
                <a:lnTo>
                  <a:pt x="2492847" y="1648"/>
                </a:lnTo>
                <a:lnTo>
                  <a:pt x="2492847" y="46952"/>
                </a:lnTo>
                <a:lnTo>
                  <a:pt x="2492847" y="85846"/>
                </a:lnTo>
                <a:lnTo>
                  <a:pt x="2492847" y="168396"/>
                </a:lnTo>
                <a:lnTo>
                  <a:pt x="2483962" y="168396"/>
                </a:lnTo>
                <a:lnTo>
                  <a:pt x="2380530" y="121444"/>
                </a:lnTo>
                <a:lnTo>
                  <a:pt x="2277586" y="168174"/>
                </a:lnTo>
                <a:lnTo>
                  <a:pt x="2174643" y="121444"/>
                </a:lnTo>
                <a:lnTo>
                  <a:pt x="2071699" y="168174"/>
                </a:lnTo>
                <a:lnTo>
                  <a:pt x="1968756" y="121444"/>
                </a:lnTo>
                <a:lnTo>
                  <a:pt x="1865812" y="168174"/>
                </a:lnTo>
                <a:lnTo>
                  <a:pt x="1762869" y="121444"/>
                </a:lnTo>
                <a:lnTo>
                  <a:pt x="1659925" y="168174"/>
                </a:lnTo>
                <a:lnTo>
                  <a:pt x="1556982" y="121444"/>
                </a:lnTo>
                <a:lnTo>
                  <a:pt x="1454038" y="168174"/>
                </a:lnTo>
                <a:lnTo>
                  <a:pt x="1351095" y="121444"/>
                </a:lnTo>
                <a:lnTo>
                  <a:pt x="1248151" y="168174"/>
                </a:lnTo>
                <a:lnTo>
                  <a:pt x="1145208" y="121444"/>
                </a:lnTo>
                <a:lnTo>
                  <a:pt x="1042264" y="168174"/>
                </a:lnTo>
                <a:lnTo>
                  <a:pt x="939321" y="121444"/>
                </a:lnTo>
                <a:lnTo>
                  <a:pt x="836377" y="168174"/>
                </a:lnTo>
                <a:lnTo>
                  <a:pt x="733434" y="121444"/>
                </a:lnTo>
                <a:lnTo>
                  <a:pt x="630490" y="168174"/>
                </a:lnTo>
                <a:lnTo>
                  <a:pt x="527547" y="121444"/>
                </a:lnTo>
                <a:lnTo>
                  <a:pt x="424114" y="168396"/>
                </a:lnTo>
                <a:lnTo>
                  <a:pt x="320682" y="121444"/>
                </a:lnTo>
                <a:lnTo>
                  <a:pt x="217249" y="168396"/>
                </a:lnTo>
                <a:lnTo>
                  <a:pt x="215632" y="168396"/>
                </a:lnTo>
                <a:lnTo>
                  <a:pt x="113817" y="122178"/>
                </a:lnTo>
                <a:lnTo>
                  <a:pt x="12001" y="168396"/>
                </a:lnTo>
                <a:lnTo>
                  <a:pt x="0" y="168396"/>
                </a:lnTo>
                <a:lnTo>
                  <a:pt x="0" y="85846"/>
                </a:lnTo>
                <a:lnTo>
                  <a:pt x="0" y="46952"/>
                </a:lnTo>
                <a:lnTo>
                  <a:pt x="0" y="1648"/>
                </a:lnTo>
                <a:lnTo>
                  <a:pt x="111804" y="1648"/>
                </a:lnTo>
                <a:lnTo>
                  <a:pt x="113817" y="734"/>
                </a:lnTo>
                <a:lnTo>
                  <a:pt x="115831" y="1648"/>
                </a:lnTo>
                <a:lnTo>
                  <a:pt x="317052" y="1648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42221" tIns="42221" rIns="42221" bIns="42221" anchor="ctr"/>
          <a:lstStyle/>
          <a:p>
            <a:pPr algn="ctr" latinLnBrk="0">
              <a:defRPr/>
            </a:pPr>
            <a:r>
              <a:rPr lang="ko-KR" altLang="en-US" sz="9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</a:rPr>
              <a:t>다음 페이지 이어서 계속됨</a:t>
            </a:r>
          </a:p>
        </p:txBody>
      </p:sp>
      <p:sp>
        <p:nvSpPr>
          <p:cNvPr id="5" name="직사각형 7"/>
          <p:cNvSpPr/>
          <p:nvPr userDrawn="1"/>
        </p:nvSpPr>
        <p:spPr bwMode="auto">
          <a:xfrm>
            <a:off x="180322" y="831870"/>
            <a:ext cx="10296000" cy="144000"/>
          </a:xfrm>
          <a:custGeom>
            <a:avLst/>
            <a:gdLst/>
            <a:ahLst/>
            <a:cxnLst/>
            <a:rect l="l" t="t" r="r" b="b"/>
            <a:pathLst>
              <a:path w="2492847" h="168396">
                <a:moveTo>
                  <a:pt x="320682" y="0"/>
                </a:moveTo>
                <a:lnTo>
                  <a:pt x="424114" y="46952"/>
                </a:lnTo>
                <a:lnTo>
                  <a:pt x="527547" y="0"/>
                </a:lnTo>
                <a:lnTo>
                  <a:pt x="630490" y="46730"/>
                </a:lnTo>
                <a:lnTo>
                  <a:pt x="733434" y="0"/>
                </a:lnTo>
                <a:lnTo>
                  <a:pt x="836377" y="46730"/>
                </a:lnTo>
                <a:lnTo>
                  <a:pt x="939321" y="0"/>
                </a:lnTo>
                <a:lnTo>
                  <a:pt x="1042264" y="46730"/>
                </a:lnTo>
                <a:lnTo>
                  <a:pt x="1145208" y="0"/>
                </a:lnTo>
                <a:lnTo>
                  <a:pt x="1248151" y="46730"/>
                </a:lnTo>
                <a:lnTo>
                  <a:pt x="1351095" y="0"/>
                </a:lnTo>
                <a:lnTo>
                  <a:pt x="1454038" y="46730"/>
                </a:lnTo>
                <a:lnTo>
                  <a:pt x="1556982" y="0"/>
                </a:lnTo>
                <a:lnTo>
                  <a:pt x="1659925" y="46730"/>
                </a:lnTo>
                <a:lnTo>
                  <a:pt x="1762869" y="0"/>
                </a:lnTo>
                <a:lnTo>
                  <a:pt x="1865812" y="46730"/>
                </a:lnTo>
                <a:lnTo>
                  <a:pt x="1968756" y="0"/>
                </a:lnTo>
                <a:lnTo>
                  <a:pt x="2071699" y="46730"/>
                </a:lnTo>
                <a:lnTo>
                  <a:pt x="2174643" y="0"/>
                </a:lnTo>
                <a:lnTo>
                  <a:pt x="2277586" y="46730"/>
                </a:lnTo>
                <a:lnTo>
                  <a:pt x="2380530" y="0"/>
                </a:lnTo>
                <a:lnTo>
                  <a:pt x="2483962" y="46952"/>
                </a:lnTo>
                <a:lnTo>
                  <a:pt x="2492847" y="46952"/>
                </a:lnTo>
                <a:lnTo>
                  <a:pt x="2492847" y="84198"/>
                </a:lnTo>
                <a:lnTo>
                  <a:pt x="2492847" y="168396"/>
                </a:lnTo>
                <a:lnTo>
                  <a:pt x="2483962" y="168396"/>
                </a:lnTo>
                <a:lnTo>
                  <a:pt x="424114" y="168396"/>
                </a:lnTo>
                <a:lnTo>
                  <a:pt x="217249" y="168396"/>
                </a:lnTo>
                <a:lnTo>
                  <a:pt x="215632" y="168396"/>
                </a:lnTo>
                <a:lnTo>
                  <a:pt x="12001" y="168396"/>
                </a:lnTo>
                <a:lnTo>
                  <a:pt x="0" y="168396"/>
                </a:lnTo>
                <a:lnTo>
                  <a:pt x="0" y="84198"/>
                </a:lnTo>
                <a:lnTo>
                  <a:pt x="0" y="46952"/>
                </a:lnTo>
                <a:lnTo>
                  <a:pt x="12001" y="46952"/>
                </a:lnTo>
                <a:lnTo>
                  <a:pt x="113817" y="734"/>
                </a:lnTo>
                <a:lnTo>
                  <a:pt x="215632" y="46952"/>
                </a:lnTo>
                <a:lnTo>
                  <a:pt x="217249" y="46952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42221" tIns="42221" rIns="42221" bIns="42221" anchor="ctr"/>
          <a:lstStyle/>
          <a:p>
            <a:pPr algn="ctr" latinLnBrk="0">
              <a:defRPr/>
            </a:pPr>
            <a:r>
              <a:rPr lang="ko-KR" altLang="en-US" sz="9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</a:rPr>
              <a:t>이전 내용에 이어짐</a:t>
            </a:r>
          </a:p>
        </p:txBody>
      </p:sp>
    </p:spTree>
    <p:extLst>
      <p:ext uri="{BB962C8B-B14F-4D97-AF65-F5344CB8AC3E}">
        <p14:creationId xmlns:p14="http://schemas.microsoft.com/office/powerpoint/2010/main" val="22307387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C_3.계속 이어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 bwMode="auto">
          <a:xfrm>
            <a:off x="178642" y="6479107"/>
            <a:ext cx="10296000" cy="144000"/>
          </a:xfrm>
          <a:custGeom>
            <a:avLst/>
            <a:gdLst/>
            <a:ahLst/>
            <a:cxnLst/>
            <a:rect l="l" t="t" r="r" b="b"/>
            <a:pathLst>
              <a:path w="2492847" h="168396">
                <a:moveTo>
                  <a:pt x="320682" y="0"/>
                </a:moveTo>
                <a:lnTo>
                  <a:pt x="324312" y="1648"/>
                </a:lnTo>
                <a:lnTo>
                  <a:pt x="523917" y="1648"/>
                </a:lnTo>
                <a:lnTo>
                  <a:pt x="527547" y="0"/>
                </a:lnTo>
                <a:lnTo>
                  <a:pt x="531177" y="1648"/>
                </a:lnTo>
                <a:lnTo>
                  <a:pt x="729804" y="1648"/>
                </a:lnTo>
                <a:lnTo>
                  <a:pt x="733434" y="0"/>
                </a:lnTo>
                <a:lnTo>
                  <a:pt x="737064" y="1648"/>
                </a:lnTo>
                <a:lnTo>
                  <a:pt x="935691" y="1648"/>
                </a:lnTo>
                <a:lnTo>
                  <a:pt x="939321" y="0"/>
                </a:lnTo>
                <a:lnTo>
                  <a:pt x="942951" y="1648"/>
                </a:lnTo>
                <a:lnTo>
                  <a:pt x="1141578" y="1648"/>
                </a:lnTo>
                <a:lnTo>
                  <a:pt x="1145208" y="0"/>
                </a:lnTo>
                <a:lnTo>
                  <a:pt x="1148839" y="1648"/>
                </a:lnTo>
                <a:lnTo>
                  <a:pt x="1347465" y="1648"/>
                </a:lnTo>
                <a:lnTo>
                  <a:pt x="1351095" y="0"/>
                </a:lnTo>
                <a:lnTo>
                  <a:pt x="1354726" y="1648"/>
                </a:lnTo>
                <a:lnTo>
                  <a:pt x="1553352" y="1648"/>
                </a:lnTo>
                <a:lnTo>
                  <a:pt x="1556982" y="0"/>
                </a:lnTo>
                <a:lnTo>
                  <a:pt x="1560613" y="1648"/>
                </a:lnTo>
                <a:lnTo>
                  <a:pt x="1759239" y="1648"/>
                </a:lnTo>
                <a:lnTo>
                  <a:pt x="1762869" y="0"/>
                </a:lnTo>
                <a:lnTo>
                  <a:pt x="1766500" y="1648"/>
                </a:lnTo>
                <a:lnTo>
                  <a:pt x="1965126" y="1648"/>
                </a:lnTo>
                <a:lnTo>
                  <a:pt x="1968756" y="0"/>
                </a:lnTo>
                <a:lnTo>
                  <a:pt x="1972387" y="1648"/>
                </a:lnTo>
                <a:lnTo>
                  <a:pt x="2171013" y="1648"/>
                </a:lnTo>
                <a:lnTo>
                  <a:pt x="2174643" y="0"/>
                </a:lnTo>
                <a:lnTo>
                  <a:pt x="2178274" y="1648"/>
                </a:lnTo>
                <a:lnTo>
                  <a:pt x="2376900" y="1648"/>
                </a:lnTo>
                <a:lnTo>
                  <a:pt x="2380530" y="0"/>
                </a:lnTo>
                <a:lnTo>
                  <a:pt x="2384161" y="1648"/>
                </a:lnTo>
                <a:lnTo>
                  <a:pt x="2492847" y="1648"/>
                </a:lnTo>
                <a:lnTo>
                  <a:pt x="2492847" y="46952"/>
                </a:lnTo>
                <a:lnTo>
                  <a:pt x="2492847" y="85846"/>
                </a:lnTo>
                <a:lnTo>
                  <a:pt x="2492847" y="168396"/>
                </a:lnTo>
                <a:lnTo>
                  <a:pt x="2483962" y="168396"/>
                </a:lnTo>
                <a:lnTo>
                  <a:pt x="2380530" y="121444"/>
                </a:lnTo>
                <a:lnTo>
                  <a:pt x="2277586" y="168174"/>
                </a:lnTo>
                <a:lnTo>
                  <a:pt x="2174643" y="121444"/>
                </a:lnTo>
                <a:lnTo>
                  <a:pt x="2071699" y="168174"/>
                </a:lnTo>
                <a:lnTo>
                  <a:pt x="1968756" y="121444"/>
                </a:lnTo>
                <a:lnTo>
                  <a:pt x="1865812" y="168174"/>
                </a:lnTo>
                <a:lnTo>
                  <a:pt x="1762869" y="121444"/>
                </a:lnTo>
                <a:lnTo>
                  <a:pt x="1659925" y="168174"/>
                </a:lnTo>
                <a:lnTo>
                  <a:pt x="1556982" y="121444"/>
                </a:lnTo>
                <a:lnTo>
                  <a:pt x="1454038" y="168174"/>
                </a:lnTo>
                <a:lnTo>
                  <a:pt x="1351095" y="121444"/>
                </a:lnTo>
                <a:lnTo>
                  <a:pt x="1248151" y="168174"/>
                </a:lnTo>
                <a:lnTo>
                  <a:pt x="1145208" y="121444"/>
                </a:lnTo>
                <a:lnTo>
                  <a:pt x="1042264" y="168174"/>
                </a:lnTo>
                <a:lnTo>
                  <a:pt x="939321" y="121444"/>
                </a:lnTo>
                <a:lnTo>
                  <a:pt x="836377" y="168174"/>
                </a:lnTo>
                <a:lnTo>
                  <a:pt x="733434" y="121444"/>
                </a:lnTo>
                <a:lnTo>
                  <a:pt x="630490" y="168174"/>
                </a:lnTo>
                <a:lnTo>
                  <a:pt x="527547" y="121444"/>
                </a:lnTo>
                <a:lnTo>
                  <a:pt x="424114" y="168396"/>
                </a:lnTo>
                <a:lnTo>
                  <a:pt x="320682" y="121444"/>
                </a:lnTo>
                <a:lnTo>
                  <a:pt x="217249" y="168396"/>
                </a:lnTo>
                <a:lnTo>
                  <a:pt x="215632" y="168396"/>
                </a:lnTo>
                <a:lnTo>
                  <a:pt x="113817" y="122178"/>
                </a:lnTo>
                <a:lnTo>
                  <a:pt x="12001" y="168396"/>
                </a:lnTo>
                <a:lnTo>
                  <a:pt x="0" y="168396"/>
                </a:lnTo>
                <a:lnTo>
                  <a:pt x="0" y="85846"/>
                </a:lnTo>
                <a:lnTo>
                  <a:pt x="0" y="46952"/>
                </a:lnTo>
                <a:lnTo>
                  <a:pt x="0" y="1648"/>
                </a:lnTo>
                <a:lnTo>
                  <a:pt x="111804" y="1648"/>
                </a:lnTo>
                <a:lnTo>
                  <a:pt x="113817" y="734"/>
                </a:lnTo>
                <a:lnTo>
                  <a:pt x="115831" y="1648"/>
                </a:lnTo>
                <a:lnTo>
                  <a:pt x="317052" y="1648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42221" tIns="42221" rIns="42221" bIns="42221" anchor="ctr"/>
          <a:lstStyle/>
          <a:p>
            <a:pPr algn="ctr" latinLnBrk="0">
              <a:defRPr/>
            </a:pPr>
            <a:r>
              <a:rPr lang="ko-KR" altLang="en-US" sz="9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</a:rPr>
              <a:t>다음 페이지 이어서 계속됨</a:t>
            </a:r>
          </a:p>
        </p:txBody>
      </p:sp>
    </p:spTree>
    <p:extLst>
      <p:ext uri="{BB962C8B-B14F-4D97-AF65-F5344CB8AC3E}">
        <p14:creationId xmlns:p14="http://schemas.microsoft.com/office/powerpoint/2010/main" val="31198025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C_3.계속 이어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7"/>
          <p:cNvSpPr/>
          <p:nvPr userDrawn="1"/>
        </p:nvSpPr>
        <p:spPr bwMode="auto">
          <a:xfrm>
            <a:off x="180322" y="831870"/>
            <a:ext cx="10296000" cy="144000"/>
          </a:xfrm>
          <a:custGeom>
            <a:avLst/>
            <a:gdLst/>
            <a:ahLst/>
            <a:cxnLst/>
            <a:rect l="l" t="t" r="r" b="b"/>
            <a:pathLst>
              <a:path w="2492847" h="168396">
                <a:moveTo>
                  <a:pt x="320682" y="0"/>
                </a:moveTo>
                <a:lnTo>
                  <a:pt x="424114" y="46952"/>
                </a:lnTo>
                <a:lnTo>
                  <a:pt x="527547" y="0"/>
                </a:lnTo>
                <a:lnTo>
                  <a:pt x="630490" y="46730"/>
                </a:lnTo>
                <a:lnTo>
                  <a:pt x="733434" y="0"/>
                </a:lnTo>
                <a:lnTo>
                  <a:pt x="836377" y="46730"/>
                </a:lnTo>
                <a:lnTo>
                  <a:pt x="939321" y="0"/>
                </a:lnTo>
                <a:lnTo>
                  <a:pt x="1042264" y="46730"/>
                </a:lnTo>
                <a:lnTo>
                  <a:pt x="1145208" y="0"/>
                </a:lnTo>
                <a:lnTo>
                  <a:pt x="1248151" y="46730"/>
                </a:lnTo>
                <a:lnTo>
                  <a:pt x="1351095" y="0"/>
                </a:lnTo>
                <a:lnTo>
                  <a:pt x="1454038" y="46730"/>
                </a:lnTo>
                <a:lnTo>
                  <a:pt x="1556982" y="0"/>
                </a:lnTo>
                <a:lnTo>
                  <a:pt x="1659925" y="46730"/>
                </a:lnTo>
                <a:lnTo>
                  <a:pt x="1762869" y="0"/>
                </a:lnTo>
                <a:lnTo>
                  <a:pt x="1865812" y="46730"/>
                </a:lnTo>
                <a:lnTo>
                  <a:pt x="1968756" y="0"/>
                </a:lnTo>
                <a:lnTo>
                  <a:pt x="2071699" y="46730"/>
                </a:lnTo>
                <a:lnTo>
                  <a:pt x="2174643" y="0"/>
                </a:lnTo>
                <a:lnTo>
                  <a:pt x="2277586" y="46730"/>
                </a:lnTo>
                <a:lnTo>
                  <a:pt x="2380530" y="0"/>
                </a:lnTo>
                <a:lnTo>
                  <a:pt x="2483962" y="46952"/>
                </a:lnTo>
                <a:lnTo>
                  <a:pt x="2492847" y="46952"/>
                </a:lnTo>
                <a:lnTo>
                  <a:pt x="2492847" y="84198"/>
                </a:lnTo>
                <a:lnTo>
                  <a:pt x="2492847" y="168396"/>
                </a:lnTo>
                <a:lnTo>
                  <a:pt x="2483962" y="168396"/>
                </a:lnTo>
                <a:lnTo>
                  <a:pt x="424114" y="168396"/>
                </a:lnTo>
                <a:lnTo>
                  <a:pt x="217249" y="168396"/>
                </a:lnTo>
                <a:lnTo>
                  <a:pt x="215632" y="168396"/>
                </a:lnTo>
                <a:lnTo>
                  <a:pt x="12001" y="168396"/>
                </a:lnTo>
                <a:lnTo>
                  <a:pt x="0" y="168396"/>
                </a:lnTo>
                <a:lnTo>
                  <a:pt x="0" y="84198"/>
                </a:lnTo>
                <a:lnTo>
                  <a:pt x="0" y="46952"/>
                </a:lnTo>
                <a:lnTo>
                  <a:pt x="12001" y="46952"/>
                </a:lnTo>
                <a:lnTo>
                  <a:pt x="113817" y="734"/>
                </a:lnTo>
                <a:lnTo>
                  <a:pt x="215632" y="46952"/>
                </a:lnTo>
                <a:lnTo>
                  <a:pt x="217249" y="46952"/>
                </a:lnTo>
                <a:close/>
              </a:path>
            </a:pathLst>
          </a:custGeom>
          <a:pattFill prst="ltUpDiag">
            <a:fgClr>
              <a:schemeClr val="bg1">
                <a:lumMod val="75000"/>
              </a:schemeClr>
            </a:fgClr>
            <a:bgClr>
              <a:schemeClr val="bg1">
                <a:lumMod val="95000"/>
              </a:schemeClr>
            </a:bgClr>
          </a:pattFill>
          <a:ln w="31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lIns="42221" tIns="42221" rIns="42221" bIns="42221" anchor="ctr"/>
          <a:lstStyle/>
          <a:p>
            <a:pPr algn="ctr" latinLnBrk="0">
              <a:defRPr/>
            </a:pPr>
            <a:r>
              <a:rPr lang="ko-KR" altLang="en-US" sz="900" dirty="0">
                <a:solidFill>
                  <a:srgbClr val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ea"/>
                <a:ea typeface="+mn-ea"/>
              </a:rPr>
              <a:t>이전 내용에 이어짐</a:t>
            </a:r>
          </a:p>
        </p:txBody>
      </p:sp>
    </p:spTree>
    <p:extLst>
      <p:ext uri="{BB962C8B-B14F-4D97-AF65-F5344CB8AC3E}">
        <p14:creationId xmlns:p14="http://schemas.microsoft.com/office/powerpoint/2010/main" val="20853610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801600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55374" y="2139101"/>
            <a:ext cx="8972196" cy="470609"/>
          </a:xfr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marR="0" indent="0" algn="l" defTabSz="1072408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lang="ko-KR" altLang="en-US" sz="2800" b="1" kern="1200" baseline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altLang="ko-KR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755373" y="2656577"/>
            <a:ext cx="8961120" cy="312512"/>
          </a:xfrm>
          <a:noFill/>
          <a:ln w="9525">
            <a:noFill/>
            <a:miter lim="800000"/>
            <a:headEnd/>
            <a:tailEnd/>
          </a:ln>
        </p:spPr>
        <p:txBody>
          <a:bodyPr anchor="ctr"/>
          <a:lstStyle>
            <a:lvl1pPr marL="0" marR="0" indent="0" algn="l" defTabSz="1072408" rtl="0" eaLnBrk="1" fontAlgn="base" latinLnBrk="1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itchFamily="2" charset="2"/>
              <a:buNone/>
              <a:tabLst/>
              <a:defRPr lang="ko-KR" altLang="en-US" sz="1900" kern="12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5362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724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086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448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810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17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7534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896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  <a:endParaRPr lang="en-US" altLang="ko-KR" dirty="0"/>
          </a:p>
        </p:txBody>
      </p:sp>
      <p:pic>
        <p:nvPicPr>
          <p:cNvPr id="6" name="그림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5766" y="490538"/>
            <a:ext cx="1009650" cy="360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58250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4788" y="144498"/>
            <a:ext cx="11665055" cy="331864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9" name="텍스트 개체 틀 8"/>
          <p:cNvSpPr>
            <a:spLocks noGrp="1"/>
          </p:cNvSpPr>
          <p:nvPr>
            <p:ph type="body" sz="quarter" idx="13"/>
          </p:nvPr>
        </p:nvSpPr>
        <p:spPr>
          <a:xfrm>
            <a:off x="524789" y="550387"/>
            <a:ext cx="11794808" cy="5617901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4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A22CB5-4570-49ED-BF13-73F7A1F5852D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85439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6473A1B-AE72-474E-9878-8491C498EE0B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117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011239" y="4407922"/>
            <a:ext cx="10881360" cy="1362390"/>
          </a:xfrm>
        </p:spPr>
        <p:txBody>
          <a:bodyPr anchor="t"/>
          <a:lstStyle>
            <a:lvl1pPr algn="l">
              <a:defRPr sz="47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011239" y="2907387"/>
            <a:ext cx="10881360" cy="1500534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36204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72408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3pPr>
            <a:lvl4pPr marL="16086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448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8102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21722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75342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8963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5FD5D6-1A0E-4427-8817-CABD5E39BE5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9616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40080" y="1600572"/>
            <a:ext cx="5654040" cy="4527011"/>
          </a:xfrm>
        </p:spPr>
        <p:txBody>
          <a:bodyPr/>
          <a:lstStyle>
            <a:lvl1pPr>
              <a:defRPr sz="33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07480" y="1600572"/>
            <a:ext cx="5654040" cy="4527011"/>
          </a:xfrm>
        </p:spPr>
        <p:txBody>
          <a:bodyPr/>
          <a:lstStyle>
            <a:lvl1pPr>
              <a:defRPr sz="33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0C8E112-7C0F-4B78-ADFC-4081E505FD04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76584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40080" y="1535469"/>
            <a:ext cx="5656263" cy="639910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36204" indent="0">
              <a:buNone/>
              <a:defRPr sz="2300" b="1"/>
            </a:lvl2pPr>
            <a:lvl3pPr marL="1072408" indent="0">
              <a:buNone/>
              <a:defRPr sz="2100" b="1"/>
            </a:lvl3pPr>
            <a:lvl4pPr marL="1608612" indent="0">
              <a:buNone/>
              <a:defRPr sz="1900" b="1"/>
            </a:lvl4pPr>
            <a:lvl5pPr marL="2144817" indent="0">
              <a:buNone/>
              <a:defRPr sz="1900" b="1"/>
            </a:lvl5pPr>
            <a:lvl6pPr marL="2681021" indent="0">
              <a:buNone/>
              <a:defRPr sz="1900" b="1"/>
            </a:lvl6pPr>
            <a:lvl7pPr marL="3217225" indent="0">
              <a:buNone/>
              <a:defRPr sz="1900" b="1"/>
            </a:lvl7pPr>
            <a:lvl8pPr marL="3753429" indent="0">
              <a:buNone/>
              <a:defRPr sz="1900" b="1"/>
            </a:lvl8pPr>
            <a:lvl9pPr marL="4289633" indent="0">
              <a:buNone/>
              <a:defRPr sz="19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40080" y="2175379"/>
            <a:ext cx="5656263" cy="3952203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03036" y="1535469"/>
            <a:ext cx="5658486" cy="639910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36204" indent="0">
              <a:buNone/>
              <a:defRPr sz="2300" b="1"/>
            </a:lvl2pPr>
            <a:lvl3pPr marL="1072408" indent="0">
              <a:buNone/>
              <a:defRPr sz="2100" b="1"/>
            </a:lvl3pPr>
            <a:lvl4pPr marL="1608612" indent="0">
              <a:buNone/>
              <a:defRPr sz="1900" b="1"/>
            </a:lvl4pPr>
            <a:lvl5pPr marL="2144817" indent="0">
              <a:buNone/>
              <a:defRPr sz="1900" b="1"/>
            </a:lvl5pPr>
            <a:lvl6pPr marL="2681021" indent="0">
              <a:buNone/>
              <a:defRPr sz="1900" b="1"/>
            </a:lvl6pPr>
            <a:lvl7pPr marL="3217225" indent="0">
              <a:buNone/>
              <a:defRPr sz="1900" b="1"/>
            </a:lvl7pPr>
            <a:lvl8pPr marL="3753429" indent="0">
              <a:buNone/>
              <a:defRPr sz="1900" b="1"/>
            </a:lvl8pPr>
            <a:lvl9pPr marL="4289633" indent="0">
              <a:buNone/>
              <a:defRPr sz="19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03036" y="2175379"/>
            <a:ext cx="5658486" cy="3952203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900"/>
            </a:lvl4pPr>
            <a:lvl5pPr>
              <a:defRPr sz="19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15CE30-F600-48EA-B808-A26FFA49E5BB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46279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9732DF-286B-459C-A7AD-1B7BB8E11A1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87761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1F8E713-7CC6-4756-A129-44C94FB5DABD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35153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40080" y="273113"/>
            <a:ext cx="4211639" cy="1162319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005071" y="273115"/>
            <a:ext cx="7156450" cy="5854468"/>
          </a:xfrm>
        </p:spPr>
        <p:txBody>
          <a:bodyPr/>
          <a:lstStyle>
            <a:lvl1pPr>
              <a:defRPr sz="3800"/>
            </a:lvl1pPr>
            <a:lvl2pPr>
              <a:defRPr sz="33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40080" y="1435434"/>
            <a:ext cx="4211639" cy="4692149"/>
          </a:xfrm>
        </p:spPr>
        <p:txBody>
          <a:bodyPr/>
          <a:lstStyle>
            <a:lvl1pPr marL="0" indent="0">
              <a:buNone/>
              <a:defRPr sz="1600"/>
            </a:lvl1pPr>
            <a:lvl2pPr marL="536204" indent="0">
              <a:buNone/>
              <a:defRPr sz="1400"/>
            </a:lvl2pPr>
            <a:lvl3pPr marL="1072408" indent="0">
              <a:buNone/>
              <a:defRPr sz="1200"/>
            </a:lvl3pPr>
            <a:lvl4pPr marL="1608612" indent="0">
              <a:buNone/>
              <a:defRPr sz="1100"/>
            </a:lvl4pPr>
            <a:lvl5pPr marL="2144817" indent="0">
              <a:buNone/>
              <a:defRPr sz="1100"/>
            </a:lvl5pPr>
            <a:lvl6pPr marL="2681021" indent="0">
              <a:buNone/>
              <a:defRPr sz="1100"/>
            </a:lvl6pPr>
            <a:lvl7pPr marL="3217225" indent="0">
              <a:buNone/>
              <a:defRPr sz="1100"/>
            </a:lvl7pPr>
            <a:lvl8pPr marL="3753429" indent="0">
              <a:buNone/>
              <a:defRPr sz="1100"/>
            </a:lvl8pPr>
            <a:lvl9pPr marL="4289633" indent="0">
              <a:buNone/>
              <a:defRPr sz="11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ED28358-77FE-4D01-9706-2E344B9F5AF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9896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509203" y="4801712"/>
            <a:ext cx="7680960" cy="566869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509203" y="612917"/>
            <a:ext cx="7680960" cy="4115753"/>
          </a:xfrm>
        </p:spPr>
        <p:txBody>
          <a:bodyPr rtlCol="0">
            <a:normAutofit/>
          </a:bodyPr>
          <a:lstStyle>
            <a:lvl1pPr marL="0" indent="0">
              <a:buNone/>
              <a:defRPr sz="3800"/>
            </a:lvl1pPr>
            <a:lvl2pPr marL="536204" indent="0">
              <a:buNone/>
              <a:defRPr sz="3300"/>
            </a:lvl2pPr>
            <a:lvl3pPr marL="1072408" indent="0">
              <a:buNone/>
              <a:defRPr sz="2800"/>
            </a:lvl3pPr>
            <a:lvl4pPr marL="1608612" indent="0">
              <a:buNone/>
              <a:defRPr sz="2300"/>
            </a:lvl4pPr>
            <a:lvl5pPr marL="2144817" indent="0">
              <a:buNone/>
              <a:defRPr sz="2300"/>
            </a:lvl5pPr>
            <a:lvl6pPr marL="2681021" indent="0">
              <a:buNone/>
              <a:defRPr sz="2300"/>
            </a:lvl6pPr>
            <a:lvl7pPr marL="3217225" indent="0">
              <a:buNone/>
              <a:defRPr sz="2300"/>
            </a:lvl7pPr>
            <a:lvl8pPr marL="3753429" indent="0">
              <a:buNone/>
              <a:defRPr sz="2300"/>
            </a:lvl8pPr>
            <a:lvl9pPr marL="4289633" indent="0">
              <a:buNone/>
              <a:defRPr sz="23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509203" y="5368581"/>
            <a:ext cx="7680960" cy="805048"/>
          </a:xfrm>
        </p:spPr>
        <p:txBody>
          <a:bodyPr/>
          <a:lstStyle>
            <a:lvl1pPr marL="0" indent="0">
              <a:buNone/>
              <a:defRPr sz="1600"/>
            </a:lvl1pPr>
            <a:lvl2pPr marL="536204" indent="0">
              <a:buNone/>
              <a:defRPr sz="1400"/>
            </a:lvl2pPr>
            <a:lvl3pPr marL="1072408" indent="0">
              <a:buNone/>
              <a:defRPr sz="1200"/>
            </a:lvl3pPr>
            <a:lvl4pPr marL="1608612" indent="0">
              <a:buNone/>
              <a:defRPr sz="1100"/>
            </a:lvl4pPr>
            <a:lvl5pPr marL="2144817" indent="0">
              <a:buNone/>
              <a:defRPr sz="1100"/>
            </a:lvl5pPr>
            <a:lvl6pPr marL="2681021" indent="0">
              <a:buNone/>
              <a:defRPr sz="1100"/>
            </a:lvl6pPr>
            <a:lvl7pPr marL="3217225" indent="0">
              <a:buNone/>
              <a:defRPr sz="1100"/>
            </a:lvl7pPr>
            <a:lvl8pPr marL="3753429" indent="0">
              <a:buNone/>
              <a:defRPr sz="1100"/>
            </a:lvl8pPr>
            <a:lvl9pPr marL="4289633" indent="0">
              <a:buNone/>
              <a:defRPr sz="11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3D9FD95-7B77-4D3C-B958-516623C4AD4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21757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527781-B685-41BD-8677-26451031560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3793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9281160" y="274703"/>
            <a:ext cx="2880360" cy="585288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40080" y="274703"/>
            <a:ext cx="8427720" cy="585288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640080" y="6357822"/>
            <a:ext cx="2987040" cy="365210"/>
          </a:xfrm>
          <a:prstGeom prst="rect">
            <a:avLst/>
          </a:prstGeom>
        </p:spPr>
        <p:txBody>
          <a:bodyPr lIns="107241" tIns="53620" rIns="107241" bIns="53620"/>
          <a:lstStyle>
            <a:lvl1pPr>
              <a:defRPr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7D20DC-F672-4E85-9B00-BE397DEE9E1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612162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/>
          <p:cNvCxnSpPr/>
          <p:nvPr userDrawn="1"/>
        </p:nvCxnSpPr>
        <p:spPr bwMode="auto">
          <a:xfrm>
            <a:off x="493396" y="527172"/>
            <a:ext cx="11814811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1377747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C_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508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6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9.xml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8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1.xml"/><Relationship Id="rId15" Type="http://schemas.openxmlformats.org/officeDocument/2006/relationships/theme" Target="../theme/theme4.xml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바닥글 개체 틀 3"/>
          <p:cNvSpPr txBox="1">
            <a:spLocks/>
          </p:cNvSpPr>
          <p:nvPr userDrawn="1"/>
        </p:nvSpPr>
        <p:spPr bwMode="auto">
          <a:xfrm>
            <a:off x="9791962" y="6638994"/>
            <a:ext cx="2843624" cy="2062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467" tIns="46233" rIns="92467" bIns="46233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algn="r" eaLnBrk="1" hangingPunct="1">
              <a:defRPr/>
            </a:pPr>
            <a:fld id="{D88DE2CC-46C9-4BB4-BD10-F21D4DE0FDA2}" type="slidenum">
              <a:rPr kumimoji="0" lang="ko-KR" altLang="en-US" sz="1200" b="1" smtClean="0">
                <a:solidFill>
                  <a:srgbClr val="595959"/>
                </a:solidFill>
                <a:latin typeface="맑은 고딕" pitchFamily="50" charset="-127"/>
                <a:ea typeface="맑은 고딕" pitchFamily="50" charset="-127"/>
              </a:rPr>
              <a:t>‹#›</a:t>
            </a:fld>
            <a:endParaRPr kumimoji="0" lang="ko-KR" altLang="en-US" sz="1200" b="1" dirty="0">
              <a:solidFill>
                <a:srgbClr val="595959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" name="직사각형 4"/>
          <p:cNvSpPr/>
          <p:nvPr userDrawn="1"/>
        </p:nvSpPr>
        <p:spPr>
          <a:xfrm>
            <a:off x="166015" y="116659"/>
            <a:ext cx="12469570" cy="360123"/>
          </a:xfrm>
          <a:prstGeom prst="rect">
            <a:avLst/>
          </a:prstGeom>
          <a:solidFill>
            <a:schemeClr val="bg2"/>
          </a:solidFill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l"/>
            <a:endParaRPr lang="ko-KR" altLang="en-US" sz="1200" b="1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58958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720" r:id="rId1"/>
  </p:sldLayoutIdLst>
  <p:txStyles>
    <p:titleStyle>
      <a:lvl1pPr algn="ctr" defTabSz="924804" rtl="0" eaLnBrk="1" latinLnBrk="1" hangingPunct="1">
        <a:spcBef>
          <a:spcPct val="0"/>
        </a:spcBef>
        <a:buNone/>
        <a:defRPr sz="4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6802" indent="-346802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1pPr>
      <a:lvl2pPr marL="751402" indent="-289003" algn="l" defTabSz="924804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56006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3pPr>
      <a:lvl4pPr marL="1618408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80810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43209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05611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68014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30416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62401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24804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387204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849608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312009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774411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36813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699213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Group 8"/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3869647313"/>
              </p:ext>
            </p:extLst>
          </p:nvPr>
        </p:nvGraphicFramePr>
        <p:xfrm>
          <a:off x="128775" y="108621"/>
          <a:ext cx="12513236" cy="428620"/>
        </p:xfrm>
        <a:graphic>
          <a:graphicData uri="http://schemas.openxmlformats.org/drawingml/2006/table">
            <a:tbl>
              <a:tblPr/>
              <a:tblGrid>
                <a:gridCol w="1412857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881960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864096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416675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21431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화면 </a:t>
                      </a:r>
                      <a:r>
                        <a:rPr kumimoji="1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ID</a:t>
                      </a: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작성자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하현숙</a:t>
                      </a: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1431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화면명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작성일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2026-02-09</a:t>
                      </a:r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바닥글 개체 틀 3"/>
          <p:cNvSpPr txBox="1">
            <a:spLocks/>
          </p:cNvSpPr>
          <p:nvPr userDrawn="1"/>
        </p:nvSpPr>
        <p:spPr bwMode="auto">
          <a:xfrm>
            <a:off x="9791962" y="6638994"/>
            <a:ext cx="2843624" cy="2062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467" tIns="46233" rIns="92467" bIns="46233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algn="r" eaLnBrk="1" hangingPunct="1">
              <a:defRPr/>
            </a:pPr>
            <a:fld id="{D88DE2CC-46C9-4BB4-BD10-F21D4DE0FDA2}" type="slidenum">
              <a:rPr kumimoji="0" lang="ko-KR" altLang="en-US" sz="1200" b="1" smtClean="0">
                <a:solidFill>
                  <a:srgbClr val="595959"/>
                </a:solidFill>
                <a:latin typeface="맑은 고딕" pitchFamily="50" charset="-127"/>
                <a:ea typeface="맑은 고딕" pitchFamily="50" charset="-127"/>
              </a:rPr>
              <a:t>‹#›</a:t>
            </a:fld>
            <a:endParaRPr kumimoji="0" lang="ko-KR" altLang="en-US" sz="1200" b="1" dirty="0">
              <a:solidFill>
                <a:srgbClr val="595959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147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713" r:id="rId1"/>
  </p:sldLayoutIdLst>
  <p:txStyles>
    <p:titleStyle>
      <a:lvl1pPr algn="ctr" defTabSz="924804" rtl="0" eaLnBrk="1" latinLnBrk="1" hangingPunct="1">
        <a:spcBef>
          <a:spcPct val="0"/>
        </a:spcBef>
        <a:buNone/>
        <a:defRPr sz="4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6802" indent="-346802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1pPr>
      <a:lvl2pPr marL="751402" indent="-289003" algn="l" defTabSz="924804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56006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3pPr>
      <a:lvl4pPr marL="1618408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80810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43209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05611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68014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30416" indent="-231201" algn="l" defTabSz="92480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62401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24804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387204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849608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312009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774411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36813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699213" algn="l" defTabSz="92480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바닥글 개체 틀 3"/>
          <p:cNvSpPr txBox="1">
            <a:spLocks/>
          </p:cNvSpPr>
          <p:nvPr userDrawn="1"/>
        </p:nvSpPr>
        <p:spPr bwMode="auto">
          <a:xfrm>
            <a:off x="9791962" y="6638994"/>
            <a:ext cx="2843624" cy="2062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467" tIns="46233" rIns="92467" bIns="46233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algn="r" eaLnBrk="1" hangingPunct="1">
              <a:defRPr/>
            </a:pPr>
            <a:fld id="{D88DE2CC-46C9-4BB4-BD10-F21D4DE0FDA2}" type="slidenum">
              <a:rPr kumimoji="0" lang="ko-KR" altLang="en-US" sz="1200" b="1" smtClean="0">
                <a:solidFill>
                  <a:srgbClr val="595959"/>
                </a:solidFill>
                <a:latin typeface="맑은 고딕" pitchFamily="50" charset="-127"/>
                <a:ea typeface="맑은 고딕" pitchFamily="50" charset="-127"/>
              </a:rPr>
              <a:t>‹#›</a:t>
            </a:fld>
            <a:endParaRPr kumimoji="0" lang="ko-KR" altLang="en-US" sz="1200" b="1" dirty="0">
              <a:solidFill>
                <a:srgbClr val="595959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17" name="표 16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47396342"/>
              </p:ext>
            </p:extLst>
          </p:nvPr>
        </p:nvGraphicFramePr>
        <p:xfrm>
          <a:off x="128775" y="569694"/>
          <a:ext cx="12513234" cy="6101211"/>
        </p:xfrm>
        <a:graphic>
          <a:graphicData uri="http://schemas.openxmlformats.org/drawingml/2006/table">
            <a:tbl>
              <a:tblPr/>
              <a:tblGrid>
                <a:gridCol w="1037648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136753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21479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화면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1177" marB="3117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Description</a:t>
                      </a:r>
                    </a:p>
                  </a:txBody>
                  <a:tcPr marL="108351" marR="108351" marT="31177" marB="3117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588642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1177" marB="3117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1177" marB="3117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Group 8"/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1013317725"/>
              </p:ext>
            </p:extLst>
          </p:nvPr>
        </p:nvGraphicFramePr>
        <p:xfrm>
          <a:off x="128775" y="108621"/>
          <a:ext cx="12513236" cy="428620"/>
        </p:xfrm>
        <a:graphic>
          <a:graphicData uri="http://schemas.openxmlformats.org/drawingml/2006/table">
            <a:tbl>
              <a:tblPr/>
              <a:tblGrid>
                <a:gridCol w="1412857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881960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864096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416675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21431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화면 </a:t>
                      </a:r>
                      <a:r>
                        <a:rPr kumimoji="1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ID</a:t>
                      </a: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작성자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하현숙</a:t>
                      </a: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1431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화면명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작성일</a:t>
                      </a:r>
                      <a:endParaRPr kumimoji="1" lang="en-US" altLang="ko-KR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000" dirty="0">
                          <a:latin typeface="+mn-ea"/>
                          <a:ea typeface="+mn-ea"/>
                        </a:rPr>
                        <a:t>2026-02-09</a:t>
                      </a:r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108351" marR="108351" marT="30937" marB="30937" horzOverflow="overflow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0154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715" r:id="rId1"/>
    <p:sldLayoutId id="2147484716" r:id="rId2"/>
    <p:sldLayoutId id="2147484717" r:id="rId3"/>
    <p:sldLayoutId id="2147484718" r:id="rId4"/>
  </p:sldLayoutIdLst>
  <p:txStyles>
    <p:titleStyle>
      <a:lvl1pPr algn="ctr" defTabSz="924734" rtl="0" eaLnBrk="1" latinLnBrk="1" hangingPunct="1">
        <a:spcBef>
          <a:spcPct val="0"/>
        </a:spcBef>
        <a:buNone/>
        <a:defRPr sz="4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6775" indent="-346775" algn="l" defTabSz="924734" rtl="0" eaLnBrk="1" latinLnBrk="1" hangingPunct="1">
        <a:spcBef>
          <a:spcPct val="20000"/>
        </a:spcBef>
        <a:buFont typeface="Arial" panose="020B0604020202020204" pitchFamily="34" charset="0"/>
        <a:buChar char="•"/>
        <a:defRPr sz="3300" kern="1200">
          <a:solidFill>
            <a:schemeClr val="tx1"/>
          </a:solidFill>
          <a:latin typeface="+mn-lt"/>
          <a:ea typeface="+mn-ea"/>
          <a:cs typeface="+mn-cs"/>
        </a:defRPr>
      </a:lvl1pPr>
      <a:lvl2pPr marL="751344" indent="-288980" algn="l" defTabSz="924734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55918" indent="-231184" algn="l" defTabSz="924734" rtl="0" eaLnBrk="1" latinLnBrk="1" hangingPunct="1">
        <a:spcBef>
          <a:spcPct val="20000"/>
        </a:spcBef>
        <a:buFont typeface="Arial" panose="020B0604020202020204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3pPr>
      <a:lvl4pPr marL="1618283" indent="-231184" algn="l" defTabSz="924734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80649" indent="-231184" algn="l" defTabSz="924734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43013" indent="-231184" algn="l" defTabSz="92473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05380" indent="-231184" algn="l" defTabSz="92473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67747" indent="-231184" algn="l" defTabSz="92473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30114" indent="-231184" algn="l" defTabSz="924734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62366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24734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387098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849466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311832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774197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36563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698929" algn="l" defTabSz="924734" rtl="0" eaLnBrk="1" latinLnBrk="1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525194" y="144497"/>
            <a:ext cx="11665048" cy="3318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07241" tIns="53620" rIns="107241" bIns="536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큰 제목 </a:t>
            </a:r>
            <a:r>
              <a:rPr lang="en-US" altLang="ko-KR"/>
              <a:t>[</a:t>
            </a:r>
            <a:r>
              <a:rPr lang="ko-KR" altLang="en-US"/>
              <a:t>맑은 고딕 </a:t>
            </a:r>
            <a:r>
              <a:rPr lang="en-US" altLang="ko-KR"/>
              <a:t>bold, 14pt]</a:t>
            </a:r>
            <a:endParaRPr lang="ko-KR" altLang="en-US"/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656493" y="549402"/>
            <a:ext cx="11476306" cy="5506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07241" tIns="53620" rIns="107241" bIns="536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기본 문자열 </a:t>
            </a:r>
            <a:r>
              <a:rPr lang="en-US" altLang="ko-KR"/>
              <a:t>[</a:t>
            </a:r>
            <a:r>
              <a:rPr lang="ko-KR" altLang="en-US"/>
              <a:t>맑은 고딕 </a:t>
            </a:r>
            <a:r>
              <a:rPr lang="en-US" altLang="ko-KR"/>
              <a:t>bold, 14pt]</a:t>
            </a:r>
            <a:endParaRPr lang="ko-KR" altLang="en-US"/>
          </a:p>
          <a:p>
            <a:pPr lvl="1"/>
            <a:r>
              <a:rPr lang="ko-KR" altLang="en-US"/>
              <a:t>기본 문자열 </a:t>
            </a:r>
            <a:r>
              <a:rPr lang="en-US" altLang="ko-KR"/>
              <a:t>[</a:t>
            </a:r>
            <a:r>
              <a:rPr lang="ko-KR" altLang="en-US"/>
              <a:t>맑은 고딕</a:t>
            </a:r>
            <a:r>
              <a:rPr lang="en-US" altLang="ko-KR"/>
              <a:t>, 12pt]</a:t>
            </a:r>
            <a:endParaRPr lang="ko-KR" altLang="en-US"/>
          </a:p>
          <a:p>
            <a:pPr lvl="2"/>
            <a:r>
              <a:rPr lang="ko-KR" altLang="en-US"/>
              <a:t>기본 문자열 </a:t>
            </a:r>
            <a:r>
              <a:rPr lang="en-US" altLang="ko-KR"/>
              <a:t>[</a:t>
            </a:r>
            <a:r>
              <a:rPr lang="ko-KR" altLang="en-US"/>
              <a:t>맑은 고딕</a:t>
            </a:r>
            <a:r>
              <a:rPr lang="en-US" altLang="ko-KR"/>
              <a:t>, 12pt]</a:t>
            </a:r>
          </a:p>
          <a:p>
            <a:pPr lvl="3"/>
            <a:r>
              <a:rPr lang="ko-KR" altLang="en-US"/>
              <a:t>기본 문자열 </a:t>
            </a:r>
            <a:r>
              <a:rPr lang="en-US" altLang="ko-KR"/>
              <a:t>[</a:t>
            </a:r>
            <a:r>
              <a:rPr lang="ko-KR" altLang="en-US"/>
              <a:t>맑은 고딕</a:t>
            </a:r>
            <a:r>
              <a:rPr lang="en-US" altLang="ko-KR"/>
              <a:t>, 12pt]</a:t>
            </a:r>
          </a:p>
          <a:p>
            <a:pPr lvl="4"/>
            <a:endParaRPr lang="en-US" altLang="ko-KR"/>
          </a:p>
          <a:p>
            <a:pPr lvl="4"/>
            <a:endParaRPr lang="en-US" altLang="ko-KR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373880" y="6357822"/>
            <a:ext cx="4053840" cy="365210"/>
          </a:xfrm>
          <a:prstGeom prst="rect">
            <a:avLst/>
          </a:prstGeom>
        </p:spPr>
        <p:txBody>
          <a:bodyPr vert="horz" lIns="107241" tIns="53620" rIns="107241" bIns="536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4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74480" y="6494379"/>
            <a:ext cx="2987040" cy="365210"/>
          </a:xfrm>
          <a:prstGeom prst="rect">
            <a:avLst/>
          </a:prstGeom>
        </p:spPr>
        <p:txBody>
          <a:bodyPr vert="horz" lIns="107241" tIns="53620" rIns="107241" bIns="536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1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9B6A1E78-535E-4C4C-9FBF-3AAF332AFC10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  <p:cxnSp>
        <p:nvCxnSpPr>
          <p:cNvPr id="11" name="직선 연결선 10"/>
          <p:cNvCxnSpPr/>
          <p:nvPr/>
        </p:nvCxnSpPr>
        <p:spPr bwMode="auto">
          <a:xfrm>
            <a:off x="494422" y="527172"/>
            <a:ext cx="11814809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4462" r:id="rId1"/>
    <p:sldLayoutId id="2147484463" r:id="rId2"/>
    <p:sldLayoutId id="2147484464" r:id="rId3"/>
    <p:sldLayoutId id="2147484465" r:id="rId4"/>
    <p:sldLayoutId id="2147484466" r:id="rId5"/>
    <p:sldLayoutId id="2147484467" r:id="rId6"/>
    <p:sldLayoutId id="2147484468" r:id="rId7"/>
    <p:sldLayoutId id="2147484469" r:id="rId8"/>
    <p:sldLayoutId id="2147484470" r:id="rId9"/>
    <p:sldLayoutId id="2147484471" r:id="rId10"/>
    <p:sldLayoutId id="2147484472" r:id="rId11"/>
    <p:sldLayoutId id="2147484473" r:id="rId12"/>
    <p:sldLayoutId id="2147484474" r:id="rId13"/>
    <p:sldLayoutId id="2147484721" r:id="rId14"/>
  </p:sldLayoutIdLst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lang="ko-KR" altLang="en-US" sz="1600" b="1" kern="1200" dirty="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536204" algn="l" rtl="0" fontAlgn="base" latinLnBrk="1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1072408" algn="l" rtl="0" fontAlgn="base" latinLnBrk="1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608612" algn="l" rtl="0" fontAlgn="base" latinLnBrk="1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2144817" algn="l" rtl="0" fontAlgn="base" latinLnBrk="1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266241" indent="-266241" algn="l" rtl="0" eaLnBrk="0" fontAlgn="base" latinLnBrk="1" hangingPunct="0">
        <a:lnSpc>
          <a:spcPct val="150000"/>
        </a:lnSpc>
        <a:spcBef>
          <a:spcPct val="20000"/>
        </a:spcBef>
        <a:spcAft>
          <a:spcPct val="0"/>
        </a:spcAft>
        <a:buFont typeface="Wingdings" pitchFamily="2" charset="2"/>
        <a:buChar char=""/>
        <a:defRPr sz="1600" b="1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491520" indent="-215971" algn="l" rtl="0" eaLnBrk="0" fontAlgn="base" latinLnBrk="1" hangingPunct="0">
        <a:lnSpc>
          <a:spcPct val="150000"/>
        </a:lnSpc>
        <a:spcBef>
          <a:spcPct val="20000"/>
        </a:spcBef>
        <a:spcAft>
          <a:spcPct val="0"/>
        </a:spcAft>
        <a:buFont typeface="Wingdings" pitchFamily="2" charset="2"/>
        <a:buChar char="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688873" indent="-147084" algn="l" rtl="0" eaLnBrk="0" fontAlgn="base" latinLnBrk="1" hangingPunct="0">
        <a:lnSpc>
          <a:spcPct val="150000"/>
        </a:lnSpc>
        <a:spcBef>
          <a:spcPct val="20000"/>
        </a:spcBef>
        <a:spcAft>
          <a:spcPct val="0"/>
        </a:spcAft>
        <a:buFont typeface="맑은 고딕" pitchFamily="50" charset="-127"/>
        <a:buChar char="-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895536" indent="-167564" algn="l" rtl="0" eaLnBrk="0" fontAlgn="base" latinLnBrk="1" hangingPunct="0">
        <a:lnSpc>
          <a:spcPct val="150000"/>
        </a:lnSpc>
        <a:spcBef>
          <a:spcPct val="20000"/>
        </a:spcBef>
        <a:spcAft>
          <a:spcPct val="0"/>
        </a:spcAft>
        <a:buFont typeface="Wingdings" pitchFamily="2" charset="2"/>
        <a:buChar char="§"/>
        <a:tabLst>
          <a:tab pos="845266" algn="l"/>
        </a:tabLst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1396365" indent="-137775" algn="l" rtl="0" eaLnBrk="0" fontAlgn="base" latinLnBrk="1" hangingPunct="0">
        <a:lnSpc>
          <a:spcPct val="150000"/>
        </a:lnSpc>
        <a:spcBef>
          <a:spcPct val="20000"/>
        </a:spcBef>
        <a:spcAft>
          <a:spcPct val="0"/>
        </a:spcAft>
        <a:buFont typeface="Arial" pitchFamily="34" charset="0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949123" indent="-268102" algn="l" defTabSz="1072408" rtl="0" eaLnBrk="1" latinLnBrk="1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85327" indent="-268102" algn="l" defTabSz="1072408" rtl="0" eaLnBrk="1" latinLnBrk="1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21531" indent="-268102" algn="l" defTabSz="1072408" rtl="0" eaLnBrk="1" latinLnBrk="1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57735" indent="-268102" algn="l" defTabSz="1072408" rtl="0" eaLnBrk="1" latinLnBrk="1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36204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72408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08612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44817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81021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217225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753429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89633" algn="l" defTabSz="1072408" rtl="0" eaLnBrk="1" latinLnBrk="1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.google.com/store/apps/details?id=kt.co.ktmmobile&amp;hl=ko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>
            <a:spLocks noGrp="1"/>
          </p:cNvSpPr>
          <p:nvPr>
            <p:ph type="ctrTitle"/>
          </p:nvPr>
        </p:nvSpPr>
        <p:spPr>
          <a:xfrm>
            <a:off x="6400800" y="1587978"/>
            <a:ext cx="5883851" cy="471596"/>
          </a:xfrm>
          <a:ln/>
        </p:spPr>
        <p:txBody>
          <a:bodyPr/>
          <a:lstStyle/>
          <a:p>
            <a:pPr algn="r"/>
            <a:r>
              <a:rPr lang="en-US" altLang="ko-KR" dirty="0"/>
              <a:t>UI </a:t>
            </a:r>
            <a:r>
              <a:rPr lang="ko-KR" altLang="en-US" dirty="0"/>
              <a:t>설계서</a:t>
            </a:r>
          </a:p>
        </p:txBody>
      </p:sp>
      <p:sp>
        <p:nvSpPr>
          <p:cNvPr id="9" name="부제목 2"/>
          <p:cNvSpPr>
            <a:spLocks noGrp="1"/>
          </p:cNvSpPr>
          <p:nvPr>
            <p:ph type="subTitle" idx="1"/>
          </p:nvPr>
        </p:nvSpPr>
        <p:spPr>
          <a:xfrm>
            <a:off x="7517478" y="1197030"/>
            <a:ext cx="4735656" cy="312809"/>
          </a:xfrm>
          <a:ln/>
        </p:spPr>
        <p:txBody>
          <a:bodyPr/>
          <a:lstStyle/>
          <a:p>
            <a:pPr algn="r"/>
            <a:r>
              <a:rPr lang="en-US" altLang="ko-KR" sz="1600" dirty="0"/>
              <a:t>[</a:t>
            </a:r>
            <a:r>
              <a:rPr lang="ko-KR" altLang="en-US" sz="1600" dirty="0"/>
              <a:t>스마트서식지</a:t>
            </a:r>
            <a:r>
              <a:rPr lang="en-US" altLang="ko-KR" sz="1600" dirty="0"/>
              <a:t>]</a:t>
            </a:r>
            <a:endParaRPr sz="1600" dirty="0"/>
          </a:p>
        </p:txBody>
      </p:sp>
      <p:graphicFrame>
        <p:nvGraphicFramePr>
          <p:cNvPr id="10" name="표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8970919"/>
              </p:ext>
            </p:extLst>
          </p:nvPr>
        </p:nvGraphicFramePr>
        <p:xfrm>
          <a:off x="7475351" y="4294090"/>
          <a:ext cx="4694952" cy="1368468"/>
        </p:xfrm>
        <a:graphic>
          <a:graphicData uri="http://schemas.openxmlformats.org/drawingml/2006/table">
            <a:tbl>
              <a:tblPr/>
              <a:tblGrid>
                <a:gridCol w="174691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2948041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342117">
                <a:tc>
                  <a:txBody>
                    <a:bodyPr/>
                    <a:lstStyle/>
                    <a:p>
                      <a:pPr algn="dist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문 서 번 호</a:t>
                      </a:r>
                      <a:endParaRPr lang="ko-KR" sz="1000" kern="100" dirty="0">
                        <a:effectLst/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auto" latinLnBrk="0"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b="1" kern="100" dirty="0">
                          <a:effectLst/>
                          <a:latin typeface="+mn-ea"/>
                          <a:ea typeface="+mn-ea"/>
                        </a:rPr>
                        <a:t>스마트서식지</a:t>
                      </a:r>
                      <a:r>
                        <a:rPr lang="en-US" altLang="ko-KR" sz="1000" b="1" kern="100" dirty="0">
                          <a:effectLst/>
                          <a:latin typeface="+mn-ea"/>
                          <a:ea typeface="+mn-ea"/>
                        </a:rPr>
                        <a:t>-DS-02</a:t>
                      </a:r>
                      <a:r>
                        <a:rPr lang="en-US" sz="1000" b="1" kern="100" dirty="0">
                          <a:effectLst/>
                          <a:latin typeface="+mn-ea"/>
                          <a:ea typeface="+mn-ea"/>
                        </a:rPr>
                        <a:t> </a:t>
                      </a:r>
                      <a:endParaRPr lang="ko-KR" sz="1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42117">
                <a:tc>
                  <a:txBody>
                    <a:bodyPr/>
                    <a:lstStyle/>
                    <a:p>
                      <a:pPr algn="dist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문 서 </a:t>
                      </a:r>
                      <a:r>
                        <a:rPr lang="ko-KR" sz="1000" b="1" kern="100" dirty="0" err="1"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버</a:t>
                      </a:r>
                      <a:r>
                        <a:rPr lang="ko-KR" sz="1000" b="1" kern="100" dirty="0"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 전</a:t>
                      </a:r>
                      <a:endParaRPr lang="ko-KR" sz="1000" kern="100" dirty="0">
                        <a:effectLst/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auto" latinLnBrk="0"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en-US" sz="1000" b="1" kern="100" dirty="0">
                          <a:effectLst/>
                          <a:latin typeface="+mn-ea"/>
                          <a:ea typeface="+mn-ea"/>
                        </a:rPr>
                        <a:t> </a:t>
                      </a:r>
                      <a:r>
                        <a:rPr lang="en-US" sz="1000" b="1" kern="100" dirty="0" smtClean="0">
                          <a:effectLst/>
                          <a:latin typeface="+mn-ea"/>
                          <a:ea typeface="+mn-ea"/>
                        </a:rPr>
                        <a:t>v1.0</a:t>
                      </a:r>
                      <a:endParaRPr lang="ko-KR" sz="1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42117">
                <a:tc>
                  <a:txBody>
                    <a:bodyPr/>
                    <a:lstStyle/>
                    <a:p>
                      <a:pPr algn="dist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작 성 일 자</a:t>
                      </a:r>
                      <a:endParaRPr lang="ko-KR" sz="1000" kern="100" dirty="0">
                        <a:effectLst/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auto" latinLnBrk="0"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b="1" kern="100" dirty="0" smtClean="0">
                          <a:effectLst/>
                          <a:latin typeface="+mn-ea"/>
                          <a:ea typeface="+mn-ea"/>
                        </a:rPr>
                        <a:t> 2026.03.10</a:t>
                      </a:r>
                      <a:endParaRPr lang="ko-KR" sz="10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42117">
                <a:tc>
                  <a:txBody>
                    <a:bodyPr/>
                    <a:lstStyle/>
                    <a:p>
                      <a:pPr algn="dist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/>
                          <a:ea typeface="맑은 고딕"/>
                          <a:cs typeface="맑은 고딕"/>
                        </a:rPr>
                        <a:t>작성자</a:t>
                      </a:r>
                      <a:endParaRPr lang="ko-KR" sz="1000" kern="100" dirty="0">
                        <a:effectLst/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auto" latinLnBrk="0">
                        <a:lnSpc>
                          <a:spcPts val="1200"/>
                        </a:lnSpc>
                        <a:spcAft>
                          <a:spcPts val="0"/>
                        </a:spcAft>
                      </a:pPr>
                      <a:r>
                        <a:rPr lang="en-US" sz="1000" b="1" kern="100" dirty="0">
                          <a:effectLst/>
                          <a:latin typeface="+mn-ea"/>
                          <a:ea typeface="+mn-ea"/>
                        </a:rPr>
                        <a:t> </a:t>
                      </a:r>
                      <a:r>
                        <a:rPr lang="ko-KR" altLang="en-US" sz="1000" b="1" kern="100" dirty="0">
                          <a:effectLst/>
                          <a:latin typeface="+mn-ea"/>
                          <a:ea typeface="+mn-ea"/>
                        </a:rPr>
                        <a:t>하현숙</a:t>
                      </a:r>
                      <a:endParaRPr lang="ko-KR" sz="1000" b="1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81241" marR="81241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11" name="직선 연결선 10"/>
          <p:cNvCxnSpPr/>
          <p:nvPr/>
        </p:nvCxnSpPr>
        <p:spPr>
          <a:xfrm>
            <a:off x="6400800" y="2061325"/>
            <a:ext cx="5768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D:\1_Working\2025년_엠모바일_스마트서식지\산출물\202509241717380629SkAXV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118" y="299910"/>
            <a:ext cx="2304000" cy="702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제목 1"/>
          <p:cNvSpPr txBox="1">
            <a:spLocks/>
          </p:cNvSpPr>
          <p:nvPr/>
        </p:nvSpPr>
        <p:spPr bwMode="auto">
          <a:xfrm>
            <a:off x="466725" y="182607"/>
            <a:ext cx="8261033" cy="327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07241" tIns="53620" rIns="107241" bIns="53620"/>
          <a:lstStyle>
            <a:lvl1pPr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fontAlgn="b" hangingPunct="1">
              <a:spcBef>
                <a:spcPct val="50000"/>
              </a:spcBef>
            </a:pPr>
            <a:r>
              <a:rPr lang="ko-KR" altLang="en-US" sz="1600" b="1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승인이력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7832041"/>
              </p:ext>
            </p:extLst>
          </p:nvPr>
        </p:nvGraphicFramePr>
        <p:xfrm>
          <a:off x="509994" y="837591"/>
          <a:ext cx="11844371" cy="2219715"/>
        </p:xfrm>
        <a:graphic>
          <a:graphicData uri="http://schemas.openxmlformats.org/drawingml/2006/table">
            <a:tbl>
              <a:tblPr firstRow="1" firstCol="1" bandRow="1"/>
              <a:tblGrid>
                <a:gridCol w="324881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718595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718595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050185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1388295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1719886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</a:tblGrid>
              <a:tr h="443943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수행 역할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소속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이름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승인일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서명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비고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443943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작성자</a:t>
                      </a: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kt</a:t>
                      </a: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 ds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+mn-lt"/>
                          <a:ea typeface="+mn-ea"/>
                          <a:cs typeface="Times New Roman"/>
                        </a:rPr>
                        <a:t>하현숙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00" dirty="0">
                          <a:effectLst/>
                          <a:latin typeface="+mn-ea"/>
                          <a:ea typeface="+mn-ea"/>
                        </a:rPr>
                        <a:t> 2026.02.09</a:t>
                      </a:r>
                      <a:endParaRPr lang="ko-KR" altLang="ko-KR" sz="1400" b="0" dirty="0">
                        <a:effectLst/>
                        <a:latin typeface="+mn-lt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하현숙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443943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검토자</a:t>
                      </a:r>
                      <a:r>
                        <a:rPr lang="en-US" alt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(PL)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kt ds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김남용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00" dirty="0">
                          <a:effectLst/>
                          <a:latin typeface="+mn-ea"/>
                          <a:ea typeface="+mn-ea"/>
                        </a:rPr>
                        <a:t> </a:t>
                      </a:r>
                      <a:r>
                        <a:rPr lang="en-US" altLang="ko-KR" sz="1100" b="0" kern="100" dirty="0" smtClean="0">
                          <a:effectLst/>
                          <a:latin typeface="+mn-ea"/>
                          <a:ea typeface="+mn-ea"/>
                        </a:rPr>
                        <a:t>2026.02.27</a:t>
                      </a:r>
                      <a:endParaRPr lang="ko-KR" altLang="ko-KR" sz="1400" b="0" dirty="0">
                        <a:effectLst/>
                        <a:latin typeface="+mn-lt"/>
                        <a:ea typeface="+mn-ea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+mn-lt"/>
                          <a:ea typeface="+mn-ea"/>
                          <a:cs typeface="Times New Roman"/>
                        </a:rPr>
                        <a:t>김남용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443943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프로젝트관리자</a:t>
                      </a: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(PM)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 err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kt</a:t>
                      </a: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 ds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err="1">
                          <a:effectLst/>
                          <a:latin typeface="+mn-lt"/>
                          <a:ea typeface="+mn-ea"/>
                          <a:cs typeface="Times New Roman"/>
                        </a:rPr>
                        <a:t>민천홍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00" dirty="0" smtClean="0">
                          <a:effectLst/>
                          <a:latin typeface="+mn-ea"/>
                          <a:ea typeface="+mn-ea"/>
                        </a:rPr>
                        <a:t> 2026.02.27</a:t>
                      </a:r>
                      <a:endParaRPr lang="ko-KR" sz="1400" b="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err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민천홍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443943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사업총괄 </a:t>
                      </a: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PM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dirty="0" err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고객사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민경원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0" kern="100" dirty="0">
                          <a:effectLst/>
                          <a:latin typeface="+mn-ea"/>
                          <a:ea typeface="+mn-ea"/>
                        </a:rPr>
                        <a:t> </a:t>
                      </a:r>
                      <a:r>
                        <a:rPr lang="en-US" altLang="ko-KR" sz="1100" b="0" kern="100" dirty="0" smtClean="0">
                          <a:effectLst/>
                          <a:latin typeface="+mn-ea"/>
                          <a:ea typeface="+mn-ea"/>
                        </a:rPr>
                        <a:t>2026.03.03</a:t>
                      </a:r>
                      <a:endParaRPr lang="ko-KR" sz="1400" b="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smtClean="0">
                          <a:effectLst/>
                          <a:latin typeface="+mn-lt"/>
                          <a:ea typeface="+mn-ea"/>
                          <a:cs typeface="Times New Roman"/>
                        </a:rPr>
                        <a:t>민경원</a:t>
                      </a:r>
                      <a:r>
                        <a:rPr lang="en-US" altLang="ko-KR" sz="1100" dirty="0" smtClean="0">
                          <a:effectLst/>
                          <a:latin typeface="+mn-lt"/>
                          <a:ea typeface="+mn-ea"/>
                          <a:cs typeface="Times New Roman"/>
                        </a:rPr>
                        <a:t>/</a:t>
                      </a:r>
                      <a:r>
                        <a:rPr lang="ko-KR" altLang="en-US" sz="1100" dirty="0" smtClean="0">
                          <a:effectLst/>
                          <a:latin typeface="+mn-lt"/>
                          <a:ea typeface="+mn-ea"/>
                          <a:cs typeface="Times New Roman"/>
                        </a:rPr>
                        <a:t>강성룡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37" marR="88637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8043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18" name="제목 1"/>
          <p:cNvSpPr txBox="1">
            <a:spLocks/>
          </p:cNvSpPr>
          <p:nvPr/>
        </p:nvSpPr>
        <p:spPr bwMode="auto">
          <a:xfrm>
            <a:off x="466725" y="182607"/>
            <a:ext cx="8261033" cy="327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07241" tIns="53620" rIns="107241" bIns="53620"/>
          <a:lstStyle>
            <a:lvl1pPr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fontAlgn="b" hangingPunct="1">
              <a:spcBef>
                <a:spcPct val="50000"/>
              </a:spcBef>
            </a:pPr>
            <a:r>
              <a:rPr lang="ko-KR" altLang="en-US" sz="1600" b="1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개정이력</a:t>
            </a:r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5159154"/>
              </p:ext>
            </p:extLst>
          </p:nvPr>
        </p:nvGraphicFramePr>
        <p:xfrm>
          <a:off x="497554" y="836906"/>
          <a:ext cx="11829299" cy="3157952"/>
        </p:xfrm>
        <a:graphic>
          <a:graphicData uri="http://schemas.openxmlformats.org/drawingml/2006/table">
            <a:tbl>
              <a:tblPr firstRow="1" firstCol="1" bandRow="1"/>
              <a:tblGrid>
                <a:gridCol w="1968973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26668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6431376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162262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362669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날</a:t>
                      </a: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짜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버전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변경내용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b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작성자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0" kern="100" dirty="0">
                          <a:effectLst/>
                          <a:latin typeface="+mn-ea"/>
                          <a:ea typeface="+mn-ea"/>
                        </a:rPr>
                        <a:t>2026.02.09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0.6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최초 작성</a:t>
                      </a: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하현숙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0" kern="100" smtClean="0">
                          <a:effectLst/>
                          <a:latin typeface="+mn-ea"/>
                          <a:ea typeface="+mn-ea"/>
                        </a:rPr>
                        <a:t>2026.02.27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0.7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+mn-lt"/>
                          <a:ea typeface="+mn-ea"/>
                          <a:cs typeface="Times New Roman"/>
                        </a:rPr>
                        <a:t>내부 동료검토</a:t>
                      </a: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김남용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0" kern="100" smtClean="0">
                          <a:effectLst/>
                          <a:latin typeface="+mn-ea"/>
                          <a:ea typeface="+mn-ea"/>
                        </a:rPr>
                        <a:t>2026.02.27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0.8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QA</a:t>
                      </a:r>
                      <a:r>
                        <a:rPr lang="ko-KR" altLang="en-US" sz="1100" baseline="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검토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err="1">
                          <a:effectLst/>
                          <a:latin typeface="+mn-lt"/>
                          <a:ea typeface="+mn-ea"/>
                          <a:cs typeface="Times New Roman"/>
                        </a:rPr>
                        <a:t>민천홍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0" kern="100" dirty="0" smtClean="0">
                          <a:effectLst/>
                          <a:latin typeface="+mn-ea"/>
                          <a:ea typeface="+mn-ea"/>
                        </a:rPr>
                        <a:t>2026.02.27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0.9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PM</a:t>
                      </a:r>
                      <a:r>
                        <a:rPr lang="ko-KR" alt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검토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err="1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민천홍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0" kern="100" dirty="0" smtClean="0">
                          <a:effectLst/>
                          <a:latin typeface="+mn-ea"/>
                          <a:ea typeface="+mn-ea"/>
                        </a:rPr>
                        <a:t>2026.03.03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1.0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고객검토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smtClean="0">
                          <a:effectLst/>
                          <a:latin typeface="+mn-lt"/>
                          <a:ea typeface="+mn-ea"/>
                          <a:cs typeface="Times New Roman"/>
                        </a:rPr>
                        <a:t>민경원</a:t>
                      </a:r>
                      <a:r>
                        <a:rPr lang="en-US" altLang="ko-KR" sz="1100" dirty="0" smtClean="0">
                          <a:effectLst/>
                          <a:latin typeface="+mn-lt"/>
                          <a:ea typeface="+mn-ea"/>
                          <a:cs typeface="Times New Roman"/>
                        </a:rPr>
                        <a:t>/</a:t>
                      </a:r>
                      <a:r>
                        <a:rPr lang="ko-KR" altLang="en-US" sz="1100" dirty="0" smtClean="0">
                          <a:effectLst/>
                          <a:latin typeface="+mn-lt"/>
                          <a:ea typeface="+mn-ea"/>
                          <a:cs typeface="Times New Roman"/>
                        </a:rPr>
                        <a:t>강성룡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2026.03.10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1.0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화면설계서 </a:t>
                      </a:r>
                      <a:r>
                        <a:rPr lang="ko-KR" altLang="en-US" sz="1100" dirty="0" err="1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리뷰시</a:t>
                      </a:r>
                      <a:r>
                        <a:rPr lang="ko-KR" altLang="en-US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 수정사항 반영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dirty="0" smtClean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하현숙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ko-KR" sz="1100" dirty="0">
                        <a:effectLst/>
                        <a:latin typeface="+mn-lt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ko-KR" sz="1100" dirty="0">
                        <a:effectLst/>
                        <a:latin typeface="+mn-lt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310587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 </a:t>
                      </a:r>
                      <a:endParaRPr lang="ko-KR" sz="1100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88626" marR="88626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383699"/>
      </p:ext>
    </p:extLst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18" name="제목 1"/>
          <p:cNvSpPr txBox="1">
            <a:spLocks/>
          </p:cNvSpPr>
          <p:nvPr/>
        </p:nvSpPr>
        <p:spPr bwMode="auto">
          <a:xfrm>
            <a:off x="466724" y="182608"/>
            <a:ext cx="8261033" cy="327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9398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eaLnBrk="1" fontAlgn="b" hangingPunct="1">
              <a:spcBef>
                <a:spcPct val="50000"/>
              </a:spcBef>
            </a:pPr>
            <a:r>
              <a:rPr lang="en-US" altLang="ko-KR" sz="1400" b="1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1. UI </a:t>
            </a:r>
            <a:r>
              <a:rPr lang="ko-KR" altLang="en-US" sz="1400" b="1" dirty="0">
                <a:solidFill>
                  <a:srgbClr val="000000"/>
                </a:solidFill>
                <a:latin typeface="맑은 고딕" pitchFamily="50" charset="-127"/>
                <a:ea typeface="맑은 고딕" pitchFamily="50" charset="-127"/>
              </a:rPr>
              <a:t>목록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0105" y="109568"/>
            <a:ext cx="6897938" cy="20164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endParaRPr lang="ko-KR" altLang="en-US" sz="1000" dirty="0">
              <a:latin typeface="+mn-ea"/>
              <a:ea typeface="+mn-ea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="" xmlns:a16="http://schemas.microsoft.com/office/drawing/2014/main" id="{90092CCC-C593-A522-5F54-743CF9BF5C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8226178"/>
              </p:ext>
            </p:extLst>
          </p:nvPr>
        </p:nvGraphicFramePr>
        <p:xfrm>
          <a:off x="497555" y="622138"/>
          <a:ext cx="11829299" cy="1872000"/>
        </p:xfrm>
        <a:graphic>
          <a:graphicData uri="http://schemas.openxmlformats.org/drawingml/2006/table">
            <a:tbl>
              <a:tblPr firstRow="1" firstCol="1" bandRow="1"/>
              <a:tblGrid>
                <a:gridCol w="57531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07945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376264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3744416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2808312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1245534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1" baseline="0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No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화면 </a:t>
                      </a:r>
                      <a:r>
                        <a:rPr lang="en-US" alt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ID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화면 명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메뉴 경로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설명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화면 구분</a:t>
                      </a:r>
                      <a:endParaRPr lang="en-US" alt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(</a:t>
                      </a: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신규</a:t>
                      </a:r>
                      <a:r>
                        <a:rPr lang="en-US" alt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, </a:t>
                      </a: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변경</a:t>
                      </a:r>
                      <a:r>
                        <a:rPr lang="en-US" alt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, </a:t>
                      </a:r>
                      <a:r>
                        <a:rPr lang="ko-KR" altLang="en-US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유지</a:t>
                      </a:r>
                      <a:r>
                        <a:rPr lang="en-US" altLang="ko-KR" sz="1100" b="1" dirty="0">
                          <a:effectLst/>
                          <a:latin typeface="맑은 고딕"/>
                          <a:ea typeface="맑은 고딕"/>
                          <a:cs typeface="Times New Roman"/>
                        </a:rPr>
                        <a:t>)</a:t>
                      </a:r>
                      <a:endParaRPr lang="ko-KR" sz="1100" b="1" dirty="0">
                        <a:effectLst/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72000" marR="72000" marT="0" marB="0" anchor="ctr">
                    <a:lnL w="2857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1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S103050101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메인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명의변경 </a:t>
                      </a:r>
                      <a:r>
                        <a:rPr lang="ko-KR" alt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신청서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메인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351759673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2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S103010101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고객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명의변경 신청서 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&gt;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고객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고객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3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S103020101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명의변경 신청서 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&gt;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4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S103030101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동의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명의변경 신청서 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&gt;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동의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동의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5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S103030103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신청정보 확인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신청정보 확인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en-US" altLang="ko-KR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6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>
                      <a:noFill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S103040101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신청완료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명의변경 신청서 </a:t>
                      </a: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&gt; </a:t>
                      </a: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신청완료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신청완료</a:t>
                      </a:r>
                    </a:p>
                  </a:txBody>
                  <a:tcPr marL="72000" marR="72000" marT="9525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신규</a:t>
                      </a:r>
                      <a:endParaRPr lang="ko-KR" sz="1000" dirty="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4216084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280400" y="189434"/>
            <a:ext cx="2520000" cy="288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latin typeface="+mn-ea"/>
                <a:ea typeface="+mn-ea"/>
              </a:rPr>
              <a:t>명의변경 신청서 작성 </a:t>
            </a:r>
            <a:r>
              <a:rPr lang="en-US" altLang="ko-KR" sz="1000" b="1" dirty="0">
                <a:latin typeface="+mn-ea"/>
                <a:ea typeface="+mn-ea"/>
              </a:rPr>
              <a:t>(1/2)</a:t>
            </a:r>
            <a:endParaRPr lang="ko-KR" altLang="en-US" sz="1000" b="1" dirty="0">
              <a:latin typeface="+mn-ea"/>
              <a:ea typeface="+mn-ea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80400" y="549474"/>
            <a:ext cx="900000" cy="56886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고객</a:t>
            </a:r>
          </a:p>
        </p:txBody>
      </p:sp>
      <p:sp>
        <p:nvSpPr>
          <p:cNvPr id="120" name="직사각형 119"/>
          <p:cNvSpPr/>
          <p:nvPr/>
        </p:nvSpPr>
        <p:spPr>
          <a:xfrm>
            <a:off x="1333202" y="549514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양도고객 고객유형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내국인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미성년자</a:t>
            </a:r>
            <a:r>
              <a:rPr lang="en-US" altLang="ko-KR" sz="800" dirty="0">
                <a:latin typeface="+mn-ea"/>
                <a:ea typeface="+mn-ea"/>
              </a:rPr>
              <a:t>(19</a:t>
            </a:r>
            <a:r>
              <a:rPr lang="ko-KR" altLang="en-US" sz="800" dirty="0">
                <a:latin typeface="+mn-ea"/>
                <a:ea typeface="+mn-ea"/>
              </a:rPr>
              <a:t>세 미만</a:t>
            </a:r>
            <a:r>
              <a:rPr lang="en-US" altLang="ko-KR" sz="800" dirty="0">
                <a:latin typeface="+mn-ea"/>
                <a:ea typeface="+mn-ea"/>
              </a:rPr>
              <a:t>)/</a:t>
            </a:r>
            <a:r>
              <a:rPr lang="ko-KR" altLang="en-US" sz="800" dirty="0">
                <a:latin typeface="+mn-ea"/>
                <a:ea typeface="+mn-ea"/>
              </a:rPr>
              <a:t>외국인</a:t>
            </a:r>
            <a:r>
              <a:rPr lang="en-US" altLang="ko-KR" sz="800" dirty="0">
                <a:latin typeface="+mn-ea"/>
                <a:ea typeface="+mn-ea"/>
              </a:rPr>
              <a:t>(Foreigner)/</a:t>
            </a:r>
            <a:r>
              <a:rPr lang="ko-KR" altLang="en-US" sz="800" dirty="0">
                <a:latin typeface="+mn-ea"/>
                <a:ea typeface="+mn-ea"/>
              </a:rPr>
              <a:t>외국인</a:t>
            </a:r>
            <a:r>
              <a:rPr lang="en-US" altLang="ko-KR" sz="800" dirty="0">
                <a:latin typeface="+mn-ea"/>
                <a:ea typeface="+mn-ea"/>
              </a:rPr>
              <a:t>(Foreigner) </a:t>
            </a:r>
            <a:r>
              <a:rPr lang="ko-KR" altLang="en-US" sz="800" dirty="0">
                <a:latin typeface="+mn-ea"/>
                <a:ea typeface="+mn-ea"/>
              </a:rPr>
              <a:t>미성년자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법인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공공기관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21" name="직사각형 120"/>
          <p:cNvSpPr/>
          <p:nvPr/>
        </p:nvSpPr>
        <p:spPr>
          <a:xfrm>
            <a:off x="1333202" y="2349674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방문고객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본인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대리인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22" name="직사각형 121"/>
          <p:cNvSpPr/>
          <p:nvPr/>
        </p:nvSpPr>
        <p:spPr>
          <a:xfrm>
            <a:off x="1333202" y="909514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양도고객 가입자 정보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이름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생년월일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법인등록번호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1333202" y="1269554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명의변경 휴대폰번호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체크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  <a:endParaRPr lang="ko-KR" altLang="en-US" sz="800" b="1" dirty="0">
              <a:latin typeface="+mn-ea"/>
              <a:ea typeface="+mn-ea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1333202" y="2709714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양수고객 신분증 확인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주민등록증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운전면허증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 err="1">
                <a:latin typeface="+mn-ea"/>
                <a:ea typeface="+mn-ea"/>
              </a:rPr>
              <a:t>모바일신분증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신원확인</a:t>
            </a:r>
            <a:r>
              <a:rPr lang="en-US" altLang="ko-KR" sz="800" dirty="0">
                <a:latin typeface="+mn-ea"/>
                <a:ea typeface="+mn-ea"/>
              </a:rPr>
              <a:t>(</a:t>
            </a:r>
            <a:r>
              <a:rPr lang="ko-KR" altLang="en-US" sz="800" dirty="0">
                <a:latin typeface="+mn-ea"/>
                <a:ea typeface="+mn-ea"/>
              </a:rPr>
              <a:t>안면인증</a:t>
            </a:r>
            <a:r>
              <a:rPr lang="en-US" altLang="ko-KR" sz="800" dirty="0">
                <a:latin typeface="+mn-ea"/>
                <a:ea typeface="+mn-ea"/>
              </a:rPr>
              <a:t>)</a:t>
            </a:r>
            <a:endParaRPr lang="en-US" altLang="ko-KR" sz="800" dirty="0">
              <a:solidFill>
                <a:srgbClr val="0070C0"/>
              </a:solidFill>
              <a:latin typeface="+mn-ea"/>
              <a:ea typeface="+mn-ea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1333202" y="4870066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양수고객 연락처 정보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연락처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 err="1">
                <a:latin typeface="+mn-ea"/>
                <a:ea typeface="+mn-ea"/>
              </a:rPr>
              <a:t>이메일주소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 smtClean="0">
                <a:latin typeface="+mn-ea"/>
                <a:ea typeface="+mn-ea"/>
              </a:rPr>
              <a:t>주소</a:t>
            </a:r>
            <a:r>
              <a:rPr lang="en-US" altLang="ko-KR" sz="800" dirty="0" smtClean="0">
                <a:latin typeface="+mn-ea"/>
                <a:ea typeface="+mn-ea"/>
              </a:rPr>
              <a:t>, </a:t>
            </a:r>
            <a:r>
              <a:rPr lang="ko-KR" altLang="en-US" sz="800" dirty="0" smtClean="0">
                <a:latin typeface="+mn-ea"/>
                <a:ea typeface="+mn-ea"/>
              </a:rPr>
              <a:t>국가</a:t>
            </a:r>
            <a:r>
              <a:rPr lang="en-US" altLang="ko-KR" sz="800" dirty="0" smtClean="0">
                <a:latin typeface="+mn-ea"/>
                <a:ea typeface="+mn-ea"/>
              </a:rPr>
              <a:t>/</a:t>
            </a:r>
            <a:r>
              <a:rPr lang="ko-KR" altLang="en-US" sz="800" dirty="0" smtClean="0">
                <a:latin typeface="+mn-ea"/>
                <a:ea typeface="+mn-ea"/>
              </a:rPr>
              <a:t>체류기간</a:t>
            </a:r>
            <a:r>
              <a:rPr lang="en-US" altLang="ko-KR" sz="800" dirty="0" smtClean="0">
                <a:latin typeface="+mn-ea"/>
                <a:ea typeface="+mn-ea"/>
              </a:rPr>
              <a:t>/</a:t>
            </a:r>
            <a:r>
              <a:rPr lang="ko-KR" altLang="en-US" sz="800" dirty="0" smtClean="0">
                <a:latin typeface="+mn-ea"/>
                <a:ea typeface="+mn-ea"/>
              </a:rPr>
              <a:t>비자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10350454" y="2709714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solidFill>
                  <a:srgbClr val="FF0000"/>
                </a:solidFill>
                <a:latin typeface="+mn-ea"/>
                <a:ea typeface="+mn-ea"/>
              </a:rPr>
              <a:t>신분증 스캔 정보 </a:t>
            </a:r>
            <a:r>
              <a:rPr lang="en-US" altLang="ko-KR" sz="800" dirty="0">
                <a:solidFill>
                  <a:srgbClr val="FF0000"/>
                </a:solidFill>
                <a:latin typeface="+mn-ea"/>
                <a:ea typeface="+mn-ea"/>
              </a:rPr>
              <a:t>K-NOTE </a:t>
            </a:r>
            <a:r>
              <a:rPr lang="ko-KR" altLang="en-US" sz="800" dirty="0">
                <a:solidFill>
                  <a:srgbClr val="FF0000"/>
                </a:solidFill>
                <a:latin typeface="+mn-ea"/>
                <a:ea typeface="+mn-ea"/>
              </a:rPr>
              <a:t>전송</a:t>
            </a:r>
            <a:endParaRPr lang="en-US" altLang="ko-KR" sz="8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1333202" y="1629626"/>
            <a:ext cx="892984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양도고객 법정대리인 정보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이름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신청인과 관계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주민등록번호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휴대폰번호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안내 및 동의 사항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10350454" y="1629594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고객유형 </a:t>
            </a:r>
            <a:r>
              <a:rPr lang="en-US" altLang="ko-KR" sz="800" dirty="0">
                <a:latin typeface="+mn-ea"/>
                <a:ea typeface="+mn-ea"/>
              </a:rPr>
              <a:t>‘</a:t>
            </a:r>
            <a:r>
              <a:rPr lang="ko-KR" altLang="en-US" sz="800" dirty="0">
                <a:latin typeface="+mn-ea"/>
                <a:ea typeface="+mn-ea"/>
              </a:rPr>
              <a:t>미성년자</a:t>
            </a:r>
            <a:r>
              <a:rPr lang="en-US" altLang="ko-KR" sz="800" dirty="0">
                <a:latin typeface="+mn-ea"/>
                <a:ea typeface="+mn-ea"/>
              </a:rPr>
              <a:t>’ </a:t>
            </a:r>
            <a:r>
              <a:rPr lang="ko-KR" altLang="en-US" sz="800" dirty="0">
                <a:latin typeface="+mn-ea"/>
                <a:ea typeface="+mn-ea"/>
              </a:rPr>
              <a:t>인 경우만 해당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10350454" y="4869986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국가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체류기간</a:t>
            </a:r>
            <a:r>
              <a:rPr lang="en-US" altLang="ko-KR" sz="800" dirty="0" smtClean="0">
                <a:latin typeface="+mn-ea"/>
                <a:ea typeface="+mn-ea"/>
              </a:rPr>
              <a:t>/</a:t>
            </a:r>
            <a:r>
              <a:rPr lang="ko-KR" altLang="en-US" sz="800" dirty="0" smtClean="0">
                <a:latin typeface="+mn-ea"/>
                <a:ea typeface="+mn-ea"/>
              </a:rPr>
              <a:t>비</a:t>
            </a:r>
            <a:r>
              <a:rPr lang="ko-KR" altLang="en-US" sz="800" dirty="0">
                <a:latin typeface="+mn-ea"/>
                <a:ea typeface="+mn-ea"/>
              </a:rPr>
              <a:t>자</a:t>
            </a:r>
            <a:r>
              <a:rPr lang="ko-KR" altLang="en-US" sz="800" dirty="0" smtClean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-&gt; </a:t>
            </a:r>
            <a:r>
              <a:rPr lang="ko-KR" altLang="en-US" sz="800" dirty="0">
                <a:latin typeface="+mn-ea"/>
                <a:ea typeface="+mn-ea"/>
              </a:rPr>
              <a:t>외국인만 해당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1333202" y="5950074"/>
            <a:ext cx="892984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약관 동의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필수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선택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0350454" y="5950074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고객유형에 따라 해당하는 약관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1333202" y="1989634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양수고객 고객유형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내국인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미성년자</a:t>
            </a:r>
            <a:r>
              <a:rPr lang="en-US" altLang="ko-KR" sz="800" dirty="0">
                <a:latin typeface="+mn-ea"/>
                <a:ea typeface="+mn-ea"/>
              </a:rPr>
              <a:t>(19</a:t>
            </a:r>
            <a:r>
              <a:rPr lang="ko-KR" altLang="en-US" sz="800" dirty="0">
                <a:latin typeface="+mn-ea"/>
                <a:ea typeface="+mn-ea"/>
              </a:rPr>
              <a:t>세 미만</a:t>
            </a:r>
            <a:r>
              <a:rPr lang="en-US" altLang="ko-KR" sz="800" dirty="0">
                <a:latin typeface="+mn-ea"/>
                <a:ea typeface="+mn-ea"/>
              </a:rPr>
              <a:t>)/</a:t>
            </a:r>
            <a:r>
              <a:rPr lang="ko-KR" altLang="en-US" sz="800" dirty="0">
                <a:latin typeface="+mn-ea"/>
                <a:ea typeface="+mn-ea"/>
              </a:rPr>
              <a:t>외국인</a:t>
            </a:r>
            <a:r>
              <a:rPr lang="en-US" altLang="ko-KR" sz="800" dirty="0">
                <a:latin typeface="+mn-ea"/>
                <a:ea typeface="+mn-ea"/>
              </a:rPr>
              <a:t>(Foreigner)/</a:t>
            </a:r>
            <a:r>
              <a:rPr lang="ko-KR" altLang="en-US" sz="800" dirty="0">
                <a:latin typeface="+mn-ea"/>
                <a:ea typeface="+mn-ea"/>
              </a:rPr>
              <a:t>외국인</a:t>
            </a:r>
            <a:r>
              <a:rPr lang="en-US" altLang="ko-KR" sz="800" dirty="0">
                <a:latin typeface="+mn-ea"/>
                <a:ea typeface="+mn-ea"/>
              </a:rPr>
              <a:t>(Foreigner) </a:t>
            </a:r>
            <a:r>
              <a:rPr lang="ko-KR" altLang="en-US" sz="800" dirty="0">
                <a:latin typeface="+mn-ea"/>
                <a:ea typeface="+mn-ea"/>
              </a:rPr>
              <a:t>미성년자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법인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공공기관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1333202" y="3069754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양수고객 가입자 정보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이름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생년월일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법인등록번호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1333202" y="3429826"/>
            <a:ext cx="892984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양수고객 법정대리인 정보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이름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신청인과 관계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주민등록번호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휴대폰번호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안내 및 동의 사항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10350454" y="3429794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고객유형 </a:t>
            </a:r>
            <a:r>
              <a:rPr lang="en-US" altLang="ko-KR" sz="800" dirty="0">
                <a:latin typeface="+mn-ea"/>
                <a:ea typeface="+mn-ea"/>
              </a:rPr>
              <a:t>‘</a:t>
            </a:r>
            <a:r>
              <a:rPr lang="ko-KR" altLang="en-US" sz="800" dirty="0">
                <a:latin typeface="+mn-ea"/>
                <a:ea typeface="+mn-ea"/>
              </a:rPr>
              <a:t>미성년자</a:t>
            </a:r>
            <a:r>
              <a:rPr lang="en-US" altLang="ko-KR" sz="800" dirty="0">
                <a:latin typeface="+mn-ea"/>
                <a:ea typeface="+mn-ea"/>
              </a:rPr>
              <a:t>’ </a:t>
            </a:r>
            <a:r>
              <a:rPr lang="ko-KR" altLang="en-US" sz="800" dirty="0">
                <a:latin typeface="+mn-ea"/>
                <a:ea typeface="+mn-ea"/>
              </a:rPr>
              <a:t>인 경우만 해당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86" name="직사각형 85"/>
          <p:cNvSpPr/>
          <p:nvPr/>
        </p:nvSpPr>
        <p:spPr>
          <a:xfrm>
            <a:off x="1333202" y="4509914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 smtClean="0">
                <a:latin typeface="+mn-ea"/>
                <a:ea typeface="+mn-ea"/>
              </a:rPr>
              <a:t>구</a:t>
            </a:r>
            <a:r>
              <a:rPr lang="ko-KR" altLang="en-US" sz="800" b="1" dirty="0">
                <a:latin typeface="+mn-ea"/>
                <a:ea typeface="+mn-ea"/>
              </a:rPr>
              <a:t>비</a:t>
            </a:r>
            <a:r>
              <a:rPr lang="ko-KR" altLang="en-US" sz="800" b="1" dirty="0" smtClean="0">
                <a:latin typeface="+mn-ea"/>
                <a:ea typeface="+mn-ea"/>
              </a:rPr>
              <a:t>서류</a:t>
            </a:r>
            <a:endParaRPr lang="en-US" altLang="ko-KR" sz="800" dirty="0">
              <a:solidFill>
                <a:srgbClr val="0070C0"/>
              </a:solidFill>
              <a:latin typeface="+mn-ea"/>
              <a:ea typeface="+mn-ea"/>
            </a:endParaRPr>
          </a:p>
        </p:txBody>
      </p:sp>
      <p:sp>
        <p:nvSpPr>
          <p:cNvPr id="87" name="직사각형 86"/>
          <p:cNvSpPr/>
          <p:nvPr/>
        </p:nvSpPr>
        <p:spPr>
          <a:xfrm>
            <a:off x="10350454" y="4509914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solidFill>
                  <a:srgbClr val="FF0000"/>
                </a:solidFill>
                <a:latin typeface="+mn-ea"/>
                <a:ea typeface="+mn-ea"/>
              </a:rPr>
              <a:t>스캔 정보 </a:t>
            </a:r>
            <a:r>
              <a:rPr lang="en-US" altLang="ko-KR" sz="800" dirty="0">
                <a:solidFill>
                  <a:srgbClr val="FF0000"/>
                </a:solidFill>
                <a:latin typeface="+mn-ea"/>
                <a:ea typeface="+mn-ea"/>
              </a:rPr>
              <a:t>K-NOTE </a:t>
            </a:r>
            <a:r>
              <a:rPr lang="ko-KR" altLang="en-US" sz="800" dirty="0">
                <a:solidFill>
                  <a:srgbClr val="FF0000"/>
                </a:solidFill>
                <a:latin typeface="+mn-ea"/>
                <a:ea typeface="+mn-ea"/>
              </a:rPr>
              <a:t>전송 여부 및 전송 방식 확인</a:t>
            </a:r>
            <a:endParaRPr lang="en-US" altLang="ko-KR" sz="8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10369191" y="2349674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법인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공공기관만 선택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성인 </a:t>
            </a:r>
            <a:r>
              <a:rPr lang="en-US" altLang="ko-KR" sz="800" dirty="0">
                <a:latin typeface="+mn-ea"/>
                <a:ea typeface="+mn-ea"/>
              </a:rPr>
              <a:t>: ‘</a:t>
            </a:r>
            <a:r>
              <a:rPr lang="ko-KR" altLang="en-US" sz="800" dirty="0">
                <a:latin typeface="+mn-ea"/>
                <a:ea typeface="+mn-ea"/>
              </a:rPr>
              <a:t>본인’ 고정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미성년자 </a:t>
            </a:r>
            <a:r>
              <a:rPr lang="en-US" altLang="ko-KR" sz="800" dirty="0">
                <a:latin typeface="+mn-ea"/>
                <a:ea typeface="+mn-ea"/>
              </a:rPr>
              <a:t>: ‘</a:t>
            </a:r>
            <a:r>
              <a:rPr lang="ko-KR" altLang="en-US" sz="800" dirty="0">
                <a:latin typeface="+mn-ea"/>
                <a:ea typeface="+mn-ea"/>
              </a:rPr>
              <a:t>대리인’ 고정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1333202" y="4149906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대리인 위임 정보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이름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생년월일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신청인과 관계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연락처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10350454" y="4149906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방문고객이 </a:t>
            </a:r>
            <a:r>
              <a:rPr lang="en-US" altLang="ko-KR" sz="800" dirty="0">
                <a:latin typeface="+mn-ea"/>
                <a:ea typeface="+mn-ea"/>
              </a:rPr>
              <a:t>‘</a:t>
            </a:r>
            <a:r>
              <a:rPr lang="ko-KR" altLang="en-US" sz="800" dirty="0">
                <a:latin typeface="+mn-ea"/>
                <a:ea typeface="+mn-ea"/>
              </a:rPr>
              <a:t>대리인</a:t>
            </a:r>
            <a:r>
              <a:rPr lang="en-US" altLang="ko-KR" sz="800" dirty="0">
                <a:latin typeface="+mn-ea"/>
                <a:ea typeface="+mn-ea"/>
              </a:rPr>
              <a:t>’</a:t>
            </a:r>
            <a:r>
              <a:rPr lang="ko-KR" altLang="en-US" sz="800" dirty="0">
                <a:latin typeface="+mn-ea"/>
                <a:ea typeface="+mn-ea"/>
              </a:rPr>
              <a:t>인 경우만 해당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1341114" y="3789898"/>
            <a:ext cx="892984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 smtClean="0">
                <a:latin typeface="+mn-ea"/>
                <a:ea typeface="+mn-ea"/>
              </a:rPr>
              <a:t>실사용자 정보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이름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 smtClean="0">
                <a:latin typeface="+mn-ea"/>
                <a:ea typeface="+mn-ea"/>
              </a:rPr>
              <a:t>생년월일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10369152" y="3789866"/>
            <a:ext cx="2440360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고객유형 </a:t>
            </a:r>
            <a:r>
              <a:rPr lang="en-US" altLang="ko-KR" sz="800" dirty="0" smtClean="0">
                <a:latin typeface="+mn-ea"/>
                <a:ea typeface="+mn-ea"/>
              </a:rPr>
              <a:t>‘</a:t>
            </a:r>
            <a:r>
              <a:rPr lang="ko-KR" altLang="en-US" sz="800" dirty="0" smtClean="0">
                <a:latin typeface="+mn-ea"/>
                <a:ea typeface="+mn-ea"/>
              </a:rPr>
              <a:t>법인</a:t>
            </a:r>
            <a:r>
              <a:rPr lang="en-US" altLang="ko-KR" sz="800" dirty="0" smtClean="0">
                <a:latin typeface="+mn-ea"/>
                <a:ea typeface="+mn-ea"/>
              </a:rPr>
              <a:t>’/’</a:t>
            </a:r>
            <a:r>
              <a:rPr lang="ko-KR" altLang="en-US" sz="800" dirty="0" smtClean="0">
                <a:latin typeface="+mn-ea"/>
                <a:ea typeface="+mn-ea"/>
              </a:rPr>
              <a:t>공공기관</a:t>
            </a:r>
            <a:r>
              <a:rPr lang="en-US" altLang="ko-KR" sz="800" dirty="0" smtClean="0">
                <a:latin typeface="+mn-ea"/>
                <a:ea typeface="+mn-ea"/>
              </a:rPr>
              <a:t>’ </a:t>
            </a:r>
            <a:r>
              <a:rPr lang="ko-KR" altLang="en-US" sz="800" dirty="0">
                <a:latin typeface="+mn-ea"/>
                <a:ea typeface="+mn-ea"/>
              </a:rPr>
              <a:t>인 경우만 </a:t>
            </a:r>
            <a:r>
              <a:rPr lang="ko-KR" altLang="en-US" sz="800" dirty="0" smtClean="0">
                <a:latin typeface="+mn-ea"/>
                <a:ea typeface="+mn-ea"/>
              </a:rPr>
              <a:t>해당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1333202" y="5229994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요금제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휴대폰</a:t>
            </a:r>
            <a:r>
              <a:rPr lang="en-US" altLang="ko-KR" sz="800" dirty="0">
                <a:latin typeface="+mn-ea"/>
                <a:ea typeface="+mn-ea"/>
              </a:rPr>
              <a:t>/USIM </a:t>
            </a:r>
            <a:r>
              <a:rPr lang="ko-KR" altLang="en-US" sz="800" dirty="0">
                <a:latin typeface="+mn-ea"/>
                <a:ea typeface="+mn-ea"/>
              </a:rPr>
              <a:t>요금제</a:t>
            </a:r>
            <a:r>
              <a:rPr lang="ko-KR" altLang="en-US" sz="800" b="1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-&gt; </a:t>
            </a:r>
            <a:r>
              <a:rPr lang="ko-KR" altLang="en-US" sz="800" dirty="0">
                <a:latin typeface="+mn-ea"/>
                <a:ea typeface="+mn-ea"/>
              </a:rPr>
              <a:t>카테고리에서 선택</a:t>
            </a:r>
          </a:p>
        </p:txBody>
      </p:sp>
      <p:sp>
        <p:nvSpPr>
          <p:cNvPr id="37" name="직사각형 36"/>
          <p:cNvSpPr/>
          <p:nvPr/>
        </p:nvSpPr>
        <p:spPr>
          <a:xfrm>
            <a:off x="1333202" y="5590034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할인유형 및 단말기 할부금</a:t>
            </a:r>
            <a:endParaRPr lang="ko-KR" altLang="en-US" sz="800" dirty="0">
              <a:latin typeface="+mn-ea"/>
              <a:ea typeface="+mn-ea"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10361240" y="5590034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할인유형 해당하는 경우</a:t>
            </a:r>
            <a:endParaRPr lang="en-US" altLang="ko-KR" sz="800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922834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직사각형 38"/>
          <p:cNvSpPr/>
          <p:nvPr/>
        </p:nvSpPr>
        <p:spPr>
          <a:xfrm>
            <a:off x="280400" y="189434"/>
            <a:ext cx="2520000" cy="288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latin typeface="+mn-ea"/>
                <a:ea typeface="+mn-ea"/>
              </a:rPr>
              <a:t>명의변경 신청서 작성 </a:t>
            </a:r>
            <a:r>
              <a:rPr lang="en-US" altLang="ko-KR" sz="1000" b="1" dirty="0">
                <a:latin typeface="+mn-ea"/>
                <a:ea typeface="+mn-ea"/>
              </a:rPr>
              <a:t>(2/2)</a:t>
            </a:r>
            <a:endParaRPr lang="ko-KR" altLang="en-US" sz="1000" b="1" dirty="0">
              <a:latin typeface="+mn-ea"/>
              <a:ea typeface="+mn-ea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80120" y="2133618"/>
            <a:ext cx="900000" cy="100804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동의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280120" y="3285746"/>
            <a:ext cx="900000" cy="28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완료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1315670" y="2133658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고객 안내 사항</a:t>
            </a:r>
            <a:endParaRPr lang="en-US" altLang="ko-KR" sz="800" b="1" dirty="0">
              <a:latin typeface="+mn-ea"/>
              <a:ea typeface="+mn-ea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1315670" y="2493658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신청서 확인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 err="1">
                <a:latin typeface="+mn-ea"/>
                <a:ea typeface="+mn-ea"/>
              </a:rPr>
              <a:t>녹취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가입정보 확인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서명</a:t>
            </a:r>
            <a:r>
              <a:rPr lang="en-US" altLang="ko-KR" sz="800" dirty="0">
                <a:latin typeface="+mn-ea"/>
                <a:ea typeface="+mn-ea"/>
              </a:rPr>
              <a:t>(</a:t>
            </a:r>
            <a:r>
              <a:rPr lang="ko-KR" altLang="en-US" sz="800" dirty="0">
                <a:latin typeface="+mn-ea"/>
                <a:ea typeface="+mn-ea"/>
              </a:rPr>
              <a:t>가입자</a:t>
            </a:r>
            <a:r>
              <a:rPr lang="en-US" altLang="ko-KR" sz="800" dirty="0">
                <a:latin typeface="+mn-ea"/>
                <a:ea typeface="+mn-ea"/>
              </a:rPr>
              <a:t>(</a:t>
            </a:r>
            <a:r>
              <a:rPr lang="ko-KR" altLang="en-US" sz="800" dirty="0">
                <a:latin typeface="+mn-ea"/>
                <a:ea typeface="+mn-ea"/>
              </a:rPr>
              <a:t>대리인</a:t>
            </a:r>
            <a:r>
              <a:rPr lang="en-US" altLang="ko-KR" sz="800" dirty="0">
                <a:latin typeface="+mn-ea"/>
                <a:ea typeface="+mn-ea"/>
              </a:rPr>
              <a:t>) </a:t>
            </a:r>
            <a:r>
              <a:rPr lang="ko-KR" altLang="en-US" sz="800" dirty="0">
                <a:latin typeface="+mn-ea"/>
                <a:ea typeface="+mn-ea"/>
              </a:rPr>
              <a:t>서명</a:t>
            </a:r>
            <a:r>
              <a:rPr lang="en-US" altLang="ko-KR" sz="800" dirty="0">
                <a:latin typeface="+mn-ea"/>
                <a:ea typeface="+mn-ea"/>
              </a:rPr>
              <a:t>)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315670" y="3285746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신청서 교부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열람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발송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0343708" y="2493698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팝업 화면으로 최종 정보 확인 및 </a:t>
            </a:r>
            <a:r>
              <a:rPr lang="ko-KR" altLang="en-US" sz="800" dirty="0" err="1">
                <a:latin typeface="+mn-ea"/>
                <a:ea typeface="+mn-ea"/>
              </a:rPr>
              <a:t>녹취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1315670" y="2853698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신청서 처리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신청서 등록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리포트 </a:t>
            </a:r>
            <a:r>
              <a:rPr lang="ko-KR" altLang="en-US" sz="800" dirty="0" err="1">
                <a:latin typeface="+mn-ea"/>
                <a:ea typeface="+mn-ea"/>
              </a:rPr>
              <a:t>이미징</a:t>
            </a:r>
            <a:r>
              <a:rPr lang="ko-KR" altLang="en-US" sz="800" dirty="0">
                <a:latin typeface="+mn-ea"/>
                <a:ea typeface="+mn-ea"/>
              </a:rPr>
              <a:t> 처리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 err="1">
                <a:latin typeface="+mn-ea"/>
                <a:ea typeface="+mn-ea"/>
              </a:rPr>
              <a:t>이미징</a:t>
            </a:r>
            <a:r>
              <a:rPr lang="ko-KR" altLang="en-US" sz="800" dirty="0">
                <a:latin typeface="+mn-ea"/>
                <a:ea typeface="+mn-ea"/>
              </a:rPr>
              <a:t> 시스템 리포트 전송</a:t>
            </a:r>
            <a:r>
              <a:rPr lang="en-US" altLang="ko-KR" sz="800" dirty="0">
                <a:latin typeface="+mn-ea"/>
                <a:ea typeface="+mn-ea"/>
              </a:rPr>
              <a:t>, m</a:t>
            </a:r>
            <a:r>
              <a:rPr lang="ko-KR" altLang="en-US" sz="800" dirty="0">
                <a:latin typeface="+mn-ea"/>
                <a:ea typeface="+mn-ea"/>
              </a:rPr>
              <a:t>전산 데이터 </a:t>
            </a:r>
            <a:r>
              <a:rPr lang="ko-KR" altLang="en-US" sz="800" dirty="0" smtClean="0">
                <a:latin typeface="+mn-ea"/>
                <a:ea typeface="+mn-ea"/>
              </a:rPr>
              <a:t>전송</a:t>
            </a:r>
            <a:r>
              <a:rPr lang="en-US" altLang="ko-KR" sz="800" dirty="0" smtClean="0">
                <a:latin typeface="+mn-ea"/>
                <a:ea typeface="+mn-ea"/>
              </a:rPr>
              <a:t>, </a:t>
            </a:r>
            <a:r>
              <a:rPr lang="ko-KR" altLang="en-US" sz="800" dirty="0" smtClean="0">
                <a:latin typeface="+mn-ea"/>
                <a:ea typeface="+mn-ea"/>
              </a:rPr>
              <a:t>신청서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첨부서류 </a:t>
            </a:r>
            <a:r>
              <a:rPr lang="en-US" altLang="ko-KR" sz="800" dirty="0">
                <a:latin typeface="+mn-ea"/>
                <a:ea typeface="+mn-ea"/>
              </a:rPr>
              <a:t>K-NOTE </a:t>
            </a:r>
            <a:r>
              <a:rPr lang="ko-KR" altLang="en-US" sz="800" dirty="0">
                <a:latin typeface="+mn-ea"/>
                <a:ea typeface="+mn-ea"/>
              </a:rPr>
              <a:t>전송 </a:t>
            </a:r>
            <a:r>
              <a:rPr lang="en-US" altLang="ko-KR" sz="800" dirty="0">
                <a:solidFill>
                  <a:srgbClr val="0070C0"/>
                </a:solidFill>
                <a:latin typeface="+mn-ea"/>
                <a:ea typeface="+mn-ea"/>
              </a:rPr>
              <a:t>*** </a:t>
            </a:r>
            <a:r>
              <a:rPr lang="ko-KR" altLang="en-US" sz="800" dirty="0">
                <a:solidFill>
                  <a:srgbClr val="0070C0"/>
                </a:solidFill>
                <a:latin typeface="+mn-ea"/>
                <a:ea typeface="+mn-ea"/>
              </a:rPr>
              <a:t>별도 작성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297652" y="621674"/>
            <a:ext cx="900000" cy="13679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333202" y="621674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800" b="1" dirty="0" smtClean="0">
                <a:latin typeface="+mn-ea"/>
                <a:ea typeface="+mn-ea"/>
              </a:rPr>
              <a:t>USIM</a:t>
            </a:r>
            <a:r>
              <a:rPr lang="ko-KR" altLang="en-US" sz="800" b="1" dirty="0" smtClean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정보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체크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1333202" y="981522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부가서비스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-&gt; </a:t>
            </a:r>
            <a:r>
              <a:rPr lang="ko-KR" altLang="en-US" sz="800" dirty="0">
                <a:latin typeface="+mn-ea"/>
                <a:ea typeface="+mn-ea"/>
              </a:rPr>
              <a:t>카테고리에서 선택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1333202" y="1341562"/>
            <a:ext cx="8920054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납부 정보</a:t>
            </a:r>
            <a:r>
              <a:rPr lang="ko-KR" altLang="en-US" sz="800" dirty="0">
                <a:latin typeface="+mn-ea"/>
                <a:ea typeface="+mn-ea"/>
              </a:rPr>
              <a:t> </a:t>
            </a:r>
            <a:r>
              <a:rPr lang="en-US" altLang="ko-KR" sz="800" dirty="0">
                <a:latin typeface="+mn-ea"/>
                <a:ea typeface="+mn-ea"/>
              </a:rPr>
              <a:t>: </a:t>
            </a:r>
            <a:r>
              <a:rPr lang="ko-KR" altLang="en-US" sz="800" dirty="0">
                <a:latin typeface="+mn-ea"/>
                <a:ea typeface="+mn-ea"/>
              </a:rPr>
              <a:t>자동이체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신용카드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지로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통합청구</a:t>
            </a:r>
            <a:r>
              <a:rPr lang="en-US" altLang="ko-KR" sz="800" dirty="0">
                <a:latin typeface="+mn-ea"/>
                <a:ea typeface="+mn-ea"/>
              </a:rPr>
              <a:t>, </a:t>
            </a:r>
            <a:r>
              <a:rPr lang="ko-KR" altLang="en-US" sz="800" dirty="0">
                <a:latin typeface="+mn-ea"/>
                <a:ea typeface="+mn-ea"/>
              </a:rPr>
              <a:t>본인납부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타인납부 </a:t>
            </a:r>
            <a:r>
              <a:rPr lang="en-US" altLang="ko-KR" sz="800" b="1" dirty="0">
                <a:latin typeface="+mn-ea"/>
                <a:ea typeface="+mn-ea"/>
              </a:rPr>
              <a:t>[</a:t>
            </a:r>
            <a:r>
              <a:rPr lang="ko-KR" altLang="en-US" sz="800" b="1" dirty="0">
                <a:latin typeface="+mn-ea"/>
                <a:ea typeface="+mn-ea"/>
              </a:rPr>
              <a:t>체크</a:t>
            </a:r>
            <a:r>
              <a:rPr lang="en-US" altLang="ko-KR" sz="800" b="1" dirty="0">
                <a:latin typeface="+mn-ea"/>
                <a:ea typeface="+mn-ea"/>
              </a:rPr>
              <a:t>]</a:t>
            </a:r>
          </a:p>
        </p:txBody>
      </p:sp>
      <p:sp>
        <p:nvSpPr>
          <p:cNvPr id="23" name="직사각형 22"/>
          <p:cNvSpPr/>
          <p:nvPr/>
        </p:nvSpPr>
        <p:spPr>
          <a:xfrm>
            <a:off x="1333202" y="1701602"/>
            <a:ext cx="8929840" cy="288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메모</a:t>
            </a:r>
            <a:endParaRPr lang="en-US" altLang="ko-KR" sz="800" dirty="0">
              <a:latin typeface="+mn-ea"/>
              <a:ea typeface="+mn-ea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10350454" y="2853666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solidFill>
                  <a:srgbClr val="FF0000"/>
                </a:solidFill>
                <a:latin typeface="+mn-ea"/>
                <a:ea typeface="+mn-ea"/>
              </a:rPr>
              <a:t>신청서 및 첨부서류 </a:t>
            </a:r>
            <a:r>
              <a:rPr lang="en-US" altLang="ko-KR" sz="800" dirty="0">
                <a:solidFill>
                  <a:srgbClr val="FF0000"/>
                </a:solidFill>
                <a:latin typeface="+mn-ea"/>
                <a:ea typeface="+mn-ea"/>
              </a:rPr>
              <a:t>K-NOTE </a:t>
            </a:r>
            <a:r>
              <a:rPr lang="ko-KR" altLang="en-US" sz="800" dirty="0">
                <a:solidFill>
                  <a:srgbClr val="FF0000"/>
                </a:solidFill>
                <a:latin typeface="+mn-ea"/>
                <a:ea typeface="+mn-ea"/>
              </a:rPr>
              <a:t>전송 여부 </a:t>
            </a:r>
            <a:r>
              <a:rPr lang="ko-KR" altLang="en-US" sz="800" dirty="0" smtClean="0">
                <a:solidFill>
                  <a:srgbClr val="FF0000"/>
                </a:solidFill>
                <a:latin typeface="+mn-ea"/>
                <a:ea typeface="+mn-ea"/>
              </a:rPr>
              <a:t>확인</a:t>
            </a:r>
            <a:endParaRPr lang="en-US" altLang="ko-KR" sz="8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10361240" y="3429762"/>
            <a:ext cx="2243034" cy="288000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dirty="0">
                <a:latin typeface="+mn-ea"/>
                <a:ea typeface="+mn-ea"/>
              </a:rPr>
              <a:t>신규</a:t>
            </a:r>
            <a:r>
              <a:rPr lang="en-US" altLang="ko-KR" sz="800" dirty="0">
                <a:latin typeface="+mn-ea"/>
                <a:ea typeface="+mn-ea"/>
              </a:rPr>
              <a:t>/</a:t>
            </a:r>
            <a:r>
              <a:rPr lang="ko-KR" altLang="en-US" sz="800" dirty="0">
                <a:latin typeface="+mn-ea"/>
                <a:ea typeface="+mn-ea"/>
              </a:rPr>
              <a:t>변경 신청서와 동일</a:t>
            </a:r>
            <a:endParaRPr lang="en-US" altLang="ko-KR" sz="800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179582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280400" y="189434"/>
            <a:ext cx="2520000" cy="288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latin typeface="+mn-ea"/>
                <a:ea typeface="+mn-ea"/>
              </a:rPr>
              <a:t>명의변경 신청서 처리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514076" y="693490"/>
            <a:ext cx="4995590" cy="28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>
                <a:latin typeface="+mn-ea"/>
                <a:ea typeface="+mn-ea"/>
              </a:rPr>
              <a:t>스마트 서식지</a:t>
            </a:r>
          </a:p>
        </p:txBody>
      </p:sp>
      <p:sp>
        <p:nvSpPr>
          <p:cNvPr id="24" name="직사각형 23"/>
          <p:cNvSpPr/>
          <p:nvPr/>
        </p:nvSpPr>
        <p:spPr>
          <a:xfrm>
            <a:off x="514076" y="981522"/>
            <a:ext cx="4995590" cy="5616624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t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신청서 작성 완료</a:t>
            </a:r>
            <a:endParaRPr lang="en-US" altLang="ko-KR" sz="800" b="1" dirty="0">
              <a:latin typeface="+mn-ea"/>
              <a:ea typeface="+mn-ea"/>
            </a:endParaRPr>
          </a:p>
        </p:txBody>
      </p:sp>
      <p:cxnSp>
        <p:nvCxnSpPr>
          <p:cNvPr id="25" name="직선 화살표 연결선 24"/>
          <p:cNvCxnSpPr>
            <a:stCxn id="28" idx="3"/>
            <a:endCxn id="2" idx="2"/>
          </p:cNvCxnSpPr>
          <p:nvPr/>
        </p:nvCxnSpPr>
        <p:spPr>
          <a:xfrm>
            <a:off x="2593162" y="1755578"/>
            <a:ext cx="828272" cy="0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973162" y="1485578"/>
            <a:ext cx="1620000" cy="54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신청서 등록</a:t>
            </a:r>
            <a:endParaRPr lang="en-US" altLang="ko-KR" sz="800" b="1" dirty="0">
              <a:latin typeface="+mn-ea"/>
              <a:ea typeface="+mn-ea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973162" y="2457746"/>
            <a:ext cx="1620000" cy="54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리포트 </a:t>
            </a:r>
            <a:r>
              <a:rPr lang="ko-KR" altLang="en-US" sz="800" b="1" dirty="0" err="1">
                <a:latin typeface="+mn-ea"/>
                <a:ea typeface="+mn-ea"/>
              </a:rPr>
              <a:t>이미징</a:t>
            </a:r>
            <a:r>
              <a:rPr lang="ko-KR" altLang="en-US" sz="800" b="1" dirty="0">
                <a:latin typeface="+mn-ea"/>
                <a:ea typeface="+mn-ea"/>
              </a:rPr>
              <a:t> 처리</a:t>
            </a:r>
            <a:endParaRPr lang="en-US" altLang="ko-KR" sz="800" b="1" dirty="0">
              <a:latin typeface="+mn-ea"/>
              <a:ea typeface="+mn-ea"/>
            </a:endParaRPr>
          </a:p>
        </p:txBody>
      </p:sp>
      <p:cxnSp>
        <p:nvCxnSpPr>
          <p:cNvPr id="33" name="직선 화살표 연결선 32"/>
          <p:cNvCxnSpPr>
            <a:stCxn id="28" idx="2"/>
            <a:endCxn id="32" idx="0"/>
          </p:cNvCxnSpPr>
          <p:nvPr/>
        </p:nvCxnSpPr>
        <p:spPr>
          <a:xfrm>
            <a:off x="1783162" y="2025578"/>
            <a:ext cx="0" cy="432168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원통 35"/>
          <p:cNvSpPr/>
          <p:nvPr/>
        </p:nvSpPr>
        <p:spPr>
          <a:xfrm>
            <a:off x="3422384" y="2457746"/>
            <a:ext cx="1620000" cy="540000"/>
          </a:xfrm>
          <a:prstGeom prst="can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리포트 서식</a:t>
            </a:r>
          </a:p>
        </p:txBody>
      </p:sp>
      <p:cxnSp>
        <p:nvCxnSpPr>
          <p:cNvPr id="37" name="직선 화살표 연결선 36"/>
          <p:cNvCxnSpPr>
            <a:stCxn id="36" idx="2"/>
            <a:endCxn id="32" idx="3"/>
          </p:cNvCxnSpPr>
          <p:nvPr/>
        </p:nvCxnSpPr>
        <p:spPr>
          <a:xfrm flipH="1">
            <a:off x="2593162" y="2727746"/>
            <a:ext cx="829222" cy="0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/>
          <p:cNvCxnSpPr>
            <a:stCxn id="2" idx="3"/>
            <a:endCxn id="32" idx="3"/>
          </p:cNvCxnSpPr>
          <p:nvPr/>
        </p:nvCxnSpPr>
        <p:spPr>
          <a:xfrm flipH="1">
            <a:off x="2593162" y="2025578"/>
            <a:ext cx="1638272" cy="702168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직사각형 44"/>
          <p:cNvSpPr/>
          <p:nvPr/>
        </p:nvSpPr>
        <p:spPr>
          <a:xfrm>
            <a:off x="973162" y="3429914"/>
            <a:ext cx="1620000" cy="54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리포트 </a:t>
            </a:r>
            <a:r>
              <a:rPr lang="ko-KR" altLang="en-US" sz="800" b="1" dirty="0" err="1">
                <a:latin typeface="+mn-ea"/>
                <a:ea typeface="+mn-ea"/>
              </a:rPr>
              <a:t>이미징</a:t>
            </a:r>
            <a:r>
              <a:rPr lang="ko-KR" altLang="en-US" sz="800" b="1" dirty="0">
                <a:latin typeface="+mn-ea"/>
                <a:ea typeface="+mn-ea"/>
              </a:rPr>
              <a:t> 전송</a:t>
            </a:r>
            <a:endParaRPr lang="en-US" altLang="ko-KR" sz="800" b="1" dirty="0">
              <a:latin typeface="+mn-ea"/>
              <a:ea typeface="+mn-ea"/>
            </a:endParaRPr>
          </a:p>
        </p:txBody>
      </p:sp>
      <p:cxnSp>
        <p:nvCxnSpPr>
          <p:cNvPr id="46" name="직선 화살표 연결선 45"/>
          <p:cNvCxnSpPr>
            <a:stCxn id="32" idx="2"/>
            <a:endCxn id="45" idx="0"/>
          </p:cNvCxnSpPr>
          <p:nvPr/>
        </p:nvCxnSpPr>
        <p:spPr>
          <a:xfrm>
            <a:off x="1783162" y="2997746"/>
            <a:ext cx="0" cy="432168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/>
          <p:cNvSpPr/>
          <p:nvPr/>
        </p:nvSpPr>
        <p:spPr>
          <a:xfrm>
            <a:off x="6157738" y="1809786"/>
            <a:ext cx="2619326" cy="28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900" b="1" dirty="0" err="1">
                <a:latin typeface="+mn-ea"/>
                <a:ea typeface="+mn-ea"/>
              </a:rPr>
              <a:t>이미징</a:t>
            </a:r>
            <a:r>
              <a:rPr lang="ko-KR" altLang="en-US" sz="900" b="1" dirty="0">
                <a:latin typeface="+mn-ea"/>
                <a:ea typeface="+mn-ea"/>
              </a:rPr>
              <a:t> 시스템</a:t>
            </a:r>
          </a:p>
        </p:txBody>
      </p:sp>
      <p:sp>
        <p:nvSpPr>
          <p:cNvPr id="53" name="직사각형 52"/>
          <p:cNvSpPr/>
          <p:nvPr/>
        </p:nvSpPr>
        <p:spPr>
          <a:xfrm>
            <a:off x="6157738" y="2097386"/>
            <a:ext cx="2619326" cy="828352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t">
            <a:noAutofit/>
          </a:bodyPr>
          <a:lstStyle/>
          <a:p>
            <a:pPr algn="ctr">
              <a:spcBef>
                <a:spcPct val="50000"/>
              </a:spcBef>
            </a:pPr>
            <a:endParaRPr lang="en-US" altLang="ko-KR" sz="800" b="1" dirty="0">
              <a:latin typeface="+mn-ea"/>
              <a:ea typeface="+mn-ea"/>
            </a:endParaRPr>
          </a:p>
        </p:txBody>
      </p:sp>
      <p:sp>
        <p:nvSpPr>
          <p:cNvPr id="49" name="원통 48"/>
          <p:cNvSpPr/>
          <p:nvPr/>
        </p:nvSpPr>
        <p:spPr>
          <a:xfrm>
            <a:off x="6733802" y="2277666"/>
            <a:ext cx="1620000" cy="540000"/>
          </a:xfrm>
          <a:prstGeom prst="can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 err="1">
                <a:latin typeface="+mn-ea"/>
                <a:ea typeface="+mn-ea"/>
              </a:rPr>
              <a:t>이미징</a:t>
            </a:r>
            <a:r>
              <a:rPr lang="ko-KR" altLang="en-US" sz="800" b="1" dirty="0">
                <a:latin typeface="+mn-ea"/>
                <a:ea typeface="+mn-ea"/>
              </a:rPr>
              <a:t> 시스템</a:t>
            </a:r>
          </a:p>
        </p:txBody>
      </p:sp>
      <p:cxnSp>
        <p:nvCxnSpPr>
          <p:cNvPr id="50" name="직선 화살표 연결선 49"/>
          <p:cNvCxnSpPr>
            <a:stCxn id="45" idx="3"/>
            <a:endCxn id="49" idx="2"/>
          </p:cNvCxnSpPr>
          <p:nvPr/>
        </p:nvCxnSpPr>
        <p:spPr>
          <a:xfrm flipV="1">
            <a:off x="2593162" y="2547666"/>
            <a:ext cx="4140640" cy="1152248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직사각형 53"/>
          <p:cNvSpPr/>
          <p:nvPr/>
        </p:nvSpPr>
        <p:spPr>
          <a:xfrm>
            <a:off x="973162" y="4401962"/>
            <a:ext cx="1620000" cy="54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명의변경 전송</a:t>
            </a:r>
            <a:endParaRPr lang="en-US" altLang="ko-KR" sz="800" b="1" dirty="0">
              <a:latin typeface="+mn-ea"/>
              <a:ea typeface="+mn-ea"/>
            </a:endParaRPr>
          </a:p>
        </p:txBody>
      </p:sp>
      <p:cxnSp>
        <p:nvCxnSpPr>
          <p:cNvPr id="55" name="직선 화살표 연결선 54"/>
          <p:cNvCxnSpPr>
            <a:stCxn id="45" idx="2"/>
            <a:endCxn id="54" idx="0"/>
          </p:cNvCxnSpPr>
          <p:nvPr/>
        </p:nvCxnSpPr>
        <p:spPr>
          <a:xfrm>
            <a:off x="1783162" y="3969914"/>
            <a:ext cx="0" cy="432048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직사각형 55"/>
          <p:cNvSpPr/>
          <p:nvPr/>
        </p:nvSpPr>
        <p:spPr>
          <a:xfrm>
            <a:off x="9470106" y="3214202"/>
            <a:ext cx="2619326" cy="28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900" b="1" dirty="0">
                <a:latin typeface="+mn-ea"/>
                <a:ea typeface="+mn-ea"/>
              </a:rPr>
              <a:t>M</a:t>
            </a:r>
            <a:r>
              <a:rPr lang="ko-KR" altLang="en-US" sz="900" b="1" dirty="0">
                <a:latin typeface="+mn-ea"/>
                <a:ea typeface="+mn-ea"/>
              </a:rPr>
              <a:t>플랫폼</a:t>
            </a:r>
          </a:p>
        </p:txBody>
      </p:sp>
      <p:sp>
        <p:nvSpPr>
          <p:cNvPr id="57" name="직사각형 56"/>
          <p:cNvSpPr/>
          <p:nvPr/>
        </p:nvSpPr>
        <p:spPr>
          <a:xfrm>
            <a:off x="9470106" y="3501802"/>
            <a:ext cx="2619326" cy="936104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t">
            <a:noAutofit/>
          </a:bodyPr>
          <a:lstStyle/>
          <a:p>
            <a:pPr algn="ctr">
              <a:spcBef>
                <a:spcPct val="50000"/>
              </a:spcBef>
            </a:pPr>
            <a:endParaRPr lang="en-US" altLang="ko-KR" sz="800" b="1" dirty="0">
              <a:latin typeface="+mn-ea"/>
              <a:ea typeface="+mn-ea"/>
            </a:endParaRPr>
          </a:p>
        </p:txBody>
      </p:sp>
      <p:sp>
        <p:nvSpPr>
          <p:cNvPr id="58" name="원통 57"/>
          <p:cNvSpPr/>
          <p:nvPr/>
        </p:nvSpPr>
        <p:spPr>
          <a:xfrm>
            <a:off x="9969769" y="3646250"/>
            <a:ext cx="1620000" cy="540000"/>
          </a:xfrm>
          <a:prstGeom prst="can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명의변경</a:t>
            </a:r>
          </a:p>
        </p:txBody>
      </p:sp>
      <p:sp>
        <p:nvSpPr>
          <p:cNvPr id="2" name="원통 1"/>
          <p:cNvSpPr/>
          <p:nvPr/>
        </p:nvSpPr>
        <p:spPr>
          <a:xfrm>
            <a:off x="3421434" y="1485578"/>
            <a:ext cx="1620000" cy="540000"/>
          </a:xfrm>
          <a:prstGeom prst="can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신청서</a:t>
            </a:r>
          </a:p>
        </p:txBody>
      </p:sp>
      <p:sp>
        <p:nvSpPr>
          <p:cNvPr id="63" name="직사각형 62"/>
          <p:cNvSpPr/>
          <p:nvPr/>
        </p:nvSpPr>
        <p:spPr>
          <a:xfrm>
            <a:off x="9555633" y="5192111"/>
            <a:ext cx="2619326" cy="28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900" b="1" dirty="0">
                <a:latin typeface="+mn-ea"/>
                <a:ea typeface="+mn-ea"/>
              </a:rPr>
              <a:t>KOS</a:t>
            </a:r>
            <a:endParaRPr lang="ko-KR" altLang="en-US" sz="900" b="1" dirty="0">
              <a:latin typeface="+mn-ea"/>
              <a:ea typeface="+mn-ea"/>
            </a:endParaRPr>
          </a:p>
        </p:txBody>
      </p:sp>
      <p:sp>
        <p:nvSpPr>
          <p:cNvPr id="64" name="직사각형 63"/>
          <p:cNvSpPr/>
          <p:nvPr/>
        </p:nvSpPr>
        <p:spPr>
          <a:xfrm>
            <a:off x="9555633" y="5479711"/>
            <a:ext cx="2619326" cy="936104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t">
            <a:noAutofit/>
          </a:bodyPr>
          <a:lstStyle/>
          <a:p>
            <a:pPr algn="ctr">
              <a:spcBef>
                <a:spcPct val="50000"/>
              </a:spcBef>
            </a:pPr>
            <a:endParaRPr lang="en-US" altLang="ko-KR" sz="800" b="1" dirty="0">
              <a:latin typeface="+mn-ea"/>
              <a:ea typeface="+mn-ea"/>
            </a:endParaRPr>
          </a:p>
        </p:txBody>
      </p:sp>
      <p:sp>
        <p:nvSpPr>
          <p:cNvPr id="65" name="원통 64"/>
          <p:cNvSpPr/>
          <p:nvPr/>
        </p:nvSpPr>
        <p:spPr>
          <a:xfrm>
            <a:off x="10055296" y="5624159"/>
            <a:ext cx="1620000" cy="540000"/>
          </a:xfrm>
          <a:prstGeom prst="can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명의변경</a:t>
            </a:r>
          </a:p>
        </p:txBody>
      </p:sp>
      <p:sp>
        <p:nvSpPr>
          <p:cNvPr id="66" name="직사각형 65"/>
          <p:cNvSpPr/>
          <p:nvPr/>
        </p:nvSpPr>
        <p:spPr>
          <a:xfrm>
            <a:off x="5824736" y="3069754"/>
            <a:ext cx="6480720" cy="3456384"/>
          </a:xfrm>
          <a:prstGeom prst="rect">
            <a:avLst/>
          </a:prstGeom>
          <a:noFill/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t">
            <a:noAutofit/>
          </a:bodyPr>
          <a:lstStyle/>
          <a:p>
            <a:pPr algn="ctr">
              <a:spcBef>
                <a:spcPct val="50000"/>
              </a:spcBef>
            </a:pPr>
            <a:endParaRPr lang="en-US" altLang="ko-KR" sz="800" b="1" dirty="0">
              <a:latin typeface="+mn-ea"/>
              <a:ea typeface="+mn-ea"/>
            </a:endParaRPr>
          </a:p>
        </p:txBody>
      </p:sp>
      <p:cxnSp>
        <p:nvCxnSpPr>
          <p:cNvPr id="30" name="직선 화살표 연결선 29"/>
          <p:cNvCxnSpPr>
            <a:stCxn id="58" idx="3"/>
            <a:endCxn id="65" idx="1"/>
          </p:cNvCxnSpPr>
          <p:nvPr/>
        </p:nvCxnSpPr>
        <p:spPr>
          <a:xfrm>
            <a:off x="10779769" y="4186250"/>
            <a:ext cx="85527" cy="1437909"/>
          </a:xfrm>
          <a:prstGeom prst="straightConnector1">
            <a:avLst/>
          </a:prstGeom>
          <a:ln w="3175">
            <a:solidFill>
              <a:schemeClr val="bg1">
                <a:lumMod val="85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직사각형 30"/>
          <p:cNvSpPr/>
          <p:nvPr/>
        </p:nvSpPr>
        <p:spPr>
          <a:xfrm>
            <a:off x="6157738" y="4581922"/>
            <a:ext cx="2619326" cy="28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900" b="1" dirty="0">
                <a:latin typeface="+mn-ea"/>
                <a:ea typeface="+mn-ea"/>
              </a:rPr>
              <a:t>K-NOTE</a:t>
            </a:r>
            <a:endParaRPr lang="ko-KR" altLang="en-US" sz="900" b="1" dirty="0">
              <a:latin typeface="+mn-ea"/>
              <a:ea typeface="+mn-ea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6157738" y="4869522"/>
            <a:ext cx="2619326" cy="15126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t">
            <a:noAutofit/>
          </a:bodyPr>
          <a:lstStyle/>
          <a:p>
            <a:pPr algn="ctr">
              <a:spcBef>
                <a:spcPct val="50000"/>
              </a:spcBef>
            </a:pPr>
            <a:endParaRPr lang="en-US" altLang="ko-KR" sz="800" b="1" dirty="0">
              <a:latin typeface="+mn-ea"/>
              <a:ea typeface="+mn-ea"/>
            </a:endParaRPr>
          </a:p>
        </p:txBody>
      </p:sp>
      <p:sp>
        <p:nvSpPr>
          <p:cNvPr id="35" name="원통 34"/>
          <p:cNvSpPr/>
          <p:nvPr/>
        </p:nvSpPr>
        <p:spPr>
          <a:xfrm>
            <a:off x="6657401" y="5698106"/>
            <a:ext cx="1620000" cy="540000"/>
          </a:xfrm>
          <a:prstGeom prst="can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첨부서류</a:t>
            </a:r>
          </a:p>
        </p:txBody>
      </p:sp>
      <p:cxnSp>
        <p:nvCxnSpPr>
          <p:cNvPr id="38" name="직선 화살표 연결선 37"/>
          <p:cNvCxnSpPr>
            <a:stCxn id="40" idx="3"/>
            <a:endCxn id="35" idx="2"/>
          </p:cNvCxnSpPr>
          <p:nvPr/>
        </p:nvCxnSpPr>
        <p:spPr>
          <a:xfrm>
            <a:off x="2593002" y="5644010"/>
            <a:ext cx="4064399" cy="324096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직사각형 39"/>
          <p:cNvSpPr/>
          <p:nvPr/>
        </p:nvSpPr>
        <p:spPr>
          <a:xfrm>
            <a:off x="973002" y="5374010"/>
            <a:ext cx="1620000" cy="54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신청서 및 첨부서류 전송</a:t>
            </a:r>
            <a:endParaRPr lang="en-US" altLang="ko-KR" sz="800" b="1" dirty="0">
              <a:latin typeface="+mn-ea"/>
              <a:ea typeface="+mn-ea"/>
            </a:endParaRPr>
          </a:p>
        </p:txBody>
      </p:sp>
      <p:cxnSp>
        <p:nvCxnSpPr>
          <p:cNvPr id="41" name="직선 화살표 연결선 40"/>
          <p:cNvCxnSpPr>
            <a:stCxn id="54" idx="2"/>
            <a:endCxn id="40" idx="0"/>
          </p:cNvCxnSpPr>
          <p:nvPr/>
        </p:nvCxnSpPr>
        <p:spPr>
          <a:xfrm flipH="1">
            <a:off x="1783002" y="4941962"/>
            <a:ext cx="160" cy="432048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원통 42"/>
          <p:cNvSpPr/>
          <p:nvPr/>
        </p:nvSpPr>
        <p:spPr>
          <a:xfrm>
            <a:off x="6657401" y="4978458"/>
            <a:ext cx="1620000" cy="540000"/>
          </a:xfrm>
          <a:prstGeom prst="can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신청서</a:t>
            </a:r>
          </a:p>
        </p:txBody>
      </p:sp>
      <p:cxnSp>
        <p:nvCxnSpPr>
          <p:cNvPr id="44" name="직선 화살표 연결선 43"/>
          <p:cNvCxnSpPr>
            <a:stCxn id="40" idx="3"/>
            <a:endCxn id="43" idx="2"/>
          </p:cNvCxnSpPr>
          <p:nvPr/>
        </p:nvCxnSpPr>
        <p:spPr>
          <a:xfrm flipV="1">
            <a:off x="2593002" y="5248458"/>
            <a:ext cx="4064399" cy="395552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/>
          <p:cNvSpPr/>
          <p:nvPr/>
        </p:nvSpPr>
        <p:spPr>
          <a:xfrm>
            <a:off x="9242123" y="2169654"/>
            <a:ext cx="2243034" cy="756084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800" b="1" dirty="0">
                <a:solidFill>
                  <a:srgbClr val="C00000"/>
                </a:solidFill>
                <a:latin typeface="+mn-ea"/>
                <a:ea typeface="+mn-ea"/>
              </a:rPr>
              <a:t>신청서 및 첨부서류를 전송해서 접수만 진행하고</a:t>
            </a:r>
            <a:r>
              <a:rPr lang="en-US" altLang="ko-KR" sz="800" b="1" dirty="0">
                <a:solidFill>
                  <a:srgbClr val="C00000"/>
                </a:solidFill>
                <a:latin typeface="+mn-ea"/>
                <a:ea typeface="+mn-ea"/>
              </a:rPr>
              <a:t>, </a:t>
            </a:r>
            <a:r>
              <a:rPr lang="ko-KR" altLang="en-US" sz="800" b="1" dirty="0">
                <a:solidFill>
                  <a:srgbClr val="C00000"/>
                </a:solidFill>
                <a:latin typeface="+mn-ea"/>
                <a:ea typeface="+mn-ea"/>
              </a:rPr>
              <a:t>고객센터</a:t>
            </a:r>
            <a:r>
              <a:rPr lang="en-US" altLang="ko-KR" sz="800" b="1" dirty="0">
                <a:solidFill>
                  <a:srgbClr val="C00000"/>
                </a:solidFill>
                <a:latin typeface="+mn-ea"/>
                <a:ea typeface="+mn-ea"/>
              </a:rPr>
              <a:t>/</a:t>
            </a:r>
            <a:r>
              <a:rPr lang="ko-KR" altLang="en-US" sz="800" b="1" dirty="0" err="1">
                <a:solidFill>
                  <a:srgbClr val="C00000"/>
                </a:solidFill>
                <a:latin typeface="+mn-ea"/>
                <a:ea typeface="+mn-ea"/>
              </a:rPr>
              <a:t>상담사</a:t>
            </a:r>
            <a:r>
              <a:rPr lang="ko-KR" altLang="en-US" sz="800" b="1" dirty="0">
                <a:solidFill>
                  <a:srgbClr val="C00000"/>
                </a:solidFill>
                <a:latin typeface="+mn-ea"/>
                <a:ea typeface="+mn-ea"/>
              </a:rPr>
              <a:t> 실제 확인 후 </a:t>
            </a:r>
            <a:r>
              <a:rPr lang="en-US" altLang="ko-KR" sz="800" b="1" dirty="0">
                <a:solidFill>
                  <a:srgbClr val="C00000"/>
                </a:solidFill>
                <a:latin typeface="+mn-ea"/>
                <a:ea typeface="+mn-ea"/>
              </a:rPr>
              <a:t>M</a:t>
            </a:r>
            <a:r>
              <a:rPr lang="ko-KR" altLang="en-US" sz="800" b="1" dirty="0">
                <a:solidFill>
                  <a:srgbClr val="C00000"/>
                </a:solidFill>
                <a:latin typeface="+mn-ea"/>
                <a:ea typeface="+mn-ea"/>
              </a:rPr>
              <a:t>전산에서 후속 </a:t>
            </a:r>
            <a:r>
              <a:rPr lang="ko-KR" altLang="en-US" sz="800" b="1" dirty="0" smtClean="0">
                <a:solidFill>
                  <a:srgbClr val="C00000"/>
                </a:solidFill>
                <a:latin typeface="+mn-ea"/>
                <a:ea typeface="+mn-ea"/>
              </a:rPr>
              <a:t>처리</a:t>
            </a:r>
            <a:endParaRPr lang="en-US" altLang="ko-KR" sz="800" b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6184776" y="3213770"/>
            <a:ext cx="2619326" cy="28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900" b="1" dirty="0">
                <a:latin typeface="+mn-ea"/>
                <a:ea typeface="+mn-ea"/>
              </a:rPr>
              <a:t>M</a:t>
            </a:r>
            <a:r>
              <a:rPr lang="ko-KR" altLang="en-US" sz="900" b="1" dirty="0">
                <a:latin typeface="+mn-ea"/>
                <a:ea typeface="+mn-ea"/>
              </a:rPr>
              <a:t>전산</a:t>
            </a:r>
          </a:p>
        </p:txBody>
      </p:sp>
      <p:sp>
        <p:nvSpPr>
          <p:cNvPr id="61" name="직사각형 60"/>
          <p:cNvSpPr/>
          <p:nvPr/>
        </p:nvSpPr>
        <p:spPr>
          <a:xfrm>
            <a:off x="6184776" y="3501370"/>
            <a:ext cx="2619326" cy="936104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t">
            <a:noAutofit/>
          </a:bodyPr>
          <a:lstStyle/>
          <a:p>
            <a:pPr algn="ctr">
              <a:spcBef>
                <a:spcPct val="50000"/>
              </a:spcBef>
            </a:pPr>
            <a:endParaRPr lang="en-US" altLang="ko-KR" sz="800" b="1" dirty="0">
              <a:latin typeface="+mn-ea"/>
              <a:ea typeface="+mn-ea"/>
            </a:endParaRPr>
          </a:p>
        </p:txBody>
      </p:sp>
      <p:sp>
        <p:nvSpPr>
          <p:cNvPr id="62" name="원통 61"/>
          <p:cNvSpPr/>
          <p:nvPr/>
        </p:nvSpPr>
        <p:spPr>
          <a:xfrm>
            <a:off x="6684439" y="3645818"/>
            <a:ext cx="1620000" cy="540000"/>
          </a:xfrm>
          <a:prstGeom prst="can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800" b="1" dirty="0">
                <a:latin typeface="+mn-ea"/>
                <a:ea typeface="+mn-ea"/>
              </a:rPr>
              <a:t>명의변경</a:t>
            </a:r>
          </a:p>
        </p:txBody>
      </p:sp>
      <p:cxnSp>
        <p:nvCxnSpPr>
          <p:cNvPr id="59" name="직선 화살표 연결선 58"/>
          <p:cNvCxnSpPr>
            <a:stCxn id="54" idx="3"/>
            <a:endCxn id="62" idx="2"/>
          </p:cNvCxnSpPr>
          <p:nvPr/>
        </p:nvCxnSpPr>
        <p:spPr>
          <a:xfrm flipV="1">
            <a:off x="2593162" y="3915818"/>
            <a:ext cx="4091277" cy="756144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/>
          <p:cNvCxnSpPr>
            <a:stCxn id="62" idx="4"/>
            <a:endCxn id="58" idx="2"/>
          </p:cNvCxnSpPr>
          <p:nvPr/>
        </p:nvCxnSpPr>
        <p:spPr>
          <a:xfrm>
            <a:off x="8304439" y="3915818"/>
            <a:ext cx="1665330" cy="432"/>
          </a:xfrm>
          <a:prstGeom prst="straightConnector1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1332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3923632"/>
              </p:ext>
            </p:extLst>
          </p:nvPr>
        </p:nvGraphicFramePr>
        <p:xfrm>
          <a:off x="10505256" y="788950"/>
          <a:ext cx="2130330" cy="407039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좌측 메뉴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작성단계에 맞춰 활성화 되어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완료 카피 데이터 조회로 진입한 경우 디폴트 표시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완료 카피한 데이터로 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ko-KR" altLang="en-US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정보는 디폴트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세팅하지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않음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다시 인증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받아야함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전체 작성 단계 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및 유효성 체크 버튼은 활성화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안한것으로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간주하여 화면에 버튼 활성화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기존 등록된 요금제 정책에 해당하는 요금제 정보가 없는 경우 요금제 정보 초기화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완료 카피 데이터 화면 진입한 경우 알림 메시지 표시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내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항목이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선택되면 버튼 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 신청서 양식 펼침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S103050101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</a:t>
            </a:r>
            <a:r>
              <a:rPr lang="ko-KR" altLang="en-US" sz="1000" dirty="0" smtClean="0">
                <a:latin typeface="+mn-ea"/>
                <a:ea typeface="+mn-ea"/>
              </a:rPr>
              <a:t>신청서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962696" y="1062156"/>
            <a:ext cx="9468000" cy="5544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="" xmlns:a16="http://schemas.microsoft.com/office/drawing/2014/main" id="{12CE9977-2AB1-6106-F63E-BCF0EB98C6EA}"/>
              </a:ext>
            </a:extLst>
          </p:cNvPr>
          <p:cNvGrpSpPr/>
          <p:nvPr/>
        </p:nvGrpSpPr>
        <p:grpSpPr>
          <a:xfrm>
            <a:off x="208192" y="1062869"/>
            <a:ext cx="720000" cy="3237481"/>
            <a:chOff x="208192" y="1062869"/>
            <a:chExt cx="720000" cy="3237481"/>
          </a:xfrm>
        </p:grpSpPr>
        <p:sp>
          <p:nvSpPr>
            <p:cNvPr id="39" name="직사각형 38"/>
            <p:cNvSpPr/>
            <p:nvPr/>
          </p:nvSpPr>
          <p:spPr>
            <a:xfrm>
              <a:off x="208192" y="1062869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신규</a:t>
              </a:r>
              <a:r>
                <a:rPr lang="en-US" altLang="ko-KR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40" name="직사각형 39"/>
            <p:cNvSpPr/>
            <p:nvPr/>
          </p:nvSpPr>
          <p:spPr>
            <a:xfrm>
              <a:off x="208192" y="1602365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208192" y="2141861"/>
              <a:ext cx="720000" cy="540000"/>
            </a:xfrm>
            <a:prstGeom prst="rect">
              <a:avLst/>
            </a:prstGeom>
            <a:solidFill>
              <a:srgbClr val="1BA6C7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명의변경</a:t>
              </a:r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208192" y="2681357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해지</a:t>
              </a:r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208192" y="3220853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부가기능</a:t>
              </a:r>
            </a:p>
          </p:txBody>
        </p:sp>
        <p:grpSp>
          <p:nvGrpSpPr>
            <p:cNvPr id="44" name="그룹 43"/>
            <p:cNvGrpSpPr/>
            <p:nvPr/>
          </p:nvGrpSpPr>
          <p:grpSpPr>
            <a:xfrm>
              <a:off x="208192" y="3760350"/>
              <a:ext cx="720000" cy="540000"/>
              <a:chOff x="395258" y="4509914"/>
              <a:chExt cx="720000" cy="540000"/>
            </a:xfrm>
          </p:grpSpPr>
          <p:sp>
            <p:nvSpPr>
              <p:cNvPr id="45" name="직사각형 44"/>
              <p:cNvSpPr/>
              <p:nvPr/>
            </p:nvSpPr>
            <p:spPr>
              <a:xfrm>
                <a:off x="395258" y="4509914"/>
                <a:ext cx="720000" cy="540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rgbClr val="3CC4E4"/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12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46" name="Picture 5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50441" y="4587842"/>
                <a:ext cx="409575" cy="3905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50" name="눈물 방울 49"/>
          <p:cNvSpPr/>
          <p:nvPr/>
        </p:nvSpPr>
        <p:spPr>
          <a:xfrm rot="5400000">
            <a:off x="143571" y="106818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9641240" y="6274520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다음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27" name="눈물 방울 26"/>
          <p:cNvSpPr/>
          <p:nvPr/>
        </p:nvSpPr>
        <p:spPr>
          <a:xfrm rot="5400000">
            <a:off x="9390553" y="6311859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0" name="눈물 방울 19"/>
          <p:cNvSpPr/>
          <p:nvPr/>
        </p:nvSpPr>
        <p:spPr>
          <a:xfrm rot="5400000">
            <a:off x="1004966" y="106099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7185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856184" y="1269586"/>
            <a:ext cx="720000" cy="288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다음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40160" y="909514"/>
            <a:ext cx="374441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화면 내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 항목이 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1796662" y="1269586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다음</a:t>
            </a:r>
          </a:p>
        </p:txBody>
      </p:sp>
      <p:sp>
        <p:nvSpPr>
          <p:cNvPr id="16" name="눈물 방울 15"/>
          <p:cNvSpPr/>
          <p:nvPr/>
        </p:nvSpPr>
        <p:spPr>
          <a:xfrm rot="5400000">
            <a:off x="356894" y="925963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7DC01E7B-86B6-CA83-3BA2-F9AA22920A6B}"/>
              </a:ext>
            </a:extLst>
          </p:cNvPr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</a:t>
            </a:r>
            <a:r>
              <a:rPr lang="ko-KR" altLang="en-US" sz="1000" dirty="0" smtClean="0">
                <a:latin typeface="+mn-ea"/>
                <a:ea typeface="+mn-ea"/>
              </a:rPr>
              <a:t>신청서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FE88049E-C6AE-CAD7-3353-E2AC4A85D76E}"/>
              </a:ext>
            </a:extLst>
          </p:cNvPr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S103050101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9" name="그룹 8"/>
          <p:cNvGrpSpPr/>
          <p:nvPr/>
        </p:nvGrpSpPr>
        <p:grpSpPr>
          <a:xfrm>
            <a:off x="566654" y="2680803"/>
            <a:ext cx="2881818" cy="1397063"/>
            <a:chOff x="5875124" y="3832891"/>
            <a:chExt cx="2881818" cy="1397063"/>
          </a:xfrm>
        </p:grpSpPr>
        <p:sp>
          <p:nvSpPr>
            <p:cNvPr id="10" name="직사각형 9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XXX 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입력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선택해 주세요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8" name="직사각형 17"/>
          <p:cNvSpPr/>
          <p:nvPr/>
        </p:nvSpPr>
        <p:spPr>
          <a:xfrm>
            <a:off x="620665" y="2385949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필수값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미입력시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173136" y="1981629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20" name="눈물 방울 19"/>
          <p:cNvSpPr/>
          <p:nvPr/>
        </p:nvSpPr>
        <p:spPr>
          <a:xfrm rot="5400000">
            <a:off x="363821" y="2357141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3736504" y="2680803"/>
            <a:ext cx="2881818" cy="1397063"/>
            <a:chOff x="5875124" y="3832891"/>
            <a:chExt cx="2881818" cy="1397063"/>
          </a:xfrm>
        </p:grpSpPr>
        <p:sp>
          <p:nvSpPr>
            <p:cNvPr id="22" name="직사각형 21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3" name="직사각형 22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24" name="직사각형 23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XXX 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체크해 주세요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25" name="직사각형 24"/>
          <p:cNvSpPr/>
          <p:nvPr/>
        </p:nvSpPr>
        <p:spPr>
          <a:xfrm>
            <a:off x="3790515" y="2385949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필수 인증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체크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미완료시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595402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직사각형 38"/>
          <p:cNvSpPr/>
          <p:nvPr/>
        </p:nvSpPr>
        <p:spPr>
          <a:xfrm>
            <a:off x="640160" y="909514"/>
            <a:ext cx="741682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접수완료 카피 데이터로 화면 진입한 경우 알림 메시지 표시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566654" y="1269554"/>
            <a:ext cx="2881818" cy="1397063"/>
            <a:chOff x="5875124" y="3832891"/>
            <a:chExt cx="2881818" cy="1397063"/>
          </a:xfrm>
        </p:grpSpPr>
        <p:sp>
          <p:nvSpPr>
            <p:cNvPr id="20" name="직사각형 19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" name="직사각형 20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22" name="직사각형 21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이전에 인증하신 신분증 인증 정보는 재사용이 불가하므로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, 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신분증 인증을 다시 진행해 주세요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aphicFrame>
        <p:nvGraphicFramePr>
          <p:cNvPr id="46" name="표 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2683135"/>
              </p:ext>
            </p:extLst>
          </p:nvPr>
        </p:nvGraphicFramePr>
        <p:xfrm>
          <a:off x="12914755" y="109568"/>
          <a:ext cx="3443089" cy="1091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접수완료 데이터로 화면 진입한 경우 알림 메시지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7DC01E7B-86B6-CA83-3BA2-F9AA22920A6B}"/>
              </a:ext>
            </a:extLst>
          </p:cNvPr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</a:t>
            </a:r>
            <a:r>
              <a:rPr lang="ko-KR" altLang="en-US" sz="1000" dirty="0" smtClean="0">
                <a:latin typeface="+mn-ea"/>
                <a:ea typeface="+mn-ea"/>
              </a:rPr>
              <a:t>신청서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FE88049E-C6AE-CAD7-3353-E2AC4A85D76E}"/>
              </a:ext>
            </a:extLst>
          </p:cNvPr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S103050101</a:t>
            </a:r>
            <a:endParaRPr lang="ko-KR" altLang="en-US" sz="1000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97708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6211028"/>
              </p:ext>
            </p:extLst>
          </p:nvPr>
        </p:nvGraphicFramePr>
        <p:xfrm>
          <a:off x="10505256" y="788950"/>
          <a:ext cx="2130330" cy="285119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좌측 메뉴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작성단계에 맞춰 활성화 되어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고객 정보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영역 화면에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내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항목이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선택되면 버튼 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필수값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 여부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입력값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 신청서 양식 펼침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5" name="직사각형 54"/>
          <p:cNvSpPr/>
          <p:nvPr/>
        </p:nvSpPr>
        <p:spPr>
          <a:xfrm>
            <a:off x="962696" y="1062154"/>
            <a:ext cx="9468000" cy="5580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7" name="직사각형 56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sp>
        <p:nvSpPr>
          <p:cNvPr id="143" name="직사각형 142"/>
          <p:cNvSpPr/>
          <p:nvPr/>
        </p:nvSpPr>
        <p:spPr>
          <a:xfrm>
            <a:off x="1072208" y="1125809"/>
            <a:ext cx="9252000" cy="1080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2000" b="1" dirty="0">
                <a:latin typeface="+mn-ea"/>
                <a:ea typeface="+mn-ea"/>
              </a:rPr>
              <a:t>고객 영역</a:t>
            </a:r>
          </a:p>
        </p:txBody>
      </p:sp>
      <p:sp>
        <p:nvSpPr>
          <p:cNvPr id="150" name="눈물 방울 149"/>
          <p:cNvSpPr/>
          <p:nvPr/>
        </p:nvSpPr>
        <p:spPr>
          <a:xfrm rot="5400000">
            <a:off x="212878" y="8449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51" name="눈물 방울 150"/>
          <p:cNvSpPr/>
          <p:nvPr/>
        </p:nvSpPr>
        <p:spPr>
          <a:xfrm rot="5400000">
            <a:off x="967462" y="104876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S103010101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</a:t>
            </a:r>
          </a:p>
        </p:txBody>
      </p:sp>
      <p:grpSp>
        <p:nvGrpSpPr>
          <p:cNvPr id="21" name="그룹 20"/>
          <p:cNvGrpSpPr/>
          <p:nvPr/>
        </p:nvGrpSpPr>
        <p:grpSpPr>
          <a:xfrm>
            <a:off x="208192" y="1055696"/>
            <a:ext cx="720000" cy="4368542"/>
            <a:chOff x="13169552" y="1055696"/>
            <a:chExt cx="720000" cy="4368542"/>
          </a:xfrm>
        </p:grpSpPr>
        <p:sp>
          <p:nvSpPr>
            <p:cNvPr id="22" name="직사각형 21"/>
            <p:cNvSpPr/>
            <p:nvPr/>
          </p:nvSpPr>
          <p:spPr>
            <a:xfrm>
              <a:off x="13169552" y="1055696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신규</a:t>
              </a:r>
              <a:r>
                <a:rPr lang="en-US" altLang="ko-KR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23" name="직사각형 22"/>
            <p:cNvSpPr/>
            <p:nvPr/>
          </p:nvSpPr>
          <p:spPr>
            <a:xfrm>
              <a:off x="13169552" y="1600175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24" name="직사각형 23"/>
            <p:cNvSpPr/>
            <p:nvPr/>
          </p:nvSpPr>
          <p:spPr>
            <a:xfrm>
              <a:off x="13169552" y="2135210"/>
              <a:ext cx="720000" cy="540000"/>
            </a:xfrm>
            <a:prstGeom prst="rect">
              <a:avLst/>
            </a:prstGeom>
            <a:solidFill>
              <a:srgbClr val="1BA6C7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명의변경</a:t>
              </a:r>
            </a:p>
          </p:txBody>
        </p:sp>
        <p:sp>
          <p:nvSpPr>
            <p:cNvPr id="25" name="직사각형 24"/>
            <p:cNvSpPr/>
            <p:nvPr/>
          </p:nvSpPr>
          <p:spPr>
            <a:xfrm>
              <a:off x="13169552" y="3805245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해지</a:t>
              </a:r>
            </a:p>
          </p:txBody>
        </p:sp>
        <p:sp>
          <p:nvSpPr>
            <p:cNvPr id="26" name="직사각형 25"/>
            <p:cNvSpPr/>
            <p:nvPr/>
          </p:nvSpPr>
          <p:spPr>
            <a:xfrm>
              <a:off x="13169552" y="4344741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부가기능</a:t>
              </a:r>
            </a:p>
          </p:txBody>
        </p:sp>
        <p:grpSp>
          <p:nvGrpSpPr>
            <p:cNvPr id="27" name="그룹 26"/>
            <p:cNvGrpSpPr/>
            <p:nvPr/>
          </p:nvGrpSpPr>
          <p:grpSpPr>
            <a:xfrm>
              <a:off x="13169552" y="4884238"/>
              <a:ext cx="720000" cy="540000"/>
              <a:chOff x="1648352" y="5642535"/>
              <a:chExt cx="720000" cy="540000"/>
            </a:xfrm>
          </p:grpSpPr>
          <p:sp>
            <p:nvSpPr>
              <p:cNvPr id="34" name="직사각형 33"/>
              <p:cNvSpPr/>
              <p:nvPr/>
            </p:nvSpPr>
            <p:spPr>
              <a:xfrm>
                <a:off x="1648352" y="5642535"/>
                <a:ext cx="720000" cy="540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rgbClr val="3CC4E4"/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12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35" name="Picture 5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03535" y="5720463"/>
                <a:ext cx="409575" cy="3905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28" name="직사각형 27"/>
            <p:cNvSpPr/>
            <p:nvPr/>
          </p:nvSpPr>
          <p:spPr>
            <a:xfrm>
              <a:off x="13207056" y="2711314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고객</a:t>
              </a:r>
            </a:p>
          </p:txBody>
        </p:sp>
        <p:sp>
          <p:nvSpPr>
            <p:cNvPr id="29" name="타원 28"/>
            <p:cNvSpPr/>
            <p:nvPr/>
          </p:nvSpPr>
          <p:spPr>
            <a:xfrm>
              <a:off x="13238559" y="2774688"/>
              <a:ext cx="216000" cy="216000"/>
            </a:xfrm>
            <a:prstGeom prst="ellipse">
              <a:avLst/>
            </a:prstGeom>
            <a:solidFill>
              <a:srgbClr val="1BA6C7"/>
            </a:solidFill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1</a:t>
              </a:r>
              <a:endParaRPr lang="ko-KR" altLang="en-US" sz="8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0" name="직사각형 29"/>
            <p:cNvSpPr/>
            <p:nvPr/>
          </p:nvSpPr>
          <p:spPr>
            <a:xfrm>
              <a:off x="13206976" y="3069794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상품</a:t>
              </a:r>
            </a:p>
          </p:txBody>
        </p:sp>
        <p:sp>
          <p:nvSpPr>
            <p:cNvPr id="31" name="타원 30"/>
            <p:cNvSpPr/>
            <p:nvPr/>
          </p:nvSpPr>
          <p:spPr>
            <a:xfrm>
              <a:off x="13238559" y="3133168"/>
              <a:ext cx="216000" cy="216000"/>
            </a:xfrm>
            <a:prstGeom prst="ellipse">
              <a:avLst/>
            </a:prstGeom>
            <a:noFill/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endParaRPr lang="ko-KR" altLang="en-US" sz="8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13206976" y="3429834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동의</a:t>
              </a:r>
            </a:p>
          </p:txBody>
        </p:sp>
        <p:sp>
          <p:nvSpPr>
            <p:cNvPr id="33" name="타원 32"/>
            <p:cNvSpPr/>
            <p:nvPr/>
          </p:nvSpPr>
          <p:spPr>
            <a:xfrm>
              <a:off x="13238559" y="3493208"/>
              <a:ext cx="216000" cy="216000"/>
            </a:xfrm>
            <a:prstGeom prst="ellipse">
              <a:avLst/>
            </a:prstGeom>
            <a:noFill/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endParaRPr lang="ko-KR" altLang="en-US" sz="8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38" name="직사각형 37"/>
          <p:cNvSpPr/>
          <p:nvPr/>
        </p:nvSpPr>
        <p:spPr>
          <a:xfrm>
            <a:off x="9641240" y="6274520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다음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9" name="눈물 방울 38"/>
          <p:cNvSpPr/>
          <p:nvPr/>
        </p:nvSpPr>
        <p:spPr>
          <a:xfrm rot="5400000">
            <a:off x="9390553" y="6311859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4564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직사각형 37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5338529"/>
              </p:ext>
            </p:extLst>
          </p:nvPr>
        </p:nvGraphicFramePr>
        <p:xfrm>
          <a:off x="10505256" y="788950"/>
          <a:ext cx="2130330" cy="1000312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설명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다음장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참조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S103010101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8" y="331038"/>
            <a:ext cx="8772519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양도 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내국인</a:t>
            </a:r>
            <a:r>
              <a:rPr lang="en-US" altLang="ko-KR" sz="1000" dirty="0">
                <a:latin typeface="+mn-ea"/>
                <a:ea typeface="+mn-ea"/>
              </a:rPr>
              <a:t>, </a:t>
            </a:r>
            <a:r>
              <a:rPr lang="ko-KR" altLang="en-US" sz="1000" dirty="0">
                <a:latin typeface="+mn-ea"/>
                <a:ea typeface="+mn-ea"/>
              </a:rPr>
              <a:t>외국인</a:t>
            </a:r>
            <a:r>
              <a:rPr lang="en-US" altLang="ko-KR" sz="1000" dirty="0">
                <a:latin typeface="+mn-ea"/>
                <a:ea typeface="+mn-ea"/>
              </a:rPr>
              <a:t>(Foreigner)) 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grpSp>
        <p:nvGrpSpPr>
          <p:cNvPr id="98" name="그룹 97"/>
          <p:cNvGrpSpPr/>
          <p:nvPr/>
        </p:nvGrpSpPr>
        <p:grpSpPr>
          <a:xfrm>
            <a:off x="1072208" y="1167349"/>
            <a:ext cx="9252000" cy="246221"/>
            <a:chOff x="1072208" y="1117425"/>
            <a:chExt cx="9252000" cy="246221"/>
          </a:xfrm>
        </p:grpSpPr>
        <p:sp>
          <p:nvSpPr>
            <p:cNvPr id="99" name="TextBox 98"/>
            <p:cNvSpPr txBox="1"/>
            <p:nvPr/>
          </p:nvSpPr>
          <p:spPr>
            <a:xfrm>
              <a:off x="1072208" y="1117425"/>
              <a:ext cx="13484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양도고객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유형</a:t>
              </a:r>
            </a:p>
          </p:txBody>
        </p:sp>
        <p:cxnSp>
          <p:nvCxnSpPr>
            <p:cNvPr id="100" name="직선 연결선 99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눈물 방울 100"/>
          <p:cNvSpPr/>
          <p:nvPr/>
        </p:nvSpPr>
        <p:spPr>
          <a:xfrm rot="5400000">
            <a:off x="967461" y="111930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15" name="그룹 114"/>
          <p:cNvGrpSpPr/>
          <p:nvPr/>
        </p:nvGrpSpPr>
        <p:grpSpPr>
          <a:xfrm>
            <a:off x="1072208" y="2901800"/>
            <a:ext cx="9252000" cy="246221"/>
            <a:chOff x="1072208" y="1117425"/>
            <a:chExt cx="9252000" cy="246221"/>
          </a:xfrm>
        </p:grpSpPr>
        <p:sp>
          <p:nvSpPr>
            <p:cNvPr id="116" name="TextBox 115"/>
            <p:cNvSpPr txBox="1"/>
            <p:nvPr/>
          </p:nvSpPr>
          <p:spPr>
            <a:xfrm>
              <a:off x="1072208" y="1117425"/>
              <a:ext cx="139333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양도고객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 정보</a:t>
              </a:r>
            </a:p>
          </p:txBody>
        </p:sp>
        <p:cxnSp>
          <p:nvCxnSpPr>
            <p:cNvPr id="117" name="직선 연결선 116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눈물 방울 117"/>
          <p:cNvSpPr/>
          <p:nvPr/>
        </p:nvSpPr>
        <p:spPr>
          <a:xfrm rot="5400000">
            <a:off x="932957" y="284896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29" name="그룹 128"/>
          <p:cNvGrpSpPr/>
          <p:nvPr/>
        </p:nvGrpSpPr>
        <p:grpSpPr>
          <a:xfrm>
            <a:off x="1072208" y="3261896"/>
            <a:ext cx="5391974" cy="252000"/>
            <a:chOff x="640160" y="-566622"/>
            <a:chExt cx="5391974" cy="252000"/>
          </a:xfrm>
        </p:grpSpPr>
        <p:sp>
          <p:nvSpPr>
            <p:cNvPr id="130" name="TextBox 129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1" name="직사각형 130"/>
            <p:cNvSpPr/>
            <p:nvPr/>
          </p:nvSpPr>
          <p:spPr>
            <a:xfrm>
              <a:off x="2112151" y="-566622"/>
              <a:ext cx="3919983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32" name="그룹 131"/>
          <p:cNvGrpSpPr/>
          <p:nvPr/>
        </p:nvGrpSpPr>
        <p:grpSpPr>
          <a:xfrm>
            <a:off x="1078588" y="3621880"/>
            <a:ext cx="5391974" cy="252000"/>
            <a:chOff x="640160" y="-566622"/>
            <a:chExt cx="5391974" cy="252000"/>
          </a:xfrm>
        </p:grpSpPr>
        <p:sp>
          <p:nvSpPr>
            <p:cNvPr id="133" name="TextBox 132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생년월일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4" name="직사각형 133"/>
            <p:cNvSpPr/>
            <p:nvPr/>
          </p:nvSpPr>
          <p:spPr>
            <a:xfrm>
              <a:off x="2109197" y="-566622"/>
              <a:ext cx="3922937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8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(YYYYMMDD)</a:t>
              </a:r>
            </a:p>
          </p:txBody>
        </p:sp>
      </p:grpSp>
      <p:grpSp>
        <p:nvGrpSpPr>
          <p:cNvPr id="54" name="그룹 53"/>
          <p:cNvGrpSpPr/>
          <p:nvPr/>
        </p:nvGrpSpPr>
        <p:grpSpPr>
          <a:xfrm>
            <a:off x="1059141" y="4015994"/>
            <a:ext cx="5405041" cy="252000"/>
            <a:chOff x="424136" y="-566622"/>
            <a:chExt cx="5405041" cy="252000"/>
          </a:xfrm>
        </p:grpSpPr>
        <p:sp>
          <p:nvSpPr>
            <p:cNvPr id="57" name="TextBox 56"/>
            <p:cNvSpPr txBox="1"/>
            <p:nvPr/>
          </p:nvSpPr>
          <p:spPr>
            <a:xfrm>
              <a:off x="424136" y="-556038"/>
              <a:ext cx="135646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명의변경 휴대폰번호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1" name="직사각형 60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63" name="눈물 방울 62"/>
          <p:cNvSpPr/>
          <p:nvPr/>
        </p:nvSpPr>
        <p:spPr>
          <a:xfrm rot="5400000">
            <a:off x="7344371" y="402716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4" name="직사각형 63"/>
          <p:cNvSpPr/>
          <p:nvPr/>
        </p:nvSpPr>
        <p:spPr>
          <a:xfrm>
            <a:off x="6542922" y="4017952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</a:p>
        </p:txBody>
      </p:sp>
      <p:grpSp>
        <p:nvGrpSpPr>
          <p:cNvPr id="39" name="그룹 38"/>
          <p:cNvGrpSpPr/>
          <p:nvPr/>
        </p:nvGrpSpPr>
        <p:grpSpPr>
          <a:xfrm>
            <a:off x="1053932" y="1521610"/>
            <a:ext cx="7867148" cy="252000"/>
            <a:chOff x="640160" y="-566622"/>
            <a:chExt cx="7867148" cy="252000"/>
          </a:xfrm>
        </p:grpSpPr>
        <p:sp>
          <p:nvSpPr>
            <p:cNvPr id="40" name="직사각형 39"/>
            <p:cNvSpPr/>
            <p:nvPr/>
          </p:nvSpPr>
          <p:spPr>
            <a:xfrm>
              <a:off x="2135204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내국인</a:t>
              </a: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2912391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(19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세 미만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4114820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4" name="직사각형 43"/>
            <p:cNvSpPr/>
            <p:nvPr/>
          </p:nvSpPr>
          <p:spPr>
            <a:xfrm>
              <a:off x="5301602" y="-566622"/>
              <a:ext cx="162153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699526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법인</a:t>
              </a:r>
            </a:p>
          </p:txBody>
        </p:sp>
        <p:sp>
          <p:nvSpPr>
            <p:cNvPr id="82" name="직사각형 81"/>
            <p:cNvSpPr/>
            <p:nvPr/>
          </p:nvSpPr>
          <p:spPr>
            <a:xfrm>
              <a:off x="778730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공공기관</a:t>
              </a:r>
            </a:p>
          </p:txBody>
        </p:sp>
      </p:grpSp>
      <p:grpSp>
        <p:nvGrpSpPr>
          <p:cNvPr id="5" name="그룹 4"/>
          <p:cNvGrpSpPr/>
          <p:nvPr/>
        </p:nvGrpSpPr>
        <p:grpSpPr>
          <a:xfrm>
            <a:off x="6631509" y="3639866"/>
            <a:ext cx="897050" cy="234014"/>
            <a:chOff x="4999694" y="-1228030"/>
            <a:chExt cx="897050" cy="234014"/>
          </a:xfrm>
        </p:grpSpPr>
        <p:grpSp>
          <p:nvGrpSpPr>
            <p:cNvPr id="3" name="그룹 2"/>
            <p:cNvGrpSpPr/>
            <p:nvPr/>
          </p:nvGrpSpPr>
          <p:grpSpPr>
            <a:xfrm>
              <a:off x="4999694" y="-1193269"/>
              <a:ext cx="144000" cy="144000"/>
              <a:chOff x="4999694" y="-1193269"/>
              <a:chExt cx="144000" cy="144000"/>
            </a:xfrm>
          </p:grpSpPr>
          <p:sp>
            <p:nvSpPr>
              <p:cNvPr id="2" name="타원 1"/>
              <p:cNvSpPr/>
              <p:nvPr/>
            </p:nvSpPr>
            <p:spPr>
              <a:xfrm>
                <a:off x="4999694" y="-1193269"/>
                <a:ext cx="144000" cy="144000"/>
              </a:xfrm>
              <a:prstGeom prst="ellipse">
                <a:avLst/>
              </a:prstGeom>
              <a:solidFill>
                <a:schemeClr val="bg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91" name="타원 90"/>
              <p:cNvSpPr/>
              <p:nvPr/>
            </p:nvSpPr>
            <p:spPr>
              <a:xfrm>
                <a:off x="5024022" y="-1177206"/>
                <a:ext cx="108000" cy="108000"/>
              </a:xfrm>
              <a:prstGeom prst="ellipse">
                <a:avLst/>
              </a:prstGeom>
              <a:solidFill>
                <a:schemeClr val="tx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</p:grpSp>
        <p:sp>
          <p:nvSpPr>
            <p:cNvPr id="92" name="타원 91"/>
            <p:cNvSpPr/>
            <p:nvPr/>
          </p:nvSpPr>
          <p:spPr>
            <a:xfrm>
              <a:off x="5519468" y="-1195970"/>
              <a:ext cx="144000" cy="144000"/>
            </a:xfrm>
            <a:prstGeom prst="ellipse">
              <a:avLst/>
            </a:prstGeom>
            <a:solidFill>
              <a:schemeClr val="bg1">
                <a:alpha val="7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96030" y="-1228030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남</a:t>
              </a:r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5596662" y="-1224848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여</a:t>
              </a:r>
            </a:p>
          </p:txBody>
        </p:sp>
      </p:grpSp>
      <p:sp>
        <p:nvSpPr>
          <p:cNvPr id="46" name="직사각형 45"/>
          <p:cNvSpPr/>
          <p:nvPr/>
        </p:nvSpPr>
        <p:spPr>
          <a:xfrm>
            <a:off x="12906552" y="2229278"/>
            <a:ext cx="2880320" cy="1431289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(2026.03.10)</a:t>
            </a:r>
          </a:p>
          <a:p>
            <a:pPr>
              <a:spcBef>
                <a:spcPct val="50000"/>
              </a:spcBef>
            </a:pP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양도고객은 신분증 인증 필요한지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여부</a:t>
            </a:r>
            <a:endParaRPr lang="en-US" altLang="ko-KR" sz="1000" b="1" dirty="0" smtClean="0">
              <a:solidFill>
                <a:srgbClr val="FF0000"/>
              </a:solidFill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 </a:t>
            </a:r>
            <a:r>
              <a:rPr lang="ko-KR" altLang="en-US" sz="1000" b="1" dirty="0" err="1">
                <a:solidFill>
                  <a:srgbClr val="FF0000"/>
                </a:solidFill>
                <a:latin typeface="+mn-ea"/>
                <a:ea typeface="+mn-ea"/>
              </a:rPr>
              <a:t>유통영업팀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 확인 후 피드백</a:t>
            </a:r>
            <a:endParaRPr lang="ko-KR" altLang="en-US" sz="1000" b="1" dirty="0" smtClean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47" name="그룹 46"/>
          <p:cNvGrpSpPr/>
          <p:nvPr/>
        </p:nvGrpSpPr>
        <p:grpSpPr>
          <a:xfrm>
            <a:off x="1072208" y="1989634"/>
            <a:ext cx="9252000" cy="246221"/>
            <a:chOff x="1072208" y="1117425"/>
            <a:chExt cx="9252000" cy="246221"/>
          </a:xfrm>
        </p:grpSpPr>
        <p:sp>
          <p:nvSpPr>
            <p:cNvPr id="48" name="TextBox 47"/>
            <p:cNvSpPr txBox="1"/>
            <p:nvPr/>
          </p:nvSpPr>
          <p:spPr>
            <a:xfrm>
              <a:off x="1072208" y="1117425"/>
              <a:ext cx="17780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양도고객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 신분증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cxnSp>
          <p:nvCxnSpPr>
            <p:cNvPr id="49" name="직선 연결선 48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눈물 방울 55"/>
          <p:cNvSpPr/>
          <p:nvPr/>
        </p:nvSpPr>
        <p:spPr>
          <a:xfrm rot="5400000">
            <a:off x="932958" y="199710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7" name="눈물 방울 66"/>
          <p:cNvSpPr/>
          <p:nvPr/>
        </p:nvSpPr>
        <p:spPr>
          <a:xfrm rot="5400000">
            <a:off x="6072804" y="235714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8" name="직사각형 67"/>
          <p:cNvSpPr/>
          <p:nvPr/>
        </p:nvSpPr>
        <p:spPr>
          <a:xfrm>
            <a:off x="5104656" y="2349674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69" name="그룹 68"/>
          <p:cNvGrpSpPr/>
          <p:nvPr/>
        </p:nvGrpSpPr>
        <p:grpSpPr>
          <a:xfrm>
            <a:off x="1072208" y="2349674"/>
            <a:ext cx="3928878" cy="252000"/>
            <a:chOff x="-36790" y="4763928"/>
            <a:chExt cx="3928878" cy="252000"/>
          </a:xfrm>
        </p:grpSpPr>
        <p:sp>
          <p:nvSpPr>
            <p:cNvPr id="70" name="TextBox 69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71" name="그룹 70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72" name="직사각형 71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선택해 주세요</a:t>
                </a:r>
                <a:r>
                  <a:rPr lang="en-US" altLang="ko-KR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.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73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aphicFrame>
        <p:nvGraphicFramePr>
          <p:cNvPr id="74" name="표 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81984"/>
              </p:ext>
            </p:extLst>
          </p:nvPr>
        </p:nvGraphicFramePr>
        <p:xfrm>
          <a:off x="12914755" y="109568"/>
          <a:ext cx="3443089" cy="1091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명의변경시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구비서류 추가</a:t>
                      </a:r>
                      <a:endParaRPr lang="en-US" altLang="ko-KR" sz="800" b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양도인 신분증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88169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213134"/>
              </p:ext>
            </p:extLst>
          </p:nvPr>
        </p:nvGraphicFramePr>
        <p:xfrm>
          <a:off x="280120" y="788950"/>
          <a:ext cx="12355466" cy="6287096"/>
        </p:xfrm>
        <a:graphic>
          <a:graphicData uri="http://schemas.openxmlformats.org/drawingml/2006/table">
            <a:tbl>
              <a:tblPr/>
              <a:tblGrid>
                <a:gridCol w="504056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1851410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양도 고객 유형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스캔하기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유형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유형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스캔한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정보를 디폴트로 화면에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 아닌 경우는 고객명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주민등록번호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외국인등록번호 생년월일 스캔 연동 값으로 화면에 고정 노출 처리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미성년자인 경우는 법정 대리인 정보에 고객명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주민등록번호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외국인등록번호 생년월일 스캔 연동 값으로 화면에 고정 노출 처리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스캔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이미지</a:t>
                      </a:r>
                      <a:endParaRPr lang="ko-KR" altLang="en-US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이미지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구비서류로 제출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이미징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처리시 신청서 이미지와 병합 처리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양도 고객 정보 입력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명의변경할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휴대폰 번호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성별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남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생년월일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안중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생년월일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유효성 인증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인증이 완료된 이후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호출하여 기존 가입정보 조회하여 화면에 가입정보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연락처 정보 등의 정보를 디폴트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 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계약정보 유효성체크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(Y04)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계약정보 유효성체크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(Y04)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가입정보조회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(X01)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가입중인 부가서비스 조회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(X97)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납부방법조회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NEW(Y08)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스캔 팝업 표시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스캔 후 해당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Text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는 화면에 자동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S103010101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551688" y="331038"/>
            <a:ext cx="8772519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양도 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내국인</a:t>
            </a:r>
            <a:r>
              <a:rPr lang="en-US" altLang="ko-KR" sz="1000" dirty="0">
                <a:latin typeface="+mn-ea"/>
                <a:ea typeface="+mn-ea"/>
              </a:rPr>
              <a:t>, </a:t>
            </a:r>
            <a:r>
              <a:rPr lang="ko-KR" altLang="en-US" sz="1000" dirty="0">
                <a:latin typeface="+mn-ea"/>
                <a:ea typeface="+mn-ea"/>
              </a:rPr>
              <a:t>외국인</a:t>
            </a:r>
            <a:r>
              <a:rPr lang="en-US" altLang="ko-KR" sz="1000" dirty="0">
                <a:latin typeface="+mn-ea"/>
                <a:ea typeface="+mn-ea"/>
              </a:rPr>
              <a:t>(Foreigner)) )</a:t>
            </a:r>
            <a:endParaRPr lang="ko-KR" altLang="en-US" sz="1000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321619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양도 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미성년자</a:t>
            </a:r>
            <a:r>
              <a:rPr lang="en-US" altLang="ko-KR" sz="1000" dirty="0">
                <a:latin typeface="+mn-ea"/>
                <a:ea typeface="+mn-ea"/>
              </a:rPr>
              <a:t>(19</a:t>
            </a:r>
            <a:r>
              <a:rPr lang="ko-KR" altLang="en-US" sz="1000" dirty="0">
                <a:latin typeface="+mn-ea"/>
                <a:ea typeface="+mn-ea"/>
              </a:rPr>
              <a:t>세 미만</a:t>
            </a:r>
            <a:r>
              <a:rPr lang="en-US" altLang="ko-KR" sz="1000" dirty="0" smtClean="0">
                <a:latin typeface="+mn-ea"/>
                <a:ea typeface="+mn-ea"/>
              </a:rPr>
              <a:t>), </a:t>
            </a:r>
            <a:r>
              <a:rPr lang="ko-KR" altLang="en-US" sz="1000" dirty="0">
                <a:latin typeface="+mn-ea"/>
                <a:ea typeface="+mn-ea"/>
              </a:rPr>
              <a:t>외국인</a:t>
            </a:r>
            <a:r>
              <a:rPr lang="en-US" altLang="ko-KR" sz="1000" dirty="0">
                <a:latin typeface="+mn-ea"/>
                <a:ea typeface="+mn-ea"/>
              </a:rPr>
              <a:t>(Foreigner) </a:t>
            </a:r>
            <a:r>
              <a:rPr lang="ko-KR" altLang="en-US" sz="1000" dirty="0">
                <a:latin typeface="+mn-ea"/>
                <a:ea typeface="+mn-ea"/>
              </a:rPr>
              <a:t>미성년자</a:t>
            </a:r>
            <a:r>
              <a:rPr lang="en-US" altLang="ko-KR" sz="1000" dirty="0">
                <a:latin typeface="+mn-ea"/>
                <a:ea typeface="+mn-ea"/>
              </a:rPr>
              <a:t>) </a:t>
            </a:r>
            <a:r>
              <a:rPr lang="en-US" altLang="ko-KR" sz="1000" dirty="0" smtClean="0">
                <a:latin typeface="+mn-ea"/>
                <a:ea typeface="+mn-ea"/>
              </a:rPr>
              <a:t>) </a:t>
            </a:r>
            <a:r>
              <a:rPr lang="en-US" altLang="ko-KR" sz="1000" dirty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graphicFrame>
        <p:nvGraphicFramePr>
          <p:cNvPr id="55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4969162"/>
              </p:ext>
            </p:extLst>
          </p:nvPr>
        </p:nvGraphicFramePr>
        <p:xfrm>
          <a:off x="10505256" y="788950"/>
          <a:ext cx="2130330" cy="4945947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양도 고객 정보 입력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명의변경할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휴대폰 번호 입력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1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양도고객이 미성년자일 경우 양수고객도 미성년자로 자동 </a:t>
                      </a:r>
                      <a:r>
                        <a:rPr lang="ko-KR" altLang="en-US" sz="800" b="1" dirty="0" err="1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셋팅</a:t>
                      </a:r>
                      <a:endParaRPr lang="en-US" altLang="ko-KR" sz="800" b="1" dirty="0" smtClean="0">
                        <a:solidFill>
                          <a:srgbClr val="FF0000"/>
                        </a:solidFill>
                        <a:latin typeface="+mn-ea"/>
                        <a:ea typeface="+mn-ea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성별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남</a:t>
                      </a:r>
                      <a:endParaRPr lang="ko-KR" altLang="en-US" sz="800" b="1" dirty="0">
                        <a:solidFill>
                          <a:srgbClr val="FF0000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양도 고객 미성년자 법정대리인 정보 입력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양도 고객 법정대리인 안내사항 확인 및 동의 사항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 발송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신청인과의 관계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주민등록번호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연락처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신청인과의 관계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주민등록번호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연락처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SMS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SMS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전산 모듈 이용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B4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약관 상세 팝업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신규</a:t>
                      </a: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변경 신청서 와 동일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S103010101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51" name="직사각형 150"/>
          <p:cNvSpPr/>
          <p:nvPr/>
        </p:nvSpPr>
        <p:spPr>
          <a:xfrm>
            <a:off x="12904380" y="1917626"/>
            <a:ext cx="2880320" cy="1535908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(</a:t>
            </a:r>
            <a:r>
              <a:rPr lang="en-US" altLang="ko-KR" sz="1000" b="1" dirty="0">
                <a:solidFill>
                  <a:srgbClr val="FF0000"/>
                </a:solidFill>
                <a:latin typeface="+mn-ea"/>
                <a:ea typeface="+mn-ea"/>
              </a:rPr>
              <a:t>2026.03.10)</a:t>
            </a:r>
          </a:p>
          <a:p>
            <a:pPr>
              <a:spcBef>
                <a:spcPct val="50000"/>
              </a:spcBef>
            </a:pPr>
            <a:r>
              <a:rPr lang="ko-KR" altLang="en-US" sz="1000" b="1" dirty="0" err="1">
                <a:solidFill>
                  <a:srgbClr val="FF0000"/>
                </a:solidFill>
                <a:latin typeface="+mn-ea"/>
                <a:ea typeface="+mn-ea"/>
              </a:rPr>
              <a:t>명의변경시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 미성년자</a:t>
            </a:r>
            <a:r>
              <a:rPr lang="en-US" altLang="ko-KR" sz="1000" b="1" dirty="0">
                <a:solidFill>
                  <a:srgbClr val="FF0000"/>
                </a:solidFill>
                <a:latin typeface="+mn-ea"/>
                <a:ea typeface="+mn-ea"/>
              </a:rPr>
              <a:t>-&gt;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미성년자에게 가능</a:t>
            </a:r>
            <a:r>
              <a:rPr lang="en-US" altLang="ko-KR" sz="1000" b="1" dirty="0">
                <a:solidFill>
                  <a:srgbClr val="FF0000"/>
                </a:solidFill>
                <a:latin typeface="+mn-ea"/>
                <a:ea typeface="+mn-ea"/>
              </a:rPr>
              <a:t>/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허용할지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확인</a:t>
            </a:r>
            <a:endParaRPr lang="en-US" altLang="ko-KR" sz="1000" b="1" dirty="0" smtClean="0">
              <a:solidFill>
                <a:srgbClr val="FF0000"/>
              </a:solidFill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en-US" altLang="ko-KR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Kt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의 경우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명의변경시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 미성년자로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세팅되도록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 되어 있음 </a:t>
            </a: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: 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① 양도고객이 미성년자일 경우 양수고객도 미성년자로 자동 </a:t>
            </a:r>
            <a:r>
              <a:rPr lang="ko-KR" altLang="en-US" sz="1000" b="1" dirty="0" err="1">
                <a:solidFill>
                  <a:srgbClr val="FF0000"/>
                </a:solidFill>
                <a:latin typeface="+mn-ea"/>
                <a:ea typeface="+mn-ea"/>
              </a:rPr>
              <a:t>셋팅</a:t>
            </a:r>
            <a:endParaRPr lang="en-US" altLang="ko-KR" sz="1000" b="1" dirty="0" smtClean="0">
              <a:solidFill>
                <a:srgbClr val="FF0000"/>
              </a:solidFill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유통영업팀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 확인 후 피드백</a:t>
            </a:r>
          </a:p>
          <a:p>
            <a:pPr>
              <a:spcBef>
                <a:spcPct val="50000"/>
              </a:spcBef>
            </a:pPr>
            <a:endParaRPr lang="ko-KR" altLang="en-US" sz="1000" b="1" dirty="0" smtClean="0">
              <a:solidFill>
                <a:srgbClr val="FF0000"/>
              </a:solidFill>
              <a:latin typeface="+mn-ea"/>
              <a:ea typeface="+mn-ea"/>
            </a:endParaRPr>
          </a:p>
        </p:txBody>
      </p:sp>
      <p:graphicFrame>
        <p:nvGraphicFramePr>
          <p:cNvPr id="155" name="표 1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290998"/>
              </p:ext>
            </p:extLst>
          </p:nvPr>
        </p:nvGraphicFramePr>
        <p:xfrm>
          <a:off x="12914755" y="109568"/>
          <a:ext cx="3443089" cy="1091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명의변경시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구비서류 추가</a:t>
                      </a:r>
                      <a:endParaRPr lang="en-US" altLang="ko-KR" sz="800" b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양도인 신분증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2" name="직사각형 71"/>
          <p:cNvSpPr/>
          <p:nvPr/>
        </p:nvSpPr>
        <p:spPr>
          <a:xfrm>
            <a:off x="962696" y="981522"/>
            <a:ext cx="9468000" cy="6408712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59" name="눈물 방울 58"/>
          <p:cNvSpPr/>
          <p:nvPr/>
        </p:nvSpPr>
        <p:spPr>
          <a:xfrm rot="5400000">
            <a:off x="967461" y="109582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65" name="그룹 64"/>
          <p:cNvGrpSpPr/>
          <p:nvPr/>
        </p:nvGrpSpPr>
        <p:grpSpPr>
          <a:xfrm>
            <a:off x="1072208" y="3369880"/>
            <a:ext cx="6264696" cy="252000"/>
            <a:chOff x="640160" y="-566622"/>
            <a:chExt cx="6264696" cy="252000"/>
          </a:xfrm>
        </p:grpSpPr>
        <p:sp>
          <p:nvSpPr>
            <p:cNvPr id="66" name="TextBox 65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7" name="직사각형 66"/>
            <p:cNvSpPr/>
            <p:nvPr/>
          </p:nvSpPr>
          <p:spPr>
            <a:xfrm>
              <a:off x="2112151" y="-566622"/>
              <a:ext cx="479270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3" name="눈물 방울 92"/>
          <p:cNvSpPr/>
          <p:nvPr/>
        </p:nvSpPr>
        <p:spPr>
          <a:xfrm rot="5400000">
            <a:off x="932957" y="29209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95" name="그룹 94"/>
          <p:cNvGrpSpPr/>
          <p:nvPr/>
        </p:nvGrpSpPr>
        <p:grpSpPr>
          <a:xfrm>
            <a:off x="1072209" y="5026064"/>
            <a:ext cx="6264695" cy="252000"/>
            <a:chOff x="640160" y="-566622"/>
            <a:chExt cx="6264695" cy="252000"/>
          </a:xfrm>
        </p:grpSpPr>
        <p:sp>
          <p:nvSpPr>
            <p:cNvPr id="96" name="TextBox 95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7" name="직사각형 96"/>
            <p:cNvSpPr/>
            <p:nvPr/>
          </p:nvSpPr>
          <p:spPr>
            <a:xfrm>
              <a:off x="2112150" y="-566622"/>
              <a:ext cx="4792705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12" name="그룹 111"/>
          <p:cNvGrpSpPr/>
          <p:nvPr/>
        </p:nvGrpSpPr>
        <p:grpSpPr>
          <a:xfrm>
            <a:off x="1072209" y="4629992"/>
            <a:ext cx="9252000" cy="246221"/>
            <a:chOff x="1072208" y="1117425"/>
            <a:chExt cx="9252000" cy="246221"/>
          </a:xfrm>
        </p:grpSpPr>
        <p:sp>
          <p:nvSpPr>
            <p:cNvPr id="113" name="TextBox 112"/>
            <p:cNvSpPr txBox="1"/>
            <p:nvPr/>
          </p:nvSpPr>
          <p:spPr>
            <a:xfrm>
              <a:off x="1072208" y="1117425"/>
              <a:ext cx="203453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양도고객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법정대리인 정보</a:t>
              </a:r>
            </a:p>
          </p:txBody>
        </p:sp>
        <p:cxnSp>
          <p:nvCxnSpPr>
            <p:cNvPr id="114" name="직선 연결선 113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9" name="눈물 방울 118"/>
          <p:cNvSpPr/>
          <p:nvPr/>
        </p:nvSpPr>
        <p:spPr>
          <a:xfrm rot="5400000">
            <a:off x="932958" y="457715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20" name="그룹 119"/>
          <p:cNvGrpSpPr/>
          <p:nvPr/>
        </p:nvGrpSpPr>
        <p:grpSpPr>
          <a:xfrm>
            <a:off x="1072208" y="5770082"/>
            <a:ext cx="3087718" cy="252000"/>
            <a:chOff x="640160" y="-566622"/>
            <a:chExt cx="3087718" cy="252000"/>
          </a:xfrm>
        </p:grpSpPr>
        <p:sp>
          <p:nvSpPr>
            <p:cNvPr id="121" name="TextBox 120"/>
            <p:cNvSpPr txBox="1"/>
            <p:nvPr/>
          </p:nvSpPr>
          <p:spPr>
            <a:xfrm>
              <a:off x="640160" y="-556038"/>
              <a:ext cx="108555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신청인과의 관계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22" name="그룹 121"/>
            <p:cNvGrpSpPr/>
            <p:nvPr/>
          </p:nvGrpSpPr>
          <p:grpSpPr>
            <a:xfrm>
              <a:off x="2112152" y="-566622"/>
              <a:ext cx="1615726" cy="252000"/>
              <a:chOff x="2112152" y="-566622"/>
              <a:chExt cx="1615726" cy="252000"/>
            </a:xfrm>
          </p:grpSpPr>
          <p:sp>
            <p:nvSpPr>
              <p:cNvPr id="123" name="직사각형 122"/>
              <p:cNvSpPr/>
              <p:nvPr/>
            </p:nvSpPr>
            <p:spPr>
              <a:xfrm>
                <a:off x="2112152" y="-566622"/>
                <a:ext cx="1615726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부모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24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2048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pSp>
        <p:nvGrpSpPr>
          <p:cNvPr id="125" name="그룹 124"/>
          <p:cNvGrpSpPr/>
          <p:nvPr/>
        </p:nvGrpSpPr>
        <p:grpSpPr>
          <a:xfrm>
            <a:off x="1072208" y="6106184"/>
            <a:ext cx="5391974" cy="252000"/>
            <a:chOff x="640160" y="-566622"/>
            <a:chExt cx="5391974" cy="252000"/>
          </a:xfrm>
        </p:grpSpPr>
        <p:sp>
          <p:nvSpPr>
            <p:cNvPr id="126" name="TextBox 125"/>
            <p:cNvSpPr txBox="1"/>
            <p:nvPr/>
          </p:nvSpPr>
          <p:spPr>
            <a:xfrm>
              <a:off x="640160" y="-556038"/>
              <a:ext cx="101341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7" name="직사각형 126"/>
            <p:cNvSpPr/>
            <p:nvPr/>
          </p:nvSpPr>
          <p:spPr>
            <a:xfrm>
              <a:off x="2113382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128" name="직사각형 127"/>
            <p:cNvSpPr/>
            <p:nvPr/>
          </p:nvSpPr>
          <p:spPr>
            <a:xfrm>
              <a:off x="3481534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2" name="TextBox 141"/>
            <p:cNvSpPr txBox="1"/>
            <p:nvPr/>
          </p:nvSpPr>
          <p:spPr>
            <a:xfrm>
              <a:off x="3269696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3" name="직사각형 142"/>
            <p:cNvSpPr/>
            <p:nvPr/>
          </p:nvSpPr>
          <p:spPr>
            <a:xfrm>
              <a:off x="4862753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4" name="TextBox 143"/>
            <p:cNvSpPr txBox="1"/>
            <p:nvPr/>
          </p:nvSpPr>
          <p:spPr>
            <a:xfrm>
              <a:off x="4650915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61" name="그룹 160"/>
          <p:cNvGrpSpPr/>
          <p:nvPr/>
        </p:nvGrpSpPr>
        <p:grpSpPr>
          <a:xfrm>
            <a:off x="1072208" y="1167349"/>
            <a:ext cx="9252000" cy="246221"/>
            <a:chOff x="1072208" y="1117425"/>
            <a:chExt cx="9252000" cy="246221"/>
          </a:xfrm>
        </p:grpSpPr>
        <p:sp>
          <p:nvSpPr>
            <p:cNvPr id="162" name="TextBox 161"/>
            <p:cNvSpPr txBox="1"/>
            <p:nvPr/>
          </p:nvSpPr>
          <p:spPr>
            <a:xfrm>
              <a:off x="1072208" y="1117425"/>
              <a:ext cx="13484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양도고객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유형</a:t>
              </a:r>
            </a:p>
          </p:txBody>
        </p:sp>
        <p:cxnSp>
          <p:nvCxnSpPr>
            <p:cNvPr id="163" name="직선 연결선 162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4" name="그룹 163"/>
          <p:cNvGrpSpPr/>
          <p:nvPr/>
        </p:nvGrpSpPr>
        <p:grpSpPr>
          <a:xfrm>
            <a:off x="1072208" y="2973808"/>
            <a:ext cx="9252000" cy="246221"/>
            <a:chOff x="1072208" y="1117425"/>
            <a:chExt cx="9252000" cy="246221"/>
          </a:xfrm>
        </p:grpSpPr>
        <p:sp>
          <p:nvSpPr>
            <p:cNvPr id="165" name="TextBox 164"/>
            <p:cNvSpPr txBox="1"/>
            <p:nvPr/>
          </p:nvSpPr>
          <p:spPr>
            <a:xfrm>
              <a:off x="1072208" y="1117425"/>
              <a:ext cx="19511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양도고객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 미성년자 정보</a:t>
              </a:r>
            </a:p>
          </p:txBody>
        </p:sp>
        <p:cxnSp>
          <p:nvCxnSpPr>
            <p:cNvPr id="166" name="직선 연결선 165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그룹 166"/>
          <p:cNvGrpSpPr/>
          <p:nvPr/>
        </p:nvGrpSpPr>
        <p:grpSpPr>
          <a:xfrm>
            <a:off x="1072208" y="3729920"/>
            <a:ext cx="5391974" cy="252000"/>
            <a:chOff x="640160" y="-566622"/>
            <a:chExt cx="5391974" cy="252000"/>
          </a:xfrm>
        </p:grpSpPr>
        <p:sp>
          <p:nvSpPr>
            <p:cNvPr id="169" name="TextBox 168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생년월일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70" name="직사각형 169"/>
            <p:cNvSpPr/>
            <p:nvPr/>
          </p:nvSpPr>
          <p:spPr>
            <a:xfrm>
              <a:off x="2109197" y="-566622"/>
              <a:ext cx="3922937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8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(YYYYMMDD)</a:t>
              </a:r>
            </a:p>
          </p:txBody>
        </p:sp>
      </p:grpSp>
      <p:grpSp>
        <p:nvGrpSpPr>
          <p:cNvPr id="129" name="그룹 128"/>
          <p:cNvGrpSpPr/>
          <p:nvPr/>
        </p:nvGrpSpPr>
        <p:grpSpPr>
          <a:xfrm>
            <a:off x="1059141" y="4088002"/>
            <a:ext cx="5405041" cy="252000"/>
            <a:chOff x="424136" y="-566622"/>
            <a:chExt cx="5405041" cy="252000"/>
          </a:xfrm>
        </p:grpSpPr>
        <p:sp>
          <p:nvSpPr>
            <p:cNvPr id="130" name="TextBox 129"/>
            <p:cNvSpPr txBox="1"/>
            <p:nvPr/>
          </p:nvSpPr>
          <p:spPr>
            <a:xfrm>
              <a:off x="424136" y="-556038"/>
              <a:ext cx="135646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명의변경 휴대폰번호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1" name="직사각형 130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132" name="직사각형 131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4" name="직사각형 133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36" name="눈물 방울 135"/>
          <p:cNvSpPr/>
          <p:nvPr/>
        </p:nvSpPr>
        <p:spPr>
          <a:xfrm rot="5400000">
            <a:off x="7344371" y="409917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7" name="직사각형 136"/>
          <p:cNvSpPr/>
          <p:nvPr/>
        </p:nvSpPr>
        <p:spPr>
          <a:xfrm>
            <a:off x="6542922" y="4089960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</a:p>
        </p:txBody>
      </p:sp>
      <p:grpSp>
        <p:nvGrpSpPr>
          <p:cNvPr id="73" name="그룹 72"/>
          <p:cNvGrpSpPr/>
          <p:nvPr/>
        </p:nvGrpSpPr>
        <p:grpSpPr>
          <a:xfrm>
            <a:off x="1053932" y="1521610"/>
            <a:ext cx="7867068" cy="252000"/>
            <a:chOff x="640160" y="-566622"/>
            <a:chExt cx="7867068" cy="252000"/>
          </a:xfrm>
        </p:grpSpPr>
        <p:sp>
          <p:nvSpPr>
            <p:cNvPr id="74" name="직사각형 73"/>
            <p:cNvSpPr/>
            <p:nvPr/>
          </p:nvSpPr>
          <p:spPr>
            <a:xfrm>
              <a:off x="2135204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내국인</a:t>
              </a:r>
            </a:p>
          </p:txBody>
        </p:sp>
        <p:sp>
          <p:nvSpPr>
            <p:cNvPr id="75" name="직사각형 74"/>
            <p:cNvSpPr/>
            <p:nvPr/>
          </p:nvSpPr>
          <p:spPr>
            <a:xfrm>
              <a:off x="2912391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미성년자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(19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세 미만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6" name="직사각형 75"/>
            <p:cNvSpPr/>
            <p:nvPr/>
          </p:nvSpPr>
          <p:spPr>
            <a:xfrm>
              <a:off x="4114820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8" name="직사각형 77"/>
            <p:cNvSpPr/>
            <p:nvPr/>
          </p:nvSpPr>
          <p:spPr>
            <a:xfrm>
              <a:off x="5301602" y="-566622"/>
              <a:ext cx="162153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</a:p>
          </p:txBody>
        </p:sp>
        <p:sp>
          <p:nvSpPr>
            <p:cNvPr id="79" name="직사각형 78"/>
            <p:cNvSpPr/>
            <p:nvPr/>
          </p:nvSpPr>
          <p:spPr>
            <a:xfrm>
              <a:off x="699526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법인</a:t>
              </a:r>
            </a:p>
          </p:txBody>
        </p:sp>
        <p:sp>
          <p:nvSpPr>
            <p:cNvPr id="105" name="직사각형 104"/>
            <p:cNvSpPr/>
            <p:nvPr/>
          </p:nvSpPr>
          <p:spPr>
            <a:xfrm>
              <a:off x="778722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공공기관</a:t>
              </a:r>
            </a:p>
          </p:txBody>
        </p:sp>
      </p:grpSp>
      <p:grpSp>
        <p:nvGrpSpPr>
          <p:cNvPr id="80" name="그룹 79"/>
          <p:cNvGrpSpPr/>
          <p:nvPr/>
        </p:nvGrpSpPr>
        <p:grpSpPr>
          <a:xfrm>
            <a:off x="6631509" y="3711874"/>
            <a:ext cx="897050" cy="234014"/>
            <a:chOff x="4999694" y="-1228030"/>
            <a:chExt cx="897050" cy="234014"/>
          </a:xfrm>
        </p:grpSpPr>
        <p:grpSp>
          <p:nvGrpSpPr>
            <p:cNvPr id="81" name="그룹 80"/>
            <p:cNvGrpSpPr/>
            <p:nvPr/>
          </p:nvGrpSpPr>
          <p:grpSpPr>
            <a:xfrm>
              <a:off x="4999694" y="-1193269"/>
              <a:ext cx="144000" cy="144000"/>
              <a:chOff x="4999694" y="-1193269"/>
              <a:chExt cx="144000" cy="144000"/>
            </a:xfrm>
          </p:grpSpPr>
          <p:sp>
            <p:nvSpPr>
              <p:cNvPr id="85" name="타원 84"/>
              <p:cNvSpPr/>
              <p:nvPr/>
            </p:nvSpPr>
            <p:spPr>
              <a:xfrm>
                <a:off x="4999694" y="-1193269"/>
                <a:ext cx="144000" cy="144000"/>
              </a:xfrm>
              <a:prstGeom prst="ellipse">
                <a:avLst/>
              </a:prstGeom>
              <a:solidFill>
                <a:schemeClr val="bg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86" name="타원 85"/>
              <p:cNvSpPr/>
              <p:nvPr/>
            </p:nvSpPr>
            <p:spPr>
              <a:xfrm>
                <a:off x="5024022" y="-1177206"/>
                <a:ext cx="108000" cy="108000"/>
              </a:xfrm>
              <a:prstGeom prst="ellipse">
                <a:avLst/>
              </a:prstGeom>
              <a:solidFill>
                <a:schemeClr val="tx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</p:grpSp>
        <p:sp>
          <p:nvSpPr>
            <p:cNvPr id="82" name="타원 81"/>
            <p:cNvSpPr/>
            <p:nvPr/>
          </p:nvSpPr>
          <p:spPr>
            <a:xfrm>
              <a:off x="5519468" y="-1195970"/>
              <a:ext cx="144000" cy="144000"/>
            </a:xfrm>
            <a:prstGeom prst="ellipse">
              <a:avLst/>
            </a:prstGeom>
            <a:solidFill>
              <a:schemeClr val="bg1">
                <a:alpha val="7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5096030" y="-1228030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남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5596662" y="-1224848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여</a:t>
              </a:r>
            </a:p>
          </p:txBody>
        </p:sp>
      </p:grpSp>
      <p:grpSp>
        <p:nvGrpSpPr>
          <p:cNvPr id="91" name="그룹 90"/>
          <p:cNvGrpSpPr/>
          <p:nvPr/>
        </p:nvGrpSpPr>
        <p:grpSpPr>
          <a:xfrm>
            <a:off x="1072208" y="6635474"/>
            <a:ext cx="9252000" cy="246221"/>
            <a:chOff x="1072208" y="1117425"/>
            <a:chExt cx="9252000" cy="246221"/>
          </a:xfrm>
        </p:grpSpPr>
        <p:sp>
          <p:nvSpPr>
            <p:cNvPr id="92" name="TextBox 91"/>
            <p:cNvSpPr txBox="1"/>
            <p:nvPr/>
          </p:nvSpPr>
          <p:spPr>
            <a:xfrm>
              <a:off x="1072208" y="1117425"/>
              <a:ext cx="306686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양도고객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법정대리인 안내사항 확인 및 동의</a:t>
              </a:r>
            </a:p>
          </p:txBody>
        </p:sp>
        <p:cxnSp>
          <p:nvCxnSpPr>
            <p:cNvPr id="94" name="직선 연결선 93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눈물 방울 98"/>
          <p:cNvSpPr/>
          <p:nvPr/>
        </p:nvSpPr>
        <p:spPr>
          <a:xfrm rot="5400000">
            <a:off x="932958" y="6550664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5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00" name="그룹 99"/>
          <p:cNvGrpSpPr/>
          <p:nvPr/>
        </p:nvGrpSpPr>
        <p:grpSpPr>
          <a:xfrm>
            <a:off x="1163507" y="6992302"/>
            <a:ext cx="8758499" cy="253916"/>
            <a:chOff x="1936304" y="-857339"/>
            <a:chExt cx="8758499" cy="253916"/>
          </a:xfrm>
        </p:grpSpPr>
        <p:sp>
          <p:nvSpPr>
            <p:cNvPr id="101" name="타원 100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2116304" y="-857339"/>
              <a:ext cx="23631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본인은 안내사항을 확인하였습니다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10413957" y="-857339"/>
              <a:ext cx="28084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sp>
        <p:nvSpPr>
          <p:cNvPr id="87" name="눈물 방울 86"/>
          <p:cNvSpPr/>
          <p:nvPr/>
        </p:nvSpPr>
        <p:spPr>
          <a:xfrm rot="5400000">
            <a:off x="7634297" y="6118296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8" name="직사각형 87"/>
          <p:cNvSpPr/>
          <p:nvPr/>
        </p:nvSpPr>
        <p:spPr>
          <a:xfrm>
            <a:off x="6544816" y="6109083"/>
            <a:ext cx="972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인증번호 발송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89" name="그룹 88"/>
          <p:cNvGrpSpPr/>
          <p:nvPr/>
        </p:nvGrpSpPr>
        <p:grpSpPr>
          <a:xfrm>
            <a:off x="1072208" y="5396926"/>
            <a:ext cx="5391974" cy="252000"/>
            <a:chOff x="640160" y="-566622"/>
            <a:chExt cx="5391974" cy="252000"/>
          </a:xfrm>
        </p:grpSpPr>
        <p:sp>
          <p:nvSpPr>
            <p:cNvPr id="90" name="TextBox 89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생년월일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6" name="직사각형 105"/>
            <p:cNvSpPr/>
            <p:nvPr/>
          </p:nvSpPr>
          <p:spPr>
            <a:xfrm>
              <a:off x="2109197" y="-566622"/>
              <a:ext cx="3922937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8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(YYYYMMDD)</a:t>
              </a:r>
            </a:p>
          </p:txBody>
        </p:sp>
      </p:grpSp>
      <p:grpSp>
        <p:nvGrpSpPr>
          <p:cNvPr id="115" name="그룹 114"/>
          <p:cNvGrpSpPr/>
          <p:nvPr/>
        </p:nvGrpSpPr>
        <p:grpSpPr>
          <a:xfrm>
            <a:off x="6631509" y="5378880"/>
            <a:ext cx="897050" cy="234014"/>
            <a:chOff x="4999694" y="-1228030"/>
            <a:chExt cx="897050" cy="234014"/>
          </a:xfrm>
        </p:grpSpPr>
        <p:grpSp>
          <p:nvGrpSpPr>
            <p:cNvPr id="116" name="그룹 115"/>
            <p:cNvGrpSpPr/>
            <p:nvPr/>
          </p:nvGrpSpPr>
          <p:grpSpPr>
            <a:xfrm>
              <a:off x="4999694" y="-1193269"/>
              <a:ext cx="144000" cy="144000"/>
              <a:chOff x="4999694" y="-1193269"/>
              <a:chExt cx="144000" cy="144000"/>
            </a:xfrm>
          </p:grpSpPr>
          <p:sp>
            <p:nvSpPr>
              <p:cNvPr id="139" name="타원 138"/>
              <p:cNvSpPr/>
              <p:nvPr/>
            </p:nvSpPr>
            <p:spPr>
              <a:xfrm>
                <a:off x="4999694" y="-1193269"/>
                <a:ext cx="144000" cy="144000"/>
              </a:xfrm>
              <a:prstGeom prst="ellipse">
                <a:avLst/>
              </a:prstGeom>
              <a:solidFill>
                <a:schemeClr val="bg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140" name="타원 139"/>
              <p:cNvSpPr/>
              <p:nvPr/>
            </p:nvSpPr>
            <p:spPr>
              <a:xfrm>
                <a:off x="5024022" y="-1177206"/>
                <a:ext cx="108000" cy="108000"/>
              </a:xfrm>
              <a:prstGeom prst="ellipse">
                <a:avLst/>
              </a:prstGeom>
              <a:solidFill>
                <a:schemeClr val="tx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</p:grpSp>
        <p:sp>
          <p:nvSpPr>
            <p:cNvPr id="117" name="타원 116"/>
            <p:cNvSpPr/>
            <p:nvPr/>
          </p:nvSpPr>
          <p:spPr>
            <a:xfrm>
              <a:off x="5519468" y="-1195970"/>
              <a:ext cx="144000" cy="144000"/>
            </a:xfrm>
            <a:prstGeom prst="ellipse">
              <a:avLst/>
            </a:prstGeom>
            <a:solidFill>
              <a:schemeClr val="bg1">
                <a:alpha val="7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5096030" y="-1228030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남</a:t>
              </a:r>
            </a:p>
          </p:txBody>
        </p:sp>
        <p:sp>
          <p:nvSpPr>
            <p:cNvPr id="138" name="TextBox 137"/>
            <p:cNvSpPr txBox="1"/>
            <p:nvPr/>
          </p:nvSpPr>
          <p:spPr>
            <a:xfrm>
              <a:off x="5596662" y="-1224848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여</a:t>
              </a:r>
            </a:p>
          </p:txBody>
        </p:sp>
      </p:grpSp>
      <p:sp>
        <p:nvSpPr>
          <p:cNvPr id="108" name="눈물 방울 107"/>
          <p:cNvSpPr/>
          <p:nvPr/>
        </p:nvSpPr>
        <p:spPr>
          <a:xfrm rot="5400000">
            <a:off x="9864651" y="696565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07" name="그룹 106"/>
          <p:cNvGrpSpPr/>
          <p:nvPr/>
        </p:nvGrpSpPr>
        <p:grpSpPr>
          <a:xfrm>
            <a:off x="1072208" y="1989634"/>
            <a:ext cx="9252000" cy="246221"/>
            <a:chOff x="1072208" y="1117425"/>
            <a:chExt cx="9252000" cy="246221"/>
          </a:xfrm>
        </p:grpSpPr>
        <p:sp>
          <p:nvSpPr>
            <p:cNvPr id="109" name="TextBox 108"/>
            <p:cNvSpPr txBox="1"/>
            <p:nvPr/>
          </p:nvSpPr>
          <p:spPr>
            <a:xfrm>
              <a:off x="1072208" y="1117425"/>
              <a:ext cx="24641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양도고객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 법정대리인 신분증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cxnSp>
          <p:nvCxnSpPr>
            <p:cNvPr id="110" name="직선 연결선 109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1" name="눈물 방울 110"/>
          <p:cNvSpPr/>
          <p:nvPr/>
        </p:nvSpPr>
        <p:spPr>
          <a:xfrm rot="5400000">
            <a:off x="932958" y="199710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41" name="눈물 방울 140"/>
          <p:cNvSpPr/>
          <p:nvPr/>
        </p:nvSpPr>
        <p:spPr>
          <a:xfrm rot="5400000">
            <a:off x="6072804" y="235714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45" name="직사각형 144"/>
          <p:cNvSpPr/>
          <p:nvPr/>
        </p:nvSpPr>
        <p:spPr>
          <a:xfrm>
            <a:off x="5104656" y="2349674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46" name="그룹 145"/>
          <p:cNvGrpSpPr/>
          <p:nvPr/>
        </p:nvGrpSpPr>
        <p:grpSpPr>
          <a:xfrm>
            <a:off x="1072208" y="2349674"/>
            <a:ext cx="3928878" cy="252000"/>
            <a:chOff x="-36790" y="4763928"/>
            <a:chExt cx="3928878" cy="252000"/>
          </a:xfrm>
        </p:grpSpPr>
        <p:sp>
          <p:nvSpPr>
            <p:cNvPr id="147" name="TextBox 146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48" name="그룹 147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49" name="직사각형 148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선택해 주세요</a:t>
                </a:r>
                <a:r>
                  <a:rPr lang="en-US" altLang="ko-KR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.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50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15308969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직사각형 37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6764019"/>
              </p:ext>
            </p:extLst>
          </p:nvPr>
        </p:nvGraphicFramePr>
        <p:xfrm>
          <a:off x="10505256" y="788950"/>
          <a:ext cx="2130330" cy="1000312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S103010101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8" y="331038"/>
            <a:ext cx="8772519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양도 고객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 smtClean="0">
                <a:latin typeface="+mn-ea"/>
                <a:ea typeface="+mn-ea"/>
              </a:rPr>
              <a:t>법인</a:t>
            </a:r>
            <a:r>
              <a:rPr lang="en-US" altLang="ko-KR" sz="1000" dirty="0" smtClean="0">
                <a:latin typeface="+mn-ea"/>
                <a:ea typeface="+mn-ea"/>
              </a:rPr>
              <a:t>, </a:t>
            </a:r>
            <a:r>
              <a:rPr lang="ko-KR" altLang="en-US" sz="1000" dirty="0" smtClean="0">
                <a:latin typeface="+mn-ea"/>
                <a:ea typeface="+mn-ea"/>
              </a:rPr>
              <a:t>공공기관</a:t>
            </a:r>
            <a:r>
              <a:rPr lang="en-US" altLang="ko-KR" sz="1000" dirty="0" smtClean="0">
                <a:latin typeface="+mn-ea"/>
                <a:ea typeface="+mn-ea"/>
              </a:rPr>
              <a:t>))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grpSp>
        <p:nvGrpSpPr>
          <p:cNvPr id="98" name="그룹 97"/>
          <p:cNvGrpSpPr/>
          <p:nvPr/>
        </p:nvGrpSpPr>
        <p:grpSpPr>
          <a:xfrm>
            <a:off x="1072208" y="1167349"/>
            <a:ext cx="9252000" cy="246221"/>
            <a:chOff x="1072208" y="1117425"/>
            <a:chExt cx="9252000" cy="246221"/>
          </a:xfrm>
        </p:grpSpPr>
        <p:sp>
          <p:nvSpPr>
            <p:cNvPr id="99" name="TextBox 98"/>
            <p:cNvSpPr txBox="1"/>
            <p:nvPr/>
          </p:nvSpPr>
          <p:spPr>
            <a:xfrm>
              <a:off x="1072208" y="1117425"/>
              <a:ext cx="13484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양도고객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유형</a:t>
              </a:r>
            </a:p>
          </p:txBody>
        </p:sp>
        <p:cxnSp>
          <p:nvCxnSpPr>
            <p:cNvPr id="100" name="직선 연결선 99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눈물 방울 100"/>
          <p:cNvSpPr/>
          <p:nvPr/>
        </p:nvSpPr>
        <p:spPr>
          <a:xfrm rot="5400000">
            <a:off x="967461" y="111930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15" name="그룹 114"/>
          <p:cNvGrpSpPr/>
          <p:nvPr/>
        </p:nvGrpSpPr>
        <p:grpSpPr>
          <a:xfrm>
            <a:off x="1072208" y="2901800"/>
            <a:ext cx="9252000" cy="246221"/>
            <a:chOff x="1072208" y="1117425"/>
            <a:chExt cx="9252000" cy="246221"/>
          </a:xfrm>
        </p:grpSpPr>
        <p:sp>
          <p:nvSpPr>
            <p:cNvPr id="116" name="TextBox 115"/>
            <p:cNvSpPr txBox="1"/>
            <p:nvPr/>
          </p:nvSpPr>
          <p:spPr>
            <a:xfrm>
              <a:off x="1072208" y="1117425"/>
              <a:ext cx="139333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양도고객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 정보</a:t>
              </a:r>
            </a:p>
          </p:txBody>
        </p:sp>
        <p:cxnSp>
          <p:nvCxnSpPr>
            <p:cNvPr id="117" name="직선 연결선 116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눈물 방울 117"/>
          <p:cNvSpPr/>
          <p:nvPr/>
        </p:nvSpPr>
        <p:spPr>
          <a:xfrm rot="5400000">
            <a:off x="932957" y="284896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29" name="그룹 128"/>
          <p:cNvGrpSpPr/>
          <p:nvPr/>
        </p:nvGrpSpPr>
        <p:grpSpPr>
          <a:xfrm>
            <a:off x="1072208" y="3261896"/>
            <a:ext cx="5391974" cy="252000"/>
            <a:chOff x="640160" y="-566622"/>
            <a:chExt cx="5391974" cy="252000"/>
          </a:xfrm>
        </p:grpSpPr>
        <p:sp>
          <p:nvSpPr>
            <p:cNvPr id="130" name="TextBox 129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1" name="직사각형 130"/>
            <p:cNvSpPr/>
            <p:nvPr/>
          </p:nvSpPr>
          <p:spPr>
            <a:xfrm>
              <a:off x="2112151" y="-566622"/>
              <a:ext cx="3919983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54" name="그룹 53"/>
          <p:cNvGrpSpPr/>
          <p:nvPr/>
        </p:nvGrpSpPr>
        <p:grpSpPr>
          <a:xfrm>
            <a:off x="1059141" y="4615996"/>
            <a:ext cx="5405041" cy="252000"/>
            <a:chOff x="424136" y="-566622"/>
            <a:chExt cx="5405041" cy="252000"/>
          </a:xfrm>
        </p:grpSpPr>
        <p:sp>
          <p:nvSpPr>
            <p:cNvPr id="57" name="TextBox 56"/>
            <p:cNvSpPr txBox="1"/>
            <p:nvPr/>
          </p:nvSpPr>
          <p:spPr>
            <a:xfrm>
              <a:off x="424136" y="-556038"/>
              <a:ext cx="135646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명의변경 휴대폰번호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1" name="직사각형 60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63" name="눈물 방울 62"/>
          <p:cNvSpPr/>
          <p:nvPr/>
        </p:nvSpPr>
        <p:spPr>
          <a:xfrm rot="5400000">
            <a:off x="7344371" y="462716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4" name="직사각형 63"/>
          <p:cNvSpPr/>
          <p:nvPr/>
        </p:nvSpPr>
        <p:spPr>
          <a:xfrm>
            <a:off x="6542922" y="4617954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</a:p>
        </p:txBody>
      </p:sp>
      <p:grpSp>
        <p:nvGrpSpPr>
          <p:cNvPr id="39" name="그룹 38"/>
          <p:cNvGrpSpPr/>
          <p:nvPr/>
        </p:nvGrpSpPr>
        <p:grpSpPr>
          <a:xfrm>
            <a:off x="1053932" y="1521610"/>
            <a:ext cx="7867068" cy="252000"/>
            <a:chOff x="640160" y="-566622"/>
            <a:chExt cx="7867068" cy="252000"/>
          </a:xfrm>
        </p:grpSpPr>
        <p:sp>
          <p:nvSpPr>
            <p:cNvPr id="40" name="직사각형 39"/>
            <p:cNvSpPr/>
            <p:nvPr/>
          </p:nvSpPr>
          <p:spPr>
            <a:xfrm>
              <a:off x="2135204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내국인</a:t>
              </a: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2912391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(19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세 미만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4114820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4" name="직사각형 43"/>
            <p:cNvSpPr/>
            <p:nvPr/>
          </p:nvSpPr>
          <p:spPr>
            <a:xfrm>
              <a:off x="5301602" y="-566622"/>
              <a:ext cx="162153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699526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법인</a:t>
              </a:r>
            </a:p>
          </p:txBody>
        </p:sp>
        <p:sp>
          <p:nvSpPr>
            <p:cNvPr id="95" name="직사각형 94"/>
            <p:cNvSpPr/>
            <p:nvPr/>
          </p:nvSpPr>
          <p:spPr>
            <a:xfrm>
              <a:off x="778722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공공기관</a:t>
              </a:r>
            </a:p>
          </p:txBody>
        </p:sp>
      </p:grpSp>
      <p:grpSp>
        <p:nvGrpSpPr>
          <p:cNvPr id="46" name="그룹 45"/>
          <p:cNvGrpSpPr/>
          <p:nvPr/>
        </p:nvGrpSpPr>
        <p:grpSpPr>
          <a:xfrm>
            <a:off x="1072208" y="3621880"/>
            <a:ext cx="4006570" cy="252000"/>
            <a:chOff x="640160" y="-566622"/>
            <a:chExt cx="4006570" cy="252000"/>
          </a:xfrm>
        </p:grpSpPr>
        <p:sp>
          <p:nvSpPr>
            <p:cNvPr id="47" name="TextBox 46"/>
            <p:cNvSpPr txBox="1"/>
            <p:nvPr/>
          </p:nvSpPr>
          <p:spPr>
            <a:xfrm>
              <a:off x="640160" y="-556038"/>
              <a:ext cx="93006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법인등록번호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9" name="직사각형 48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7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96" name="그룹 95"/>
          <p:cNvGrpSpPr/>
          <p:nvPr/>
        </p:nvGrpSpPr>
        <p:grpSpPr>
          <a:xfrm>
            <a:off x="1072208" y="3981920"/>
            <a:ext cx="5400600" cy="252000"/>
            <a:chOff x="640160" y="-566622"/>
            <a:chExt cx="5400600" cy="252000"/>
          </a:xfrm>
        </p:grpSpPr>
        <p:sp>
          <p:nvSpPr>
            <p:cNvPr id="97" name="TextBox 96"/>
            <p:cNvSpPr txBox="1"/>
            <p:nvPr/>
          </p:nvSpPr>
          <p:spPr>
            <a:xfrm>
              <a:off x="640160" y="-556038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사업자등록번호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2" name="직사각형 101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3" name="직사각형 102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5" name="직사각형 104"/>
            <p:cNvSpPr/>
            <p:nvPr/>
          </p:nvSpPr>
          <p:spPr>
            <a:xfrm>
              <a:off x="487137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5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465954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10" name="그룹 109"/>
          <p:cNvGrpSpPr/>
          <p:nvPr/>
        </p:nvGrpSpPr>
        <p:grpSpPr>
          <a:xfrm>
            <a:off x="1065798" y="4293890"/>
            <a:ext cx="3087718" cy="252000"/>
            <a:chOff x="640160" y="-566622"/>
            <a:chExt cx="3087718" cy="252000"/>
          </a:xfrm>
        </p:grpSpPr>
        <p:sp>
          <p:nvSpPr>
            <p:cNvPr id="111" name="TextBox 110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대표자명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2" name="직사각형 111"/>
            <p:cNvSpPr/>
            <p:nvPr/>
          </p:nvSpPr>
          <p:spPr>
            <a:xfrm>
              <a:off x="2112152" y="-566622"/>
              <a:ext cx="1615726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대표자명 입력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13" name="오른쪽 중괄호 112"/>
          <p:cNvSpPr/>
          <p:nvPr/>
        </p:nvSpPr>
        <p:spPr>
          <a:xfrm>
            <a:off x="7696944" y="3566489"/>
            <a:ext cx="313910" cy="979401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직사각형 113"/>
          <p:cNvSpPr/>
          <p:nvPr/>
        </p:nvSpPr>
        <p:spPr>
          <a:xfrm>
            <a:off x="8027755" y="3903653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법인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공공기관만 항목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55" name="그룹 54"/>
          <p:cNvGrpSpPr/>
          <p:nvPr/>
        </p:nvGrpSpPr>
        <p:grpSpPr>
          <a:xfrm>
            <a:off x="1072208" y="1989634"/>
            <a:ext cx="9252000" cy="246221"/>
            <a:chOff x="1072208" y="1117425"/>
            <a:chExt cx="9252000" cy="246221"/>
          </a:xfrm>
        </p:grpSpPr>
        <p:sp>
          <p:nvSpPr>
            <p:cNvPr id="56" name="TextBox 55"/>
            <p:cNvSpPr txBox="1"/>
            <p:nvPr/>
          </p:nvSpPr>
          <p:spPr>
            <a:xfrm>
              <a:off x="1072208" y="1117425"/>
              <a:ext cx="17780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양도고객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 신분증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cxnSp>
          <p:nvCxnSpPr>
            <p:cNvPr id="65" name="직선 연결선 64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눈물 방울 65"/>
          <p:cNvSpPr/>
          <p:nvPr/>
        </p:nvSpPr>
        <p:spPr>
          <a:xfrm rot="5400000">
            <a:off x="932958" y="199710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7" name="눈물 방울 66"/>
          <p:cNvSpPr/>
          <p:nvPr/>
        </p:nvSpPr>
        <p:spPr>
          <a:xfrm rot="5400000">
            <a:off x="6072804" y="235714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8" name="직사각형 67"/>
          <p:cNvSpPr/>
          <p:nvPr/>
        </p:nvSpPr>
        <p:spPr>
          <a:xfrm>
            <a:off x="5104656" y="2349674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69" name="그룹 68"/>
          <p:cNvGrpSpPr/>
          <p:nvPr/>
        </p:nvGrpSpPr>
        <p:grpSpPr>
          <a:xfrm>
            <a:off x="1072208" y="2349674"/>
            <a:ext cx="3928878" cy="252000"/>
            <a:chOff x="-36790" y="4763928"/>
            <a:chExt cx="3928878" cy="252000"/>
          </a:xfrm>
        </p:grpSpPr>
        <p:sp>
          <p:nvSpPr>
            <p:cNvPr id="70" name="TextBox 69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71" name="그룹 70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72" name="직사각형 71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선택해 주세요</a:t>
                </a:r>
                <a:r>
                  <a:rPr lang="en-US" altLang="ko-KR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.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73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aphicFrame>
        <p:nvGraphicFramePr>
          <p:cNvPr id="74" name="표 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290998"/>
              </p:ext>
            </p:extLst>
          </p:nvPr>
        </p:nvGraphicFramePr>
        <p:xfrm>
          <a:off x="12914755" y="109568"/>
          <a:ext cx="3443089" cy="1091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명의변경시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구비서류 추가</a:t>
                      </a:r>
                      <a:endParaRPr lang="en-US" altLang="ko-KR" sz="800" b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양도인 신분증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94812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직사각형 130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sp>
        <p:nvSpPr>
          <p:cNvPr id="50" name="눈물 방울 49"/>
          <p:cNvSpPr/>
          <p:nvPr/>
        </p:nvSpPr>
        <p:spPr>
          <a:xfrm rot="5400000">
            <a:off x="356894" y="1091194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970931" y="1053530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신분증 스캔 선택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86" name="그룹 85"/>
          <p:cNvGrpSpPr/>
          <p:nvPr/>
        </p:nvGrpSpPr>
        <p:grpSpPr>
          <a:xfrm>
            <a:off x="712168" y="1377538"/>
            <a:ext cx="3928878" cy="1800200"/>
            <a:chOff x="-36790" y="4763928"/>
            <a:chExt cx="3928878" cy="1800200"/>
          </a:xfrm>
        </p:grpSpPr>
        <p:sp>
          <p:nvSpPr>
            <p:cNvPr id="87" name="TextBox 86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88" name="그룹 87"/>
            <p:cNvGrpSpPr/>
            <p:nvPr/>
          </p:nvGrpSpPr>
          <p:grpSpPr>
            <a:xfrm>
              <a:off x="1425710" y="4763928"/>
              <a:ext cx="2466378" cy="1800200"/>
              <a:chOff x="1768498" y="-566622"/>
              <a:chExt cx="2466378" cy="1800200"/>
            </a:xfrm>
          </p:grpSpPr>
          <p:sp>
            <p:nvSpPr>
              <p:cNvPr id="89" name="직사각형 88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선택해 주세요</a:t>
                </a:r>
                <a:r>
                  <a:rPr lang="en-US" altLang="ko-KR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.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90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93" name="직사각형 92"/>
              <p:cNvSpPr/>
              <p:nvPr/>
            </p:nvSpPr>
            <p:spPr>
              <a:xfrm>
                <a:off x="1768498" y="-314566"/>
                <a:ext cx="2459840" cy="1548144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72000" rIns="0" bIns="72000" rtlCol="0" anchor="t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주민등록증</a:t>
                </a:r>
                <a:endPara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운전면허증</a:t>
                </a:r>
                <a:endPara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국내여권</a:t>
                </a:r>
                <a:endPara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외국인등록증</a:t>
                </a:r>
                <a:endPara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  <a:p>
                <a:pPr>
                  <a:spcBef>
                    <a:spcPct val="50000"/>
                  </a:spcBef>
                </a:pPr>
                <a:r>
                  <a:rPr lang="ko-KR" altLang="en-US" sz="900" dirty="0" err="1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영주증</a:t>
                </a:r>
                <a:endPara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  <a:p>
                <a:pPr>
                  <a:spcBef>
                    <a:spcPct val="50000"/>
                  </a:spcBef>
                </a:pPr>
                <a:r>
                  <a:rPr lang="ko-KR" altLang="en-US" sz="900" dirty="0" err="1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국내거소신고증</a:t>
                </a:r>
                <a:endPara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  <a:p>
                <a:pPr>
                  <a:spcBef>
                    <a:spcPct val="50000"/>
                  </a:spcBef>
                </a:pPr>
                <a:r>
                  <a:rPr lang="ko-KR" altLang="en-US" sz="9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국가보훈증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</p:grpSp>
      <p:sp>
        <p:nvSpPr>
          <p:cNvPr id="94" name="눈물 방울 93"/>
          <p:cNvSpPr/>
          <p:nvPr/>
        </p:nvSpPr>
        <p:spPr>
          <a:xfrm rot="5400000">
            <a:off x="5712764" y="138500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5" name="직사각형 94"/>
          <p:cNvSpPr/>
          <p:nvPr/>
        </p:nvSpPr>
        <p:spPr>
          <a:xfrm>
            <a:off x="4744616" y="1377538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97" name="그룹 96"/>
          <p:cNvGrpSpPr/>
          <p:nvPr/>
        </p:nvGrpSpPr>
        <p:grpSpPr>
          <a:xfrm>
            <a:off x="6184776" y="2082356"/>
            <a:ext cx="3928878" cy="252000"/>
            <a:chOff x="-36790" y="4763928"/>
            <a:chExt cx="3928878" cy="252000"/>
          </a:xfrm>
        </p:grpSpPr>
        <p:sp>
          <p:nvSpPr>
            <p:cNvPr id="100" name="TextBox 99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02" name="그룹 101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05" name="직사각형 104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운전면허증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06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07" name="눈물 방울 106"/>
          <p:cNvSpPr/>
          <p:nvPr/>
        </p:nvSpPr>
        <p:spPr>
          <a:xfrm rot="5400000">
            <a:off x="11160795" y="208982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8" name="직사각형 107"/>
          <p:cNvSpPr/>
          <p:nvPr/>
        </p:nvSpPr>
        <p:spPr>
          <a:xfrm>
            <a:off x="10192647" y="2082356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9" name="직사각형 108"/>
          <p:cNvSpPr/>
          <p:nvPr/>
        </p:nvSpPr>
        <p:spPr>
          <a:xfrm>
            <a:off x="10898858" y="2402902"/>
            <a:ext cx="18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발급 일자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(YYYY.MM.DD)</a:t>
            </a:r>
          </a:p>
        </p:txBody>
      </p:sp>
      <p:pic>
        <p:nvPicPr>
          <p:cNvPr id="11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77083" y="2435636"/>
            <a:ext cx="196097" cy="1865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12" name="직사각형 111"/>
          <p:cNvSpPr/>
          <p:nvPr/>
        </p:nvSpPr>
        <p:spPr>
          <a:xfrm>
            <a:off x="7647796" y="2392318"/>
            <a:ext cx="18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면허번호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15" name="그룹 114"/>
          <p:cNvGrpSpPr/>
          <p:nvPr/>
        </p:nvGrpSpPr>
        <p:grpSpPr>
          <a:xfrm>
            <a:off x="9582912" y="2406420"/>
            <a:ext cx="1229920" cy="252000"/>
            <a:chOff x="1775036" y="-566622"/>
            <a:chExt cx="1229920" cy="252000"/>
          </a:xfrm>
        </p:grpSpPr>
        <p:sp>
          <p:nvSpPr>
            <p:cNvPr id="116" name="직사각형 115"/>
            <p:cNvSpPr/>
            <p:nvPr/>
          </p:nvSpPr>
          <p:spPr>
            <a:xfrm>
              <a:off x="1775036" y="-566622"/>
              <a:ext cx="122992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면허지역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pic>
          <p:nvPicPr>
            <p:cNvPr id="117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48232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118" name="그룹 117"/>
          <p:cNvGrpSpPr/>
          <p:nvPr/>
        </p:nvGrpSpPr>
        <p:grpSpPr>
          <a:xfrm>
            <a:off x="6184776" y="1386164"/>
            <a:ext cx="3928878" cy="252000"/>
            <a:chOff x="-36790" y="4763928"/>
            <a:chExt cx="3928878" cy="252000"/>
          </a:xfrm>
        </p:grpSpPr>
        <p:sp>
          <p:nvSpPr>
            <p:cNvPr id="119" name="TextBox 118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20" name="그룹 119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21" name="직사각형 120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주민등록증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23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24" name="눈물 방울 123"/>
          <p:cNvSpPr/>
          <p:nvPr/>
        </p:nvSpPr>
        <p:spPr>
          <a:xfrm rot="5400000">
            <a:off x="11160795" y="139363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7" name="직사각형 126"/>
          <p:cNvSpPr/>
          <p:nvPr/>
        </p:nvSpPr>
        <p:spPr>
          <a:xfrm>
            <a:off x="10192647" y="1386164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28" name="그룹 127"/>
          <p:cNvGrpSpPr/>
          <p:nvPr/>
        </p:nvGrpSpPr>
        <p:grpSpPr>
          <a:xfrm>
            <a:off x="7653814" y="1686340"/>
            <a:ext cx="1800000" cy="252000"/>
            <a:chOff x="8355718" y="5478532"/>
            <a:chExt cx="1800000" cy="252000"/>
          </a:xfrm>
        </p:grpSpPr>
        <p:sp>
          <p:nvSpPr>
            <p:cNvPr id="129" name="직사각형 128"/>
            <p:cNvSpPr/>
            <p:nvPr/>
          </p:nvSpPr>
          <p:spPr>
            <a:xfrm>
              <a:off x="8355718" y="547853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발급 일자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(YYYY.MM.DD)</a:t>
              </a:r>
            </a:p>
          </p:txBody>
        </p:sp>
        <p:pic>
          <p:nvPicPr>
            <p:cNvPr id="130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33943" y="5511266"/>
              <a:ext cx="196097" cy="1865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145" name="그룹 144"/>
          <p:cNvGrpSpPr/>
          <p:nvPr/>
        </p:nvGrpSpPr>
        <p:grpSpPr>
          <a:xfrm>
            <a:off x="6184776" y="2781722"/>
            <a:ext cx="3928878" cy="252000"/>
            <a:chOff x="-36790" y="4763928"/>
            <a:chExt cx="3928878" cy="252000"/>
          </a:xfrm>
        </p:grpSpPr>
        <p:sp>
          <p:nvSpPr>
            <p:cNvPr id="146" name="TextBox 145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47" name="그룹 146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48" name="직사각형 147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국내여권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49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50" name="눈물 방울 149"/>
          <p:cNvSpPr/>
          <p:nvPr/>
        </p:nvSpPr>
        <p:spPr>
          <a:xfrm rot="5400000">
            <a:off x="11160795" y="278918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51" name="직사각형 150"/>
          <p:cNvSpPr/>
          <p:nvPr/>
        </p:nvSpPr>
        <p:spPr>
          <a:xfrm>
            <a:off x="10192647" y="2781722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52" name="그룹 151"/>
          <p:cNvGrpSpPr/>
          <p:nvPr/>
        </p:nvGrpSpPr>
        <p:grpSpPr>
          <a:xfrm>
            <a:off x="7653814" y="3069754"/>
            <a:ext cx="1800000" cy="252000"/>
            <a:chOff x="8355718" y="5478532"/>
            <a:chExt cx="1800000" cy="252000"/>
          </a:xfrm>
        </p:grpSpPr>
        <p:sp>
          <p:nvSpPr>
            <p:cNvPr id="153" name="직사각형 152"/>
            <p:cNvSpPr/>
            <p:nvPr/>
          </p:nvSpPr>
          <p:spPr>
            <a:xfrm>
              <a:off x="8355718" y="547853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발급 일자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(YYYY.MM.DD)</a:t>
              </a:r>
            </a:p>
          </p:txBody>
        </p:sp>
        <p:pic>
          <p:nvPicPr>
            <p:cNvPr id="154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33943" y="5511266"/>
              <a:ext cx="196097" cy="1865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155" name="그룹 154"/>
          <p:cNvGrpSpPr/>
          <p:nvPr/>
        </p:nvGrpSpPr>
        <p:grpSpPr>
          <a:xfrm>
            <a:off x="6184776" y="4041890"/>
            <a:ext cx="3928878" cy="252000"/>
            <a:chOff x="-36790" y="4763928"/>
            <a:chExt cx="3928878" cy="252000"/>
          </a:xfrm>
        </p:grpSpPr>
        <p:sp>
          <p:nvSpPr>
            <p:cNvPr id="156" name="TextBox 155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57" name="그룹 156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58" name="직사각형 157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err="1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영주증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59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60" name="눈물 방울 159"/>
          <p:cNvSpPr/>
          <p:nvPr/>
        </p:nvSpPr>
        <p:spPr>
          <a:xfrm rot="5400000">
            <a:off x="11160795" y="404935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61" name="직사각형 160"/>
          <p:cNvSpPr/>
          <p:nvPr/>
        </p:nvSpPr>
        <p:spPr>
          <a:xfrm>
            <a:off x="10192647" y="4041890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62" name="그룹 161"/>
          <p:cNvGrpSpPr/>
          <p:nvPr/>
        </p:nvGrpSpPr>
        <p:grpSpPr>
          <a:xfrm>
            <a:off x="7653814" y="4329922"/>
            <a:ext cx="1800000" cy="252000"/>
            <a:chOff x="8355718" y="5478532"/>
            <a:chExt cx="1800000" cy="252000"/>
          </a:xfrm>
        </p:grpSpPr>
        <p:sp>
          <p:nvSpPr>
            <p:cNvPr id="163" name="직사각형 162"/>
            <p:cNvSpPr/>
            <p:nvPr/>
          </p:nvSpPr>
          <p:spPr>
            <a:xfrm>
              <a:off x="8355718" y="547853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발급 일자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(YYYY.MM.DD)</a:t>
              </a:r>
            </a:p>
          </p:txBody>
        </p:sp>
        <p:pic>
          <p:nvPicPr>
            <p:cNvPr id="164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33943" y="5511266"/>
              <a:ext cx="196097" cy="1865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165" name="그룹 164"/>
          <p:cNvGrpSpPr/>
          <p:nvPr/>
        </p:nvGrpSpPr>
        <p:grpSpPr>
          <a:xfrm>
            <a:off x="6184776" y="4653930"/>
            <a:ext cx="3928878" cy="252000"/>
            <a:chOff x="-36790" y="4763928"/>
            <a:chExt cx="3928878" cy="252000"/>
          </a:xfrm>
        </p:grpSpPr>
        <p:sp>
          <p:nvSpPr>
            <p:cNvPr id="166" name="TextBox 165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67" name="그룹 166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68" name="직사각형 167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국내거소신고증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69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70" name="눈물 방울 169"/>
          <p:cNvSpPr/>
          <p:nvPr/>
        </p:nvSpPr>
        <p:spPr>
          <a:xfrm rot="5400000">
            <a:off x="11160795" y="466139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71" name="직사각형 170"/>
          <p:cNvSpPr/>
          <p:nvPr/>
        </p:nvSpPr>
        <p:spPr>
          <a:xfrm>
            <a:off x="10192647" y="4653930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72" name="그룹 171"/>
          <p:cNvGrpSpPr/>
          <p:nvPr/>
        </p:nvGrpSpPr>
        <p:grpSpPr>
          <a:xfrm>
            <a:off x="7653814" y="4941962"/>
            <a:ext cx="1800000" cy="252000"/>
            <a:chOff x="8355718" y="5478532"/>
            <a:chExt cx="1800000" cy="252000"/>
          </a:xfrm>
        </p:grpSpPr>
        <p:sp>
          <p:nvSpPr>
            <p:cNvPr id="173" name="직사각형 172"/>
            <p:cNvSpPr/>
            <p:nvPr/>
          </p:nvSpPr>
          <p:spPr>
            <a:xfrm>
              <a:off x="8355718" y="547853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발급 일자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(YYYY.MM.DD)</a:t>
              </a:r>
            </a:p>
          </p:txBody>
        </p:sp>
        <p:pic>
          <p:nvPicPr>
            <p:cNvPr id="174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33943" y="5511266"/>
              <a:ext cx="196097" cy="1865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175" name="그룹 174"/>
          <p:cNvGrpSpPr/>
          <p:nvPr/>
        </p:nvGrpSpPr>
        <p:grpSpPr>
          <a:xfrm>
            <a:off x="6184776" y="5266026"/>
            <a:ext cx="3928878" cy="252000"/>
            <a:chOff x="-36790" y="4763928"/>
            <a:chExt cx="3928878" cy="252000"/>
          </a:xfrm>
        </p:grpSpPr>
        <p:sp>
          <p:nvSpPr>
            <p:cNvPr id="176" name="TextBox 175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77" name="그룹 176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78" name="직사각형 177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국가보훈증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79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80" name="눈물 방울 179"/>
          <p:cNvSpPr/>
          <p:nvPr/>
        </p:nvSpPr>
        <p:spPr>
          <a:xfrm rot="5400000">
            <a:off x="11160795" y="527349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81" name="직사각형 180"/>
          <p:cNvSpPr/>
          <p:nvPr/>
        </p:nvSpPr>
        <p:spPr>
          <a:xfrm>
            <a:off x="10192647" y="5266026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82" name="그룹 181"/>
          <p:cNvGrpSpPr/>
          <p:nvPr/>
        </p:nvGrpSpPr>
        <p:grpSpPr>
          <a:xfrm>
            <a:off x="7653814" y="5554058"/>
            <a:ext cx="1800000" cy="252000"/>
            <a:chOff x="8355718" y="5478532"/>
            <a:chExt cx="1800000" cy="252000"/>
          </a:xfrm>
        </p:grpSpPr>
        <p:sp>
          <p:nvSpPr>
            <p:cNvPr id="183" name="직사각형 182"/>
            <p:cNvSpPr/>
            <p:nvPr/>
          </p:nvSpPr>
          <p:spPr>
            <a:xfrm>
              <a:off x="8355718" y="547853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발급 일자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(YYYY.MM.DD)</a:t>
              </a:r>
            </a:p>
          </p:txBody>
        </p:sp>
        <p:pic>
          <p:nvPicPr>
            <p:cNvPr id="184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33943" y="5511266"/>
              <a:ext cx="196097" cy="1865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125" name="그룹 124"/>
          <p:cNvGrpSpPr/>
          <p:nvPr/>
        </p:nvGrpSpPr>
        <p:grpSpPr>
          <a:xfrm>
            <a:off x="6184776" y="3429794"/>
            <a:ext cx="3928878" cy="252000"/>
            <a:chOff x="-36790" y="4763928"/>
            <a:chExt cx="3928878" cy="252000"/>
          </a:xfrm>
        </p:grpSpPr>
        <p:sp>
          <p:nvSpPr>
            <p:cNvPr id="126" name="TextBox 125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85" name="그룹 184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86" name="직사각형 185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외국인등록증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87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88" name="눈물 방울 187"/>
          <p:cNvSpPr/>
          <p:nvPr/>
        </p:nvSpPr>
        <p:spPr>
          <a:xfrm rot="5400000">
            <a:off x="11160795" y="343726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89" name="직사각형 188"/>
          <p:cNvSpPr/>
          <p:nvPr/>
        </p:nvSpPr>
        <p:spPr>
          <a:xfrm>
            <a:off x="10192647" y="3429794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90" name="그룹 189"/>
          <p:cNvGrpSpPr/>
          <p:nvPr/>
        </p:nvGrpSpPr>
        <p:grpSpPr>
          <a:xfrm>
            <a:off x="7681904" y="3729914"/>
            <a:ext cx="1800000" cy="252000"/>
            <a:chOff x="2978346" y="4761970"/>
            <a:chExt cx="1800000" cy="252000"/>
          </a:xfrm>
        </p:grpSpPr>
        <p:sp>
          <p:nvSpPr>
            <p:cNvPr id="191" name="직사각형 190"/>
            <p:cNvSpPr/>
            <p:nvPr/>
          </p:nvSpPr>
          <p:spPr>
            <a:xfrm>
              <a:off x="2978346" y="4761970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발급 일자 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(YYYY.MM.DD)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pic>
          <p:nvPicPr>
            <p:cNvPr id="192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79774" y="4797914"/>
              <a:ext cx="196097" cy="1865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132" name="TextBox 131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S103010101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1551688" y="331038"/>
            <a:ext cx="8772519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양도 </a:t>
            </a:r>
            <a:r>
              <a:rPr lang="ko-KR" altLang="en-US" sz="1000" dirty="0" smtClean="0">
                <a:latin typeface="+mn-ea"/>
                <a:ea typeface="+mn-ea"/>
              </a:rPr>
              <a:t>고객</a:t>
            </a:r>
            <a:r>
              <a:rPr lang="en-US" altLang="ko-KR" sz="1000" dirty="0" smtClean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583523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S103010101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40" name="눈물 방울 139"/>
          <p:cNvSpPr/>
          <p:nvPr/>
        </p:nvSpPr>
        <p:spPr>
          <a:xfrm rot="5400000">
            <a:off x="500910" y="295724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41" name="그룹 140"/>
          <p:cNvGrpSpPr/>
          <p:nvPr/>
        </p:nvGrpSpPr>
        <p:grpSpPr>
          <a:xfrm>
            <a:off x="991945" y="1268138"/>
            <a:ext cx="5405041" cy="252000"/>
            <a:chOff x="424136" y="-566622"/>
            <a:chExt cx="5405041" cy="252000"/>
          </a:xfrm>
        </p:grpSpPr>
        <p:sp>
          <p:nvSpPr>
            <p:cNvPr id="142" name="TextBox 141"/>
            <p:cNvSpPr txBox="1"/>
            <p:nvPr/>
          </p:nvSpPr>
          <p:spPr>
            <a:xfrm>
              <a:off x="424136" y="-556038"/>
              <a:ext cx="135646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명의변경 휴대폰번호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3" name="직사각형 142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144" name="직사각형 143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145" name="TextBox 144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6" name="직사각형 145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2222</a:t>
              </a:r>
            </a:p>
          </p:txBody>
        </p:sp>
        <p:sp>
          <p:nvSpPr>
            <p:cNvPr id="147" name="TextBox 146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48" name="눈물 방울 147"/>
          <p:cNvSpPr/>
          <p:nvPr/>
        </p:nvSpPr>
        <p:spPr>
          <a:xfrm rot="5400000">
            <a:off x="529665" y="977782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49" name="눈물 방울 148"/>
          <p:cNvSpPr/>
          <p:nvPr/>
        </p:nvSpPr>
        <p:spPr>
          <a:xfrm rot="5400000">
            <a:off x="7277175" y="127930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50" name="직사각형 149"/>
          <p:cNvSpPr/>
          <p:nvPr/>
        </p:nvSpPr>
        <p:spPr>
          <a:xfrm>
            <a:off x="6475726" y="1270096"/>
            <a:ext cx="72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</a:p>
        </p:txBody>
      </p:sp>
      <p:grpSp>
        <p:nvGrpSpPr>
          <p:cNvPr id="151" name="그룹 150"/>
          <p:cNvGrpSpPr/>
          <p:nvPr/>
        </p:nvGrpSpPr>
        <p:grpSpPr>
          <a:xfrm>
            <a:off x="998636" y="2024250"/>
            <a:ext cx="5405041" cy="252000"/>
            <a:chOff x="424136" y="-566622"/>
            <a:chExt cx="5405041" cy="252000"/>
          </a:xfrm>
        </p:grpSpPr>
        <p:sp>
          <p:nvSpPr>
            <p:cNvPr id="152" name="TextBox 151"/>
            <p:cNvSpPr txBox="1"/>
            <p:nvPr/>
          </p:nvSpPr>
          <p:spPr>
            <a:xfrm>
              <a:off x="424136" y="-556038"/>
              <a:ext cx="135646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명의변경 휴대폰번호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3" name="직사각형 152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154" name="직사각형 153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155" name="TextBox 154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6" name="직사각형 155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2222</a:t>
              </a:r>
            </a:p>
          </p:txBody>
        </p:sp>
        <p:sp>
          <p:nvSpPr>
            <p:cNvPr id="157" name="TextBox 156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58" name="눈물 방울 157"/>
          <p:cNvSpPr/>
          <p:nvPr/>
        </p:nvSpPr>
        <p:spPr>
          <a:xfrm rot="5400000">
            <a:off x="7283866" y="203542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59" name="직사각형 158"/>
          <p:cNvSpPr/>
          <p:nvPr/>
        </p:nvSpPr>
        <p:spPr>
          <a:xfrm>
            <a:off x="6482417" y="2026208"/>
            <a:ext cx="72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 완료</a:t>
            </a:r>
          </a:p>
        </p:txBody>
      </p:sp>
      <p:sp>
        <p:nvSpPr>
          <p:cNvPr id="160" name="직사각형 159"/>
          <p:cNvSpPr/>
          <p:nvPr/>
        </p:nvSpPr>
        <p:spPr>
          <a:xfrm>
            <a:off x="812931" y="982064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61" name="직사각형 160"/>
          <p:cNvSpPr/>
          <p:nvPr/>
        </p:nvSpPr>
        <p:spPr>
          <a:xfrm>
            <a:off x="812931" y="1743955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34" name="직사각형 33"/>
          <p:cNvSpPr/>
          <p:nvPr/>
        </p:nvSpPr>
        <p:spPr>
          <a:xfrm>
            <a:off x="173136" y="2658612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grpSp>
        <p:nvGrpSpPr>
          <p:cNvPr id="35" name="그룹 34"/>
          <p:cNvGrpSpPr/>
          <p:nvPr/>
        </p:nvGrpSpPr>
        <p:grpSpPr>
          <a:xfrm>
            <a:off x="867991" y="3328875"/>
            <a:ext cx="2881818" cy="1397063"/>
            <a:chOff x="5875124" y="3832891"/>
            <a:chExt cx="2881818" cy="1397063"/>
          </a:xfrm>
        </p:grpSpPr>
        <p:sp>
          <p:nvSpPr>
            <p:cNvPr id="36" name="직사각형 35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고객 정보와 휴대폰번호가 일치하지 않습니다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휴대폰번호를 다시 확인해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39" name="직사각형 38"/>
          <p:cNvSpPr/>
          <p:nvPr/>
        </p:nvSpPr>
        <p:spPr>
          <a:xfrm>
            <a:off x="922002" y="3034021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휴대폰번호 유효성 오류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40" name="그룹 39"/>
          <p:cNvGrpSpPr/>
          <p:nvPr/>
        </p:nvGrpSpPr>
        <p:grpSpPr>
          <a:xfrm>
            <a:off x="4095046" y="3328875"/>
            <a:ext cx="2881818" cy="1397063"/>
            <a:chOff x="5875124" y="3832891"/>
            <a:chExt cx="2881818" cy="1397063"/>
          </a:xfrm>
        </p:grpSpPr>
        <p:sp>
          <p:nvSpPr>
            <p:cNvPr id="41" name="직사각형 40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휴대폰번호 인증이 완료되었습니다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44" name="직사각형 43"/>
          <p:cNvSpPr/>
          <p:nvPr/>
        </p:nvSpPr>
        <p:spPr>
          <a:xfrm>
            <a:off x="4149057" y="3034021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휴대폰번호 유효성 체크 완료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551688" y="331038"/>
            <a:ext cx="8772519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양도 </a:t>
            </a:r>
            <a:r>
              <a:rPr lang="ko-KR" altLang="en-US" sz="1000" dirty="0" smtClean="0">
                <a:latin typeface="+mn-ea"/>
                <a:ea typeface="+mn-ea"/>
              </a:rPr>
              <a:t>고객</a:t>
            </a:r>
            <a:r>
              <a:rPr lang="en-US" altLang="ko-KR" sz="1000" dirty="0" smtClean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109159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962696" y="981522"/>
            <a:ext cx="9468000" cy="5472608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585546"/>
              </p:ext>
            </p:extLst>
          </p:nvPr>
        </p:nvGraphicFramePr>
        <p:xfrm>
          <a:off x="10505256" y="788950"/>
          <a:ext cx="2130330" cy="1000312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설명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다음장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잠조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양수 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내국인</a:t>
            </a:r>
            <a:r>
              <a:rPr lang="en-US" altLang="ko-KR" sz="1000" dirty="0">
                <a:latin typeface="+mn-ea"/>
                <a:ea typeface="+mn-ea"/>
              </a:rPr>
              <a:t>))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142" name="그룹 141"/>
          <p:cNvGrpSpPr/>
          <p:nvPr/>
        </p:nvGrpSpPr>
        <p:grpSpPr>
          <a:xfrm>
            <a:off x="1072209" y="1168817"/>
            <a:ext cx="9252000" cy="246221"/>
            <a:chOff x="1072208" y="1117425"/>
            <a:chExt cx="9252000" cy="246221"/>
          </a:xfrm>
        </p:grpSpPr>
        <p:sp>
          <p:nvSpPr>
            <p:cNvPr id="143" name="TextBox 142"/>
            <p:cNvSpPr txBox="1"/>
            <p:nvPr/>
          </p:nvSpPr>
          <p:spPr>
            <a:xfrm>
              <a:off x="1072208" y="1117425"/>
              <a:ext cx="13484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양수고객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유형</a:t>
              </a:r>
            </a:p>
          </p:txBody>
        </p:sp>
        <p:cxnSp>
          <p:nvCxnSpPr>
            <p:cNvPr id="144" name="직선 연결선 143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5" name="눈물 방울 144"/>
          <p:cNvSpPr/>
          <p:nvPr/>
        </p:nvSpPr>
        <p:spPr>
          <a:xfrm rot="5400000">
            <a:off x="967462" y="11207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1072209" y="3189832"/>
            <a:ext cx="9252000" cy="246221"/>
            <a:chOff x="1072208" y="1117425"/>
            <a:chExt cx="9252000" cy="246221"/>
          </a:xfrm>
        </p:grpSpPr>
        <p:sp>
          <p:nvSpPr>
            <p:cNvPr id="152" name="TextBox 151"/>
            <p:cNvSpPr txBox="1"/>
            <p:nvPr/>
          </p:nvSpPr>
          <p:spPr>
            <a:xfrm>
              <a:off x="1072208" y="1117425"/>
              <a:ext cx="139333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양수고객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 정보</a:t>
              </a:r>
            </a:p>
          </p:txBody>
        </p:sp>
        <p:cxnSp>
          <p:nvCxnSpPr>
            <p:cNvPr id="153" name="직선 연결선 152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4" name="눈물 방울 153"/>
          <p:cNvSpPr/>
          <p:nvPr/>
        </p:nvSpPr>
        <p:spPr>
          <a:xfrm rot="5400000">
            <a:off x="932958" y="313699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55" name="그룹 154"/>
          <p:cNvGrpSpPr/>
          <p:nvPr/>
        </p:nvGrpSpPr>
        <p:grpSpPr>
          <a:xfrm>
            <a:off x="1072209" y="3549928"/>
            <a:ext cx="5391974" cy="252000"/>
            <a:chOff x="640160" y="-566622"/>
            <a:chExt cx="5391974" cy="252000"/>
          </a:xfrm>
        </p:grpSpPr>
        <p:sp>
          <p:nvSpPr>
            <p:cNvPr id="156" name="TextBox 155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7" name="직사각형 156"/>
            <p:cNvSpPr/>
            <p:nvPr/>
          </p:nvSpPr>
          <p:spPr>
            <a:xfrm>
              <a:off x="2112151" y="-566622"/>
              <a:ext cx="3919983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87" name="그룹 186"/>
          <p:cNvGrpSpPr/>
          <p:nvPr/>
        </p:nvGrpSpPr>
        <p:grpSpPr>
          <a:xfrm>
            <a:off x="1072208" y="3897874"/>
            <a:ext cx="4006570" cy="252000"/>
            <a:chOff x="640160" y="-566622"/>
            <a:chExt cx="4006570" cy="252000"/>
          </a:xfrm>
        </p:grpSpPr>
        <p:sp>
          <p:nvSpPr>
            <p:cNvPr id="188" name="TextBox 187"/>
            <p:cNvSpPr txBox="1"/>
            <p:nvPr/>
          </p:nvSpPr>
          <p:spPr>
            <a:xfrm>
              <a:off x="640160" y="-556038"/>
              <a:ext cx="93006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주민등록번호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9" name="직사각형 188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0" name="직사각형 189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7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1" name="TextBox 190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6" name="TextBox 95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S103010101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82" name="그룹 81"/>
          <p:cNvGrpSpPr/>
          <p:nvPr/>
        </p:nvGrpSpPr>
        <p:grpSpPr>
          <a:xfrm>
            <a:off x="1053932" y="1521610"/>
            <a:ext cx="7867148" cy="252000"/>
            <a:chOff x="640160" y="-566622"/>
            <a:chExt cx="7867148" cy="252000"/>
          </a:xfrm>
        </p:grpSpPr>
        <p:sp>
          <p:nvSpPr>
            <p:cNvPr id="83" name="직사각형 82"/>
            <p:cNvSpPr/>
            <p:nvPr/>
          </p:nvSpPr>
          <p:spPr>
            <a:xfrm>
              <a:off x="2135204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내국인</a:t>
              </a:r>
            </a:p>
          </p:txBody>
        </p:sp>
        <p:sp>
          <p:nvSpPr>
            <p:cNvPr id="84" name="직사각형 83"/>
            <p:cNvSpPr/>
            <p:nvPr/>
          </p:nvSpPr>
          <p:spPr>
            <a:xfrm>
              <a:off x="2912391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(19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세 미만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5" name="직사각형 84"/>
            <p:cNvSpPr/>
            <p:nvPr/>
          </p:nvSpPr>
          <p:spPr>
            <a:xfrm>
              <a:off x="4114820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7" name="직사각형 86"/>
            <p:cNvSpPr/>
            <p:nvPr/>
          </p:nvSpPr>
          <p:spPr>
            <a:xfrm>
              <a:off x="5301602" y="-566622"/>
              <a:ext cx="162153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</a:p>
          </p:txBody>
        </p:sp>
        <p:sp>
          <p:nvSpPr>
            <p:cNvPr id="88" name="직사각형 87"/>
            <p:cNvSpPr/>
            <p:nvPr/>
          </p:nvSpPr>
          <p:spPr>
            <a:xfrm>
              <a:off x="699526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법인</a:t>
              </a:r>
            </a:p>
          </p:txBody>
        </p:sp>
        <p:sp>
          <p:nvSpPr>
            <p:cNvPr id="95" name="직사각형 94"/>
            <p:cNvSpPr/>
            <p:nvPr/>
          </p:nvSpPr>
          <p:spPr>
            <a:xfrm>
              <a:off x="778730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공공기관</a:t>
              </a:r>
            </a:p>
          </p:txBody>
        </p:sp>
      </p:grpSp>
      <p:grpSp>
        <p:nvGrpSpPr>
          <p:cNvPr id="102" name="그룹 101"/>
          <p:cNvGrpSpPr/>
          <p:nvPr/>
        </p:nvGrpSpPr>
        <p:grpSpPr>
          <a:xfrm>
            <a:off x="1072208" y="1989634"/>
            <a:ext cx="9252000" cy="246221"/>
            <a:chOff x="1072208" y="1117425"/>
            <a:chExt cx="9252000" cy="246221"/>
          </a:xfrm>
        </p:grpSpPr>
        <p:sp>
          <p:nvSpPr>
            <p:cNvPr id="103" name="TextBox 102"/>
            <p:cNvSpPr txBox="1"/>
            <p:nvPr/>
          </p:nvSpPr>
          <p:spPr>
            <a:xfrm>
              <a:off x="1072208" y="1117425"/>
              <a:ext cx="17780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양수고객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 신분증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cxnSp>
          <p:nvCxnSpPr>
            <p:cNvPr id="104" name="직선 연결선 103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0" name="눈물 방울 109"/>
          <p:cNvSpPr/>
          <p:nvPr/>
        </p:nvSpPr>
        <p:spPr>
          <a:xfrm rot="5400000">
            <a:off x="932958" y="199710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32" name="그룹 131"/>
          <p:cNvGrpSpPr/>
          <p:nvPr/>
        </p:nvGrpSpPr>
        <p:grpSpPr>
          <a:xfrm>
            <a:off x="1072208" y="4797946"/>
            <a:ext cx="9252000" cy="246221"/>
            <a:chOff x="1072208" y="1117425"/>
            <a:chExt cx="9252000" cy="246221"/>
          </a:xfrm>
        </p:grpSpPr>
        <p:sp>
          <p:nvSpPr>
            <p:cNvPr id="133" name="TextBox 132"/>
            <p:cNvSpPr txBox="1"/>
            <p:nvPr/>
          </p:nvSpPr>
          <p:spPr>
            <a:xfrm>
              <a:off x="1072208" y="1117425"/>
              <a:ext cx="69762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구비서류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134" name="직선 연결선 133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5" name="눈물 방울 134"/>
          <p:cNvSpPr/>
          <p:nvPr/>
        </p:nvSpPr>
        <p:spPr>
          <a:xfrm rot="5400000">
            <a:off x="932958" y="480541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8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1054956" y="5144826"/>
            <a:ext cx="69923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 smtClean="0">
                <a:latin typeface="맑은 고딕" pitchFamily="50" charset="-127"/>
                <a:ea typeface="맑은 고딕" pitchFamily="50" charset="-127"/>
              </a:rPr>
              <a:t>구비서류</a:t>
            </a:r>
            <a:r>
              <a:rPr lang="en-US" altLang="ko-KR" sz="900" b="1" dirty="0" smtClean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*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7" name="눈물 방울 136"/>
          <p:cNvSpPr/>
          <p:nvPr/>
        </p:nvSpPr>
        <p:spPr>
          <a:xfrm rot="5400000">
            <a:off x="3527947" y="512947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B6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8" name="직사각형 137"/>
          <p:cNvSpPr/>
          <p:nvPr/>
        </p:nvSpPr>
        <p:spPr>
          <a:xfrm>
            <a:off x="2559799" y="5122010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1" name="눈물 방울 60"/>
          <p:cNvSpPr/>
          <p:nvPr/>
        </p:nvSpPr>
        <p:spPr>
          <a:xfrm rot="5400000">
            <a:off x="6072804" y="271718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2" name="직사각형 61"/>
          <p:cNvSpPr/>
          <p:nvPr/>
        </p:nvSpPr>
        <p:spPr>
          <a:xfrm>
            <a:off x="5104656" y="2709714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63" name="그룹 62"/>
          <p:cNvGrpSpPr/>
          <p:nvPr/>
        </p:nvGrpSpPr>
        <p:grpSpPr>
          <a:xfrm>
            <a:off x="1072208" y="2709714"/>
            <a:ext cx="3928878" cy="252000"/>
            <a:chOff x="-36790" y="4763928"/>
            <a:chExt cx="3928878" cy="252000"/>
          </a:xfrm>
        </p:grpSpPr>
        <p:sp>
          <p:nvSpPr>
            <p:cNvPr id="64" name="TextBox 63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65" name="그룹 64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66" name="직사각형 65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선택해 주세요</a:t>
                </a:r>
                <a:r>
                  <a:rPr lang="en-US" altLang="ko-KR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.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67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59" name="직사각형 58"/>
          <p:cNvSpPr/>
          <p:nvPr/>
        </p:nvSpPr>
        <p:spPr>
          <a:xfrm>
            <a:off x="12881520" y="1926497"/>
            <a:ext cx="2880320" cy="1431289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(2026.03.10)</a:t>
            </a:r>
          </a:p>
          <a:p>
            <a:pPr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신분증 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인증 후에 정보가 조회되는 항목은 디폴트 </a:t>
            </a:r>
            <a:r>
              <a:rPr lang="ko-KR" altLang="en-US" sz="1000" b="1" dirty="0" err="1">
                <a:solidFill>
                  <a:srgbClr val="FF0000"/>
                </a:solidFill>
                <a:latin typeface="+mn-ea"/>
                <a:ea typeface="+mn-ea"/>
              </a:rPr>
              <a:t>세팅해주므로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 신분증 스캔은 필요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없음</a:t>
            </a:r>
            <a:endParaRPr lang="ko-KR" altLang="en-US" sz="1000" b="1" dirty="0">
              <a:solidFill>
                <a:srgbClr val="FF0000"/>
              </a:solidFill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 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스캔 기능 삭제 여부는 </a:t>
            </a:r>
            <a:r>
              <a:rPr lang="ko-KR" altLang="en-US" sz="1000" b="1" dirty="0" err="1">
                <a:solidFill>
                  <a:srgbClr val="FF0000"/>
                </a:solidFill>
                <a:latin typeface="+mn-ea"/>
                <a:ea typeface="+mn-ea"/>
              </a:rPr>
              <a:t>유통영업팀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 확인 후 피드백 예정</a:t>
            </a:r>
            <a:endParaRPr lang="ko-KR" altLang="en-US" sz="1000" b="1" dirty="0" smtClean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60" name="그룹 59"/>
          <p:cNvGrpSpPr/>
          <p:nvPr/>
        </p:nvGrpSpPr>
        <p:grpSpPr>
          <a:xfrm>
            <a:off x="1072148" y="4257914"/>
            <a:ext cx="5400600" cy="252000"/>
            <a:chOff x="640160" y="-566622"/>
            <a:chExt cx="5400600" cy="252000"/>
          </a:xfrm>
        </p:grpSpPr>
        <p:sp>
          <p:nvSpPr>
            <p:cNvPr id="68" name="TextBox 67"/>
            <p:cNvSpPr txBox="1"/>
            <p:nvPr/>
          </p:nvSpPr>
          <p:spPr>
            <a:xfrm>
              <a:off x="640160" y="-556038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사업자등록번호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9" name="직사각형 68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0" name="직사각형 69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487137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5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465954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74" name="직사각형 73"/>
          <p:cNvSpPr/>
          <p:nvPr/>
        </p:nvSpPr>
        <p:spPr>
          <a:xfrm>
            <a:off x="6544816" y="4263518"/>
            <a:ext cx="374441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※ </a:t>
            </a:r>
            <a:r>
              <a:rPr lang="ko-KR" altLang="en-US" sz="1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개인사업자인 경우만 입력</a:t>
            </a:r>
            <a:endParaRPr lang="ko-KR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graphicFrame>
        <p:nvGraphicFramePr>
          <p:cNvPr id="76" name="표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913481"/>
              </p:ext>
            </p:extLst>
          </p:nvPr>
        </p:nvGraphicFramePr>
        <p:xfrm>
          <a:off x="12914755" y="109568"/>
          <a:ext cx="3443089" cy="1091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항목 추가 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개인사업자 사업자 등록번호 항목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인증 예외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75" name="그룹 74"/>
          <p:cNvGrpSpPr/>
          <p:nvPr/>
        </p:nvGrpSpPr>
        <p:grpSpPr>
          <a:xfrm>
            <a:off x="1054956" y="2321556"/>
            <a:ext cx="5345844" cy="252000"/>
            <a:chOff x="640160" y="-566622"/>
            <a:chExt cx="5345844" cy="252000"/>
          </a:xfrm>
        </p:grpSpPr>
        <p:sp>
          <p:nvSpPr>
            <p:cNvPr id="77" name="직사각형 76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목록 조회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신분증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9" name="직사각형 78"/>
            <p:cNvSpPr/>
            <p:nvPr/>
          </p:nvSpPr>
          <p:spPr>
            <a:xfrm>
              <a:off x="324970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모바일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신분증</a:t>
              </a:r>
            </a:p>
          </p:txBody>
        </p:sp>
        <p:sp>
          <p:nvSpPr>
            <p:cNvPr id="80" name="직사각형 79"/>
            <p:cNvSpPr/>
            <p:nvPr/>
          </p:nvSpPr>
          <p:spPr>
            <a:xfrm>
              <a:off x="4401708" y="-566622"/>
              <a:ext cx="7381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안면인증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9" name="직사각형 88"/>
            <p:cNvSpPr/>
            <p:nvPr/>
          </p:nvSpPr>
          <p:spPr>
            <a:xfrm>
              <a:off x="5247852" y="-566622"/>
              <a:ext cx="7381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 예외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0" name="눈물 방울 89"/>
          <p:cNvSpPr/>
          <p:nvPr/>
        </p:nvSpPr>
        <p:spPr>
          <a:xfrm rot="5400000">
            <a:off x="7440956" y="232902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6472808" y="2321556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조회</a:t>
            </a:r>
            <a:r>
              <a:rPr lang="en-US" altLang="ko-KR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09492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8848773"/>
              </p:ext>
            </p:extLst>
          </p:nvPr>
        </p:nvGraphicFramePr>
        <p:xfrm>
          <a:off x="496144" y="621482"/>
          <a:ext cx="7416824" cy="5430874"/>
        </p:xfrm>
        <a:graphic>
          <a:graphicData uri="http://schemas.openxmlformats.org/drawingml/2006/table">
            <a:tbl>
              <a:tblPr/>
              <a:tblGrid>
                <a:gridCol w="432048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6984776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양수 고객 유형 선택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고객유형에 따라 입력 항목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가입자 정보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방문고객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내국인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(Foreigner) :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미노출하고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‘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본인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’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으로 고정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(19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 미만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(Foreigner)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미노출하고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‘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대리인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’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으로 고정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법인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공공기관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선택하도록 노출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디폴트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본인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대표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예외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SKIP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스캔하기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유형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유형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스캔한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정보를 디폴트로 화면에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인증 정보를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차로 먼저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세팅하고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신분증 인증 정보가 없는 경우 신분증 스캔 정보를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 아닌 경우는 고객명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주민등록번호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외국인등록번호 생년월일 스캔 연동 값으로 화면에 고정 노출 처리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미성년자인 경우는 법정 대리인 정보에 고객명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주민등록번호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외국인등록번호 생년월일 스캔 연동 값으로 화면에 고정 노출 처리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스캔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이미지</a:t>
                      </a:r>
                      <a:endParaRPr lang="ko-KR" altLang="en-US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이미지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구비서류로 제출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이미징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처리시 신청서 이미지와 병합 처리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확인한 결과에 따라 가입자 정보 디폴트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전용스캐너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k-note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연동시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고객명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주민등록번호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외국인등록번호 스캔 연동 값으로 화면에 고정 노출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err="1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모바일신분증</a:t>
                      </a: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안면인증 등으로 인증한 경우 고객정보 값을 조회해서 디폴트 </a:t>
                      </a:r>
                      <a:r>
                        <a:rPr lang="ko-KR" altLang="en-US" sz="800" b="0" kern="1200" dirty="0" err="1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연동 확정 후 확인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연동 결과값 디폴트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 아닌 경우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가입자정보에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대폴트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세팅하고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고정 노출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미성년자인 경우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법정 대리인 정보에 디폴트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세팅하고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고정 노출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법인인 경우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대표자 정보 디폴트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세팅하고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고정 노출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내국인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외국인인 경우 사업자등록번호가 입력된 경우는 고객유형을 개인사업자로 개통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구비 서류 등록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신분증 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조회</a:t>
                      </a: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인증 </a:t>
                      </a:r>
                      <a:r>
                        <a:rPr lang="ko-KR" altLang="en-US" sz="800" b="0" kern="120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팝업 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표시</a:t>
                      </a:r>
                      <a:endParaRPr lang="en-US" altLang="ko-KR" sz="800" b="0" kern="1200" dirty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신분증 이미지 </a:t>
                      </a: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구비서류로 제출</a:t>
                      </a: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신청서 </a:t>
                      </a:r>
                      <a:r>
                        <a:rPr lang="ko-KR" altLang="en-US" sz="800" b="0" kern="1200" dirty="0" err="1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이미징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처리시 신청서 이미지와 병합 처리</a:t>
                      </a: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신분증 인증 정보 </a:t>
                      </a: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신청서 데이터 </a:t>
                      </a:r>
                      <a:r>
                        <a:rPr lang="ko-KR" altLang="en-US" sz="800" b="0" kern="1200" dirty="0" err="1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전송시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err="1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매핑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정보로 전송 처리</a:t>
                      </a:r>
                      <a:endParaRPr lang="en-US" altLang="ko-KR" sz="800" b="0" kern="1200" dirty="0" smtClean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=&gt; </a:t>
                      </a:r>
                      <a:r>
                        <a:rPr lang="ko-KR" altLang="en-US" sz="800" b="0" kern="12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전송 방식 </a:t>
                      </a:r>
                      <a:r>
                        <a:rPr lang="ko-KR" altLang="en-US" sz="800" b="0" kern="1200" dirty="0" err="1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확인중</a:t>
                      </a:r>
                      <a:endParaRPr lang="en-US" altLang="ko-KR" sz="800" b="0" kern="1200" dirty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양수 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내국인</a:t>
            </a:r>
            <a:r>
              <a:rPr lang="en-US" altLang="ko-KR" sz="1000" dirty="0">
                <a:latin typeface="+mn-ea"/>
                <a:ea typeface="+mn-ea"/>
              </a:rPr>
              <a:t>))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S103010101</a:t>
            </a:r>
            <a:endParaRPr lang="ko-KR" altLang="en-US" sz="1000" dirty="0">
              <a:latin typeface="+mn-ea"/>
              <a:ea typeface="+mn-ea"/>
            </a:endParaRPr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7486622"/>
              </p:ext>
            </p:extLst>
          </p:nvPr>
        </p:nvGraphicFramePr>
        <p:xfrm>
          <a:off x="8128992" y="621482"/>
          <a:ext cx="4464496" cy="1609854"/>
        </p:xfrm>
        <a:graphic>
          <a:graphicData uri="http://schemas.openxmlformats.org/drawingml/2006/table">
            <a:tbl>
              <a:tblPr/>
              <a:tblGrid>
                <a:gridCol w="432048"/>
                <a:gridCol w="4032448"/>
              </a:tblGrid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스캔 팝업 표시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스캔 후 해당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Text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는 화면에 자동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신규</a:t>
                      </a: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변경 신청서 와 동일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B6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구비서류 사진 촬영 팝업 표시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신규</a:t>
                      </a: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변경 신청서 와 동일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29473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직사각형 114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495736"/>
              </p:ext>
            </p:extLst>
          </p:nvPr>
        </p:nvGraphicFramePr>
        <p:xfrm>
          <a:off x="10505256" y="788950"/>
          <a:ext cx="2130330" cy="3266859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양도 고객 미성년자 법정대리인 정보 입력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B4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 발송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신청인과의 관계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주민등록번호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연락처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신청인과의 관계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주민등록번호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연락처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SMS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SMS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전산 모듈 이용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양수 고객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미성년자</a:t>
            </a:r>
            <a:r>
              <a:rPr lang="en-US" altLang="ko-KR" sz="1000" dirty="0">
                <a:latin typeface="+mn-ea"/>
                <a:ea typeface="+mn-ea"/>
              </a:rPr>
              <a:t>(19</a:t>
            </a:r>
            <a:r>
              <a:rPr lang="ko-KR" altLang="en-US" sz="1000" dirty="0">
                <a:latin typeface="+mn-ea"/>
                <a:ea typeface="+mn-ea"/>
              </a:rPr>
              <a:t>세 미만</a:t>
            </a:r>
            <a:r>
              <a:rPr lang="en-US" altLang="ko-KR" sz="1000" dirty="0">
                <a:latin typeface="+mn-ea"/>
                <a:ea typeface="+mn-ea"/>
              </a:rPr>
              <a:t>)))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142" name="그룹 141"/>
          <p:cNvGrpSpPr/>
          <p:nvPr/>
        </p:nvGrpSpPr>
        <p:grpSpPr>
          <a:xfrm>
            <a:off x="1072209" y="1168817"/>
            <a:ext cx="9252000" cy="246221"/>
            <a:chOff x="1072208" y="1117425"/>
            <a:chExt cx="9252000" cy="246221"/>
          </a:xfrm>
        </p:grpSpPr>
        <p:sp>
          <p:nvSpPr>
            <p:cNvPr id="143" name="TextBox 142"/>
            <p:cNvSpPr txBox="1"/>
            <p:nvPr/>
          </p:nvSpPr>
          <p:spPr>
            <a:xfrm>
              <a:off x="1072208" y="1117425"/>
              <a:ext cx="13484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양수고객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유형</a:t>
              </a:r>
            </a:p>
          </p:txBody>
        </p:sp>
        <p:cxnSp>
          <p:nvCxnSpPr>
            <p:cNvPr id="144" name="직선 연결선 143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5" name="눈물 방울 144"/>
          <p:cNvSpPr/>
          <p:nvPr/>
        </p:nvSpPr>
        <p:spPr>
          <a:xfrm rot="5400000">
            <a:off x="967462" y="11207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1072209" y="3215238"/>
            <a:ext cx="9252000" cy="246221"/>
            <a:chOff x="1072208" y="1117425"/>
            <a:chExt cx="9252000" cy="246221"/>
          </a:xfrm>
        </p:grpSpPr>
        <p:sp>
          <p:nvSpPr>
            <p:cNvPr id="152" name="TextBox 151"/>
            <p:cNvSpPr txBox="1"/>
            <p:nvPr/>
          </p:nvSpPr>
          <p:spPr>
            <a:xfrm>
              <a:off x="1072208" y="1117425"/>
              <a:ext cx="19511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양수고객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 미성년자 정보</a:t>
              </a:r>
            </a:p>
          </p:txBody>
        </p:sp>
        <p:cxnSp>
          <p:nvCxnSpPr>
            <p:cNvPr id="153" name="직선 연결선 152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4" name="눈물 방울 153"/>
          <p:cNvSpPr/>
          <p:nvPr/>
        </p:nvSpPr>
        <p:spPr>
          <a:xfrm rot="5400000">
            <a:off x="932958" y="316240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55" name="그룹 154"/>
          <p:cNvGrpSpPr/>
          <p:nvPr/>
        </p:nvGrpSpPr>
        <p:grpSpPr>
          <a:xfrm>
            <a:off x="1072209" y="3575334"/>
            <a:ext cx="5391974" cy="252000"/>
            <a:chOff x="640160" y="-566622"/>
            <a:chExt cx="5391974" cy="252000"/>
          </a:xfrm>
        </p:grpSpPr>
        <p:sp>
          <p:nvSpPr>
            <p:cNvPr id="156" name="TextBox 155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7" name="직사각형 156"/>
            <p:cNvSpPr/>
            <p:nvPr/>
          </p:nvSpPr>
          <p:spPr>
            <a:xfrm>
              <a:off x="2112151" y="-566622"/>
              <a:ext cx="3919983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87" name="그룹 186"/>
          <p:cNvGrpSpPr/>
          <p:nvPr/>
        </p:nvGrpSpPr>
        <p:grpSpPr>
          <a:xfrm>
            <a:off x="1072208" y="3969882"/>
            <a:ext cx="4006570" cy="252000"/>
            <a:chOff x="640160" y="-566622"/>
            <a:chExt cx="4006570" cy="252000"/>
          </a:xfrm>
        </p:grpSpPr>
        <p:sp>
          <p:nvSpPr>
            <p:cNvPr id="188" name="TextBox 187"/>
            <p:cNvSpPr txBox="1"/>
            <p:nvPr/>
          </p:nvSpPr>
          <p:spPr>
            <a:xfrm>
              <a:off x="640160" y="-556038"/>
              <a:ext cx="93006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주민등록번호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9" name="직사각형 188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0" name="직사각형 189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7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1" name="TextBox 190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35" name="그룹 134"/>
          <p:cNvGrpSpPr/>
          <p:nvPr/>
        </p:nvGrpSpPr>
        <p:grpSpPr>
          <a:xfrm>
            <a:off x="1072209" y="4882048"/>
            <a:ext cx="6264695" cy="252000"/>
            <a:chOff x="640160" y="-566622"/>
            <a:chExt cx="6264695" cy="252000"/>
          </a:xfrm>
        </p:grpSpPr>
        <p:sp>
          <p:nvSpPr>
            <p:cNvPr id="136" name="TextBox 135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7" name="직사각형 136"/>
            <p:cNvSpPr/>
            <p:nvPr/>
          </p:nvSpPr>
          <p:spPr>
            <a:xfrm>
              <a:off x="2112150" y="-566622"/>
              <a:ext cx="4792705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38" name="그룹 137"/>
          <p:cNvGrpSpPr/>
          <p:nvPr/>
        </p:nvGrpSpPr>
        <p:grpSpPr>
          <a:xfrm>
            <a:off x="1072209" y="5229994"/>
            <a:ext cx="4006569" cy="252000"/>
            <a:chOff x="640160" y="-566622"/>
            <a:chExt cx="4006569" cy="252000"/>
          </a:xfrm>
        </p:grpSpPr>
        <p:sp>
          <p:nvSpPr>
            <p:cNvPr id="139" name="TextBox 138"/>
            <p:cNvSpPr txBox="1"/>
            <p:nvPr/>
          </p:nvSpPr>
          <p:spPr>
            <a:xfrm>
              <a:off x="640160" y="-556038"/>
              <a:ext cx="93006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주민등록번호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0" name="직사각형 139"/>
            <p:cNvSpPr/>
            <p:nvPr/>
          </p:nvSpPr>
          <p:spPr>
            <a:xfrm>
              <a:off x="2109196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1" name="직사각형 140"/>
            <p:cNvSpPr/>
            <p:nvPr/>
          </p:nvSpPr>
          <p:spPr>
            <a:xfrm>
              <a:off x="3477348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7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8" name="TextBox 157"/>
            <p:cNvSpPr txBox="1"/>
            <p:nvPr/>
          </p:nvSpPr>
          <p:spPr>
            <a:xfrm>
              <a:off x="3265510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59" name="그룹 158"/>
          <p:cNvGrpSpPr/>
          <p:nvPr/>
        </p:nvGrpSpPr>
        <p:grpSpPr>
          <a:xfrm>
            <a:off x="1072209" y="4485976"/>
            <a:ext cx="9252000" cy="246221"/>
            <a:chOff x="1072208" y="1117425"/>
            <a:chExt cx="9252000" cy="246221"/>
          </a:xfrm>
        </p:grpSpPr>
        <p:sp>
          <p:nvSpPr>
            <p:cNvPr id="160" name="TextBox 159"/>
            <p:cNvSpPr txBox="1"/>
            <p:nvPr/>
          </p:nvSpPr>
          <p:spPr>
            <a:xfrm>
              <a:off x="1072208" y="1117425"/>
              <a:ext cx="203453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양수고객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법정대리인 정보</a:t>
              </a:r>
            </a:p>
          </p:txBody>
        </p:sp>
        <p:cxnSp>
          <p:nvCxnSpPr>
            <p:cNvPr id="161" name="직선 연결선 160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2" name="눈물 방울 161"/>
          <p:cNvSpPr/>
          <p:nvPr/>
        </p:nvSpPr>
        <p:spPr>
          <a:xfrm rot="5400000">
            <a:off x="932958" y="443314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63" name="그룹 162"/>
          <p:cNvGrpSpPr/>
          <p:nvPr/>
        </p:nvGrpSpPr>
        <p:grpSpPr>
          <a:xfrm>
            <a:off x="1072208" y="5577940"/>
            <a:ext cx="3087718" cy="252000"/>
            <a:chOff x="640160" y="-566622"/>
            <a:chExt cx="3087718" cy="252000"/>
          </a:xfrm>
        </p:grpSpPr>
        <p:sp>
          <p:nvSpPr>
            <p:cNvPr id="164" name="TextBox 163"/>
            <p:cNvSpPr txBox="1"/>
            <p:nvPr/>
          </p:nvSpPr>
          <p:spPr>
            <a:xfrm>
              <a:off x="640160" y="-556038"/>
              <a:ext cx="108555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신청인과의 관계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65" name="그룹 164"/>
            <p:cNvGrpSpPr/>
            <p:nvPr/>
          </p:nvGrpSpPr>
          <p:grpSpPr>
            <a:xfrm>
              <a:off x="2112152" y="-566622"/>
              <a:ext cx="1615726" cy="252000"/>
              <a:chOff x="2112152" y="-566622"/>
              <a:chExt cx="1615726" cy="252000"/>
            </a:xfrm>
          </p:grpSpPr>
          <p:sp>
            <p:nvSpPr>
              <p:cNvPr id="166" name="직사각형 165"/>
              <p:cNvSpPr/>
              <p:nvPr/>
            </p:nvSpPr>
            <p:spPr>
              <a:xfrm>
                <a:off x="2112152" y="-566622"/>
                <a:ext cx="1615726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부모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67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2048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pSp>
        <p:nvGrpSpPr>
          <p:cNvPr id="168" name="그룹 167"/>
          <p:cNvGrpSpPr/>
          <p:nvPr/>
        </p:nvGrpSpPr>
        <p:grpSpPr>
          <a:xfrm>
            <a:off x="1072208" y="5962168"/>
            <a:ext cx="5391974" cy="252000"/>
            <a:chOff x="640160" y="-566622"/>
            <a:chExt cx="5391974" cy="252000"/>
          </a:xfrm>
        </p:grpSpPr>
        <p:sp>
          <p:nvSpPr>
            <p:cNvPr id="223" name="TextBox 222"/>
            <p:cNvSpPr txBox="1"/>
            <p:nvPr/>
          </p:nvSpPr>
          <p:spPr>
            <a:xfrm>
              <a:off x="640160" y="-556038"/>
              <a:ext cx="101341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24" name="직사각형 223"/>
            <p:cNvSpPr/>
            <p:nvPr/>
          </p:nvSpPr>
          <p:spPr>
            <a:xfrm>
              <a:off x="2113382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225" name="직사각형 224"/>
            <p:cNvSpPr/>
            <p:nvPr/>
          </p:nvSpPr>
          <p:spPr>
            <a:xfrm>
              <a:off x="3481534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26" name="TextBox 225"/>
            <p:cNvSpPr txBox="1"/>
            <p:nvPr/>
          </p:nvSpPr>
          <p:spPr>
            <a:xfrm>
              <a:off x="3269696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27" name="직사각형 226"/>
            <p:cNvSpPr/>
            <p:nvPr/>
          </p:nvSpPr>
          <p:spPr>
            <a:xfrm>
              <a:off x="4862753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28" name="TextBox 227"/>
            <p:cNvSpPr txBox="1"/>
            <p:nvPr/>
          </p:nvSpPr>
          <p:spPr>
            <a:xfrm>
              <a:off x="4650915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29" name="TextBox 128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S103010101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54" name="그룹 53"/>
          <p:cNvGrpSpPr/>
          <p:nvPr/>
        </p:nvGrpSpPr>
        <p:grpSpPr>
          <a:xfrm>
            <a:off x="1053932" y="1521610"/>
            <a:ext cx="7867148" cy="252000"/>
            <a:chOff x="640160" y="-566622"/>
            <a:chExt cx="7867148" cy="252000"/>
          </a:xfrm>
        </p:grpSpPr>
        <p:sp>
          <p:nvSpPr>
            <p:cNvPr id="55" name="직사각형 54"/>
            <p:cNvSpPr/>
            <p:nvPr/>
          </p:nvSpPr>
          <p:spPr>
            <a:xfrm>
              <a:off x="2135204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내국인</a:t>
              </a: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2912391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미성년자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(19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세 미만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7" name="직사각형 56"/>
            <p:cNvSpPr/>
            <p:nvPr/>
          </p:nvSpPr>
          <p:spPr>
            <a:xfrm>
              <a:off x="4114820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5301602" y="-566622"/>
              <a:ext cx="162153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699526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법인</a:t>
              </a:r>
            </a:p>
          </p:txBody>
        </p:sp>
        <p:sp>
          <p:nvSpPr>
            <p:cNvPr id="70" name="직사각형 69"/>
            <p:cNvSpPr/>
            <p:nvPr/>
          </p:nvSpPr>
          <p:spPr>
            <a:xfrm>
              <a:off x="778730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공공기관</a:t>
              </a:r>
            </a:p>
          </p:txBody>
        </p:sp>
      </p:grpSp>
      <p:sp>
        <p:nvSpPr>
          <p:cNvPr id="71" name="눈물 방울 70"/>
          <p:cNvSpPr/>
          <p:nvPr/>
        </p:nvSpPr>
        <p:spPr>
          <a:xfrm rot="5400000">
            <a:off x="7634297" y="597138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2" name="직사각형 71"/>
          <p:cNvSpPr/>
          <p:nvPr/>
        </p:nvSpPr>
        <p:spPr>
          <a:xfrm>
            <a:off x="6544816" y="5962168"/>
            <a:ext cx="972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인증번호 발송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74" name="그룹 73"/>
          <p:cNvGrpSpPr/>
          <p:nvPr/>
        </p:nvGrpSpPr>
        <p:grpSpPr>
          <a:xfrm>
            <a:off x="1072208" y="1989634"/>
            <a:ext cx="9252000" cy="246221"/>
            <a:chOff x="1072208" y="1117425"/>
            <a:chExt cx="9252000" cy="246221"/>
          </a:xfrm>
        </p:grpSpPr>
        <p:sp>
          <p:nvSpPr>
            <p:cNvPr id="75" name="TextBox 74"/>
            <p:cNvSpPr txBox="1"/>
            <p:nvPr/>
          </p:nvSpPr>
          <p:spPr>
            <a:xfrm>
              <a:off x="1072208" y="1117425"/>
              <a:ext cx="24641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양수고객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 법정대리인 신분증 확인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76" name="직선 연결선 75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2" name="눈물 방울 81"/>
          <p:cNvSpPr/>
          <p:nvPr/>
        </p:nvSpPr>
        <p:spPr>
          <a:xfrm rot="5400000">
            <a:off x="932958" y="199710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5" name="눈물 방울 84"/>
          <p:cNvSpPr/>
          <p:nvPr/>
        </p:nvSpPr>
        <p:spPr>
          <a:xfrm rot="5400000">
            <a:off x="6072804" y="268120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6" name="직사각형 85"/>
          <p:cNvSpPr/>
          <p:nvPr/>
        </p:nvSpPr>
        <p:spPr>
          <a:xfrm>
            <a:off x="5104656" y="2673738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87" name="그룹 86"/>
          <p:cNvGrpSpPr/>
          <p:nvPr/>
        </p:nvGrpSpPr>
        <p:grpSpPr>
          <a:xfrm>
            <a:off x="1072208" y="2673738"/>
            <a:ext cx="3928878" cy="252000"/>
            <a:chOff x="-36790" y="4763928"/>
            <a:chExt cx="3928878" cy="252000"/>
          </a:xfrm>
        </p:grpSpPr>
        <p:sp>
          <p:nvSpPr>
            <p:cNvPr id="88" name="TextBox 87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89" name="그룹 88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90" name="직사각형 89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선택해 주세요</a:t>
                </a:r>
                <a:r>
                  <a:rPr lang="en-US" altLang="ko-KR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.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91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pSp>
        <p:nvGrpSpPr>
          <p:cNvPr id="92" name="그룹 91"/>
          <p:cNvGrpSpPr/>
          <p:nvPr/>
        </p:nvGrpSpPr>
        <p:grpSpPr>
          <a:xfrm>
            <a:off x="1054956" y="2349674"/>
            <a:ext cx="5345844" cy="252000"/>
            <a:chOff x="640160" y="-566622"/>
            <a:chExt cx="5345844" cy="252000"/>
          </a:xfrm>
        </p:grpSpPr>
        <p:sp>
          <p:nvSpPr>
            <p:cNvPr id="94" name="직사각형 93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목록 조회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신분증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6" name="직사각형 95"/>
            <p:cNvSpPr/>
            <p:nvPr/>
          </p:nvSpPr>
          <p:spPr>
            <a:xfrm>
              <a:off x="324970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모바일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신분증</a:t>
              </a:r>
            </a:p>
          </p:txBody>
        </p:sp>
        <p:sp>
          <p:nvSpPr>
            <p:cNvPr id="97" name="직사각형 96"/>
            <p:cNvSpPr/>
            <p:nvPr/>
          </p:nvSpPr>
          <p:spPr>
            <a:xfrm>
              <a:off x="4401708" y="-566622"/>
              <a:ext cx="7381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안면인증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8" name="직사각형 97"/>
            <p:cNvSpPr/>
            <p:nvPr/>
          </p:nvSpPr>
          <p:spPr>
            <a:xfrm>
              <a:off x="5247852" y="-566622"/>
              <a:ext cx="7381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 예외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9" name="눈물 방울 98"/>
          <p:cNvSpPr/>
          <p:nvPr/>
        </p:nvSpPr>
        <p:spPr>
          <a:xfrm rot="5400000">
            <a:off x="7440956" y="235714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0" name="직사각형 99"/>
          <p:cNvSpPr/>
          <p:nvPr/>
        </p:nvSpPr>
        <p:spPr>
          <a:xfrm>
            <a:off x="6472808" y="2349674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조회</a:t>
            </a:r>
            <a:r>
              <a:rPr lang="en-US" altLang="ko-KR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101" name="표 10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8978524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인증 예외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19522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5094718"/>
              </p:ext>
            </p:extLst>
          </p:nvPr>
        </p:nvGraphicFramePr>
        <p:xfrm>
          <a:off x="10505256" y="788950"/>
          <a:ext cx="2130330" cy="1753944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양도 고객 법정대리인 안내사항 확인 및 동의 사항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8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구비 서류 등록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B5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안내 상세 팝업 표시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신규</a:t>
                      </a: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변경 신청서 와 동일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양수 고객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미성년자</a:t>
            </a:r>
            <a:r>
              <a:rPr lang="en-US" altLang="ko-KR" sz="1000" dirty="0">
                <a:latin typeface="+mn-ea"/>
                <a:ea typeface="+mn-ea"/>
              </a:rPr>
              <a:t>(19</a:t>
            </a:r>
            <a:r>
              <a:rPr lang="ko-KR" altLang="en-US" sz="1000" dirty="0">
                <a:latin typeface="+mn-ea"/>
                <a:ea typeface="+mn-ea"/>
              </a:rPr>
              <a:t>세 미만</a:t>
            </a:r>
            <a:r>
              <a:rPr lang="en-US" altLang="ko-KR" sz="1000" dirty="0">
                <a:latin typeface="+mn-ea"/>
                <a:ea typeface="+mn-ea"/>
              </a:rPr>
              <a:t>)))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S103010101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15" name="직사각형 114"/>
          <p:cNvSpPr/>
          <p:nvPr/>
        </p:nvSpPr>
        <p:spPr>
          <a:xfrm>
            <a:off x="962696" y="981522"/>
            <a:ext cx="9468000" cy="5472608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81" name="그룹 80"/>
          <p:cNvGrpSpPr/>
          <p:nvPr/>
        </p:nvGrpSpPr>
        <p:grpSpPr>
          <a:xfrm>
            <a:off x="1072208" y="1239699"/>
            <a:ext cx="9252000" cy="246221"/>
            <a:chOff x="1072208" y="1117425"/>
            <a:chExt cx="9252000" cy="246221"/>
          </a:xfrm>
        </p:grpSpPr>
        <p:sp>
          <p:nvSpPr>
            <p:cNvPr id="82" name="TextBox 81"/>
            <p:cNvSpPr txBox="1"/>
            <p:nvPr/>
          </p:nvSpPr>
          <p:spPr>
            <a:xfrm>
              <a:off x="1072208" y="1117425"/>
              <a:ext cx="306686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양수고객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법정대리인 안내사항 확인 및 동의</a:t>
              </a:r>
            </a:p>
          </p:txBody>
        </p:sp>
        <p:cxnSp>
          <p:nvCxnSpPr>
            <p:cNvPr id="83" name="직선 연결선 82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4" name="눈물 방울 83"/>
          <p:cNvSpPr/>
          <p:nvPr/>
        </p:nvSpPr>
        <p:spPr>
          <a:xfrm rot="5400000">
            <a:off x="932958" y="115488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5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85" name="그룹 84"/>
          <p:cNvGrpSpPr/>
          <p:nvPr/>
        </p:nvGrpSpPr>
        <p:grpSpPr>
          <a:xfrm>
            <a:off x="1163507" y="1591702"/>
            <a:ext cx="8758499" cy="253916"/>
            <a:chOff x="1936304" y="-857339"/>
            <a:chExt cx="8758499" cy="253916"/>
          </a:xfrm>
        </p:grpSpPr>
        <p:sp>
          <p:nvSpPr>
            <p:cNvPr id="86" name="타원 85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2116304" y="-857339"/>
              <a:ext cx="23631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본인은 안내사항을 확인하였습니다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10413957" y="-857339"/>
              <a:ext cx="28084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sp>
        <p:nvSpPr>
          <p:cNvPr id="89" name="눈물 방울 88"/>
          <p:cNvSpPr/>
          <p:nvPr/>
        </p:nvSpPr>
        <p:spPr>
          <a:xfrm rot="5400000">
            <a:off x="9861950" y="156505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B5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90" name="그룹 89"/>
          <p:cNvGrpSpPr/>
          <p:nvPr/>
        </p:nvGrpSpPr>
        <p:grpSpPr>
          <a:xfrm>
            <a:off x="1072208" y="2133650"/>
            <a:ext cx="9252000" cy="246221"/>
            <a:chOff x="1072208" y="1117425"/>
            <a:chExt cx="9252000" cy="246221"/>
          </a:xfrm>
        </p:grpSpPr>
        <p:sp>
          <p:nvSpPr>
            <p:cNvPr id="91" name="TextBox 90"/>
            <p:cNvSpPr txBox="1"/>
            <p:nvPr/>
          </p:nvSpPr>
          <p:spPr>
            <a:xfrm>
              <a:off x="1072208" y="1117425"/>
              <a:ext cx="69762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구비서류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92" name="직선 연결선 91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눈물 방울 92"/>
          <p:cNvSpPr/>
          <p:nvPr/>
        </p:nvSpPr>
        <p:spPr>
          <a:xfrm rot="5400000">
            <a:off x="932958" y="214111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8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1054956" y="2478882"/>
            <a:ext cx="69923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 smtClean="0">
                <a:latin typeface="맑은 고딕" pitchFamily="50" charset="-127"/>
                <a:ea typeface="맑은 고딕" pitchFamily="50" charset="-127"/>
              </a:rPr>
              <a:t>구비서류</a:t>
            </a:r>
            <a:r>
              <a:rPr lang="en-US" altLang="ko-KR" sz="900" b="1" dirty="0" smtClean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*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5" name="눈물 방울 94"/>
          <p:cNvSpPr/>
          <p:nvPr/>
        </p:nvSpPr>
        <p:spPr>
          <a:xfrm rot="5400000">
            <a:off x="3527947" y="246353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B6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6" name="직사각형 95"/>
          <p:cNvSpPr/>
          <p:nvPr/>
        </p:nvSpPr>
        <p:spPr>
          <a:xfrm>
            <a:off x="2559799" y="2456066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50737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962696" y="981522"/>
            <a:ext cx="9468000" cy="5472608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4061607"/>
              </p:ext>
            </p:extLst>
          </p:nvPr>
        </p:nvGraphicFramePr>
        <p:xfrm>
          <a:off x="10505256" y="788950"/>
          <a:ext cx="2130330" cy="1000312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양수 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외국인</a:t>
            </a:r>
            <a:r>
              <a:rPr lang="en-US" altLang="ko-KR" sz="1000" dirty="0">
                <a:latin typeface="+mn-ea"/>
                <a:ea typeface="+mn-ea"/>
              </a:rPr>
              <a:t>(Foreigner)))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142" name="그룹 141"/>
          <p:cNvGrpSpPr/>
          <p:nvPr/>
        </p:nvGrpSpPr>
        <p:grpSpPr>
          <a:xfrm>
            <a:off x="1072209" y="1168817"/>
            <a:ext cx="9252000" cy="246221"/>
            <a:chOff x="1072208" y="1117425"/>
            <a:chExt cx="9252000" cy="246221"/>
          </a:xfrm>
        </p:grpSpPr>
        <p:sp>
          <p:nvSpPr>
            <p:cNvPr id="143" name="TextBox 142"/>
            <p:cNvSpPr txBox="1"/>
            <p:nvPr/>
          </p:nvSpPr>
          <p:spPr>
            <a:xfrm>
              <a:off x="1072208" y="1117425"/>
              <a:ext cx="13484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양수고객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유형</a:t>
              </a:r>
            </a:p>
          </p:txBody>
        </p:sp>
        <p:cxnSp>
          <p:nvCxnSpPr>
            <p:cNvPr id="144" name="직선 연결선 143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5" name="눈물 방울 144"/>
          <p:cNvSpPr/>
          <p:nvPr/>
        </p:nvSpPr>
        <p:spPr>
          <a:xfrm rot="5400000">
            <a:off x="967462" y="11207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1072209" y="3359254"/>
            <a:ext cx="9252000" cy="246221"/>
            <a:chOff x="1072208" y="1117425"/>
            <a:chExt cx="9252000" cy="246221"/>
          </a:xfrm>
        </p:grpSpPr>
        <p:sp>
          <p:nvSpPr>
            <p:cNvPr id="152" name="TextBox 151"/>
            <p:cNvSpPr txBox="1"/>
            <p:nvPr/>
          </p:nvSpPr>
          <p:spPr>
            <a:xfrm>
              <a:off x="1072208" y="1117425"/>
              <a:ext cx="139333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양수고객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 정보</a:t>
              </a:r>
            </a:p>
          </p:txBody>
        </p:sp>
        <p:cxnSp>
          <p:nvCxnSpPr>
            <p:cNvPr id="153" name="직선 연결선 152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4" name="눈물 방울 153"/>
          <p:cNvSpPr/>
          <p:nvPr/>
        </p:nvSpPr>
        <p:spPr>
          <a:xfrm rot="5400000">
            <a:off x="932958" y="330641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55" name="그룹 154"/>
          <p:cNvGrpSpPr/>
          <p:nvPr/>
        </p:nvGrpSpPr>
        <p:grpSpPr>
          <a:xfrm>
            <a:off x="1072209" y="3719350"/>
            <a:ext cx="5391974" cy="252000"/>
            <a:chOff x="640160" y="-566622"/>
            <a:chExt cx="5391974" cy="252000"/>
          </a:xfrm>
        </p:grpSpPr>
        <p:sp>
          <p:nvSpPr>
            <p:cNvPr id="156" name="TextBox 155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7" name="직사각형 156"/>
            <p:cNvSpPr/>
            <p:nvPr/>
          </p:nvSpPr>
          <p:spPr>
            <a:xfrm>
              <a:off x="2112151" y="-566622"/>
              <a:ext cx="3919983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87" name="그룹 186"/>
          <p:cNvGrpSpPr/>
          <p:nvPr/>
        </p:nvGrpSpPr>
        <p:grpSpPr>
          <a:xfrm>
            <a:off x="1072208" y="4113898"/>
            <a:ext cx="4006570" cy="252000"/>
            <a:chOff x="640160" y="-566622"/>
            <a:chExt cx="4006570" cy="252000"/>
          </a:xfrm>
        </p:grpSpPr>
        <p:sp>
          <p:nvSpPr>
            <p:cNvPr id="188" name="TextBox 187"/>
            <p:cNvSpPr txBox="1"/>
            <p:nvPr/>
          </p:nvSpPr>
          <p:spPr>
            <a:xfrm>
              <a:off x="640160" y="-556038"/>
              <a:ext cx="10454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외국인등록번호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9" name="직사각형 188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0" name="직사각형 189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7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1" name="TextBox 190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6" name="TextBox 95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S103010101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112" name="그룹 111"/>
          <p:cNvGrpSpPr/>
          <p:nvPr/>
        </p:nvGrpSpPr>
        <p:grpSpPr>
          <a:xfrm>
            <a:off x="1053932" y="1521610"/>
            <a:ext cx="7867148" cy="252000"/>
            <a:chOff x="640160" y="-566622"/>
            <a:chExt cx="7867148" cy="252000"/>
          </a:xfrm>
        </p:grpSpPr>
        <p:sp>
          <p:nvSpPr>
            <p:cNvPr id="113" name="직사각형 112"/>
            <p:cNvSpPr/>
            <p:nvPr/>
          </p:nvSpPr>
          <p:spPr>
            <a:xfrm>
              <a:off x="2135204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내국인</a:t>
              </a:r>
            </a:p>
          </p:txBody>
        </p:sp>
        <p:sp>
          <p:nvSpPr>
            <p:cNvPr id="114" name="직사각형 113"/>
            <p:cNvSpPr/>
            <p:nvPr/>
          </p:nvSpPr>
          <p:spPr>
            <a:xfrm>
              <a:off x="2912391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(19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세 미만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5" name="직사각형 114"/>
            <p:cNvSpPr/>
            <p:nvPr/>
          </p:nvSpPr>
          <p:spPr>
            <a:xfrm>
              <a:off x="4114820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(Foreigner)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7" name="직사각형 116"/>
            <p:cNvSpPr/>
            <p:nvPr/>
          </p:nvSpPr>
          <p:spPr>
            <a:xfrm>
              <a:off x="5301602" y="-566622"/>
              <a:ext cx="162153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</a:p>
          </p:txBody>
        </p:sp>
        <p:sp>
          <p:nvSpPr>
            <p:cNvPr id="118" name="직사각형 117"/>
            <p:cNvSpPr/>
            <p:nvPr/>
          </p:nvSpPr>
          <p:spPr>
            <a:xfrm>
              <a:off x="699526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법인</a:t>
              </a:r>
            </a:p>
          </p:txBody>
        </p:sp>
        <p:sp>
          <p:nvSpPr>
            <p:cNvPr id="129" name="직사각형 128"/>
            <p:cNvSpPr/>
            <p:nvPr/>
          </p:nvSpPr>
          <p:spPr>
            <a:xfrm>
              <a:off x="778730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공공기관</a:t>
              </a:r>
            </a:p>
          </p:txBody>
        </p:sp>
      </p:grpSp>
      <p:grpSp>
        <p:nvGrpSpPr>
          <p:cNvPr id="59" name="그룹 58"/>
          <p:cNvGrpSpPr/>
          <p:nvPr/>
        </p:nvGrpSpPr>
        <p:grpSpPr>
          <a:xfrm>
            <a:off x="1072208" y="2051072"/>
            <a:ext cx="9252000" cy="246221"/>
            <a:chOff x="1072208" y="1117425"/>
            <a:chExt cx="9252000" cy="246221"/>
          </a:xfrm>
        </p:grpSpPr>
        <p:sp>
          <p:nvSpPr>
            <p:cNvPr id="60" name="TextBox 59"/>
            <p:cNvSpPr txBox="1"/>
            <p:nvPr/>
          </p:nvSpPr>
          <p:spPr>
            <a:xfrm>
              <a:off x="1072208" y="1117425"/>
              <a:ext cx="17780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양수고객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신분증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cxnSp>
          <p:nvCxnSpPr>
            <p:cNvPr id="61" name="직선 연결선 60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7" name="눈물 방울 66"/>
          <p:cNvSpPr/>
          <p:nvPr/>
        </p:nvSpPr>
        <p:spPr>
          <a:xfrm rot="5400000">
            <a:off x="932958" y="205853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77" name="그룹 76"/>
          <p:cNvGrpSpPr/>
          <p:nvPr/>
        </p:nvGrpSpPr>
        <p:grpSpPr>
          <a:xfrm>
            <a:off x="1072208" y="5085978"/>
            <a:ext cx="9252000" cy="246221"/>
            <a:chOff x="1072208" y="1117425"/>
            <a:chExt cx="9252000" cy="246221"/>
          </a:xfrm>
        </p:grpSpPr>
        <p:sp>
          <p:nvSpPr>
            <p:cNvPr id="78" name="TextBox 77"/>
            <p:cNvSpPr txBox="1"/>
            <p:nvPr/>
          </p:nvSpPr>
          <p:spPr>
            <a:xfrm>
              <a:off x="1072208" y="1117425"/>
              <a:ext cx="69762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구비서류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79" name="직선 연결선 78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눈물 방울 79"/>
          <p:cNvSpPr/>
          <p:nvPr/>
        </p:nvSpPr>
        <p:spPr>
          <a:xfrm rot="5400000">
            <a:off x="932958" y="509344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8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1054956" y="5431210"/>
            <a:ext cx="69923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 smtClean="0">
                <a:latin typeface="맑은 고딕" pitchFamily="50" charset="-127"/>
                <a:ea typeface="맑은 고딕" pitchFamily="50" charset="-127"/>
              </a:rPr>
              <a:t>구비서류</a:t>
            </a:r>
            <a:r>
              <a:rPr lang="en-US" altLang="ko-KR" sz="900" b="1" dirty="0" smtClean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*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3" name="눈물 방울 82"/>
          <p:cNvSpPr/>
          <p:nvPr/>
        </p:nvSpPr>
        <p:spPr>
          <a:xfrm rot="5400000">
            <a:off x="3527947" y="541586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B6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4" name="직사각형 83"/>
          <p:cNvSpPr/>
          <p:nvPr/>
        </p:nvSpPr>
        <p:spPr>
          <a:xfrm>
            <a:off x="2559799" y="5408394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8" name="눈물 방울 57"/>
          <p:cNvSpPr/>
          <p:nvPr/>
        </p:nvSpPr>
        <p:spPr>
          <a:xfrm rot="5400000">
            <a:off x="6072804" y="275321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0" name="직사각형 69"/>
          <p:cNvSpPr/>
          <p:nvPr/>
        </p:nvSpPr>
        <p:spPr>
          <a:xfrm>
            <a:off x="5104656" y="2745746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71" name="그룹 70"/>
          <p:cNvGrpSpPr/>
          <p:nvPr/>
        </p:nvGrpSpPr>
        <p:grpSpPr>
          <a:xfrm>
            <a:off x="1072208" y="2745746"/>
            <a:ext cx="3928878" cy="252000"/>
            <a:chOff x="-36790" y="4763928"/>
            <a:chExt cx="3928878" cy="252000"/>
          </a:xfrm>
        </p:grpSpPr>
        <p:sp>
          <p:nvSpPr>
            <p:cNvPr id="72" name="TextBox 71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73" name="그룹 72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74" name="직사각형 73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선택해 주세요</a:t>
                </a:r>
                <a:r>
                  <a:rPr lang="en-US" altLang="ko-KR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.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75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pSp>
        <p:nvGrpSpPr>
          <p:cNvPr id="76" name="그룹 75"/>
          <p:cNvGrpSpPr/>
          <p:nvPr/>
        </p:nvGrpSpPr>
        <p:grpSpPr>
          <a:xfrm>
            <a:off x="1072148" y="4509914"/>
            <a:ext cx="5400600" cy="252000"/>
            <a:chOff x="640160" y="-566622"/>
            <a:chExt cx="5400600" cy="252000"/>
          </a:xfrm>
        </p:grpSpPr>
        <p:sp>
          <p:nvSpPr>
            <p:cNvPr id="85" name="TextBox 84"/>
            <p:cNvSpPr txBox="1"/>
            <p:nvPr/>
          </p:nvSpPr>
          <p:spPr>
            <a:xfrm>
              <a:off x="640160" y="-556038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사업자등록번호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6" name="직사각형 85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7" name="직사각형 86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9" name="직사각형 88"/>
            <p:cNvSpPr/>
            <p:nvPr/>
          </p:nvSpPr>
          <p:spPr>
            <a:xfrm>
              <a:off x="487137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5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465954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1" name="직사각형 90"/>
          <p:cNvSpPr/>
          <p:nvPr/>
        </p:nvSpPr>
        <p:spPr>
          <a:xfrm>
            <a:off x="6544816" y="4515518"/>
            <a:ext cx="374441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※ </a:t>
            </a:r>
            <a:r>
              <a:rPr lang="ko-KR" altLang="en-US" sz="1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개인사업자인 경우만 입력</a:t>
            </a:r>
            <a:endParaRPr lang="ko-KR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graphicFrame>
        <p:nvGraphicFramePr>
          <p:cNvPr id="92" name="표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3125380"/>
              </p:ext>
            </p:extLst>
          </p:nvPr>
        </p:nvGraphicFramePr>
        <p:xfrm>
          <a:off x="12914755" y="109568"/>
          <a:ext cx="3443089" cy="1091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항목 추가 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개인사업자 사업자 등록번호 항목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인증 예외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93" name="그룹 92"/>
          <p:cNvGrpSpPr/>
          <p:nvPr/>
        </p:nvGrpSpPr>
        <p:grpSpPr>
          <a:xfrm>
            <a:off x="1054956" y="2385706"/>
            <a:ext cx="5345844" cy="252000"/>
            <a:chOff x="640160" y="-566622"/>
            <a:chExt cx="5345844" cy="252000"/>
          </a:xfrm>
        </p:grpSpPr>
        <p:sp>
          <p:nvSpPr>
            <p:cNvPr id="94" name="직사각형 93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목록 조회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신분증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7" name="직사각형 96"/>
            <p:cNvSpPr/>
            <p:nvPr/>
          </p:nvSpPr>
          <p:spPr>
            <a:xfrm>
              <a:off x="324970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모바일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신분증</a:t>
              </a:r>
            </a:p>
          </p:txBody>
        </p:sp>
        <p:sp>
          <p:nvSpPr>
            <p:cNvPr id="98" name="직사각형 97"/>
            <p:cNvSpPr/>
            <p:nvPr/>
          </p:nvSpPr>
          <p:spPr>
            <a:xfrm>
              <a:off x="4401708" y="-566622"/>
              <a:ext cx="7381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안면인증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9" name="직사각형 98"/>
            <p:cNvSpPr/>
            <p:nvPr/>
          </p:nvSpPr>
          <p:spPr>
            <a:xfrm>
              <a:off x="5247852" y="-566622"/>
              <a:ext cx="7381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 예외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00" name="눈물 방울 99"/>
          <p:cNvSpPr/>
          <p:nvPr/>
        </p:nvSpPr>
        <p:spPr>
          <a:xfrm rot="5400000">
            <a:off x="7440956" y="239317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1" name="직사각형 100"/>
          <p:cNvSpPr/>
          <p:nvPr/>
        </p:nvSpPr>
        <p:spPr>
          <a:xfrm>
            <a:off x="6472808" y="2385706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조회</a:t>
            </a:r>
            <a:r>
              <a:rPr lang="en-US" altLang="ko-KR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7148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직사각형 114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2618625"/>
              </p:ext>
            </p:extLst>
          </p:nvPr>
        </p:nvGraphicFramePr>
        <p:xfrm>
          <a:off x="10505256" y="788950"/>
          <a:ext cx="2130330" cy="1000312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양수 고객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외국인</a:t>
            </a:r>
            <a:r>
              <a:rPr lang="en-US" altLang="ko-KR" sz="1000" dirty="0">
                <a:latin typeface="+mn-ea"/>
                <a:ea typeface="+mn-ea"/>
              </a:rPr>
              <a:t>(Foreigner) </a:t>
            </a:r>
            <a:r>
              <a:rPr lang="ko-KR" altLang="en-US" sz="1000" dirty="0">
                <a:latin typeface="+mn-ea"/>
                <a:ea typeface="+mn-ea"/>
              </a:rPr>
              <a:t>미성년자</a:t>
            </a:r>
            <a:r>
              <a:rPr lang="en-US" altLang="ko-KR" sz="1000" dirty="0">
                <a:latin typeface="+mn-ea"/>
                <a:ea typeface="+mn-ea"/>
              </a:rPr>
              <a:t>))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142" name="그룹 141"/>
          <p:cNvGrpSpPr/>
          <p:nvPr/>
        </p:nvGrpSpPr>
        <p:grpSpPr>
          <a:xfrm>
            <a:off x="1072209" y="1168817"/>
            <a:ext cx="9252000" cy="246221"/>
            <a:chOff x="1072208" y="1117425"/>
            <a:chExt cx="9252000" cy="246221"/>
          </a:xfrm>
        </p:grpSpPr>
        <p:sp>
          <p:nvSpPr>
            <p:cNvPr id="143" name="TextBox 142"/>
            <p:cNvSpPr txBox="1"/>
            <p:nvPr/>
          </p:nvSpPr>
          <p:spPr>
            <a:xfrm>
              <a:off x="1072208" y="1117425"/>
              <a:ext cx="13484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양수고객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유형</a:t>
              </a:r>
            </a:p>
          </p:txBody>
        </p:sp>
        <p:cxnSp>
          <p:nvCxnSpPr>
            <p:cNvPr id="144" name="직선 연결선 143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5" name="눈물 방울 144"/>
          <p:cNvSpPr/>
          <p:nvPr/>
        </p:nvSpPr>
        <p:spPr>
          <a:xfrm rot="5400000">
            <a:off x="967462" y="11207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S103010101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54" name="그룹 53"/>
          <p:cNvGrpSpPr/>
          <p:nvPr/>
        </p:nvGrpSpPr>
        <p:grpSpPr>
          <a:xfrm>
            <a:off x="1053932" y="1521610"/>
            <a:ext cx="7867148" cy="252000"/>
            <a:chOff x="640160" y="-566622"/>
            <a:chExt cx="7867148" cy="252000"/>
          </a:xfrm>
        </p:grpSpPr>
        <p:sp>
          <p:nvSpPr>
            <p:cNvPr id="55" name="직사각형 54"/>
            <p:cNvSpPr/>
            <p:nvPr/>
          </p:nvSpPr>
          <p:spPr>
            <a:xfrm>
              <a:off x="2135204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내국인</a:t>
              </a: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2912391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(19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세 미만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7" name="직사각형 56"/>
            <p:cNvSpPr/>
            <p:nvPr/>
          </p:nvSpPr>
          <p:spPr>
            <a:xfrm>
              <a:off x="4114820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9" name="직사각형 58"/>
            <p:cNvSpPr/>
            <p:nvPr/>
          </p:nvSpPr>
          <p:spPr>
            <a:xfrm>
              <a:off x="5301602" y="-566622"/>
              <a:ext cx="162153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(Foreigner)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미성년자</a:t>
              </a: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699526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법인</a:t>
              </a:r>
            </a:p>
          </p:txBody>
        </p:sp>
        <p:sp>
          <p:nvSpPr>
            <p:cNvPr id="70" name="직사각형 69"/>
            <p:cNvSpPr/>
            <p:nvPr/>
          </p:nvSpPr>
          <p:spPr>
            <a:xfrm>
              <a:off x="778730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공공기관</a:t>
              </a:r>
            </a:p>
          </p:txBody>
        </p:sp>
      </p:grpSp>
      <p:grpSp>
        <p:nvGrpSpPr>
          <p:cNvPr id="177" name="그룹 176"/>
          <p:cNvGrpSpPr/>
          <p:nvPr/>
        </p:nvGrpSpPr>
        <p:grpSpPr>
          <a:xfrm>
            <a:off x="1072209" y="3215238"/>
            <a:ext cx="9252000" cy="246221"/>
            <a:chOff x="1072208" y="1117425"/>
            <a:chExt cx="9252000" cy="246221"/>
          </a:xfrm>
        </p:grpSpPr>
        <p:sp>
          <p:nvSpPr>
            <p:cNvPr id="178" name="TextBox 177"/>
            <p:cNvSpPr txBox="1"/>
            <p:nvPr/>
          </p:nvSpPr>
          <p:spPr>
            <a:xfrm>
              <a:off x="1072208" y="1117425"/>
              <a:ext cx="19511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양수고객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 미성년자 정보</a:t>
              </a:r>
            </a:p>
          </p:txBody>
        </p:sp>
        <p:cxnSp>
          <p:nvCxnSpPr>
            <p:cNvPr id="179" name="직선 연결선 178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1" name="그룹 180"/>
          <p:cNvGrpSpPr/>
          <p:nvPr/>
        </p:nvGrpSpPr>
        <p:grpSpPr>
          <a:xfrm>
            <a:off x="1072209" y="3575334"/>
            <a:ext cx="5391974" cy="252000"/>
            <a:chOff x="640160" y="-566622"/>
            <a:chExt cx="5391974" cy="252000"/>
          </a:xfrm>
        </p:grpSpPr>
        <p:sp>
          <p:nvSpPr>
            <p:cNvPr id="182" name="TextBox 181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3" name="직사각형 182"/>
            <p:cNvSpPr/>
            <p:nvPr/>
          </p:nvSpPr>
          <p:spPr>
            <a:xfrm>
              <a:off x="2112151" y="-566622"/>
              <a:ext cx="3919983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84" name="그룹 183"/>
          <p:cNvGrpSpPr/>
          <p:nvPr/>
        </p:nvGrpSpPr>
        <p:grpSpPr>
          <a:xfrm>
            <a:off x="1072208" y="3969882"/>
            <a:ext cx="4006570" cy="252000"/>
            <a:chOff x="640160" y="-566622"/>
            <a:chExt cx="4006570" cy="252000"/>
          </a:xfrm>
        </p:grpSpPr>
        <p:sp>
          <p:nvSpPr>
            <p:cNvPr id="185" name="TextBox 184"/>
            <p:cNvSpPr txBox="1"/>
            <p:nvPr/>
          </p:nvSpPr>
          <p:spPr>
            <a:xfrm>
              <a:off x="640160" y="-556038"/>
              <a:ext cx="10454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외국인등록번호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6" name="직사각형 185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2" name="직사각형 191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7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3" name="TextBox 192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94" name="그룹 193"/>
          <p:cNvGrpSpPr/>
          <p:nvPr/>
        </p:nvGrpSpPr>
        <p:grpSpPr>
          <a:xfrm>
            <a:off x="1072209" y="4882048"/>
            <a:ext cx="6264695" cy="252000"/>
            <a:chOff x="640160" y="-566622"/>
            <a:chExt cx="6264695" cy="252000"/>
          </a:xfrm>
        </p:grpSpPr>
        <p:sp>
          <p:nvSpPr>
            <p:cNvPr id="195" name="TextBox 194"/>
            <p:cNvSpPr txBox="1"/>
            <p:nvPr/>
          </p:nvSpPr>
          <p:spPr>
            <a:xfrm>
              <a:off x="640160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6" name="직사각형 195"/>
            <p:cNvSpPr/>
            <p:nvPr/>
          </p:nvSpPr>
          <p:spPr>
            <a:xfrm>
              <a:off x="2112150" y="-566622"/>
              <a:ext cx="4792705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97" name="그룹 196"/>
          <p:cNvGrpSpPr/>
          <p:nvPr/>
        </p:nvGrpSpPr>
        <p:grpSpPr>
          <a:xfrm>
            <a:off x="1072209" y="5278120"/>
            <a:ext cx="4006569" cy="252000"/>
            <a:chOff x="640160" y="-566622"/>
            <a:chExt cx="4006569" cy="252000"/>
          </a:xfrm>
        </p:grpSpPr>
        <p:sp>
          <p:nvSpPr>
            <p:cNvPr id="198" name="TextBox 197"/>
            <p:cNvSpPr txBox="1"/>
            <p:nvPr/>
          </p:nvSpPr>
          <p:spPr>
            <a:xfrm>
              <a:off x="640160" y="-556038"/>
              <a:ext cx="132760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주민</a:t>
              </a: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외국인등록번호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9" name="직사각형 198"/>
            <p:cNvSpPr/>
            <p:nvPr/>
          </p:nvSpPr>
          <p:spPr>
            <a:xfrm>
              <a:off x="2109196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0" name="직사각형 199"/>
            <p:cNvSpPr/>
            <p:nvPr/>
          </p:nvSpPr>
          <p:spPr>
            <a:xfrm>
              <a:off x="3477348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7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01" name="TextBox 200"/>
            <p:cNvSpPr txBox="1"/>
            <p:nvPr/>
          </p:nvSpPr>
          <p:spPr>
            <a:xfrm>
              <a:off x="3265510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202" name="그룹 201"/>
          <p:cNvGrpSpPr/>
          <p:nvPr/>
        </p:nvGrpSpPr>
        <p:grpSpPr>
          <a:xfrm>
            <a:off x="1072209" y="4485976"/>
            <a:ext cx="9252000" cy="246221"/>
            <a:chOff x="1072208" y="1117425"/>
            <a:chExt cx="9252000" cy="246221"/>
          </a:xfrm>
        </p:grpSpPr>
        <p:sp>
          <p:nvSpPr>
            <p:cNvPr id="203" name="TextBox 202"/>
            <p:cNvSpPr txBox="1"/>
            <p:nvPr/>
          </p:nvSpPr>
          <p:spPr>
            <a:xfrm>
              <a:off x="1072208" y="1117425"/>
              <a:ext cx="203453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양수고객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법정대리인 정보</a:t>
              </a:r>
            </a:p>
          </p:txBody>
        </p:sp>
        <p:cxnSp>
          <p:nvCxnSpPr>
            <p:cNvPr id="204" name="직선 연결선 203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5" name="눈물 방울 204"/>
          <p:cNvSpPr/>
          <p:nvPr/>
        </p:nvSpPr>
        <p:spPr>
          <a:xfrm rot="5400000">
            <a:off x="932958" y="443314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206" name="그룹 205"/>
          <p:cNvGrpSpPr/>
          <p:nvPr/>
        </p:nvGrpSpPr>
        <p:grpSpPr>
          <a:xfrm>
            <a:off x="1072208" y="5626066"/>
            <a:ext cx="3087718" cy="252000"/>
            <a:chOff x="640160" y="-566622"/>
            <a:chExt cx="3087718" cy="252000"/>
          </a:xfrm>
        </p:grpSpPr>
        <p:sp>
          <p:nvSpPr>
            <p:cNvPr id="207" name="TextBox 206"/>
            <p:cNvSpPr txBox="1"/>
            <p:nvPr/>
          </p:nvSpPr>
          <p:spPr>
            <a:xfrm>
              <a:off x="640160" y="-556038"/>
              <a:ext cx="108555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신청인과의 관계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208" name="그룹 207"/>
            <p:cNvGrpSpPr/>
            <p:nvPr/>
          </p:nvGrpSpPr>
          <p:grpSpPr>
            <a:xfrm>
              <a:off x="2112152" y="-566622"/>
              <a:ext cx="1615726" cy="252000"/>
              <a:chOff x="2112152" y="-566622"/>
              <a:chExt cx="1615726" cy="252000"/>
            </a:xfrm>
          </p:grpSpPr>
          <p:sp>
            <p:nvSpPr>
              <p:cNvPr id="209" name="직사각형 208"/>
              <p:cNvSpPr/>
              <p:nvPr/>
            </p:nvSpPr>
            <p:spPr>
              <a:xfrm>
                <a:off x="2112152" y="-566622"/>
                <a:ext cx="1615726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부모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210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2048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pSp>
        <p:nvGrpSpPr>
          <p:cNvPr id="211" name="그룹 210"/>
          <p:cNvGrpSpPr/>
          <p:nvPr/>
        </p:nvGrpSpPr>
        <p:grpSpPr>
          <a:xfrm>
            <a:off x="1072208" y="5962168"/>
            <a:ext cx="5391974" cy="252000"/>
            <a:chOff x="640160" y="-566622"/>
            <a:chExt cx="5391974" cy="252000"/>
          </a:xfrm>
        </p:grpSpPr>
        <p:sp>
          <p:nvSpPr>
            <p:cNvPr id="212" name="TextBox 211"/>
            <p:cNvSpPr txBox="1"/>
            <p:nvPr/>
          </p:nvSpPr>
          <p:spPr>
            <a:xfrm>
              <a:off x="640160" y="-556038"/>
              <a:ext cx="101341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3" name="직사각형 212"/>
            <p:cNvSpPr/>
            <p:nvPr/>
          </p:nvSpPr>
          <p:spPr>
            <a:xfrm>
              <a:off x="2113382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214" name="직사각형 213"/>
            <p:cNvSpPr/>
            <p:nvPr/>
          </p:nvSpPr>
          <p:spPr>
            <a:xfrm>
              <a:off x="3481534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5" name="TextBox 214"/>
            <p:cNvSpPr txBox="1"/>
            <p:nvPr/>
          </p:nvSpPr>
          <p:spPr>
            <a:xfrm>
              <a:off x="3269696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6" name="직사각형 215"/>
            <p:cNvSpPr/>
            <p:nvPr/>
          </p:nvSpPr>
          <p:spPr>
            <a:xfrm>
              <a:off x="4862753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7" name="TextBox 216"/>
            <p:cNvSpPr txBox="1"/>
            <p:nvPr/>
          </p:nvSpPr>
          <p:spPr>
            <a:xfrm>
              <a:off x="4650915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218" name="눈물 방울 217"/>
          <p:cNvSpPr/>
          <p:nvPr/>
        </p:nvSpPr>
        <p:spPr>
          <a:xfrm rot="5400000">
            <a:off x="7634297" y="597138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19" name="직사각형 218"/>
          <p:cNvSpPr/>
          <p:nvPr/>
        </p:nvSpPr>
        <p:spPr>
          <a:xfrm>
            <a:off x="6544816" y="5962168"/>
            <a:ext cx="972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인증번호 발송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220" name="그룹 219"/>
          <p:cNvGrpSpPr/>
          <p:nvPr/>
        </p:nvGrpSpPr>
        <p:grpSpPr>
          <a:xfrm>
            <a:off x="1072208" y="1989634"/>
            <a:ext cx="9252000" cy="246221"/>
            <a:chOff x="1072208" y="1117425"/>
            <a:chExt cx="9252000" cy="246221"/>
          </a:xfrm>
        </p:grpSpPr>
        <p:sp>
          <p:nvSpPr>
            <p:cNvPr id="221" name="TextBox 220"/>
            <p:cNvSpPr txBox="1"/>
            <p:nvPr/>
          </p:nvSpPr>
          <p:spPr>
            <a:xfrm>
              <a:off x="1072208" y="1117425"/>
              <a:ext cx="251062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양수고객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법정대리인 신분증 확인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222" name="직선 연결선 221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4" name="눈물 방울 233"/>
          <p:cNvSpPr/>
          <p:nvPr/>
        </p:nvSpPr>
        <p:spPr>
          <a:xfrm rot="5400000">
            <a:off x="932958" y="199710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7" name="눈물 방울 76"/>
          <p:cNvSpPr/>
          <p:nvPr/>
        </p:nvSpPr>
        <p:spPr>
          <a:xfrm rot="5400000">
            <a:off x="6072804" y="271718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5104656" y="2709714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79" name="그룹 78"/>
          <p:cNvGrpSpPr/>
          <p:nvPr/>
        </p:nvGrpSpPr>
        <p:grpSpPr>
          <a:xfrm>
            <a:off x="1072208" y="2709714"/>
            <a:ext cx="3928878" cy="252000"/>
            <a:chOff x="-36790" y="4763928"/>
            <a:chExt cx="3928878" cy="252000"/>
          </a:xfrm>
        </p:grpSpPr>
        <p:sp>
          <p:nvSpPr>
            <p:cNvPr id="80" name="TextBox 79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81" name="그룹 80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82" name="직사각형 81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선택해 주세요</a:t>
                </a:r>
                <a:r>
                  <a:rPr lang="en-US" altLang="ko-KR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.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83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pSp>
        <p:nvGrpSpPr>
          <p:cNvPr id="76" name="그룹 75"/>
          <p:cNvGrpSpPr/>
          <p:nvPr/>
        </p:nvGrpSpPr>
        <p:grpSpPr>
          <a:xfrm>
            <a:off x="1054956" y="2349674"/>
            <a:ext cx="5345844" cy="252000"/>
            <a:chOff x="640160" y="-566622"/>
            <a:chExt cx="5345844" cy="252000"/>
          </a:xfrm>
        </p:grpSpPr>
        <p:sp>
          <p:nvSpPr>
            <p:cNvPr id="84" name="직사각형 83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목록 조회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신분증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6" name="직사각형 85"/>
            <p:cNvSpPr/>
            <p:nvPr/>
          </p:nvSpPr>
          <p:spPr>
            <a:xfrm>
              <a:off x="324970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모바일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신분증</a:t>
              </a:r>
            </a:p>
          </p:txBody>
        </p:sp>
        <p:sp>
          <p:nvSpPr>
            <p:cNvPr id="87" name="직사각형 86"/>
            <p:cNvSpPr/>
            <p:nvPr/>
          </p:nvSpPr>
          <p:spPr>
            <a:xfrm>
              <a:off x="4401708" y="-566622"/>
              <a:ext cx="7381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안면인증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8" name="직사각형 87"/>
            <p:cNvSpPr/>
            <p:nvPr/>
          </p:nvSpPr>
          <p:spPr>
            <a:xfrm>
              <a:off x="5247852" y="-566622"/>
              <a:ext cx="7381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 예외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89" name="눈물 방울 88"/>
          <p:cNvSpPr/>
          <p:nvPr/>
        </p:nvSpPr>
        <p:spPr>
          <a:xfrm rot="5400000">
            <a:off x="7440956" y="235714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0" name="직사각형 89"/>
          <p:cNvSpPr/>
          <p:nvPr/>
        </p:nvSpPr>
        <p:spPr>
          <a:xfrm>
            <a:off x="6472808" y="2349674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조회</a:t>
            </a:r>
            <a:r>
              <a:rPr lang="en-US" altLang="ko-KR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91" name="표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6122306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인증 예외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20133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886020"/>
              </p:ext>
            </p:extLst>
          </p:nvPr>
        </p:nvGraphicFramePr>
        <p:xfrm>
          <a:off x="10505256" y="788950"/>
          <a:ext cx="2130330" cy="1000312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S103010101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양수 고객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>
                <a:latin typeface="+mn-ea"/>
                <a:ea typeface="+mn-ea"/>
              </a:rPr>
              <a:t>외국인</a:t>
            </a:r>
            <a:r>
              <a:rPr lang="en-US" altLang="ko-KR" sz="1000" dirty="0">
                <a:latin typeface="+mn-ea"/>
                <a:ea typeface="+mn-ea"/>
              </a:rPr>
              <a:t>(Foreigner) </a:t>
            </a:r>
            <a:r>
              <a:rPr lang="ko-KR" altLang="en-US" sz="1000" dirty="0">
                <a:latin typeface="+mn-ea"/>
                <a:ea typeface="+mn-ea"/>
              </a:rPr>
              <a:t>미성년자</a:t>
            </a:r>
            <a:r>
              <a:rPr lang="en-US" altLang="ko-KR" sz="1000" dirty="0">
                <a:latin typeface="+mn-ea"/>
                <a:ea typeface="+mn-ea"/>
              </a:rPr>
              <a:t>))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15" name="직사각형 114"/>
          <p:cNvSpPr/>
          <p:nvPr/>
        </p:nvSpPr>
        <p:spPr>
          <a:xfrm>
            <a:off x="962696" y="981522"/>
            <a:ext cx="9468000" cy="54006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66" name="그룹 65"/>
          <p:cNvGrpSpPr/>
          <p:nvPr/>
        </p:nvGrpSpPr>
        <p:grpSpPr>
          <a:xfrm>
            <a:off x="1072208" y="1239699"/>
            <a:ext cx="9252000" cy="246221"/>
            <a:chOff x="1072208" y="1117425"/>
            <a:chExt cx="9252000" cy="246221"/>
          </a:xfrm>
        </p:grpSpPr>
        <p:sp>
          <p:nvSpPr>
            <p:cNvPr id="67" name="TextBox 66"/>
            <p:cNvSpPr txBox="1"/>
            <p:nvPr/>
          </p:nvSpPr>
          <p:spPr>
            <a:xfrm>
              <a:off x="1072208" y="1117425"/>
              <a:ext cx="306686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양수고객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법정대리인 안내사항 확인 및 동의</a:t>
              </a:r>
            </a:p>
          </p:txBody>
        </p:sp>
        <p:cxnSp>
          <p:nvCxnSpPr>
            <p:cNvPr id="68" name="직선 연결선 67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눈물 방울 68"/>
          <p:cNvSpPr/>
          <p:nvPr/>
        </p:nvSpPr>
        <p:spPr>
          <a:xfrm rot="5400000">
            <a:off x="932958" y="115488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5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71" name="그룹 70"/>
          <p:cNvGrpSpPr/>
          <p:nvPr/>
        </p:nvGrpSpPr>
        <p:grpSpPr>
          <a:xfrm>
            <a:off x="1163507" y="1591702"/>
            <a:ext cx="8758499" cy="253916"/>
            <a:chOff x="1936304" y="-857339"/>
            <a:chExt cx="8758499" cy="253916"/>
          </a:xfrm>
        </p:grpSpPr>
        <p:sp>
          <p:nvSpPr>
            <p:cNvPr id="72" name="타원 71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2116304" y="-857339"/>
              <a:ext cx="23631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본인은 안내사항을 확인하였습니다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10413957" y="-857339"/>
              <a:ext cx="28084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sp>
        <p:nvSpPr>
          <p:cNvPr id="75" name="눈물 방울 74"/>
          <p:cNvSpPr/>
          <p:nvPr/>
        </p:nvSpPr>
        <p:spPr>
          <a:xfrm rot="5400000">
            <a:off x="9861950" y="156505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B5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76" name="그룹 75"/>
          <p:cNvGrpSpPr/>
          <p:nvPr/>
        </p:nvGrpSpPr>
        <p:grpSpPr>
          <a:xfrm>
            <a:off x="1072208" y="2133650"/>
            <a:ext cx="9252000" cy="246221"/>
            <a:chOff x="1072208" y="1117425"/>
            <a:chExt cx="9252000" cy="246221"/>
          </a:xfrm>
        </p:grpSpPr>
        <p:sp>
          <p:nvSpPr>
            <p:cNvPr id="77" name="TextBox 76"/>
            <p:cNvSpPr txBox="1"/>
            <p:nvPr/>
          </p:nvSpPr>
          <p:spPr>
            <a:xfrm>
              <a:off x="1072208" y="1117425"/>
              <a:ext cx="69762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구비서류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78" name="직선 연결선 77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눈물 방울 78"/>
          <p:cNvSpPr/>
          <p:nvPr/>
        </p:nvSpPr>
        <p:spPr>
          <a:xfrm rot="5400000">
            <a:off x="932958" y="214111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8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054956" y="2478882"/>
            <a:ext cx="69923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 smtClean="0">
                <a:latin typeface="맑은 고딕" pitchFamily="50" charset="-127"/>
                <a:ea typeface="맑은 고딕" pitchFamily="50" charset="-127"/>
              </a:rPr>
              <a:t>구비서류</a:t>
            </a:r>
            <a:r>
              <a:rPr lang="en-US" altLang="ko-KR" sz="900" b="1" dirty="0" smtClean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*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81" name="눈물 방울 80"/>
          <p:cNvSpPr/>
          <p:nvPr/>
        </p:nvSpPr>
        <p:spPr>
          <a:xfrm rot="5400000">
            <a:off x="3527947" y="246353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B6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2" name="직사각형 81"/>
          <p:cNvSpPr/>
          <p:nvPr/>
        </p:nvSpPr>
        <p:spPr>
          <a:xfrm>
            <a:off x="2559799" y="2456066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6444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962696" y="981522"/>
            <a:ext cx="9468000" cy="5472608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6595175"/>
              </p:ext>
            </p:extLst>
          </p:nvPr>
        </p:nvGraphicFramePr>
        <p:xfrm>
          <a:off x="10505256" y="788950"/>
          <a:ext cx="2130330" cy="1000312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 smtClean="0">
                <a:latin typeface="+mn-ea"/>
                <a:ea typeface="+mn-ea"/>
              </a:rPr>
              <a:t>법인</a:t>
            </a:r>
            <a:r>
              <a:rPr lang="en-US" altLang="ko-KR" sz="1000" dirty="0" smtClean="0">
                <a:latin typeface="+mn-ea"/>
                <a:ea typeface="+mn-ea"/>
              </a:rPr>
              <a:t>, </a:t>
            </a:r>
            <a:r>
              <a:rPr lang="ko-KR" altLang="en-US" sz="1000" dirty="0" smtClean="0">
                <a:latin typeface="+mn-ea"/>
                <a:ea typeface="+mn-ea"/>
              </a:rPr>
              <a:t>공공기관</a:t>
            </a:r>
            <a:r>
              <a:rPr lang="en-US" altLang="ko-KR" sz="1000" dirty="0" smtClean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142" name="그룹 141"/>
          <p:cNvGrpSpPr/>
          <p:nvPr/>
        </p:nvGrpSpPr>
        <p:grpSpPr>
          <a:xfrm>
            <a:off x="1072209" y="1168817"/>
            <a:ext cx="9252000" cy="246221"/>
            <a:chOff x="1072208" y="1117425"/>
            <a:chExt cx="9252000" cy="246221"/>
          </a:xfrm>
        </p:grpSpPr>
        <p:sp>
          <p:nvSpPr>
            <p:cNvPr id="143" name="TextBox 142"/>
            <p:cNvSpPr txBox="1"/>
            <p:nvPr/>
          </p:nvSpPr>
          <p:spPr>
            <a:xfrm>
              <a:off x="1072208" y="1117425"/>
              <a:ext cx="13484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양수고객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유형</a:t>
              </a:r>
            </a:p>
          </p:txBody>
        </p:sp>
        <p:cxnSp>
          <p:nvCxnSpPr>
            <p:cNvPr id="144" name="직선 연결선 143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5" name="눈물 방울 144"/>
          <p:cNvSpPr/>
          <p:nvPr/>
        </p:nvSpPr>
        <p:spPr>
          <a:xfrm rot="5400000">
            <a:off x="967462" y="11207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1072209" y="3657912"/>
            <a:ext cx="9252000" cy="246221"/>
            <a:chOff x="1072208" y="1117425"/>
            <a:chExt cx="9252000" cy="246221"/>
          </a:xfrm>
        </p:grpSpPr>
        <p:sp>
          <p:nvSpPr>
            <p:cNvPr id="152" name="TextBox 151"/>
            <p:cNvSpPr txBox="1"/>
            <p:nvPr/>
          </p:nvSpPr>
          <p:spPr>
            <a:xfrm>
              <a:off x="1072208" y="1117425"/>
              <a:ext cx="139333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양수고객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 정보</a:t>
              </a:r>
            </a:p>
          </p:txBody>
        </p:sp>
        <p:cxnSp>
          <p:nvCxnSpPr>
            <p:cNvPr id="153" name="직선 연결선 152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4" name="눈물 방울 153"/>
          <p:cNvSpPr/>
          <p:nvPr/>
        </p:nvSpPr>
        <p:spPr>
          <a:xfrm rot="5400000">
            <a:off x="932958" y="360507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55" name="그룹 154"/>
          <p:cNvGrpSpPr/>
          <p:nvPr/>
        </p:nvGrpSpPr>
        <p:grpSpPr>
          <a:xfrm>
            <a:off x="1072209" y="4018008"/>
            <a:ext cx="5391974" cy="252000"/>
            <a:chOff x="640160" y="-566622"/>
            <a:chExt cx="5391974" cy="252000"/>
          </a:xfrm>
        </p:grpSpPr>
        <p:sp>
          <p:nvSpPr>
            <p:cNvPr id="156" name="TextBox 155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고객명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7" name="직사각형 156"/>
            <p:cNvSpPr/>
            <p:nvPr/>
          </p:nvSpPr>
          <p:spPr>
            <a:xfrm>
              <a:off x="2112151" y="-566622"/>
              <a:ext cx="3919983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87" name="그룹 186"/>
          <p:cNvGrpSpPr/>
          <p:nvPr/>
        </p:nvGrpSpPr>
        <p:grpSpPr>
          <a:xfrm>
            <a:off x="1072208" y="4367560"/>
            <a:ext cx="4006570" cy="252000"/>
            <a:chOff x="640160" y="-566622"/>
            <a:chExt cx="4006570" cy="252000"/>
          </a:xfrm>
        </p:grpSpPr>
        <p:sp>
          <p:nvSpPr>
            <p:cNvPr id="188" name="TextBox 187"/>
            <p:cNvSpPr txBox="1"/>
            <p:nvPr/>
          </p:nvSpPr>
          <p:spPr>
            <a:xfrm>
              <a:off x="640160" y="-556038"/>
              <a:ext cx="93006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법인등록번호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89" name="직사각형 188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0" name="직사각형 189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7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1" name="TextBox 190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6" name="TextBox 95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S103010101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82" name="그룹 81"/>
          <p:cNvGrpSpPr/>
          <p:nvPr/>
        </p:nvGrpSpPr>
        <p:grpSpPr>
          <a:xfrm>
            <a:off x="1053932" y="1521610"/>
            <a:ext cx="7867068" cy="252000"/>
            <a:chOff x="640160" y="-566622"/>
            <a:chExt cx="7867068" cy="252000"/>
          </a:xfrm>
        </p:grpSpPr>
        <p:sp>
          <p:nvSpPr>
            <p:cNvPr id="83" name="직사각형 82"/>
            <p:cNvSpPr/>
            <p:nvPr/>
          </p:nvSpPr>
          <p:spPr>
            <a:xfrm>
              <a:off x="2135204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내국인</a:t>
              </a:r>
            </a:p>
          </p:txBody>
        </p:sp>
        <p:sp>
          <p:nvSpPr>
            <p:cNvPr id="84" name="직사각형 83"/>
            <p:cNvSpPr/>
            <p:nvPr/>
          </p:nvSpPr>
          <p:spPr>
            <a:xfrm>
              <a:off x="2912391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(19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세 미만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5" name="직사각형 84"/>
            <p:cNvSpPr/>
            <p:nvPr/>
          </p:nvSpPr>
          <p:spPr>
            <a:xfrm>
              <a:off x="4114820" y="-566622"/>
              <a:ext cx="115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고객유형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7" name="직사각형 86"/>
            <p:cNvSpPr/>
            <p:nvPr/>
          </p:nvSpPr>
          <p:spPr>
            <a:xfrm>
              <a:off x="5301602" y="-566622"/>
              <a:ext cx="162153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외국인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(Foreigner)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미성년자</a:t>
              </a:r>
            </a:p>
          </p:txBody>
        </p:sp>
        <p:sp>
          <p:nvSpPr>
            <p:cNvPr id="88" name="직사각형 87"/>
            <p:cNvSpPr/>
            <p:nvPr/>
          </p:nvSpPr>
          <p:spPr>
            <a:xfrm>
              <a:off x="699526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법인</a:t>
              </a:r>
            </a:p>
          </p:txBody>
        </p:sp>
        <p:sp>
          <p:nvSpPr>
            <p:cNvPr id="105" name="직사각형 104"/>
            <p:cNvSpPr/>
            <p:nvPr/>
          </p:nvSpPr>
          <p:spPr>
            <a:xfrm>
              <a:off x="7787228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공공기관</a:t>
              </a:r>
            </a:p>
          </p:txBody>
        </p:sp>
      </p:grpSp>
      <p:grpSp>
        <p:nvGrpSpPr>
          <p:cNvPr id="79" name="그룹 78"/>
          <p:cNvGrpSpPr/>
          <p:nvPr/>
        </p:nvGrpSpPr>
        <p:grpSpPr>
          <a:xfrm>
            <a:off x="1072208" y="4727600"/>
            <a:ext cx="5400600" cy="252000"/>
            <a:chOff x="640160" y="-566622"/>
            <a:chExt cx="5400600" cy="252000"/>
          </a:xfrm>
        </p:grpSpPr>
        <p:sp>
          <p:nvSpPr>
            <p:cNvPr id="80" name="TextBox 79"/>
            <p:cNvSpPr txBox="1"/>
            <p:nvPr/>
          </p:nvSpPr>
          <p:spPr>
            <a:xfrm>
              <a:off x="640160" y="-556038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사업자등록번호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5" name="직사각형 94"/>
            <p:cNvSpPr/>
            <p:nvPr/>
          </p:nvSpPr>
          <p:spPr>
            <a:xfrm>
              <a:off x="210919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1" name="직사각형 100"/>
            <p:cNvSpPr/>
            <p:nvPr/>
          </p:nvSpPr>
          <p:spPr>
            <a:xfrm>
              <a:off x="347734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326551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3" name="직사각형 102"/>
            <p:cNvSpPr/>
            <p:nvPr/>
          </p:nvSpPr>
          <p:spPr>
            <a:xfrm>
              <a:off x="4871379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5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4659541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37" name="그룹 136"/>
          <p:cNvGrpSpPr/>
          <p:nvPr/>
        </p:nvGrpSpPr>
        <p:grpSpPr>
          <a:xfrm>
            <a:off x="1065858" y="5410042"/>
            <a:ext cx="4790428" cy="252000"/>
            <a:chOff x="640160" y="-566622"/>
            <a:chExt cx="4790428" cy="252000"/>
          </a:xfrm>
        </p:grpSpPr>
        <p:sp>
          <p:nvSpPr>
            <p:cNvPr id="138" name="TextBox 137"/>
            <p:cNvSpPr txBox="1"/>
            <p:nvPr/>
          </p:nvSpPr>
          <p:spPr>
            <a:xfrm>
              <a:off x="640160" y="-556038"/>
              <a:ext cx="75052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업종</a:t>
              </a: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업태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39" name="그룹 138"/>
            <p:cNvGrpSpPr/>
            <p:nvPr/>
          </p:nvGrpSpPr>
          <p:grpSpPr>
            <a:xfrm>
              <a:off x="2112152" y="-566622"/>
              <a:ext cx="3318436" cy="252000"/>
              <a:chOff x="2112152" y="-566622"/>
              <a:chExt cx="3318436" cy="252000"/>
            </a:xfrm>
          </p:grpSpPr>
          <p:sp>
            <p:nvSpPr>
              <p:cNvPr id="140" name="직사각형 139"/>
              <p:cNvSpPr/>
              <p:nvPr/>
            </p:nvSpPr>
            <p:spPr>
              <a:xfrm>
                <a:off x="2112152" y="-566622"/>
                <a:ext cx="1615726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업종 선택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41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2048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6" name="직사각형 145"/>
              <p:cNvSpPr/>
              <p:nvPr/>
            </p:nvSpPr>
            <p:spPr>
              <a:xfrm>
                <a:off x="3814862" y="-566622"/>
                <a:ext cx="1615726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업태 입력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</p:grpSp>
      <p:grpSp>
        <p:nvGrpSpPr>
          <p:cNvPr id="147" name="그룹 146"/>
          <p:cNvGrpSpPr/>
          <p:nvPr/>
        </p:nvGrpSpPr>
        <p:grpSpPr>
          <a:xfrm>
            <a:off x="1065858" y="5050002"/>
            <a:ext cx="3087718" cy="252000"/>
            <a:chOff x="640160" y="-566622"/>
            <a:chExt cx="3087718" cy="252000"/>
          </a:xfrm>
        </p:grpSpPr>
        <p:sp>
          <p:nvSpPr>
            <p:cNvPr id="148" name="TextBox 147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대표자명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0" name="직사각형 149"/>
            <p:cNvSpPr/>
            <p:nvPr/>
          </p:nvSpPr>
          <p:spPr>
            <a:xfrm>
              <a:off x="2112152" y="-566622"/>
              <a:ext cx="1615726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대표자명 입력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98" name="그룹 97"/>
          <p:cNvGrpSpPr/>
          <p:nvPr/>
        </p:nvGrpSpPr>
        <p:grpSpPr>
          <a:xfrm>
            <a:off x="1046344" y="1919230"/>
            <a:ext cx="2992231" cy="252000"/>
            <a:chOff x="640160" y="-566622"/>
            <a:chExt cx="2992231" cy="252000"/>
          </a:xfrm>
        </p:grpSpPr>
        <p:sp>
          <p:nvSpPr>
            <p:cNvPr id="116" name="직사각형 115"/>
            <p:cNvSpPr/>
            <p:nvPr/>
          </p:nvSpPr>
          <p:spPr>
            <a:xfrm>
              <a:off x="2135204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본인</a:t>
              </a: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대표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7" name="직사각형 116"/>
            <p:cNvSpPr/>
            <p:nvPr/>
          </p:nvSpPr>
          <p:spPr>
            <a:xfrm>
              <a:off x="291239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대리인</a:t>
              </a:r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방문고객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19" name="오른쪽 중괄호 118"/>
          <p:cNvSpPr/>
          <p:nvPr/>
        </p:nvSpPr>
        <p:spPr>
          <a:xfrm>
            <a:off x="7696944" y="1881906"/>
            <a:ext cx="313910" cy="39576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직사각형 119"/>
          <p:cNvSpPr/>
          <p:nvPr/>
        </p:nvSpPr>
        <p:spPr>
          <a:xfrm>
            <a:off x="8027755" y="1923541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법인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공공기관만 항목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66" name="그룹 165"/>
          <p:cNvGrpSpPr/>
          <p:nvPr/>
        </p:nvGrpSpPr>
        <p:grpSpPr>
          <a:xfrm>
            <a:off x="1072208" y="2457714"/>
            <a:ext cx="9252000" cy="246221"/>
            <a:chOff x="1072208" y="1117425"/>
            <a:chExt cx="9252000" cy="246221"/>
          </a:xfrm>
        </p:grpSpPr>
        <p:sp>
          <p:nvSpPr>
            <p:cNvPr id="167" name="TextBox 166"/>
            <p:cNvSpPr txBox="1"/>
            <p:nvPr/>
          </p:nvSpPr>
          <p:spPr>
            <a:xfrm>
              <a:off x="1072208" y="1117425"/>
              <a:ext cx="17780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양수고객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신분증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cxnSp>
          <p:nvCxnSpPr>
            <p:cNvPr id="168" name="직선 연결선 167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7" name="눈물 방울 176"/>
          <p:cNvSpPr/>
          <p:nvPr/>
        </p:nvSpPr>
        <p:spPr>
          <a:xfrm rot="5400000">
            <a:off x="932958" y="246518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97" name="오른쪽 중괄호 196"/>
          <p:cNvSpPr/>
          <p:nvPr/>
        </p:nvSpPr>
        <p:spPr>
          <a:xfrm>
            <a:off x="7696944" y="4329922"/>
            <a:ext cx="313910" cy="1303465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8" name="직사각형 197"/>
          <p:cNvSpPr/>
          <p:nvPr/>
        </p:nvSpPr>
        <p:spPr>
          <a:xfrm>
            <a:off x="8027755" y="4839502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법인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공공기관만 항목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75" name="눈물 방울 74"/>
          <p:cNvSpPr/>
          <p:nvPr/>
        </p:nvSpPr>
        <p:spPr>
          <a:xfrm rot="5400000">
            <a:off x="6072804" y="318526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5104656" y="3177794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77" name="그룹 76"/>
          <p:cNvGrpSpPr/>
          <p:nvPr/>
        </p:nvGrpSpPr>
        <p:grpSpPr>
          <a:xfrm>
            <a:off x="1072208" y="3177794"/>
            <a:ext cx="3928878" cy="252000"/>
            <a:chOff x="-36790" y="4763928"/>
            <a:chExt cx="3928878" cy="252000"/>
          </a:xfrm>
        </p:grpSpPr>
        <p:sp>
          <p:nvSpPr>
            <p:cNvPr id="78" name="TextBox 77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89" name="그룹 88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90" name="직사각형 89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선택해 주세요</a:t>
                </a:r>
                <a:r>
                  <a:rPr lang="en-US" altLang="ko-KR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.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91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pSp>
        <p:nvGrpSpPr>
          <p:cNvPr id="92" name="그룹 91"/>
          <p:cNvGrpSpPr/>
          <p:nvPr/>
        </p:nvGrpSpPr>
        <p:grpSpPr>
          <a:xfrm>
            <a:off x="1054956" y="2817754"/>
            <a:ext cx="5345844" cy="252000"/>
            <a:chOff x="640160" y="-566622"/>
            <a:chExt cx="5345844" cy="252000"/>
          </a:xfrm>
        </p:grpSpPr>
        <p:sp>
          <p:nvSpPr>
            <p:cNvPr id="93" name="직사각형 92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목록 조회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신분증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7" name="직사각형 96"/>
            <p:cNvSpPr/>
            <p:nvPr/>
          </p:nvSpPr>
          <p:spPr>
            <a:xfrm>
              <a:off x="324970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모바일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신분증</a:t>
              </a:r>
            </a:p>
          </p:txBody>
        </p:sp>
        <p:sp>
          <p:nvSpPr>
            <p:cNvPr id="99" name="직사각형 98"/>
            <p:cNvSpPr/>
            <p:nvPr/>
          </p:nvSpPr>
          <p:spPr>
            <a:xfrm>
              <a:off x="4401708" y="-566622"/>
              <a:ext cx="7381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안면인증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0" name="직사각형 99"/>
            <p:cNvSpPr/>
            <p:nvPr/>
          </p:nvSpPr>
          <p:spPr>
            <a:xfrm>
              <a:off x="5247852" y="-566622"/>
              <a:ext cx="7381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 예외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06" name="눈물 방울 105"/>
          <p:cNvSpPr/>
          <p:nvPr/>
        </p:nvSpPr>
        <p:spPr>
          <a:xfrm rot="5400000">
            <a:off x="7440956" y="282522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7" name="직사각형 106"/>
          <p:cNvSpPr/>
          <p:nvPr/>
        </p:nvSpPr>
        <p:spPr>
          <a:xfrm>
            <a:off x="6472808" y="2817754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조회</a:t>
            </a:r>
            <a:r>
              <a:rPr lang="en-US" altLang="ko-KR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aphicFrame>
        <p:nvGraphicFramePr>
          <p:cNvPr id="108" name="표 10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238472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인증 예외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37185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649668"/>
              </p:ext>
            </p:extLst>
          </p:nvPr>
        </p:nvGraphicFramePr>
        <p:xfrm>
          <a:off x="10505256" y="788950"/>
          <a:ext cx="2130330" cy="1803819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9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양수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고객 실사용자 정보 입력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성별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남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대리인 위임 정보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생년월일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남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>
                <a:latin typeface="+mn-ea"/>
                <a:ea typeface="+mn-ea"/>
              </a:rPr>
              <a:t>(</a:t>
            </a:r>
            <a:r>
              <a:rPr lang="ko-KR" altLang="en-US" sz="1000" dirty="0" smtClean="0">
                <a:latin typeface="+mn-ea"/>
                <a:ea typeface="+mn-ea"/>
              </a:rPr>
              <a:t>법인</a:t>
            </a:r>
            <a:r>
              <a:rPr lang="en-US" altLang="ko-KR" sz="1000" dirty="0" smtClean="0">
                <a:latin typeface="+mn-ea"/>
                <a:ea typeface="+mn-ea"/>
              </a:rPr>
              <a:t>, </a:t>
            </a:r>
            <a:r>
              <a:rPr lang="ko-KR" altLang="en-US" sz="1000" dirty="0" smtClean="0">
                <a:latin typeface="+mn-ea"/>
                <a:ea typeface="+mn-ea"/>
              </a:rPr>
              <a:t>공공기관</a:t>
            </a:r>
            <a:r>
              <a:rPr lang="en-US" altLang="ko-KR" sz="1000" dirty="0" smtClean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S103010101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962696" y="981522"/>
            <a:ext cx="9468000" cy="5472608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41" name="그룹 40"/>
          <p:cNvGrpSpPr/>
          <p:nvPr/>
        </p:nvGrpSpPr>
        <p:grpSpPr>
          <a:xfrm>
            <a:off x="1072208" y="4437906"/>
            <a:ext cx="9252000" cy="246221"/>
            <a:chOff x="1072208" y="1117425"/>
            <a:chExt cx="9252000" cy="246221"/>
          </a:xfrm>
        </p:grpSpPr>
        <p:sp>
          <p:nvSpPr>
            <p:cNvPr id="42" name="TextBox 41"/>
            <p:cNvSpPr txBox="1"/>
            <p:nvPr/>
          </p:nvSpPr>
          <p:spPr>
            <a:xfrm>
              <a:off x="1072208" y="1117425"/>
              <a:ext cx="69762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구비서류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43" name="직선 연결선 42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눈물 방울 43"/>
          <p:cNvSpPr/>
          <p:nvPr/>
        </p:nvSpPr>
        <p:spPr>
          <a:xfrm rot="5400000">
            <a:off x="932958" y="44453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8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54956" y="4784786"/>
            <a:ext cx="69923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 smtClean="0">
                <a:latin typeface="맑은 고딕" pitchFamily="50" charset="-127"/>
                <a:ea typeface="맑은 고딕" pitchFamily="50" charset="-127"/>
              </a:rPr>
              <a:t>구비서류</a:t>
            </a:r>
            <a:r>
              <a:rPr lang="en-US" altLang="ko-KR" sz="900" b="1" dirty="0" smtClean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*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6" name="눈물 방울 45"/>
          <p:cNvSpPr/>
          <p:nvPr/>
        </p:nvSpPr>
        <p:spPr>
          <a:xfrm rot="5400000">
            <a:off x="3527947" y="476943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B6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2559799" y="4761970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48" name="그룹 47"/>
          <p:cNvGrpSpPr/>
          <p:nvPr/>
        </p:nvGrpSpPr>
        <p:grpSpPr>
          <a:xfrm>
            <a:off x="1072208" y="2469752"/>
            <a:ext cx="9252000" cy="246221"/>
            <a:chOff x="1072208" y="1117425"/>
            <a:chExt cx="9252000" cy="246221"/>
          </a:xfrm>
        </p:grpSpPr>
        <p:sp>
          <p:nvSpPr>
            <p:cNvPr id="49" name="TextBox 48"/>
            <p:cNvSpPr txBox="1"/>
            <p:nvPr/>
          </p:nvSpPr>
          <p:spPr>
            <a:xfrm>
              <a:off x="1072208" y="1117425"/>
              <a:ext cx="117211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대리인 위임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정보</a:t>
              </a:r>
            </a:p>
          </p:txBody>
        </p:sp>
        <p:cxnSp>
          <p:nvCxnSpPr>
            <p:cNvPr id="50" name="직선 연결선 49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눈물 방울 50"/>
          <p:cNvSpPr/>
          <p:nvPr/>
        </p:nvSpPr>
        <p:spPr>
          <a:xfrm rot="5400000">
            <a:off x="932957" y="241691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10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52" name="그룹 51"/>
          <p:cNvGrpSpPr/>
          <p:nvPr/>
        </p:nvGrpSpPr>
        <p:grpSpPr>
          <a:xfrm>
            <a:off x="1072208" y="2829848"/>
            <a:ext cx="5391974" cy="252000"/>
            <a:chOff x="640160" y="-566622"/>
            <a:chExt cx="5391974" cy="252000"/>
          </a:xfrm>
        </p:grpSpPr>
        <p:sp>
          <p:nvSpPr>
            <p:cNvPr id="53" name="TextBox 52"/>
            <p:cNvSpPr txBox="1"/>
            <p:nvPr/>
          </p:nvSpPr>
          <p:spPr>
            <a:xfrm>
              <a:off x="640160" y="-556038"/>
              <a:ext cx="124104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위임받은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 고객 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4" name="직사각형 53"/>
            <p:cNvSpPr/>
            <p:nvPr/>
          </p:nvSpPr>
          <p:spPr>
            <a:xfrm>
              <a:off x="2112151" y="-566622"/>
              <a:ext cx="3919983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55" name="그룹 54"/>
          <p:cNvGrpSpPr/>
          <p:nvPr/>
        </p:nvGrpSpPr>
        <p:grpSpPr>
          <a:xfrm>
            <a:off x="1072208" y="3189888"/>
            <a:ext cx="5391974" cy="252000"/>
            <a:chOff x="640160" y="-566622"/>
            <a:chExt cx="5391974" cy="252000"/>
          </a:xfrm>
        </p:grpSpPr>
        <p:sp>
          <p:nvSpPr>
            <p:cNvPr id="56" name="TextBox 55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생년월일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7" name="직사각형 56"/>
            <p:cNvSpPr/>
            <p:nvPr/>
          </p:nvSpPr>
          <p:spPr>
            <a:xfrm>
              <a:off x="2109197" y="-566622"/>
              <a:ext cx="3922937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8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(YYYYMMDD)</a:t>
              </a:r>
            </a:p>
          </p:txBody>
        </p:sp>
      </p:grpSp>
      <p:grpSp>
        <p:nvGrpSpPr>
          <p:cNvPr id="58" name="그룹 57"/>
          <p:cNvGrpSpPr/>
          <p:nvPr/>
        </p:nvGrpSpPr>
        <p:grpSpPr>
          <a:xfrm>
            <a:off x="1059141" y="3909912"/>
            <a:ext cx="5405041" cy="252000"/>
            <a:chOff x="424136" y="-566622"/>
            <a:chExt cx="5405041" cy="252000"/>
          </a:xfrm>
        </p:grpSpPr>
        <p:sp>
          <p:nvSpPr>
            <p:cNvPr id="59" name="TextBox 58"/>
            <p:cNvSpPr txBox="1"/>
            <p:nvPr/>
          </p:nvSpPr>
          <p:spPr>
            <a:xfrm>
              <a:off x="424136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앞자리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1" name="직사각형 60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3" name="직사각형 62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65" name="그룹 64"/>
          <p:cNvGrpSpPr/>
          <p:nvPr/>
        </p:nvGrpSpPr>
        <p:grpSpPr>
          <a:xfrm>
            <a:off x="6631509" y="3207818"/>
            <a:ext cx="897050" cy="234014"/>
            <a:chOff x="4999694" y="-1228030"/>
            <a:chExt cx="897050" cy="234014"/>
          </a:xfrm>
        </p:grpSpPr>
        <p:grpSp>
          <p:nvGrpSpPr>
            <p:cNvPr id="66" name="그룹 65"/>
            <p:cNvGrpSpPr/>
            <p:nvPr/>
          </p:nvGrpSpPr>
          <p:grpSpPr>
            <a:xfrm>
              <a:off x="4999694" y="-1193269"/>
              <a:ext cx="144000" cy="144000"/>
              <a:chOff x="4999694" y="-1193269"/>
              <a:chExt cx="144000" cy="144000"/>
            </a:xfrm>
          </p:grpSpPr>
          <p:sp>
            <p:nvSpPr>
              <p:cNvPr id="70" name="타원 69"/>
              <p:cNvSpPr/>
              <p:nvPr/>
            </p:nvSpPr>
            <p:spPr>
              <a:xfrm>
                <a:off x="4999694" y="-1193269"/>
                <a:ext cx="144000" cy="144000"/>
              </a:xfrm>
              <a:prstGeom prst="ellipse">
                <a:avLst/>
              </a:prstGeom>
              <a:solidFill>
                <a:schemeClr val="bg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71" name="타원 70"/>
              <p:cNvSpPr/>
              <p:nvPr/>
            </p:nvSpPr>
            <p:spPr>
              <a:xfrm>
                <a:off x="5024022" y="-1177206"/>
                <a:ext cx="108000" cy="108000"/>
              </a:xfrm>
              <a:prstGeom prst="ellipse">
                <a:avLst/>
              </a:prstGeom>
              <a:solidFill>
                <a:schemeClr val="tx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</p:grpSp>
        <p:sp>
          <p:nvSpPr>
            <p:cNvPr id="67" name="타원 66"/>
            <p:cNvSpPr/>
            <p:nvPr/>
          </p:nvSpPr>
          <p:spPr>
            <a:xfrm>
              <a:off x="5519468" y="-1195970"/>
              <a:ext cx="144000" cy="144000"/>
            </a:xfrm>
            <a:prstGeom prst="ellipse">
              <a:avLst/>
            </a:prstGeom>
            <a:solidFill>
              <a:schemeClr val="bg1">
                <a:alpha val="7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096030" y="-1228030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남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5596662" y="-1224848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여</a:t>
              </a:r>
            </a:p>
          </p:txBody>
        </p:sp>
      </p:grpSp>
      <p:grpSp>
        <p:nvGrpSpPr>
          <p:cNvPr id="72" name="그룹 71"/>
          <p:cNvGrpSpPr/>
          <p:nvPr/>
        </p:nvGrpSpPr>
        <p:grpSpPr>
          <a:xfrm>
            <a:off x="1072208" y="3549872"/>
            <a:ext cx="3087718" cy="252000"/>
            <a:chOff x="640160" y="-566622"/>
            <a:chExt cx="3087718" cy="252000"/>
          </a:xfrm>
        </p:grpSpPr>
        <p:sp>
          <p:nvSpPr>
            <p:cNvPr id="73" name="TextBox 72"/>
            <p:cNvSpPr txBox="1"/>
            <p:nvPr/>
          </p:nvSpPr>
          <p:spPr>
            <a:xfrm>
              <a:off x="640160" y="-556038"/>
              <a:ext cx="108555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신청인과의 관계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74" name="그룹 73"/>
            <p:cNvGrpSpPr/>
            <p:nvPr/>
          </p:nvGrpSpPr>
          <p:grpSpPr>
            <a:xfrm>
              <a:off x="2112152" y="-566622"/>
              <a:ext cx="1615726" cy="252000"/>
              <a:chOff x="2112152" y="-566622"/>
              <a:chExt cx="1615726" cy="252000"/>
            </a:xfrm>
          </p:grpSpPr>
          <p:sp>
            <p:nvSpPr>
              <p:cNvPr id="75" name="직사각형 74"/>
              <p:cNvSpPr/>
              <p:nvPr/>
            </p:nvSpPr>
            <p:spPr>
              <a:xfrm>
                <a:off x="2112152" y="-566622"/>
                <a:ext cx="1615726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76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2048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77" name="오른쪽 중괄호 76"/>
          <p:cNvSpPr/>
          <p:nvPr/>
        </p:nvSpPr>
        <p:spPr>
          <a:xfrm>
            <a:off x="7696904" y="2421682"/>
            <a:ext cx="313910" cy="180020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직사각형 77"/>
          <p:cNvSpPr/>
          <p:nvPr/>
        </p:nvSpPr>
        <p:spPr>
          <a:xfrm>
            <a:off x="8027715" y="3255581"/>
            <a:ext cx="2277567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방문고객이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‘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대리인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 경우만 영역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79" name="그룹 78"/>
          <p:cNvGrpSpPr/>
          <p:nvPr/>
        </p:nvGrpSpPr>
        <p:grpSpPr>
          <a:xfrm>
            <a:off x="1072208" y="1135970"/>
            <a:ext cx="9252000" cy="246221"/>
            <a:chOff x="1072208" y="1117425"/>
            <a:chExt cx="9252000" cy="246221"/>
          </a:xfrm>
        </p:grpSpPr>
        <p:sp>
          <p:nvSpPr>
            <p:cNvPr id="80" name="TextBox 79"/>
            <p:cNvSpPr txBox="1"/>
            <p:nvPr/>
          </p:nvSpPr>
          <p:spPr>
            <a:xfrm>
              <a:off x="1072208" y="1117425"/>
              <a:ext cx="13484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실사용자</a:t>
              </a:r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정보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82" name="직선 연결선 81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3" name="눈물 방울 82"/>
          <p:cNvSpPr/>
          <p:nvPr/>
        </p:nvSpPr>
        <p:spPr>
          <a:xfrm rot="5400000">
            <a:off x="932957" y="104876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9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1072208" y="1496066"/>
            <a:ext cx="5391974" cy="252000"/>
            <a:chOff x="640160" y="-566622"/>
            <a:chExt cx="5391974" cy="252000"/>
          </a:xfrm>
        </p:grpSpPr>
        <p:sp>
          <p:nvSpPr>
            <p:cNvPr id="85" name="TextBox 84"/>
            <p:cNvSpPr txBox="1"/>
            <p:nvPr/>
          </p:nvSpPr>
          <p:spPr>
            <a:xfrm>
              <a:off x="640160" y="-556038"/>
              <a:ext cx="97013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실사용자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이름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6" name="직사각형 85"/>
            <p:cNvSpPr/>
            <p:nvPr/>
          </p:nvSpPr>
          <p:spPr>
            <a:xfrm>
              <a:off x="2112151" y="-566622"/>
              <a:ext cx="3919983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이름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87" name="그룹 86"/>
          <p:cNvGrpSpPr/>
          <p:nvPr/>
        </p:nvGrpSpPr>
        <p:grpSpPr>
          <a:xfrm>
            <a:off x="1072208" y="1856106"/>
            <a:ext cx="5391974" cy="252000"/>
            <a:chOff x="640160" y="-566622"/>
            <a:chExt cx="5391974" cy="252000"/>
          </a:xfrm>
        </p:grpSpPr>
        <p:sp>
          <p:nvSpPr>
            <p:cNvPr id="88" name="TextBox 87"/>
            <p:cNvSpPr txBox="1"/>
            <p:nvPr/>
          </p:nvSpPr>
          <p:spPr>
            <a:xfrm>
              <a:off x="640160" y="-556038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생년월일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9" name="직사각형 88"/>
            <p:cNvSpPr/>
            <p:nvPr/>
          </p:nvSpPr>
          <p:spPr>
            <a:xfrm>
              <a:off x="2109197" y="-566622"/>
              <a:ext cx="3922937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8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(YYYYMMDD)</a:t>
              </a:r>
            </a:p>
          </p:txBody>
        </p:sp>
      </p:grpSp>
      <p:grpSp>
        <p:nvGrpSpPr>
          <p:cNvPr id="90" name="그룹 89"/>
          <p:cNvGrpSpPr/>
          <p:nvPr/>
        </p:nvGrpSpPr>
        <p:grpSpPr>
          <a:xfrm>
            <a:off x="6631509" y="1874036"/>
            <a:ext cx="897050" cy="234014"/>
            <a:chOff x="4999694" y="-1228030"/>
            <a:chExt cx="897050" cy="234014"/>
          </a:xfrm>
        </p:grpSpPr>
        <p:grpSp>
          <p:nvGrpSpPr>
            <p:cNvPr id="91" name="그룹 90"/>
            <p:cNvGrpSpPr/>
            <p:nvPr/>
          </p:nvGrpSpPr>
          <p:grpSpPr>
            <a:xfrm>
              <a:off x="4999694" y="-1193269"/>
              <a:ext cx="144000" cy="144000"/>
              <a:chOff x="4999694" y="-1193269"/>
              <a:chExt cx="144000" cy="144000"/>
            </a:xfrm>
          </p:grpSpPr>
          <p:sp>
            <p:nvSpPr>
              <p:cNvPr id="95" name="타원 94"/>
              <p:cNvSpPr/>
              <p:nvPr/>
            </p:nvSpPr>
            <p:spPr>
              <a:xfrm>
                <a:off x="4999694" y="-1193269"/>
                <a:ext cx="144000" cy="144000"/>
              </a:xfrm>
              <a:prstGeom prst="ellipse">
                <a:avLst/>
              </a:prstGeom>
              <a:solidFill>
                <a:schemeClr val="bg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  <p:sp>
            <p:nvSpPr>
              <p:cNvPr id="99" name="타원 98"/>
              <p:cNvSpPr/>
              <p:nvPr/>
            </p:nvSpPr>
            <p:spPr>
              <a:xfrm>
                <a:off x="5024022" y="-1177206"/>
                <a:ext cx="108000" cy="108000"/>
              </a:xfrm>
              <a:prstGeom prst="ellipse">
                <a:avLst/>
              </a:prstGeom>
              <a:solidFill>
                <a:schemeClr val="tx1">
                  <a:alpha val="75000"/>
                </a:schemeClr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800" b="1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</p:txBody>
          </p:sp>
        </p:grpSp>
        <p:sp>
          <p:nvSpPr>
            <p:cNvPr id="92" name="타원 91"/>
            <p:cNvSpPr/>
            <p:nvPr/>
          </p:nvSpPr>
          <p:spPr>
            <a:xfrm>
              <a:off x="5519468" y="-1195970"/>
              <a:ext cx="144000" cy="144000"/>
            </a:xfrm>
            <a:prstGeom prst="ellipse">
              <a:avLst/>
            </a:prstGeom>
            <a:solidFill>
              <a:schemeClr val="bg1">
                <a:alpha val="7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800" b="1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5096030" y="-1228030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남</a:t>
              </a:r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5596662" y="-1224848"/>
              <a:ext cx="30008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여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519893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Box 121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S103010101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31" name="직사각형 130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 smtClean="0">
                <a:latin typeface="+mn-ea"/>
                <a:ea typeface="+mn-ea"/>
              </a:rPr>
              <a:t>(</a:t>
            </a:r>
            <a:r>
              <a:rPr lang="ko-KR" altLang="en-US" sz="1000" dirty="0" smtClean="0">
                <a:latin typeface="+mn-ea"/>
                <a:ea typeface="+mn-ea"/>
              </a:rPr>
              <a:t>양수고객</a:t>
            </a:r>
            <a:r>
              <a:rPr lang="en-US" altLang="ko-KR" sz="1000" dirty="0" smtClean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50" name="눈물 방울 49"/>
          <p:cNvSpPr/>
          <p:nvPr/>
        </p:nvSpPr>
        <p:spPr>
          <a:xfrm rot="5400000">
            <a:off x="356894" y="2582770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970931" y="2545106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신분증 스캔 선택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86" name="그룹 85"/>
          <p:cNvGrpSpPr/>
          <p:nvPr/>
        </p:nvGrpSpPr>
        <p:grpSpPr>
          <a:xfrm>
            <a:off x="712168" y="2863335"/>
            <a:ext cx="3928878" cy="1800200"/>
            <a:chOff x="-36790" y="4763928"/>
            <a:chExt cx="3928878" cy="1800200"/>
          </a:xfrm>
        </p:grpSpPr>
        <p:sp>
          <p:nvSpPr>
            <p:cNvPr id="87" name="TextBox 86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88" name="그룹 87"/>
            <p:cNvGrpSpPr/>
            <p:nvPr/>
          </p:nvGrpSpPr>
          <p:grpSpPr>
            <a:xfrm>
              <a:off x="1425710" y="4763928"/>
              <a:ext cx="2466378" cy="1800200"/>
              <a:chOff x="1768498" y="-566622"/>
              <a:chExt cx="2466378" cy="1800200"/>
            </a:xfrm>
          </p:grpSpPr>
          <p:sp>
            <p:nvSpPr>
              <p:cNvPr id="89" name="직사각형 88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선택해 주세요</a:t>
                </a:r>
                <a:r>
                  <a:rPr lang="en-US" altLang="ko-KR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.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90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93" name="직사각형 92"/>
              <p:cNvSpPr/>
              <p:nvPr/>
            </p:nvSpPr>
            <p:spPr>
              <a:xfrm>
                <a:off x="1768498" y="-314566"/>
                <a:ext cx="2459840" cy="1548144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72000" rIns="0" bIns="72000" rtlCol="0" anchor="t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주민등록증</a:t>
                </a:r>
                <a:endPara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운전면허증</a:t>
                </a:r>
                <a:endPara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국내여권</a:t>
                </a:r>
                <a:endPara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외국인등록증</a:t>
                </a:r>
                <a:endPara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  <a:p>
                <a:pPr>
                  <a:spcBef>
                    <a:spcPct val="50000"/>
                  </a:spcBef>
                </a:pPr>
                <a:r>
                  <a:rPr lang="ko-KR" altLang="en-US" sz="900" dirty="0" err="1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영주증</a:t>
                </a:r>
                <a:endPara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  <a:p>
                <a:pPr>
                  <a:spcBef>
                    <a:spcPct val="50000"/>
                  </a:spcBef>
                </a:pPr>
                <a:r>
                  <a:rPr lang="ko-KR" altLang="en-US" sz="900" dirty="0" err="1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국내거소신고증</a:t>
                </a:r>
                <a:endPara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  <a:p>
                <a:pPr>
                  <a:spcBef>
                    <a:spcPct val="50000"/>
                  </a:spcBef>
                </a:pPr>
                <a:r>
                  <a:rPr lang="ko-KR" altLang="en-US" sz="9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국가보훈증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</p:grpSp>
      </p:grpSp>
      <p:sp>
        <p:nvSpPr>
          <p:cNvPr id="94" name="눈물 방울 93"/>
          <p:cNvSpPr/>
          <p:nvPr/>
        </p:nvSpPr>
        <p:spPr>
          <a:xfrm rot="5400000">
            <a:off x="5712764" y="287080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5" name="직사각형 94"/>
          <p:cNvSpPr/>
          <p:nvPr/>
        </p:nvSpPr>
        <p:spPr>
          <a:xfrm>
            <a:off x="4744616" y="2863335"/>
            <a:ext cx="90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97" name="그룹 96"/>
          <p:cNvGrpSpPr/>
          <p:nvPr/>
        </p:nvGrpSpPr>
        <p:grpSpPr>
          <a:xfrm>
            <a:off x="705630" y="5500987"/>
            <a:ext cx="3928878" cy="252000"/>
            <a:chOff x="-36790" y="4763928"/>
            <a:chExt cx="3928878" cy="252000"/>
          </a:xfrm>
        </p:grpSpPr>
        <p:sp>
          <p:nvSpPr>
            <p:cNvPr id="100" name="TextBox 99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02" name="그룹 101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05" name="직사각형 104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운전면허증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06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07" name="눈물 방울 106"/>
          <p:cNvSpPr/>
          <p:nvPr/>
        </p:nvSpPr>
        <p:spPr>
          <a:xfrm rot="5400000">
            <a:off x="5681649" y="550845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8" name="직사각형 107"/>
          <p:cNvSpPr/>
          <p:nvPr/>
        </p:nvSpPr>
        <p:spPr>
          <a:xfrm>
            <a:off x="4713501" y="5500987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9" name="직사각형 108"/>
          <p:cNvSpPr/>
          <p:nvPr/>
        </p:nvSpPr>
        <p:spPr>
          <a:xfrm>
            <a:off x="5419712" y="5821533"/>
            <a:ext cx="18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발급 일자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(YYYY.MM.DD)</a:t>
            </a:r>
          </a:p>
        </p:txBody>
      </p:sp>
      <p:pic>
        <p:nvPicPr>
          <p:cNvPr id="11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7937" y="5854267"/>
            <a:ext cx="196097" cy="1865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12" name="직사각형 111"/>
          <p:cNvSpPr/>
          <p:nvPr/>
        </p:nvSpPr>
        <p:spPr>
          <a:xfrm>
            <a:off x="2168650" y="5810949"/>
            <a:ext cx="18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면허번호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15" name="그룹 114"/>
          <p:cNvGrpSpPr/>
          <p:nvPr/>
        </p:nvGrpSpPr>
        <p:grpSpPr>
          <a:xfrm>
            <a:off x="4103766" y="5825051"/>
            <a:ext cx="1229920" cy="252000"/>
            <a:chOff x="1775036" y="-566622"/>
            <a:chExt cx="1229920" cy="252000"/>
          </a:xfrm>
        </p:grpSpPr>
        <p:sp>
          <p:nvSpPr>
            <p:cNvPr id="116" name="직사각형 115"/>
            <p:cNvSpPr/>
            <p:nvPr/>
          </p:nvSpPr>
          <p:spPr>
            <a:xfrm>
              <a:off x="1775036" y="-566622"/>
              <a:ext cx="122992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면허지역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pic>
          <p:nvPicPr>
            <p:cNvPr id="117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48232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118" name="그룹 117"/>
          <p:cNvGrpSpPr/>
          <p:nvPr/>
        </p:nvGrpSpPr>
        <p:grpSpPr>
          <a:xfrm>
            <a:off x="705630" y="4804795"/>
            <a:ext cx="3928878" cy="252000"/>
            <a:chOff x="-36790" y="4763928"/>
            <a:chExt cx="3928878" cy="252000"/>
          </a:xfrm>
        </p:grpSpPr>
        <p:sp>
          <p:nvSpPr>
            <p:cNvPr id="119" name="TextBox 118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20" name="그룹 119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21" name="직사각형 120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주민등록증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23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24" name="눈물 방울 123"/>
          <p:cNvSpPr/>
          <p:nvPr/>
        </p:nvSpPr>
        <p:spPr>
          <a:xfrm rot="5400000">
            <a:off x="5681649" y="481226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7" name="직사각형 126"/>
          <p:cNvSpPr/>
          <p:nvPr/>
        </p:nvSpPr>
        <p:spPr>
          <a:xfrm>
            <a:off x="4713501" y="4804795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28" name="그룹 127"/>
          <p:cNvGrpSpPr/>
          <p:nvPr/>
        </p:nvGrpSpPr>
        <p:grpSpPr>
          <a:xfrm>
            <a:off x="2174668" y="5104971"/>
            <a:ext cx="1800000" cy="252000"/>
            <a:chOff x="8355718" y="5478532"/>
            <a:chExt cx="1800000" cy="252000"/>
          </a:xfrm>
        </p:grpSpPr>
        <p:sp>
          <p:nvSpPr>
            <p:cNvPr id="129" name="직사각형 128"/>
            <p:cNvSpPr/>
            <p:nvPr/>
          </p:nvSpPr>
          <p:spPr>
            <a:xfrm>
              <a:off x="8355718" y="547853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발급 일자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(YYYY.MM.DD)</a:t>
              </a:r>
            </a:p>
          </p:txBody>
        </p:sp>
        <p:pic>
          <p:nvPicPr>
            <p:cNvPr id="130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33943" y="5511266"/>
              <a:ext cx="196097" cy="1865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145" name="그룹 144"/>
          <p:cNvGrpSpPr/>
          <p:nvPr/>
        </p:nvGrpSpPr>
        <p:grpSpPr>
          <a:xfrm>
            <a:off x="705630" y="6202130"/>
            <a:ext cx="3928878" cy="252000"/>
            <a:chOff x="-36790" y="4763928"/>
            <a:chExt cx="3928878" cy="252000"/>
          </a:xfrm>
        </p:grpSpPr>
        <p:sp>
          <p:nvSpPr>
            <p:cNvPr id="146" name="TextBox 145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47" name="그룹 146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48" name="직사각형 147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국내여권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49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50" name="눈물 방울 149"/>
          <p:cNvSpPr/>
          <p:nvPr/>
        </p:nvSpPr>
        <p:spPr>
          <a:xfrm rot="5400000">
            <a:off x="5681649" y="620959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51" name="직사각형 150"/>
          <p:cNvSpPr/>
          <p:nvPr/>
        </p:nvSpPr>
        <p:spPr>
          <a:xfrm>
            <a:off x="4713501" y="6202130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52" name="그룹 151"/>
          <p:cNvGrpSpPr/>
          <p:nvPr/>
        </p:nvGrpSpPr>
        <p:grpSpPr>
          <a:xfrm>
            <a:off x="2174668" y="6490162"/>
            <a:ext cx="1800000" cy="252000"/>
            <a:chOff x="8355718" y="5478532"/>
            <a:chExt cx="1800000" cy="252000"/>
          </a:xfrm>
        </p:grpSpPr>
        <p:sp>
          <p:nvSpPr>
            <p:cNvPr id="153" name="직사각형 152"/>
            <p:cNvSpPr/>
            <p:nvPr/>
          </p:nvSpPr>
          <p:spPr>
            <a:xfrm>
              <a:off x="8355718" y="547853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발급 일자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(YYYY.MM.DD)</a:t>
              </a:r>
            </a:p>
          </p:txBody>
        </p:sp>
        <p:pic>
          <p:nvPicPr>
            <p:cNvPr id="154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33943" y="5511266"/>
              <a:ext cx="196097" cy="1865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155" name="그룹 154"/>
          <p:cNvGrpSpPr/>
          <p:nvPr/>
        </p:nvGrpSpPr>
        <p:grpSpPr>
          <a:xfrm>
            <a:off x="6201098" y="3513240"/>
            <a:ext cx="3928878" cy="252000"/>
            <a:chOff x="-36790" y="4763928"/>
            <a:chExt cx="3928878" cy="252000"/>
          </a:xfrm>
        </p:grpSpPr>
        <p:sp>
          <p:nvSpPr>
            <p:cNvPr id="156" name="TextBox 155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57" name="그룹 156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58" name="직사각형 157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err="1" smtClean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영주증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59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60" name="눈물 방울 159"/>
          <p:cNvSpPr/>
          <p:nvPr/>
        </p:nvSpPr>
        <p:spPr>
          <a:xfrm rot="5400000">
            <a:off x="11177117" y="352070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61" name="직사각형 160"/>
          <p:cNvSpPr/>
          <p:nvPr/>
        </p:nvSpPr>
        <p:spPr>
          <a:xfrm>
            <a:off x="10208969" y="3513240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62" name="그룹 161"/>
          <p:cNvGrpSpPr/>
          <p:nvPr/>
        </p:nvGrpSpPr>
        <p:grpSpPr>
          <a:xfrm>
            <a:off x="7670136" y="3801272"/>
            <a:ext cx="1800000" cy="252000"/>
            <a:chOff x="8355718" y="5478532"/>
            <a:chExt cx="1800000" cy="252000"/>
          </a:xfrm>
        </p:grpSpPr>
        <p:sp>
          <p:nvSpPr>
            <p:cNvPr id="163" name="직사각형 162"/>
            <p:cNvSpPr/>
            <p:nvPr/>
          </p:nvSpPr>
          <p:spPr>
            <a:xfrm>
              <a:off x="8355718" y="547853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발급 일자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(YYYY.MM.DD)</a:t>
              </a:r>
            </a:p>
          </p:txBody>
        </p:sp>
        <p:pic>
          <p:nvPicPr>
            <p:cNvPr id="164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33943" y="5511266"/>
              <a:ext cx="196097" cy="1865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165" name="그룹 164"/>
          <p:cNvGrpSpPr/>
          <p:nvPr/>
        </p:nvGrpSpPr>
        <p:grpSpPr>
          <a:xfrm>
            <a:off x="6201098" y="4125280"/>
            <a:ext cx="3928878" cy="252000"/>
            <a:chOff x="-36790" y="4763928"/>
            <a:chExt cx="3928878" cy="252000"/>
          </a:xfrm>
        </p:grpSpPr>
        <p:sp>
          <p:nvSpPr>
            <p:cNvPr id="166" name="TextBox 165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67" name="그룹 166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68" name="직사각형 167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국내거소신고증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69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70" name="눈물 방울 169"/>
          <p:cNvSpPr/>
          <p:nvPr/>
        </p:nvSpPr>
        <p:spPr>
          <a:xfrm rot="5400000">
            <a:off x="11177117" y="413274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71" name="직사각형 170"/>
          <p:cNvSpPr/>
          <p:nvPr/>
        </p:nvSpPr>
        <p:spPr>
          <a:xfrm>
            <a:off x="10208969" y="4125280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72" name="그룹 171"/>
          <p:cNvGrpSpPr/>
          <p:nvPr/>
        </p:nvGrpSpPr>
        <p:grpSpPr>
          <a:xfrm>
            <a:off x="7670136" y="4413312"/>
            <a:ext cx="1800000" cy="252000"/>
            <a:chOff x="8355718" y="5478532"/>
            <a:chExt cx="1800000" cy="252000"/>
          </a:xfrm>
        </p:grpSpPr>
        <p:sp>
          <p:nvSpPr>
            <p:cNvPr id="173" name="직사각형 172"/>
            <p:cNvSpPr/>
            <p:nvPr/>
          </p:nvSpPr>
          <p:spPr>
            <a:xfrm>
              <a:off x="8355718" y="547853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발급 일자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(YYYY.MM.DD)</a:t>
              </a:r>
            </a:p>
          </p:txBody>
        </p:sp>
        <p:pic>
          <p:nvPicPr>
            <p:cNvPr id="174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33943" y="5511266"/>
              <a:ext cx="196097" cy="1865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175" name="그룹 174"/>
          <p:cNvGrpSpPr/>
          <p:nvPr/>
        </p:nvGrpSpPr>
        <p:grpSpPr>
          <a:xfrm>
            <a:off x="6201098" y="4737376"/>
            <a:ext cx="3928878" cy="252000"/>
            <a:chOff x="-36790" y="4763928"/>
            <a:chExt cx="3928878" cy="252000"/>
          </a:xfrm>
        </p:grpSpPr>
        <p:sp>
          <p:nvSpPr>
            <p:cNvPr id="176" name="TextBox 175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77" name="그룹 176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78" name="직사각형 177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국가보훈증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79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80" name="눈물 방울 179"/>
          <p:cNvSpPr/>
          <p:nvPr/>
        </p:nvSpPr>
        <p:spPr>
          <a:xfrm rot="5400000">
            <a:off x="11177117" y="474484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81" name="직사각형 180"/>
          <p:cNvSpPr/>
          <p:nvPr/>
        </p:nvSpPr>
        <p:spPr>
          <a:xfrm>
            <a:off x="10208969" y="4737376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82" name="그룹 181"/>
          <p:cNvGrpSpPr/>
          <p:nvPr/>
        </p:nvGrpSpPr>
        <p:grpSpPr>
          <a:xfrm>
            <a:off x="7670136" y="5025408"/>
            <a:ext cx="1800000" cy="252000"/>
            <a:chOff x="8355718" y="5478532"/>
            <a:chExt cx="1800000" cy="252000"/>
          </a:xfrm>
        </p:grpSpPr>
        <p:sp>
          <p:nvSpPr>
            <p:cNvPr id="183" name="직사각형 182"/>
            <p:cNvSpPr/>
            <p:nvPr/>
          </p:nvSpPr>
          <p:spPr>
            <a:xfrm>
              <a:off x="8355718" y="547853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발급 일자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(YYYY.MM.DD)</a:t>
              </a:r>
            </a:p>
          </p:txBody>
        </p:sp>
        <p:pic>
          <p:nvPicPr>
            <p:cNvPr id="184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33943" y="5511266"/>
              <a:ext cx="196097" cy="1865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125" name="그룹 124"/>
          <p:cNvGrpSpPr/>
          <p:nvPr/>
        </p:nvGrpSpPr>
        <p:grpSpPr>
          <a:xfrm>
            <a:off x="6201098" y="2901144"/>
            <a:ext cx="3928878" cy="252000"/>
            <a:chOff x="-36790" y="4763928"/>
            <a:chExt cx="3928878" cy="252000"/>
          </a:xfrm>
        </p:grpSpPr>
        <p:sp>
          <p:nvSpPr>
            <p:cNvPr id="126" name="TextBox 125"/>
            <p:cNvSpPr txBox="1"/>
            <p:nvPr/>
          </p:nvSpPr>
          <p:spPr>
            <a:xfrm>
              <a:off x="-36790" y="4772554"/>
              <a:ext cx="85472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신분증 스캔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85" name="그룹 184"/>
            <p:cNvGrpSpPr/>
            <p:nvPr/>
          </p:nvGrpSpPr>
          <p:grpSpPr>
            <a:xfrm>
              <a:off x="1432248" y="4763928"/>
              <a:ext cx="2459840" cy="252000"/>
              <a:chOff x="1775036" y="-566622"/>
              <a:chExt cx="2459840" cy="252000"/>
            </a:xfrm>
          </p:grpSpPr>
          <p:sp>
            <p:nvSpPr>
              <p:cNvPr id="186" name="직사각형 185"/>
              <p:cNvSpPr/>
              <p:nvPr/>
            </p:nvSpPr>
            <p:spPr>
              <a:xfrm>
                <a:off x="1775036" y="-566622"/>
                <a:ext cx="245984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외국인등록증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87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14430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88" name="눈물 방울 187"/>
          <p:cNvSpPr/>
          <p:nvPr/>
        </p:nvSpPr>
        <p:spPr>
          <a:xfrm rot="5400000">
            <a:off x="11177117" y="290861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89" name="직사각형 188"/>
          <p:cNvSpPr/>
          <p:nvPr/>
        </p:nvSpPr>
        <p:spPr>
          <a:xfrm>
            <a:off x="10208969" y="2901144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90" name="그룹 189"/>
          <p:cNvGrpSpPr/>
          <p:nvPr/>
        </p:nvGrpSpPr>
        <p:grpSpPr>
          <a:xfrm>
            <a:off x="7698226" y="3201264"/>
            <a:ext cx="1800000" cy="252000"/>
            <a:chOff x="2978346" y="4761970"/>
            <a:chExt cx="1800000" cy="252000"/>
          </a:xfrm>
        </p:grpSpPr>
        <p:sp>
          <p:nvSpPr>
            <p:cNvPr id="191" name="직사각형 190"/>
            <p:cNvSpPr/>
            <p:nvPr/>
          </p:nvSpPr>
          <p:spPr>
            <a:xfrm>
              <a:off x="2978346" y="4761970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발급 일자 </a:t>
              </a: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(YYYY.MM.DD)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pic>
          <p:nvPicPr>
            <p:cNvPr id="192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79774" y="4797914"/>
              <a:ext cx="196097" cy="1865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111" name="눈물 방울 110"/>
          <p:cNvSpPr/>
          <p:nvPr/>
        </p:nvSpPr>
        <p:spPr>
          <a:xfrm rot="5400000">
            <a:off x="404325" y="96962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13" name="직사각형 112"/>
          <p:cNvSpPr/>
          <p:nvPr/>
        </p:nvSpPr>
        <p:spPr>
          <a:xfrm>
            <a:off x="1018362" y="931963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신분증 선택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14" name="그룹 113"/>
          <p:cNvGrpSpPr/>
          <p:nvPr/>
        </p:nvGrpSpPr>
        <p:grpSpPr>
          <a:xfrm>
            <a:off x="1104388" y="1682240"/>
            <a:ext cx="5256790" cy="252000"/>
            <a:chOff x="640160" y="-566622"/>
            <a:chExt cx="5256790" cy="252000"/>
          </a:xfrm>
        </p:grpSpPr>
        <p:sp>
          <p:nvSpPr>
            <p:cNvPr id="132" name="직사각형 131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신분증 목록 조회</a:t>
              </a:r>
            </a:p>
          </p:txBody>
        </p:sp>
        <p:sp>
          <p:nvSpPr>
            <p:cNvPr id="134" name="TextBox 133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신분증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5" name="직사각형 134"/>
            <p:cNvSpPr/>
            <p:nvPr/>
          </p:nvSpPr>
          <p:spPr>
            <a:xfrm>
              <a:off x="324970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모바일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신분증</a:t>
              </a:r>
            </a:p>
          </p:txBody>
        </p:sp>
        <p:sp>
          <p:nvSpPr>
            <p:cNvPr id="136" name="직사각형 135"/>
            <p:cNvSpPr/>
            <p:nvPr/>
          </p:nvSpPr>
          <p:spPr>
            <a:xfrm>
              <a:off x="4401708" y="-566622"/>
              <a:ext cx="70503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안면인증</a:t>
              </a:r>
            </a:p>
          </p:txBody>
        </p:sp>
        <p:sp>
          <p:nvSpPr>
            <p:cNvPr id="137" name="직사각형 136"/>
            <p:cNvSpPr/>
            <p:nvPr/>
          </p:nvSpPr>
          <p:spPr>
            <a:xfrm>
              <a:off x="5191915" y="-566622"/>
              <a:ext cx="70503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 예외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38" name="눈물 방울 137"/>
          <p:cNvSpPr/>
          <p:nvPr/>
        </p:nvSpPr>
        <p:spPr>
          <a:xfrm rot="5400000">
            <a:off x="7488387" y="168970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9" name="직사각형 138"/>
          <p:cNvSpPr/>
          <p:nvPr/>
        </p:nvSpPr>
        <p:spPr>
          <a:xfrm>
            <a:off x="6520239" y="1682240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조회</a:t>
            </a:r>
            <a:r>
              <a:rPr lang="en-US" altLang="ko-KR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40" name="그룹 139"/>
          <p:cNvGrpSpPr/>
          <p:nvPr/>
        </p:nvGrpSpPr>
        <p:grpSpPr>
          <a:xfrm>
            <a:off x="1104388" y="1286168"/>
            <a:ext cx="5256790" cy="252056"/>
            <a:chOff x="640160" y="-566678"/>
            <a:chExt cx="5256790" cy="252056"/>
          </a:xfrm>
        </p:grpSpPr>
        <p:sp>
          <p:nvSpPr>
            <p:cNvPr id="141" name="직사각형 140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신분증 목록 조회</a:t>
              </a:r>
            </a:p>
          </p:txBody>
        </p:sp>
        <p:sp>
          <p:nvSpPr>
            <p:cNvPr id="142" name="TextBox 141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신분증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3" name="직사각형 142"/>
            <p:cNvSpPr/>
            <p:nvPr/>
          </p:nvSpPr>
          <p:spPr>
            <a:xfrm>
              <a:off x="324970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모바일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 신분증</a:t>
              </a:r>
            </a:p>
          </p:txBody>
        </p:sp>
        <p:sp>
          <p:nvSpPr>
            <p:cNvPr id="144" name="직사각형 143"/>
            <p:cNvSpPr/>
            <p:nvPr/>
          </p:nvSpPr>
          <p:spPr>
            <a:xfrm>
              <a:off x="4401708" y="-566622"/>
              <a:ext cx="70503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안면인증</a:t>
              </a:r>
            </a:p>
          </p:txBody>
        </p:sp>
        <p:sp>
          <p:nvSpPr>
            <p:cNvPr id="193" name="직사각형 192"/>
            <p:cNvSpPr/>
            <p:nvPr/>
          </p:nvSpPr>
          <p:spPr>
            <a:xfrm>
              <a:off x="5191915" y="-566678"/>
              <a:ext cx="70503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 예외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94" name="눈물 방울 193"/>
          <p:cNvSpPr/>
          <p:nvPr/>
        </p:nvSpPr>
        <p:spPr>
          <a:xfrm rot="5400000">
            <a:off x="7488387" y="129369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95" name="직사각형 194"/>
          <p:cNvSpPr/>
          <p:nvPr/>
        </p:nvSpPr>
        <p:spPr>
          <a:xfrm>
            <a:off x="6520239" y="1286224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조회</a:t>
            </a:r>
            <a:r>
              <a:rPr lang="en-US" altLang="ko-KR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1000" b="1" dirty="0" smtClean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인증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196" name="그룹 195"/>
          <p:cNvGrpSpPr/>
          <p:nvPr/>
        </p:nvGrpSpPr>
        <p:grpSpPr>
          <a:xfrm>
            <a:off x="1098861" y="2061642"/>
            <a:ext cx="5256790" cy="252000"/>
            <a:chOff x="640160" y="-566622"/>
            <a:chExt cx="5256790" cy="252000"/>
          </a:xfrm>
        </p:grpSpPr>
        <p:sp>
          <p:nvSpPr>
            <p:cNvPr id="197" name="직사각형 196"/>
            <p:cNvSpPr/>
            <p:nvPr/>
          </p:nvSpPr>
          <p:spPr>
            <a:xfrm>
              <a:off x="212657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신분증 목록 조회</a:t>
              </a:r>
            </a:p>
          </p:txBody>
        </p:sp>
        <p:sp>
          <p:nvSpPr>
            <p:cNvPr id="198" name="TextBox 197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신분증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9" name="직사각형 198"/>
            <p:cNvSpPr/>
            <p:nvPr/>
          </p:nvSpPr>
          <p:spPr>
            <a:xfrm>
              <a:off x="3249700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모바일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신분증</a:t>
              </a:r>
            </a:p>
          </p:txBody>
        </p:sp>
        <p:sp>
          <p:nvSpPr>
            <p:cNvPr id="200" name="직사각형 199"/>
            <p:cNvSpPr/>
            <p:nvPr/>
          </p:nvSpPr>
          <p:spPr>
            <a:xfrm>
              <a:off x="4401708" y="-566622"/>
              <a:ext cx="70503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안면인증</a:t>
              </a:r>
            </a:p>
          </p:txBody>
        </p:sp>
        <p:sp>
          <p:nvSpPr>
            <p:cNvPr id="201" name="직사각형 200"/>
            <p:cNvSpPr/>
            <p:nvPr/>
          </p:nvSpPr>
          <p:spPr>
            <a:xfrm>
              <a:off x="5191915" y="-566622"/>
              <a:ext cx="705035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인증 예외</a:t>
              </a:r>
            </a:p>
          </p:txBody>
        </p:sp>
      </p:grpSp>
      <p:graphicFrame>
        <p:nvGraphicFramePr>
          <p:cNvPr id="202" name="표 2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0804239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인증 예외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1786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직사각형 38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grpSp>
        <p:nvGrpSpPr>
          <p:cNvPr id="61" name="그룹 60"/>
          <p:cNvGrpSpPr/>
          <p:nvPr/>
        </p:nvGrpSpPr>
        <p:grpSpPr>
          <a:xfrm>
            <a:off x="1107206" y="1267596"/>
            <a:ext cx="5405041" cy="252000"/>
            <a:chOff x="424136" y="-566622"/>
            <a:chExt cx="5405041" cy="252000"/>
          </a:xfrm>
        </p:grpSpPr>
        <p:sp>
          <p:nvSpPr>
            <p:cNvPr id="62" name="TextBox 61"/>
            <p:cNvSpPr txBox="1"/>
            <p:nvPr/>
          </p:nvSpPr>
          <p:spPr>
            <a:xfrm>
              <a:off x="424136" y="-556038"/>
              <a:ext cx="10534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3" name="직사각형 62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6" name="직사각형 65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2222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80" name="눈물 방울 79"/>
          <p:cNvSpPr/>
          <p:nvPr/>
        </p:nvSpPr>
        <p:spPr>
          <a:xfrm rot="5400000">
            <a:off x="7629702" y="127876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1" name="직사각형 90"/>
          <p:cNvSpPr/>
          <p:nvPr/>
        </p:nvSpPr>
        <p:spPr>
          <a:xfrm>
            <a:off x="6590987" y="1269554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인증번호 발송</a:t>
            </a:r>
            <a:endParaRPr lang="ko-KR" altLang="en-US" sz="1000" b="1" dirty="0">
              <a:solidFill>
                <a:srgbClr val="00808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92" name="그룹 91"/>
          <p:cNvGrpSpPr/>
          <p:nvPr/>
        </p:nvGrpSpPr>
        <p:grpSpPr>
          <a:xfrm>
            <a:off x="1113897" y="4039932"/>
            <a:ext cx="5405041" cy="252000"/>
            <a:chOff x="424136" y="-566622"/>
            <a:chExt cx="5405041" cy="252000"/>
          </a:xfrm>
        </p:grpSpPr>
        <p:sp>
          <p:nvSpPr>
            <p:cNvPr id="93" name="TextBox 92"/>
            <p:cNvSpPr txBox="1"/>
            <p:nvPr/>
          </p:nvSpPr>
          <p:spPr>
            <a:xfrm>
              <a:off x="424136" y="-556038"/>
              <a:ext cx="10534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95" name="직사각형 94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7" name="직사각형 96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2222</a:t>
              </a:r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9" name="눈물 방울 98"/>
          <p:cNvSpPr/>
          <p:nvPr/>
        </p:nvSpPr>
        <p:spPr>
          <a:xfrm rot="5400000">
            <a:off x="7399127" y="405110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0" name="직사각형 99"/>
          <p:cNvSpPr/>
          <p:nvPr/>
        </p:nvSpPr>
        <p:spPr>
          <a:xfrm>
            <a:off x="6597678" y="4041890"/>
            <a:ext cx="72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 완료</a:t>
            </a:r>
          </a:p>
        </p:txBody>
      </p:sp>
      <p:sp>
        <p:nvSpPr>
          <p:cNvPr id="101" name="직사각형 100"/>
          <p:cNvSpPr/>
          <p:nvPr/>
        </p:nvSpPr>
        <p:spPr>
          <a:xfrm>
            <a:off x="928192" y="981522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활성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02" name="직사각형 101"/>
          <p:cNvSpPr/>
          <p:nvPr/>
        </p:nvSpPr>
        <p:spPr>
          <a:xfrm>
            <a:off x="928192" y="3759637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aphicFrame>
        <p:nvGraphicFramePr>
          <p:cNvPr id="103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2591846"/>
              </p:ext>
            </p:extLst>
          </p:nvPr>
        </p:nvGraphicFramePr>
        <p:xfrm>
          <a:off x="10505256" y="788950"/>
          <a:ext cx="2130330" cy="650879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B4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 확인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해당 영역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비노출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남은 시간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카운팅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3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 기준으로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카운팅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시작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SMS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 확인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SMS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전산 모듈 이용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B4-1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재발송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신청인과의 관계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주민등록번호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연락처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재발송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이후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남은 시간 다시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카운팅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3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 기준으로 처음부터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카운팅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시작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SMS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SMS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전산 모듈 이용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B4-2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 확인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인증번호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신청인과의 관계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주민등록번호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연락처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SMS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SMS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전산 모듈 이용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4" name="직사각형 103"/>
          <p:cNvSpPr/>
          <p:nvPr/>
        </p:nvSpPr>
        <p:spPr>
          <a:xfrm>
            <a:off x="928192" y="1701602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[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인증번호 발송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]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클릭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05" name="그룹 104"/>
          <p:cNvGrpSpPr/>
          <p:nvPr/>
        </p:nvGrpSpPr>
        <p:grpSpPr>
          <a:xfrm>
            <a:off x="1107206" y="1989634"/>
            <a:ext cx="5405041" cy="252000"/>
            <a:chOff x="424136" y="-566622"/>
            <a:chExt cx="5405041" cy="252000"/>
          </a:xfrm>
        </p:grpSpPr>
        <p:sp>
          <p:nvSpPr>
            <p:cNvPr id="106" name="TextBox 105"/>
            <p:cNvSpPr txBox="1"/>
            <p:nvPr/>
          </p:nvSpPr>
          <p:spPr>
            <a:xfrm>
              <a:off x="424136" y="-556038"/>
              <a:ext cx="10534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7" name="직사각형 106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110" name="직사각형 109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2" name="직사각형 111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2222</a:t>
              </a:r>
            </a:p>
          </p:txBody>
        </p:sp>
        <p:sp>
          <p:nvSpPr>
            <p:cNvPr id="121" name="TextBox 120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24" name="눈물 방울 123"/>
          <p:cNvSpPr/>
          <p:nvPr/>
        </p:nvSpPr>
        <p:spPr>
          <a:xfrm rot="5400000">
            <a:off x="7696976" y="1969570"/>
            <a:ext cx="252000" cy="324000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B4-1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7" name="직사각형 126"/>
          <p:cNvSpPr/>
          <p:nvPr/>
        </p:nvSpPr>
        <p:spPr>
          <a:xfrm>
            <a:off x="6590986" y="1991592"/>
            <a:ext cx="1016698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인증번호 </a:t>
            </a:r>
            <a:r>
              <a:rPr lang="ko-KR" altLang="en-US" sz="1000" b="1" dirty="0" err="1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재발송</a:t>
            </a:r>
            <a:endParaRPr lang="ko-KR" altLang="en-US" sz="1000" b="1" dirty="0">
              <a:solidFill>
                <a:srgbClr val="00808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8" name="제목 1"/>
          <p:cNvSpPr txBox="1">
            <a:spLocks/>
          </p:cNvSpPr>
          <p:nvPr/>
        </p:nvSpPr>
        <p:spPr bwMode="auto">
          <a:xfrm>
            <a:off x="3808512" y="2279624"/>
            <a:ext cx="1074374" cy="3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lang="ko-KR" altLang="en-US" sz="1600" b="1" kern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4572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9144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13716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18288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r>
              <a:rPr lang="ko-KR" altLang="en-US" sz="1000" dirty="0" err="1">
                <a:solidFill>
                  <a:schemeClr val="bg1">
                    <a:lumMod val="50000"/>
                  </a:schemeClr>
                </a:solidFill>
              </a:rPr>
              <a:t>남은시간</a:t>
            </a:r>
            <a:r>
              <a:rPr lang="ko-KR" altLang="en-US" sz="10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ko-KR" sz="1000" dirty="0">
                <a:solidFill>
                  <a:srgbClr val="FF0000"/>
                </a:solidFill>
              </a:rPr>
              <a:t>02:33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29" name="직사각형 128"/>
          <p:cNvSpPr/>
          <p:nvPr/>
        </p:nvSpPr>
        <p:spPr>
          <a:xfrm>
            <a:off x="2596597" y="2333624"/>
            <a:ext cx="1169381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인증번호 입력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0" name="눈물 방울 129"/>
          <p:cNvSpPr/>
          <p:nvPr/>
        </p:nvSpPr>
        <p:spPr>
          <a:xfrm rot="5400000">
            <a:off x="6040792" y="2311602"/>
            <a:ext cx="252000" cy="324000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B4-2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31" name="직사각형 130"/>
          <p:cNvSpPr/>
          <p:nvPr/>
        </p:nvSpPr>
        <p:spPr>
          <a:xfrm>
            <a:off x="4960639" y="2333624"/>
            <a:ext cx="973607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인증번호 확인</a:t>
            </a:r>
          </a:p>
        </p:txBody>
      </p:sp>
      <p:sp>
        <p:nvSpPr>
          <p:cNvPr id="146" name="직사각형 145"/>
          <p:cNvSpPr/>
          <p:nvPr/>
        </p:nvSpPr>
        <p:spPr>
          <a:xfrm>
            <a:off x="928192" y="2707796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인증번호 입력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47" name="그룹 146"/>
          <p:cNvGrpSpPr/>
          <p:nvPr/>
        </p:nvGrpSpPr>
        <p:grpSpPr>
          <a:xfrm>
            <a:off x="1107206" y="2995828"/>
            <a:ext cx="5405041" cy="252000"/>
            <a:chOff x="424136" y="-566622"/>
            <a:chExt cx="5405041" cy="252000"/>
          </a:xfrm>
        </p:grpSpPr>
        <p:sp>
          <p:nvSpPr>
            <p:cNvPr id="148" name="TextBox 147"/>
            <p:cNvSpPr txBox="1"/>
            <p:nvPr/>
          </p:nvSpPr>
          <p:spPr>
            <a:xfrm>
              <a:off x="424136" y="-556038"/>
              <a:ext cx="10534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9" name="직사각형 148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150" name="직사각형 149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1111</a:t>
              </a:r>
            </a:p>
          </p:txBody>
        </p:sp>
        <p:sp>
          <p:nvSpPr>
            <p:cNvPr id="151" name="TextBox 150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2" name="직사각형 151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2222</a:t>
              </a:r>
            </a:p>
          </p:txBody>
        </p:sp>
        <p:sp>
          <p:nvSpPr>
            <p:cNvPr id="153" name="TextBox 152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54" name="눈물 방울 153"/>
          <p:cNvSpPr/>
          <p:nvPr/>
        </p:nvSpPr>
        <p:spPr>
          <a:xfrm rot="5400000">
            <a:off x="7696976" y="2975764"/>
            <a:ext cx="252000" cy="324000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B4-1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55" name="직사각형 154"/>
          <p:cNvSpPr/>
          <p:nvPr/>
        </p:nvSpPr>
        <p:spPr>
          <a:xfrm>
            <a:off x="6590986" y="2997786"/>
            <a:ext cx="1016698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인증번호 </a:t>
            </a:r>
            <a:r>
              <a:rPr lang="ko-KR" altLang="en-US" sz="1000" b="1" dirty="0" err="1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재발송</a:t>
            </a:r>
            <a:endParaRPr lang="ko-KR" altLang="en-US" sz="1000" b="1" dirty="0">
              <a:solidFill>
                <a:srgbClr val="00808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6" name="제목 1"/>
          <p:cNvSpPr txBox="1">
            <a:spLocks/>
          </p:cNvSpPr>
          <p:nvPr/>
        </p:nvSpPr>
        <p:spPr bwMode="auto">
          <a:xfrm>
            <a:off x="3808512" y="3285818"/>
            <a:ext cx="1074374" cy="3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lang="ko-KR" altLang="en-US" sz="1600" b="1" kern="1200" dirty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algn="l" rtl="0" eaLnBrk="0" fontAlgn="base" latinLnBrk="1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4572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9144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13716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1828800" algn="l" rtl="0" fontAlgn="base" latinLnBrk="1">
              <a:spcBef>
                <a:spcPct val="0"/>
              </a:spcBef>
              <a:spcAft>
                <a:spcPct val="0"/>
              </a:spcAft>
              <a:defRPr sz="1400" b="1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r>
              <a:rPr lang="ko-KR" altLang="en-US" sz="1000" dirty="0" err="1">
                <a:solidFill>
                  <a:schemeClr val="bg1">
                    <a:lumMod val="50000"/>
                  </a:schemeClr>
                </a:solidFill>
              </a:rPr>
              <a:t>남은시간</a:t>
            </a:r>
            <a:r>
              <a:rPr lang="ko-KR" altLang="en-US" sz="10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ko-KR" sz="1000" dirty="0">
                <a:solidFill>
                  <a:srgbClr val="FF0000"/>
                </a:solidFill>
              </a:rPr>
              <a:t>02:33</a:t>
            </a:r>
            <a:endParaRPr lang="ko-KR" altLang="en-US" sz="1000" dirty="0">
              <a:solidFill>
                <a:srgbClr val="FF0000"/>
              </a:solidFill>
            </a:endParaRPr>
          </a:p>
        </p:txBody>
      </p:sp>
      <p:sp>
        <p:nvSpPr>
          <p:cNvPr id="157" name="직사각형 156"/>
          <p:cNvSpPr/>
          <p:nvPr/>
        </p:nvSpPr>
        <p:spPr>
          <a:xfrm>
            <a:off x="2596597" y="3339818"/>
            <a:ext cx="1169381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인증번호 입력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58" name="눈물 방울 157"/>
          <p:cNvSpPr/>
          <p:nvPr/>
        </p:nvSpPr>
        <p:spPr>
          <a:xfrm rot="5400000">
            <a:off x="6040792" y="3317796"/>
            <a:ext cx="252000" cy="324000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B4-2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59" name="직사각형 158"/>
          <p:cNvSpPr/>
          <p:nvPr/>
        </p:nvSpPr>
        <p:spPr>
          <a:xfrm>
            <a:off x="4960639" y="3339818"/>
            <a:ext cx="973607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인증번호 확인</a:t>
            </a:r>
          </a:p>
        </p:txBody>
      </p:sp>
      <p:sp>
        <p:nvSpPr>
          <p:cNvPr id="160" name="눈물 방울 159"/>
          <p:cNvSpPr/>
          <p:nvPr/>
        </p:nvSpPr>
        <p:spPr>
          <a:xfrm rot="5400000">
            <a:off x="356894" y="97675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6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 smtClean="0">
                <a:latin typeface="+mn-ea"/>
                <a:ea typeface="+mn-ea"/>
              </a:rPr>
              <a:t>(</a:t>
            </a:r>
            <a:r>
              <a:rPr lang="ko-KR" altLang="en-US" sz="1000" dirty="0" smtClean="0">
                <a:latin typeface="+mn-ea"/>
                <a:ea typeface="+mn-ea"/>
              </a:rPr>
              <a:t>양수고객</a:t>
            </a:r>
            <a:r>
              <a:rPr lang="en-US" altLang="ko-KR" sz="1000" dirty="0" smtClean="0">
                <a:latin typeface="+mn-ea"/>
                <a:ea typeface="+mn-ea"/>
              </a:rPr>
              <a:t>(</a:t>
            </a:r>
            <a:r>
              <a:rPr lang="ko-KR" altLang="en-US" sz="1000" dirty="0" smtClean="0">
                <a:latin typeface="+mn-ea"/>
                <a:ea typeface="+mn-ea"/>
              </a:rPr>
              <a:t>미성년자</a:t>
            </a:r>
            <a:r>
              <a:rPr lang="en-US" altLang="ko-KR" sz="1000" dirty="0">
                <a:latin typeface="+mn-ea"/>
                <a:ea typeface="+mn-ea"/>
              </a:rPr>
              <a:t>(19</a:t>
            </a:r>
            <a:r>
              <a:rPr lang="ko-KR" altLang="en-US" sz="1000" dirty="0">
                <a:latin typeface="+mn-ea"/>
                <a:ea typeface="+mn-ea"/>
              </a:rPr>
              <a:t>세 미만</a:t>
            </a:r>
            <a:r>
              <a:rPr lang="en-US" altLang="ko-KR" sz="1000" dirty="0">
                <a:latin typeface="+mn-ea"/>
                <a:ea typeface="+mn-ea"/>
              </a:rPr>
              <a:t>), </a:t>
            </a:r>
            <a:r>
              <a:rPr lang="ko-KR" altLang="en-US" sz="1000" dirty="0">
                <a:latin typeface="+mn-ea"/>
                <a:ea typeface="+mn-ea"/>
              </a:rPr>
              <a:t>외국인 미성년자</a:t>
            </a:r>
            <a:r>
              <a:rPr lang="en-US" altLang="ko-KR" sz="1000" dirty="0">
                <a:latin typeface="+mn-ea"/>
                <a:ea typeface="+mn-ea"/>
              </a:rPr>
              <a:t>(19</a:t>
            </a:r>
            <a:r>
              <a:rPr lang="ko-KR" altLang="en-US" sz="1000" dirty="0">
                <a:latin typeface="+mn-ea"/>
                <a:ea typeface="+mn-ea"/>
              </a:rPr>
              <a:t>세 미만</a:t>
            </a:r>
            <a:r>
              <a:rPr lang="en-US" altLang="ko-KR" sz="1000" dirty="0" smtClean="0">
                <a:latin typeface="+mn-ea"/>
                <a:ea typeface="+mn-ea"/>
              </a:rPr>
              <a:t>)))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S103010101</a:t>
            </a:r>
            <a:endParaRPr lang="ko-KR" altLang="en-US" sz="1000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774131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직사각형 39"/>
          <p:cNvSpPr/>
          <p:nvPr/>
        </p:nvSpPr>
        <p:spPr>
          <a:xfrm>
            <a:off x="173136" y="693490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91" name="눈물 방울 90"/>
          <p:cNvSpPr/>
          <p:nvPr/>
        </p:nvSpPr>
        <p:spPr>
          <a:xfrm rot="5400000">
            <a:off x="627761" y="102785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2" name="직사각형 91"/>
          <p:cNvSpPr/>
          <p:nvPr/>
        </p:nvSpPr>
        <p:spPr>
          <a:xfrm>
            <a:off x="928192" y="1072148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인증번호 발송 처리 후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93" name="그룹 92"/>
          <p:cNvGrpSpPr/>
          <p:nvPr/>
        </p:nvGrpSpPr>
        <p:grpSpPr>
          <a:xfrm>
            <a:off x="620358" y="1348481"/>
            <a:ext cx="2880000" cy="1400103"/>
            <a:chOff x="620358" y="4765995"/>
            <a:chExt cx="2880000" cy="1400103"/>
          </a:xfrm>
        </p:grpSpPr>
        <p:sp>
          <p:nvSpPr>
            <p:cNvPr id="94" name="직사각형 93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5" name="직사각형 94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인증번호가 발송되었습니다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6" name="직사각형 95"/>
            <p:cNvSpPr/>
            <p:nvPr/>
          </p:nvSpPr>
          <p:spPr>
            <a:xfrm>
              <a:off x="622994" y="5806098"/>
              <a:ext cx="2877363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97" name="눈물 방울 96"/>
          <p:cNvSpPr/>
          <p:nvPr/>
        </p:nvSpPr>
        <p:spPr>
          <a:xfrm rot="5400000">
            <a:off x="555753" y="295984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8" name="직사각형 97"/>
          <p:cNvSpPr/>
          <p:nvPr/>
        </p:nvSpPr>
        <p:spPr>
          <a:xfrm>
            <a:off x="4053413" y="1072147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인증번호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미발송된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99" name="그룹 98"/>
          <p:cNvGrpSpPr/>
          <p:nvPr/>
        </p:nvGrpSpPr>
        <p:grpSpPr>
          <a:xfrm>
            <a:off x="3745579" y="1348480"/>
            <a:ext cx="2880000" cy="1400103"/>
            <a:chOff x="620358" y="4765995"/>
            <a:chExt cx="2880000" cy="1400103"/>
          </a:xfrm>
        </p:grpSpPr>
        <p:sp>
          <p:nvSpPr>
            <p:cNvPr id="100" name="직사각형 99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1" name="직사각형 100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[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 발송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]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버튼을 클릭하시면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,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인증번호가 등록된 휴대폰으로 발송됩니다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2" name="직사각형 101"/>
            <p:cNvSpPr/>
            <p:nvPr/>
          </p:nvSpPr>
          <p:spPr>
            <a:xfrm>
              <a:off x="622994" y="5806098"/>
              <a:ext cx="2877363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103" name="직사각형 102"/>
          <p:cNvSpPr/>
          <p:nvPr/>
        </p:nvSpPr>
        <p:spPr>
          <a:xfrm>
            <a:off x="928192" y="3007738"/>
            <a:ext cx="278851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인증번호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미입력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혹은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6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자리가 아닌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04" name="그룹 103"/>
          <p:cNvGrpSpPr/>
          <p:nvPr/>
        </p:nvGrpSpPr>
        <p:grpSpPr>
          <a:xfrm>
            <a:off x="657325" y="3284071"/>
            <a:ext cx="2880000" cy="1400103"/>
            <a:chOff x="620358" y="4765995"/>
            <a:chExt cx="2880000" cy="1400103"/>
          </a:xfrm>
        </p:grpSpPr>
        <p:sp>
          <p:nvSpPr>
            <p:cNvPr id="105" name="직사각형 104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6" name="직사각형 105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인증번호는 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6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 숫자로 입력해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7" name="직사각형 106"/>
            <p:cNvSpPr/>
            <p:nvPr/>
          </p:nvSpPr>
          <p:spPr>
            <a:xfrm>
              <a:off x="622994" y="5806098"/>
              <a:ext cx="2877363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110" name="직사각형 109"/>
          <p:cNvSpPr/>
          <p:nvPr/>
        </p:nvSpPr>
        <p:spPr>
          <a:xfrm>
            <a:off x="3880520" y="3007738"/>
            <a:ext cx="278851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인증번호 일치하지 않는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11" name="그룹 110"/>
          <p:cNvGrpSpPr/>
          <p:nvPr/>
        </p:nvGrpSpPr>
        <p:grpSpPr>
          <a:xfrm>
            <a:off x="3609653" y="3284071"/>
            <a:ext cx="2880000" cy="1400103"/>
            <a:chOff x="620358" y="4765995"/>
            <a:chExt cx="2880000" cy="1400103"/>
          </a:xfrm>
        </p:grpSpPr>
        <p:sp>
          <p:nvSpPr>
            <p:cNvPr id="112" name="직사각형 111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1" name="직사각형 120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인증번호가 일치하지 않습니다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24" name="직사각형 123"/>
            <p:cNvSpPr/>
            <p:nvPr/>
          </p:nvSpPr>
          <p:spPr>
            <a:xfrm>
              <a:off x="622994" y="5806098"/>
              <a:ext cx="2877363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127" name="직사각형 126"/>
          <p:cNvSpPr/>
          <p:nvPr/>
        </p:nvSpPr>
        <p:spPr>
          <a:xfrm>
            <a:off x="6832848" y="3004132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인증번호 유효시간 경과된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28" name="그룹 127"/>
          <p:cNvGrpSpPr/>
          <p:nvPr/>
        </p:nvGrpSpPr>
        <p:grpSpPr>
          <a:xfrm>
            <a:off x="6561981" y="3280465"/>
            <a:ext cx="2880000" cy="1400103"/>
            <a:chOff x="620358" y="4765995"/>
            <a:chExt cx="2880000" cy="1400103"/>
          </a:xfrm>
        </p:grpSpPr>
        <p:sp>
          <p:nvSpPr>
            <p:cNvPr id="129" name="직사각형 128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0" name="직사각형 129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 유효시간이 종료되었습니다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[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 </a:t>
              </a: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재발송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]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버튼을 클릭하시면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,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인증번호가 </a:t>
              </a: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재발송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됩니다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1" name="직사각형 130"/>
            <p:cNvSpPr/>
            <p:nvPr/>
          </p:nvSpPr>
          <p:spPr>
            <a:xfrm>
              <a:off x="622994" y="5806098"/>
              <a:ext cx="2877363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35" name="TextBox 34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 </a:t>
            </a:r>
            <a:r>
              <a:rPr lang="en-US" altLang="ko-KR" sz="1000" dirty="0" smtClean="0">
                <a:latin typeface="+mn-ea"/>
                <a:ea typeface="+mn-ea"/>
              </a:rPr>
              <a:t>(</a:t>
            </a:r>
            <a:r>
              <a:rPr lang="ko-KR" altLang="en-US" sz="1000" dirty="0" smtClean="0">
                <a:latin typeface="+mn-ea"/>
                <a:ea typeface="+mn-ea"/>
              </a:rPr>
              <a:t>양수고객</a:t>
            </a:r>
            <a:r>
              <a:rPr lang="en-US" altLang="ko-KR" sz="1000" dirty="0" smtClean="0">
                <a:latin typeface="+mn-ea"/>
                <a:ea typeface="+mn-ea"/>
              </a:rPr>
              <a:t>(</a:t>
            </a:r>
            <a:r>
              <a:rPr lang="ko-KR" altLang="en-US" sz="1000" dirty="0" smtClean="0">
                <a:latin typeface="+mn-ea"/>
                <a:ea typeface="+mn-ea"/>
              </a:rPr>
              <a:t>미성년자</a:t>
            </a:r>
            <a:r>
              <a:rPr lang="en-US" altLang="ko-KR" sz="1000" dirty="0">
                <a:latin typeface="+mn-ea"/>
                <a:ea typeface="+mn-ea"/>
              </a:rPr>
              <a:t>(19</a:t>
            </a:r>
            <a:r>
              <a:rPr lang="ko-KR" altLang="en-US" sz="1000" dirty="0">
                <a:latin typeface="+mn-ea"/>
                <a:ea typeface="+mn-ea"/>
              </a:rPr>
              <a:t>세 미만</a:t>
            </a:r>
            <a:r>
              <a:rPr lang="en-US" altLang="ko-KR" sz="1000" dirty="0">
                <a:latin typeface="+mn-ea"/>
                <a:ea typeface="+mn-ea"/>
              </a:rPr>
              <a:t>), </a:t>
            </a:r>
            <a:r>
              <a:rPr lang="ko-KR" altLang="en-US" sz="1000" dirty="0">
                <a:latin typeface="+mn-ea"/>
                <a:ea typeface="+mn-ea"/>
              </a:rPr>
              <a:t>외국인 미성년자</a:t>
            </a:r>
            <a:r>
              <a:rPr lang="en-US" altLang="ko-KR" sz="1000" dirty="0">
                <a:latin typeface="+mn-ea"/>
                <a:ea typeface="+mn-ea"/>
              </a:rPr>
              <a:t>(19</a:t>
            </a:r>
            <a:r>
              <a:rPr lang="ko-KR" altLang="en-US" sz="1000" dirty="0">
                <a:latin typeface="+mn-ea"/>
                <a:ea typeface="+mn-ea"/>
              </a:rPr>
              <a:t>세 미만</a:t>
            </a:r>
            <a:r>
              <a:rPr lang="en-US" altLang="ko-KR" sz="1000" dirty="0" smtClean="0">
                <a:latin typeface="+mn-ea"/>
                <a:ea typeface="+mn-ea"/>
              </a:rPr>
              <a:t>)))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S103010101</a:t>
            </a:r>
            <a:endParaRPr lang="ko-KR" altLang="en-US" sz="1000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243519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직사각형 26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1" name="직사각형 80"/>
          <p:cNvSpPr/>
          <p:nvPr/>
        </p:nvSpPr>
        <p:spPr>
          <a:xfrm>
            <a:off x="962696" y="981522"/>
            <a:ext cx="9468000" cy="5472608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7472233"/>
              </p:ext>
            </p:extLst>
          </p:nvPr>
        </p:nvGraphicFramePr>
        <p:xfrm>
          <a:off x="10505256" y="788950"/>
          <a:ext cx="2130330" cy="2779179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가입자 연락처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정보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고객유형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= ‘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’/’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(Foreigner)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’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 경우 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국가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체류기간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비자 정보 입력 항목 표시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체류기간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 불가능한 날짜 입력 시 안내 메시지 노출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시작일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&gt;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종료일인 경우 안내 메시지 노출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우편번호 찾기 버튼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신규</a:t>
                      </a: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변경 신청서 와 동일</a:t>
                      </a:r>
                      <a:endParaRPr lang="en-US" altLang="ko-KR" sz="800" b="1" kern="1200" dirty="0">
                        <a:solidFill>
                          <a:srgbClr val="0070C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– </a:t>
            </a:r>
            <a:r>
              <a:rPr lang="ko-KR" altLang="en-US" sz="1000" dirty="0" smtClean="0">
                <a:latin typeface="+mn-ea"/>
                <a:ea typeface="+mn-ea"/>
              </a:rPr>
              <a:t>고객</a:t>
            </a:r>
            <a:r>
              <a:rPr lang="en-US" altLang="ko-KR" sz="1000" dirty="0" smtClean="0">
                <a:latin typeface="+mn-ea"/>
                <a:ea typeface="+mn-ea"/>
              </a:rPr>
              <a:t>(</a:t>
            </a:r>
            <a:r>
              <a:rPr lang="ko-KR" altLang="en-US" sz="1000" dirty="0" smtClean="0">
                <a:latin typeface="+mn-ea"/>
                <a:ea typeface="+mn-ea"/>
              </a:rPr>
              <a:t>양수고객</a:t>
            </a:r>
            <a:r>
              <a:rPr lang="en-US" altLang="ko-KR" sz="1000" dirty="0" smtClean="0">
                <a:latin typeface="+mn-ea"/>
                <a:ea typeface="+mn-ea"/>
              </a:rPr>
              <a:t>)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S103010101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130" name="그룹 129"/>
          <p:cNvGrpSpPr/>
          <p:nvPr/>
        </p:nvGrpSpPr>
        <p:grpSpPr>
          <a:xfrm>
            <a:off x="1072208" y="1197546"/>
            <a:ext cx="9252000" cy="246221"/>
            <a:chOff x="1072208" y="1117425"/>
            <a:chExt cx="9252000" cy="246221"/>
          </a:xfrm>
        </p:grpSpPr>
        <p:sp>
          <p:nvSpPr>
            <p:cNvPr id="131" name="TextBox 130"/>
            <p:cNvSpPr txBox="1"/>
            <p:nvPr/>
          </p:nvSpPr>
          <p:spPr>
            <a:xfrm>
              <a:off x="1072208" y="1117425"/>
              <a:ext cx="147668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(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양수고객</a:t>
              </a:r>
              <a:r>
                <a:rPr lang="en-US" altLang="ko-KR" sz="1000" b="1" dirty="0">
                  <a:latin typeface="맑은 고딕" pitchFamily="50" charset="-127"/>
                  <a:ea typeface="맑은 고딕" pitchFamily="50" charset="-127"/>
                </a:rPr>
                <a:t>)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연락처</a:t>
              </a:r>
            </a:p>
          </p:txBody>
        </p:sp>
        <p:cxnSp>
          <p:nvCxnSpPr>
            <p:cNvPr id="132" name="직선 연결선 131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3" name="그룹 132"/>
          <p:cNvGrpSpPr/>
          <p:nvPr/>
        </p:nvGrpSpPr>
        <p:grpSpPr>
          <a:xfrm>
            <a:off x="1059141" y="1551807"/>
            <a:ext cx="5405041" cy="252000"/>
            <a:chOff x="424136" y="-566622"/>
            <a:chExt cx="5405041" cy="252000"/>
          </a:xfrm>
        </p:grpSpPr>
        <p:sp>
          <p:nvSpPr>
            <p:cNvPr id="134" name="TextBox 133"/>
            <p:cNvSpPr txBox="1"/>
            <p:nvPr/>
          </p:nvSpPr>
          <p:spPr>
            <a:xfrm>
              <a:off x="424136" y="-556038"/>
              <a:ext cx="8146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휴대폰번호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5" name="직사각형 134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010</a:t>
              </a:r>
            </a:p>
          </p:txBody>
        </p:sp>
        <p:sp>
          <p:nvSpPr>
            <p:cNvPr id="136" name="직사각형 135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8" name="직사각형 137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9" name="TextBox 138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40" name="그룹 139"/>
          <p:cNvGrpSpPr/>
          <p:nvPr/>
        </p:nvGrpSpPr>
        <p:grpSpPr>
          <a:xfrm>
            <a:off x="1059141" y="1911847"/>
            <a:ext cx="5405041" cy="252000"/>
            <a:chOff x="424136" y="-566622"/>
            <a:chExt cx="5405041" cy="252000"/>
          </a:xfrm>
        </p:grpSpPr>
        <p:sp>
          <p:nvSpPr>
            <p:cNvPr id="141" name="TextBox 140"/>
            <p:cNvSpPr txBox="1"/>
            <p:nvPr/>
          </p:nvSpPr>
          <p:spPr>
            <a:xfrm>
              <a:off x="424136" y="-556038"/>
              <a:ext cx="64633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전화번호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6" name="직사각형 145"/>
            <p:cNvSpPr/>
            <p:nvPr/>
          </p:nvSpPr>
          <p:spPr>
            <a:xfrm>
              <a:off x="1910425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지역번호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7" name="직사각형 146"/>
            <p:cNvSpPr/>
            <p:nvPr/>
          </p:nvSpPr>
          <p:spPr>
            <a:xfrm>
              <a:off x="3278577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가운데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8" name="TextBox 147"/>
            <p:cNvSpPr txBox="1"/>
            <p:nvPr/>
          </p:nvSpPr>
          <p:spPr>
            <a:xfrm>
              <a:off x="3066739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49" name="직사각형 148"/>
            <p:cNvSpPr/>
            <p:nvPr/>
          </p:nvSpPr>
          <p:spPr>
            <a:xfrm>
              <a:off x="4659796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뒤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4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50" name="TextBox 149"/>
            <p:cNvSpPr txBox="1"/>
            <p:nvPr/>
          </p:nvSpPr>
          <p:spPr>
            <a:xfrm>
              <a:off x="4447958" y="-554080"/>
              <a:ext cx="23275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58" name="그룹 157"/>
          <p:cNvGrpSpPr/>
          <p:nvPr/>
        </p:nvGrpSpPr>
        <p:grpSpPr>
          <a:xfrm>
            <a:off x="1054956" y="2271887"/>
            <a:ext cx="5409226" cy="252000"/>
            <a:chOff x="424136" y="-566622"/>
            <a:chExt cx="5409226" cy="252000"/>
          </a:xfrm>
        </p:grpSpPr>
        <p:sp>
          <p:nvSpPr>
            <p:cNvPr id="159" name="TextBox 158"/>
            <p:cNvSpPr txBox="1"/>
            <p:nvPr/>
          </p:nvSpPr>
          <p:spPr>
            <a:xfrm>
              <a:off x="424136" y="-556038"/>
              <a:ext cx="81464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이메일주소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60" name="직사각형 159"/>
            <p:cNvSpPr/>
            <p:nvPr/>
          </p:nvSpPr>
          <p:spPr>
            <a:xfrm>
              <a:off x="1910424" y="-566622"/>
              <a:ext cx="1169381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이메일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아이디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61" name="직사각형 160"/>
            <p:cNvSpPr/>
            <p:nvPr/>
          </p:nvSpPr>
          <p:spPr>
            <a:xfrm>
              <a:off x="3282762" y="-566622"/>
              <a:ext cx="25506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이메일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도메인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62" name="TextBox 161"/>
            <p:cNvSpPr txBox="1"/>
            <p:nvPr/>
          </p:nvSpPr>
          <p:spPr>
            <a:xfrm>
              <a:off x="3025049" y="-554080"/>
              <a:ext cx="29848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@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63" name="그룹 162"/>
          <p:cNvGrpSpPr/>
          <p:nvPr/>
        </p:nvGrpSpPr>
        <p:grpSpPr>
          <a:xfrm>
            <a:off x="1059141" y="2637706"/>
            <a:ext cx="2207811" cy="252000"/>
            <a:chOff x="424136" y="-566622"/>
            <a:chExt cx="2207811" cy="252000"/>
          </a:xfrm>
        </p:grpSpPr>
        <p:sp>
          <p:nvSpPr>
            <p:cNvPr id="164" name="TextBox 163"/>
            <p:cNvSpPr txBox="1"/>
            <p:nvPr/>
          </p:nvSpPr>
          <p:spPr>
            <a:xfrm>
              <a:off x="424136" y="-556038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주소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65" name="직사각형 164"/>
            <p:cNvSpPr/>
            <p:nvPr/>
          </p:nvSpPr>
          <p:spPr>
            <a:xfrm>
              <a:off x="1911947" y="-566622"/>
              <a:ext cx="72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우편번호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166" name="그룹 165"/>
          <p:cNvGrpSpPr/>
          <p:nvPr/>
        </p:nvGrpSpPr>
        <p:grpSpPr>
          <a:xfrm>
            <a:off x="2541846" y="2997746"/>
            <a:ext cx="5400000" cy="576064"/>
            <a:chOff x="1911026" y="-566622"/>
            <a:chExt cx="5400000" cy="576064"/>
          </a:xfrm>
        </p:grpSpPr>
        <p:sp>
          <p:nvSpPr>
            <p:cNvPr id="167" name="직사각형 166"/>
            <p:cNvSpPr/>
            <p:nvPr/>
          </p:nvSpPr>
          <p:spPr>
            <a:xfrm>
              <a:off x="1911026" y="-566622"/>
              <a:ext cx="540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주소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68" name="직사각형 167"/>
            <p:cNvSpPr/>
            <p:nvPr/>
          </p:nvSpPr>
          <p:spPr>
            <a:xfrm>
              <a:off x="1911026" y="-242558"/>
              <a:ext cx="54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상세주소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72" name="눈물 방울 171"/>
          <p:cNvSpPr/>
          <p:nvPr/>
        </p:nvSpPr>
        <p:spPr>
          <a:xfrm rot="5400000">
            <a:off x="935659" y="113606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73" name="눈물 방울 172"/>
          <p:cNvSpPr/>
          <p:nvPr/>
        </p:nvSpPr>
        <p:spPr>
          <a:xfrm rot="5400000">
            <a:off x="4536059" y="264517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74" name="직사각형 173"/>
          <p:cNvSpPr/>
          <p:nvPr/>
        </p:nvSpPr>
        <p:spPr>
          <a:xfrm>
            <a:off x="3349186" y="2637706"/>
            <a:ext cx="108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우편번호 찾기</a:t>
            </a:r>
          </a:p>
        </p:txBody>
      </p:sp>
      <p:grpSp>
        <p:nvGrpSpPr>
          <p:cNvPr id="41" name="그룹 40"/>
          <p:cNvGrpSpPr/>
          <p:nvPr/>
        </p:nvGrpSpPr>
        <p:grpSpPr>
          <a:xfrm>
            <a:off x="1072208" y="3681850"/>
            <a:ext cx="2931644" cy="252000"/>
            <a:chOff x="-36790" y="4763928"/>
            <a:chExt cx="2931644" cy="252000"/>
          </a:xfrm>
        </p:grpSpPr>
        <p:sp>
          <p:nvSpPr>
            <p:cNvPr id="42" name="TextBox 41"/>
            <p:cNvSpPr txBox="1"/>
            <p:nvPr/>
          </p:nvSpPr>
          <p:spPr>
            <a:xfrm>
              <a:off x="-36790" y="4772554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국가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43" name="그룹 42"/>
            <p:cNvGrpSpPr/>
            <p:nvPr/>
          </p:nvGrpSpPr>
          <p:grpSpPr>
            <a:xfrm>
              <a:off x="1432248" y="4763928"/>
              <a:ext cx="1462606" cy="252000"/>
              <a:chOff x="1775036" y="-566622"/>
              <a:chExt cx="1462606" cy="252000"/>
            </a:xfrm>
          </p:grpSpPr>
          <p:sp>
            <p:nvSpPr>
              <p:cNvPr id="44" name="직사각형 43"/>
              <p:cNvSpPr/>
              <p:nvPr/>
            </p:nvSpPr>
            <p:spPr>
              <a:xfrm>
                <a:off x="1775036" y="-566622"/>
                <a:ext cx="1462606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국가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45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52448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pSp>
        <p:nvGrpSpPr>
          <p:cNvPr id="46" name="그룹 45"/>
          <p:cNvGrpSpPr/>
          <p:nvPr/>
        </p:nvGrpSpPr>
        <p:grpSpPr>
          <a:xfrm>
            <a:off x="1072208" y="4401930"/>
            <a:ext cx="2931644" cy="252000"/>
            <a:chOff x="-36790" y="4763928"/>
            <a:chExt cx="2931644" cy="252000"/>
          </a:xfrm>
        </p:grpSpPr>
        <p:sp>
          <p:nvSpPr>
            <p:cNvPr id="47" name="TextBox 46"/>
            <p:cNvSpPr txBox="1"/>
            <p:nvPr/>
          </p:nvSpPr>
          <p:spPr>
            <a:xfrm>
              <a:off x="-36790" y="4772554"/>
              <a:ext cx="4683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비자</a:t>
              </a:r>
              <a:r>
                <a:rPr lang="en-US" altLang="ko-KR" sz="900" b="1" dirty="0" smtClean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1432248" y="4763928"/>
              <a:ext cx="1462606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비자 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입력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49" name="그룹 48"/>
          <p:cNvGrpSpPr/>
          <p:nvPr/>
        </p:nvGrpSpPr>
        <p:grpSpPr>
          <a:xfrm>
            <a:off x="1072208" y="4039012"/>
            <a:ext cx="3456384" cy="254878"/>
            <a:chOff x="1072208" y="7711420"/>
            <a:chExt cx="3456384" cy="254878"/>
          </a:xfrm>
        </p:grpSpPr>
        <p:sp>
          <p:nvSpPr>
            <p:cNvPr id="50" name="TextBox 49"/>
            <p:cNvSpPr txBox="1"/>
            <p:nvPr/>
          </p:nvSpPr>
          <p:spPr>
            <a:xfrm>
              <a:off x="1072208" y="7722924"/>
              <a:ext cx="69923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체류기간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51" name="그룹 50"/>
            <p:cNvGrpSpPr/>
            <p:nvPr/>
          </p:nvGrpSpPr>
          <p:grpSpPr>
            <a:xfrm>
              <a:off x="2548472" y="7711420"/>
              <a:ext cx="1980120" cy="254878"/>
              <a:chOff x="1360240" y="1501480"/>
              <a:chExt cx="1980120" cy="254878"/>
            </a:xfrm>
          </p:grpSpPr>
          <p:grpSp>
            <p:nvGrpSpPr>
              <p:cNvPr id="52" name="그룹 51"/>
              <p:cNvGrpSpPr/>
              <p:nvPr/>
            </p:nvGrpSpPr>
            <p:grpSpPr>
              <a:xfrm>
                <a:off x="1360240" y="1504358"/>
                <a:ext cx="900000" cy="252000"/>
                <a:chOff x="1360240" y="1504358"/>
                <a:chExt cx="900000" cy="252000"/>
              </a:xfrm>
            </p:grpSpPr>
            <p:sp>
              <p:nvSpPr>
                <p:cNvPr id="57" name="직사각형 56"/>
                <p:cNvSpPr/>
                <p:nvPr/>
              </p:nvSpPr>
              <p:spPr>
                <a:xfrm>
                  <a:off x="1360240" y="1504358"/>
                  <a:ext cx="900000" cy="252000"/>
                </a:xfrm>
                <a:prstGeom prst="rect">
                  <a:avLst/>
                </a:prstGeom>
                <a:solidFill>
                  <a:schemeClr val="bg1"/>
                </a:solidFill>
                <a:ln w="6350" algn="ctr">
                  <a:solidFill>
                    <a:schemeClr val="tx1">
                      <a:lumMod val="65000"/>
                      <a:lumOff val="35000"/>
                    </a:schemeClr>
                  </a:solidFill>
                  <a:miter lim="800000"/>
                  <a:headEnd/>
                  <a:tailEnd/>
                </a:ln>
              </p:spPr>
              <p:txBody>
                <a:bodyPr wrap="square" lIns="72000" tIns="0" rIns="0" bIns="0" rtlCol="0" anchor="ctr">
                  <a:no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en-US" altLang="ko-KR" sz="8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맑은 고딕" pitchFamily="50" charset="-127"/>
                      <a:ea typeface="맑은 고딕" pitchFamily="50" charset="-127"/>
                    </a:rPr>
                    <a:t>2026-01-01</a:t>
                  </a:r>
                </a:p>
              </p:txBody>
            </p:sp>
            <p:pic>
              <p:nvPicPr>
                <p:cNvPr id="58" name="Picture 2"/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056467" y="1537092"/>
                  <a:ext cx="196097" cy="18653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pic>
          </p:grpSp>
          <p:grpSp>
            <p:nvGrpSpPr>
              <p:cNvPr id="53" name="그룹 52"/>
              <p:cNvGrpSpPr/>
              <p:nvPr/>
            </p:nvGrpSpPr>
            <p:grpSpPr>
              <a:xfrm>
                <a:off x="2440360" y="1501480"/>
                <a:ext cx="900000" cy="252000"/>
                <a:chOff x="1360240" y="1504358"/>
                <a:chExt cx="900000" cy="252000"/>
              </a:xfrm>
            </p:grpSpPr>
            <p:sp>
              <p:nvSpPr>
                <p:cNvPr id="55" name="직사각형 54"/>
                <p:cNvSpPr/>
                <p:nvPr/>
              </p:nvSpPr>
              <p:spPr>
                <a:xfrm>
                  <a:off x="1360240" y="1504358"/>
                  <a:ext cx="900000" cy="252000"/>
                </a:xfrm>
                <a:prstGeom prst="rect">
                  <a:avLst/>
                </a:prstGeom>
                <a:solidFill>
                  <a:schemeClr val="bg1"/>
                </a:solidFill>
                <a:ln w="6350" algn="ctr">
                  <a:solidFill>
                    <a:schemeClr val="tx1">
                      <a:lumMod val="65000"/>
                      <a:lumOff val="35000"/>
                    </a:schemeClr>
                  </a:solidFill>
                  <a:miter lim="800000"/>
                  <a:headEnd/>
                  <a:tailEnd/>
                </a:ln>
              </p:spPr>
              <p:txBody>
                <a:bodyPr wrap="square" lIns="72000" tIns="0" rIns="0" bIns="0" rtlCol="0" anchor="ctr">
                  <a:noAutofit/>
                </a:bodyPr>
                <a:lstStyle/>
                <a:p>
                  <a:pPr>
                    <a:spcBef>
                      <a:spcPct val="50000"/>
                    </a:spcBef>
                  </a:pPr>
                  <a:r>
                    <a:rPr lang="en-US" altLang="ko-KR" sz="800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latin typeface="맑은 고딕" pitchFamily="50" charset="-127"/>
                      <a:ea typeface="맑은 고딕" pitchFamily="50" charset="-127"/>
                    </a:rPr>
                    <a:t>2026-01-01</a:t>
                  </a:r>
                </a:p>
              </p:txBody>
            </p:sp>
            <p:pic>
              <p:nvPicPr>
                <p:cNvPr id="56" name="Picture 2"/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056467" y="1537092"/>
                  <a:ext cx="196097" cy="18653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pic>
          </p:grpSp>
          <p:sp>
            <p:nvSpPr>
              <p:cNvPr id="54" name="TextBox 53"/>
              <p:cNvSpPr txBox="1"/>
              <p:nvPr/>
            </p:nvSpPr>
            <p:spPr>
              <a:xfrm>
                <a:off x="2224336" y="1509292"/>
                <a:ext cx="266420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800" dirty="0">
                    <a:latin typeface="+mn-ea"/>
                    <a:ea typeface="+mn-ea"/>
                  </a:rPr>
                  <a:t>~</a:t>
                </a:r>
                <a:endParaRPr lang="ko-KR" altLang="en-US" sz="800" dirty="0">
                  <a:latin typeface="+mn-ea"/>
                  <a:ea typeface="+mn-ea"/>
                </a:endParaRPr>
              </a:p>
            </p:txBody>
          </p:sp>
        </p:grpSp>
      </p:grpSp>
      <p:sp>
        <p:nvSpPr>
          <p:cNvPr id="59" name="오른쪽 중괄호 58"/>
          <p:cNvSpPr/>
          <p:nvPr/>
        </p:nvSpPr>
        <p:spPr>
          <a:xfrm>
            <a:off x="5536704" y="3661108"/>
            <a:ext cx="313910" cy="992822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/>
          <p:cNvSpPr/>
          <p:nvPr/>
        </p:nvSpPr>
        <p:spPr>
          <a:xfrm>
            <a:off x="5917164" y="4033646"/>
            <a:ext cx="204549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외국인인 경우만 항목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aphicFrame>
        <p:nvGraphicFramePr>
          <p:cNvPr id="61" name="표 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3756152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휴대폰번호 항목에 안내 문구추가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2" name="직사각형 61"/>
          <p:cNvSpPr/>
          <p:nvPr/>
        </p:nvSpPr>
        <p:spPr>
          <a:xfrm>
            <a:off x="6544816" y="1549059"/>
            <a:ext cx="374441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※ </a:t>
            </a:r>
            <a:r>
              <a:rPr lang="ko-KR" altLang="en-US" sz="1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신청서 </a:t>
            </a:r>
            <a:r>
              <a:rPr lang="ko-KR" altLang="en-US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발송 </a:t>
            </a:r>
            <a:r>
              <a:rPr lang="ko-KR" altLang="en-US" sz="1000" dirty="0" err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요청시</a:t>
            </a:r>
            <a:r>
              <a:rPr lang="ko-KR" altLang="en-US" sz="10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Segoe UI" panose="020B0502040204020203" pitchFamily="34" charset="0"/>
              </a:rPr>
              <a:t> 추가로 발송</a:t>
            </a:r>
            <a:endParaRPr lang="ko-KR" altLang="en-US" sz="10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476084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5592062"/>
              </p:ext>
            </p:extLst>
          </p:nvPr>
        </p:nvGraphicFramePr>
        <p:xfrm>
          <a:off x="10505256" y="788950"/>
          <a:ext cx="2130330" cy="7190440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디폴트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사용중인 요금제를 디폴트로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-&gt;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카테고리는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첫번째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카테고리로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카테고리별로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요금제 조회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 우선순위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 우선순위로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USIM/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휴대폰에 따라 대상요금제 조회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정책에 따라 대상요금제 조회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선택된 요금제에 따라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서비스유형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(5G/LTE)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</a:t>
                      </a: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1.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전체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2.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스마트신청서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‘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’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카테고리에 해당하는 요금제 목록 조회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카테고리에 정의된 요금제 상품 정보는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동일하게 조회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3.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이용중인 요금제 정보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가입중인 요금제 조회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(Y02)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1.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대리점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로그인 아이디의 설정 대리점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화면 출력 정보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내국인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(19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 미만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),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외국인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(Foreigner)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에 따라 해당 약관 표시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고객유형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 요금상품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서비스제공방식 등의 선택에 따라 해당하는 약관 모두 표시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선택항목 하위에 여러 개인 경우 중첩 표시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신분증 확인 </a:t>
                      </a:r>
                      <a:r>
                        <a:rPr lang="en-US" altLang="ko-KR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= ‘</a:t>
                      </a:r>
                      <a:r>
                        <a:rPr lang="ko-KR" altLang="en-US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안면인증</a:t>
                      </a:r>
                      <a:r>
                        <a:rPr lang="en-US" altLang="ko-KR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’ </a:t>
                      </a:r>
                      <a:r>
                        <a:rPr lang="ko-KR" altLang="en-US" sz="800" b="0" kern="1200" baseline="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인 경우 관련 약관 표시</a:t>
                      </a:r>
                      <a:endParaRPr lang="en-US" altLang="ko-KR" sz="800" b="0" kern="1200" baseline="0" dirty="0" smtClean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동의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전체 선택 체크 박스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약관 전체 항목 동의 체크 처리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체크 박스 중 일부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체크해제된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경우 전체 선택 체크 해제 처리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약관 전체 펼침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약관 상세 팝업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신규</a:t>
                      </a: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변경 신청서 와 동일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고객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248" name="그룹 247"/>
          <p:cNvGrpSpPr/>
          <p:nvPr/>
        </p:nvGrpSpPr>
        <p:grpSpPr>
          <a:xfrm>
            <a:off x="1072208" y="3039557"/>
            <a:ext cx="9252000" cy="246221"/>
            <a:chOff x="1072208" y="1117425"/>
            <a:chExt cx="9252000" cy="246221"/>
          </a:xfrm>
        </p:grpSpPr>
        <p:sp>
          <p:nvSpPr>
            <p:cNvPr id="249" name="TextBox 248"/>
            <p:cNvSpPr txBox="1"/>
            <p:nvPr/>
          </p:nvSpPr>
          <p:spPr>
            <a:xfrm>
              <a:off x="1072208" y="1117425"/>
              <a:ext cx="74251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약관 동의</a:t>
              </a:r>
            </a:p>
          </p:txBody>
        </p:sp>
        <p:cxnSp>
          <p:nvCxnSpPr>
            <p:cNvPr id="250" name="직선 연결선 249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1" name="눈물 방울 250"/>
          <p:cNvSpPr/>
          <p:nvPr/>
        </p:nvSpPr>
        <p:spPr>
          <a:xfrm rot="5400000">
            <a:off x="932958" y="29209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S103010101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55" name="그룹 54"/>
          <p:cNvGrpSpPr/>
          <p:nvPr/>
        </p:nvGrpSpPr>
        <p:grpSpPr>
          <a:xfrm>
            <a:off x="1163507" y="3410803"/>
            <a:ext cx="8758499" cy="253916"/>
            <a:chOff x="1936304" y="-857339"/>
            <a:chExt cx="8758499" cy="253916"/>
          </a:xfrm>
        </p:grpSpPr>
        <p:sp>
          <p:nvSpPr>
            <p:cNvPr id="56" name="타원 55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2116304" y="-857339"/>
              <a:ext cx="404630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이용약관</a:t>
              </a:r>
              <a:r>
                <a:rPr lang="en-US" altLang="ko-KR" sz="900" dirty="0">
                  <a:latin typeface="+mn-ea"/>
                  <a:ea typeface="+mn-ea"/>
                </a:rPr>
                <a:t>, </a:t>
              </a:r>
              <a:r>
                <a:rPr lang="ko-KR" altLang="en-US" sz="900" dirty="0">
                  <a:latin typeface="+mn-ea"/>
                  <a:ea typeface="+mn-ea"/>
                </a:rPr>
                <a:t>개인정보 수집</a:t>
              </a:r>
              <a:r>
                <a:rPr lang="en-US" altLang="ko-KR" sz="900" dirty="0">
                  <a:latin typeface="+mn-ea"/>
                  <a:ea typeface="+mn-ea"/>
                </a:rPr>
                <a:t>/</a:t>
              </a:r>
              <a:r>
                <a:rPr lang="ko-KR" altLang="en-US" sz="900" dirty="0">
                  <a:latin typeface="+mn-ea"/>
                  <a:ea typeface="+mn-ea"/>
                </a:rPr>
                <a:t>이용 및 선택동의 항목에 모두 동의합니다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10413957" y="-857339"/>
              <a:ext cx="28084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87" name="그룹 86"/>
          <p:cNvGrpSpPr/>
          <p:nvPr/>
        </p:nvGrpSpPr>
        <p:grpSpPr>
          <a:xfrm>
            <a:off x="1072208" y="1147931"/>
            <a:ext cx="9252000" cy="246221"/>
            <a:chOff x="1072208" y="1117425"/>
            <a:chExt cx="9252000" cy="246221"/>
          </a:xfrm>
        </p:grpSpPr>
        <p:sp>
          <p:nvSpPr>
            <p:cNvPr id="88" name="TextBox 87"/>
            <p:cNvSpPr txBox="1"/>
            <p:nvPr/>
          </p:nvSpPr>
          <p:spPr>
            <a:xfrm>
              <a:off x="1072208" y="1117425"/>
              <a:ext cx="8707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요금제 정보</a:t>
              </a:r>
              <a:endParaRPr lang="ko-KR" altLang="en-US" sz="10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cxnSp>
          <p:nvCxnSpPr>
            <p:cNvPr id="89" name="직선 연결선 88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4" name="눈물 방울 113"/>
          <p:cNvSpPr/>
          <p:nvPr/>
        </p:nvSpPr>
        <p:spPr>
          <a:xfrm rot="5400000">
            <a:off x="967461" y="104876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23" name="그룹 122"/>
          <p:cNvGrpSpPr/>
          <p:nvPr/>
        </p:nvGrpSpPr>
        <p:grpSpPr>
          <a:xfrm>
            <a:off x="1072208" y="1502192"/>
            <a:ext cx="7161045" cy="576064"/>
            <a:chOff x="640160" y="-566622"/>
            <a:chExt cx="7161045" cy="576064"/>
          </a:xfrm>
        </p:grpSpPr>
        <p:sp>
          <p:nvSpPr>
            <p:cNvPr id="124" name="TextBox 123"/>
            <p:cNvSpPr txBox="1"/>
            <p:nvPr/>
          </p:nvSpPr>
          <p:spPr>
            <a:xfrm>
              <a:off x="64016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요금제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25" name="그룹 124"/>
            <p:cNvGrpSpPr/>
            <p:nvPr/>
          </p:nvGrpSpPr>
          <p:grpSpPr>
            <a:xfrm>
              <a:off x="2114824" y="-566622"/>
              <a:ext cx="5686381" cy="576064"/>
              <a:chOff x="2114824" y="-566622"/>
              <a:chExt cx="5686381" cy="576064"/>
            </a:xfrm>
          </p:grpSpPr>
          <p:sp>
            <p:nvSpPr>
              <p:cNvPr id="126" name="직사각형 125"/>
              <p:cNvSpPr/>
              <p:nvPr/>
            </p:nvSpPr>
            <p:spPr>
              <a:xfrm>
                <a:off x="2114824" y="-566622"/>
                <a:ext cx="2844625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추천 요금제</a:t>
                </a:r>
              </a:p>
            </p:txBody>
          </p:sp>
          <p:pic>
            <p:nvPicPr>
              <p:cNvPr id="127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44616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28" name="직사각형 127"/>
              <p:cNvSpPr/>
              <p:nvPr/>
            </p:nvSpPr>
            <p:spPr>
              <a:xfrm>
                <a:off x="2117693" y="-242558"/>
                <a:ext cx="5683512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5G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단말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(2GB/200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분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) /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데이터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2GB(+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보답프로그램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50GB(6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개월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)) |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음성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200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분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| 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문자 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100</a:t>
                </a: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건</a:t>
                </a:r>
              </a:p>
            </p:txBody>
          </p:sp>
          <p:pic>
            <p:nvPicPr>
              <p:cNvPr id="129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71570" y="-200607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pSp>
        <p:nvGrpSpPr>
          <p:cNvPr id="130" name="그룹 129">
            <a:extLst>
              <a:ext uri="{FF2B5EF4-FFF2-40B4-BE49-F238E27FC236}">
                <a16:creationId xmlns="" xmlns:a16="http://schemas.microsoft.com/office/drawing/2014/main" id="{57484787-AC4E-E60B-CF76-178D19B44D80}"/>
              </a:ext>
            </a:extLst>
          </p:cNvPr>
          <p:cNvGrpSpPr/>
          <p:nvPr/>
        </p:nvGrpSpPr>
        <p:grpSpPr>
          <a:xfrm>
            <a:off x="1064458" y="2205658"/>
            <a:ext cx="3176102" cy="252000"/>
            <a:chOff x="632410" y="-568150"/>
            <a:chExt cx="3176102" cy="252000"/>
          </a:xfrm>
        </p:grpSpPr>
        <p:sp>
          <p:nvSpPr>
            <p:cNvPr id="131" name="TextBox 130">
              <a:extLst>
                <a:ext uri="{FF2B5EF4-FFF2-40B4-BE49-F238E27FC236}">
                  <a16:creationId xmlns="" xmlns:a16="http://schemas.microsoft.com/office/drawing/2014/main" id="{7CBD174E-34A6-1F57-CAFB-8FBD761DE329}"/>
                </a:ext>
              </a:extLst>
            </p:cNvPr>
            <p:cNvSpPr txBox="1"/>
            <p:nvPr/>
          </p:nvSpPr>
          <p:spPr>
            <a:xfrm>
              <a:off x="632410" y="-556038"/>
              <a:ext cx="58381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대리점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="" xmlns:a16="http://schemas.microsoft.com/office/drawing/2014/main" id="{E07DDD73-F4E2-8FBB-8912-17B457E44C61}"/>
                </a:ext>
              </a:extLst>
            </p:cNvPr>
            <p:cNvGrpSpPr/>
            <p:nvPr/>
          </p:nvGrpSpPr>
          <p:grpSpPr>
            <a:xfrm>
              <a:off x="2111550" y="-568150"/>
              <a:ext cx="1696962" cy="252000"/>
              <a:chOff x="2111550" y="-568150"/>
              <a:chExt cx="1696962" cy="252000"/>
            </a:xfrm>
          </p:grpSpPr>
          <p:sp>
            <p:nvSpPr>
              <p:cNvPr id="133" name="직사각형 132">
                <a:extLst>
                  <a:ext uri="{FF2B5EF4-FFF2-40B4-BE49-F238E27FC236}">
                    <a16:creationId xmlns="" xmlns:a16="http://schemas.microsoft.com/office/drawing/2014/main" id="{B0708EAE-2F50-4C3D-C082-00A08AD3D3A5}"/>
                  </a:ext>
                </a:extLst>
              </p:cNvPr>
              <p:cNvSpPr/>
              <p:nvPr/>
            </p:nvSpPr>
            <p:spPr>
              <a:xfrm>
                <a:off x="2111550" y="-568150"/>
                <a:ext cx="1696962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대리점 선택</a:t>
                </a:r>
                <a:endPara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34" name="Picture 4">
                <a:extLst>
                  <a:ext uri="{FF2B5EF4-FFF2-40B4-BE49-F238E27FC236}">
                    <a16:creationId xmlns="" xmlns:a16="http://schemas.microsoft.com/office/drawing/2014/main" id="{95ED2E99-7368-43A6-8B97-7CC8FE6CEF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1886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graphicFrame>
        <p:nvGraphicFramePr>
          <p:cNvPr id="59" name="표 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6638240"/>
              </p:ext>
            </p:extLst>
          </p:nvPr>
        </p:nvGraphicFramePr>
        <p:xfrm>
          <a:off x="12914755" y="109568"/>
          <a:ext cx="3443089" cy="1213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처리 </a:t>
                      </a:r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로직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추가 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명의변경시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요금제는 현재와 동일 요금 디폴트 </a:t>
                      </a:r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세팅되도록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처리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dirty="0" smtClean="0">
                          <a:latin typeface="+mn-ea"/>
                          <a:ea typeface="+mn-ea"/>
                        </a:rPr>
                        <a:t>2</a:t>
                      </a: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 smtClean="0">
                          <a:latin typeface="+mn-ea"/>
                          <a:cs typeface="Segoe UI" panose="020B0502040204020203" pitchFamily="34" charset="0"/>
                        </a:rPr>
                        <a:t>선택 약관 하위 표시 추가</a:t>
                      </a:r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6" name="직사각형 65"/>
          <p:cNvSpPr/>
          <p:nvPr/>
        </p:nvSpPr>
        <p:spPr>
          <a:xfrm>
            <a:off x="1343506" y="3861842"/>
            <a:ext cx="8980707" cy="2592288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67" name="그룹 66"/>
          <p:cNvGrpSpPr/>
          <p:nvPr/>
        </p:nvGrpSpPr>
        <p:grpSpPr>
          <a:xfrm>
            <a:off x="1504256" y="4005858"/>
            <a:ext cx="8629740" cy="504056"/>
            <a:chOff x="1936304" y="-857339"/>
            <a:chExt cx="8629740" cy="504056"/>
          </a:xfrm>
        </p:grpSpPr>
        <p:sp>
          <p:nvSpPr>
            <p:cNvPr id="90" name="타원 89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2116304" y="-857339"/>
              <a:ext cx="4161717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이용약관</a:t>
              </a:r>
              <a:r>
                <a:rPr lang="en-US" altLang="ko-KR" sz="900" dirty="0">
                  <a:latin typeface="+mn-ea"/>
                  <a:ea typeface="+mn-ea"/>
                </a:rPr>
                <a:t>, </a:t>
              </a:r>
              <a:r>
                <a:rPr lang="ko-KR" altLang="en-US" sz="900" dirty="0">
                  <a:latin typeface="+mn-ea"/>
                  <a:ea typeface="+mn-ea"/>
                </a:rPr>
                <a:t>개인정보 수집</a:t>
              </a:r>
              <a:r>
                <a:rPr lang="en-US" altLang="ko-KR" sz="900" dirty="0">
                  <a:latin typeface="+mn-ea"/>
                  <a:ea typeface="+mn-ea"/>
                </a:rPr>
                <a:t>/</a:t>
              </a:r>
              <a:r>
                <a:rPr lang="ko-KR" altLang="en-US" sz="900" dirty="0">
                  <a:latin typeface="+mn-ea"/>
                  <a:ea typeface="+mn-ea"/>
                </a:rPr>
                <a:t>이용 및 선택동의 항목에 모두 동의합니다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10296418" y="-857339"/>
              <a:ext cx="26962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V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2124353" y="-584115"/>
              <a:ext cx="418415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※ 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고객님의 편의를 위한 모든 약관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선택약관 포함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에 일괄동의 하시겠습니까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?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</p:grpSp>
      <p:cxnSp>
        <p:nvCxnSpPr>
          <p:cNvPr id="94" name="구부러진 연결선 93"/>
          <p:cNvCxnSpPr/>
          <p:nvPr/>
        </p:nvCxnSpPr>
        <p:spPr>
          <a:xfrm rot="16200000" flipH="1">
            <a:off x="9625062" y="3840230"/>
            <a:ext cx="466166" cy="153126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5" name="그룹 94"/>
          <p:cNvGrpSpPr/>
          <p:nvPr/>
        </p:nvGrpSpPr>
        <p:grpSpPr>
          <a:xfrm>
            <a:off x="1504256" y="4653930"/>
            <a:ext cx="8639358" cy="253916"/>
            <a:chOff x="1936304" y="-857339"/>
            <a:chExt cx="8639358" cy="253916"/>
          </a:xfrm>
        </p:grpSpPr>
        <p:sp>
          <p:nvSpPr>
            <p:cNvPr id="96" name="타원 95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1029641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99" name="그룹 98"/>
          <p:cNvGrpSpPr/>
          <p:nvPr/>
        </p:nvGrpSpPr>
        <p:grpSpPr>
          <a:xfrm>
            <a:off x="1504256" y="4977337"/>
            <a:ext cx="8639358" cy="253916"/>
            <a:chOff x="1936304" y="-857339"/>
            <a:chExt cx="8639358" cy="253916"/>
          </a:xfrm>
        </p:grpSpPr>
        <p:sp>
          <p:nvSpPr>
            <p:cNvPr id="100" name="타원 99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1029641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103" name="그룹 102"/>
          <p:cNvGrpSpPr/>
          <p:nvPr/>
        </p:nvGrpSpPr>
        <p:grpSpPr>
          <a:xfrm>
            <a:off x="1504256" y="5300744"/>
            <a:ext cx="8639358" cy="253916"/>
            <a:chOff x="1936304" y="-857339"/>
            <a:chExt cx="8639358" cy="253916"/>
          </a:xfrm>
        </p:grpSpPr>
        <p:sp>
          <p:nvSpPr>
            <p:cNvPr id="104" name="타원 103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rgbClr val="FF0000"/>
                  </a:solidFill>
                  <a:latin typeface="+mn-ea"/>
                  <a:ea typeface="+mn-ea"/>
                </a:rPr>
                <a:t>필수</a:t>
              </a:r>
              <a:r>
                <a:rPr lang="en-US" altLang="ko-KR" sz="900" dirty="0">
                  <a:solidFill>
                    <a:srgbClr val="FF0000"/>
                  </a:solidFill>
                  <a:latin typeface="+mn-ea"/>
                  <a:ea typeface="+mn-ea"/>
                </a:rPr>
                <a:t>)</a:t>
              </a:r>
              <a:endParaRPr lang="ko-KR" altLang="en-US" sz="900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1029641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107" name="그룹 106"/>
          <p:cNvGrpSpPr/>
          <p:nvPr/>
        </p:nvGrpSpPr>
        <p:grpSpPr>
          <a:xfrm>
            <a:off x="1504256" y="5624150"/>
            <a:ext cx="8629740" cy="253916"/>
            <a:chOff x="1936304" y="-857339"/>
            <a:chExt cx="8629740" cy="253916"/>
          </a:xfrm>
        </p:grpSpPr>
        <p:sp>
          <p:nvSpPr>
            <p:cNvPr id="108" name="타원 107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(</a:t>
              </a:r>
              <a:r>
                <a:rPr lang="ko-KR" altLang="en-US" sz="900" dirty="0">
                  <a:latin typeface="+mn-ea"/>
                  <a:ea typeface="+mn-ea"/>
                </a:rPr>
                <a:t>선택</a:t>
              </a:r>
              <a:r>
                <a:rPr lang="en-US" altLang="ko-KR" sz="900" dirty="0">
                  <a:latin typeface="+mn-ea"/>
                  <a:ea typeface="+mn-ea"/>
                </a:rPr>
                <a:t>)</a:t>
              </a:r>
              <a:endParaRPr lang="ko-KR" altLang="en-US" sz="900" dirty="0">
                <a:latin typeface="+mn-ea"/>
                <a:ea typeface="+mn-ea"/>
              </a:endParaRP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10296418" y="-857339"/>
              <a:ext cx="26962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 smtClean="0">
                  <a:latin typeface="+mn-ea"/>
                  <a:ea typeface="+mn-ea"/>
                </a:rPr>
                <a:t>V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sp>
        <p:nvSpPr>
          <p:cNvPr id="111" name="눈물 방울 110"/>
          <p:cNvSpPr/>
          <p:nvPr/>
        </p:nvSpPr>
        <p:spPr>
          <a:xfrm rot="5400000">
            <a:off x="9861950" y="3365253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12" name="눈물 방울 111"/>
          <p:cNvSpPr/>
          <p:nvPr/>
        </p:nvSpPr>
        <p:spPr>
          <a:xfrm rot="5400000">
            <a:off x="9648627" y="464916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13" name="그룹 112"/>
          <p:cNvGrpSpPr/>
          <p:nvPr/>
        </p:nvGrpSpPr>
        <p:grpSpPr>
          <a:xfrm>
            <a:off x="1793890" y="5912182"/>
            <a:ext cx="8342538" cy="253916"/>
            <a:chOff x="1936304" y="-857339"/>
            <a:chExt cx="8342538" cy="253916"/>
          </a:xfrm>
        </p:grpSpPr>
        <p:sp>
          <p:nvSpPr>
            <p:cNvPr id="115" name="타원 114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(</a:t>
              </a:r>
              <a:r>
                <a:rPr lang="ko-KR" altLang="en-US" sz="900" dirty="0">
                  <a:latin typeface="+mn-ea"/>
                  <a:ea typeface="+mn-ea"/>
                </a:rPr>
                <a:t>선택</a:t>
              </a:r>
              <a:r>
                <a:rPr lang="en-US" altLang="ko-KR" sz="900" dirty="0">
                  <a:latin typeface="+mn-ea"/>
                  <a:ea typeface="+mn-ea"/>
                </a:rPr>
                <a:t>)</a:t>
              </a:r>
              <a:endParaRPr lang="ko-KR" altLang="en-US" sz="900" dirty="0">
                <a:latin typeface="+mn-ea"/>
                <a:ea typeface="+mn-ea"/>
              </a:endParaRPr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999959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grpSp>
        <p:nvGrpSpPr>
          <p:cNvPr id="118" name="그룹 117"/>
          <p:cNvGrpSpPr/>
          <p:nvPr/>
        </p:nvGrpSpPr>
        <p:grpSpPr>
          <a:xfrm>
            <a:off x="1792288" y="6166098"/>
            <a:ext cx="8342538" cy="253916"/>
            <a:chOff x="1936304" y="-857339"/>
            <a:chExt cx="8342538" cy="253916"/>
          </a:xfrm>
        </p:grpSpPr>
        <p:sp>
          <p:nvSpPr>
            <p:cNvPr id="119" name="타원 118"/>
            <p:cNvSpPr/>
            <p:nvPr/>
          </p:nvSpPr>
          <p:spPr>
            <a:xfrm>
              <a:off x="1936304" y="-833237"/>
              <a:ext cx="180000" cy="180000"/>
            </a:xfrm>
            <a:prstGeom prst="ellipse">
              <a:avLst/>
            </a:prstGeom>
            <a:solidFill>
              <a:srgbClr val="FFFFFF"/>
            </a:solidFill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dirty="0">
                  <a:solidFill>
                    <a:schemeClr val="bg1">
                      <a:lumMod val="65000"/>
                    </a:schemeClr>
                  </a:solidFill>
                  <a:latin typeface="+mn-ea"/>
                  <a:ea typeface="+mn-ea"/>
                </a:rPr>
                <a:t>V</a:t>
              </a:r>
              <a:endParaRPr lang="ko-KR" altLang="en-US" sz="800" dirty="0">
                <a:solidFill>
                  <a:schemeClr val="bg1">
                    <a:lumMod val="6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2116304" y="-857339"/>
              <a:ext cx="18261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latin typeface="+mn-ea"/>
                  <a:ea typeface="+mn-ea"/>
                </a:rPr>
                <a:t>약관 타이틀 문구 입니다</a:t>
              </a:r>
              <a:r>
                <a:rPr lang="en-US" altLang="ko-KR" sz="900" dirty="0">
                  <a:latin typeface="+mn-ea"/>
                  <a:ea typeface="+mn-ea"/>
                </a:rPr>
                <a:t>. (</a:t>
              </a:r>
              <a:r>
                <a:rPr lang="ko-KR" altLang="en-US" sz="900" dirty="0">
                  <a:latin typeface="+mn-ea"/>
                  <a:ea typeface="+mn-ea"/>
                </a:rPr>
                <a:t>선택</a:t>
              </a:r>
              <a:r>
                <a:rPr lang="en-US" altLang="ko-KR" sz="900" dirty="0">
                  <a:latin typeface="+mn-ea"/>
                  <a:ea typeface="+mn-ea"/>
                </a:rPr>
                <a:t>)</a:t>
              </a:r>
              <a:endParaRPr lang="ko-KR" altLang="en-US" sz="900" dirty="0">
                <a:latin typeface="+mn-ea"/>
                <a:ea typeface="+mn-ea"/>
              </a:endParaRPr>
            </a:p>
          </p:txBody>
        </p:sp>
        <p:sp>
          <p:nvSpPr>
            <p:cNvPr id="121" name="TextBox 120"/>
            <p:cNvSpPr txBox="1"/>
            <p:nvPr/>
          </p:nvSpPr>
          <p:spPr>
            <a:xfrm>
              <a:off x="9999598" y="-857339"/>
              <a:ext cx="2792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50" dirty="0">
                  <a:latin typeface="+mn-ea"/>
                  <a:ea typeface="+mn-ea"/>
                </a:rPr>
                <a:t>&gt;</a:t>
              </a:r>
              <a:endParaRPr lang="ko-KR" altLang="en-US" sz="1050" dirty="0">
                <a:latin typeface="+mn-ea"/>
                <a:ea typeface="+mn-ea"/>
              </a:endParaRPr>
            </a:p>
          </p:txBody>
        </p:sp>
      </p:grpSp>
      <p:sp>
        <p:nvSpPr>
          <p:cNvPr id="68" name="직사각형 67"/>
          <p:cNvSpPr/>
          <p:nvPr/>
        </p:nvSpPr>
        <p:spPr>
          <a:xfrm>
            <a:off x="12881520" y="2055434"/>
            <a:ext cx="2880320" cy="1431289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(2026.03.10)</a:t>
            </a:r>
          </a:p>
          <a:p>
            <a:pPr>
              <a:spcBef>
                <a:spcPct val="50000"/>
              </a:spcBef>
            </a:pP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안면인증 관련 약관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추가</a:t>
            </a:r>
            <a:endParaRPr lang="en-US" altLang="ko-KR" sz="1000" b="1" dirty="0" smtClean="0">
              <a:solidFill>
                <a:srgbClr val="FF0000"/>
              </a:solidFill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 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추후 약관 정보 수령하여 추가</a:t>
            </a:r>
          </a:p>
        </p:txBody>
      </p:sp>
    </p:spTree>
    <p:extLst>
      <p:ext uri="{BB962C8B-B14F-4D97-AF65-F5344CB8AC3E}">
        <p14:creationId xmlns:p14="http://schemas.microsoft.com/office/powerpoint/2010/main" val="161653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6898636"/>
              </p:ext>
            </p:extLst>
          </p:nvPr>
        </p:nvGraphicFramePr>
        <p:xfrm>
          <a:off x="10505256" y="788950"/>
          <a:ext cx="2130330" cy="285119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좌측 메뉴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작성단계에 맞춰 활성화 되어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상품 정보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영역 화면에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내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항목이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선택되면 버튼 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필수값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 여부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입력값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다음 신청서 양식 펼침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5" name="직사각형 54"/>
          <p:cNvSpPr/>
          <p:nvPr/>
        </p:nvSpPr>
        <p:spPr>
          <a:xfrm>
            <a:off x="962696" y="1062154"/>
            <a:ext cx="9468000" cy="5580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7" name="직사각형 56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sp>
        <p:nvSpPr>
          <p:cNvPr id="143" name="직사각형 142"/>
          <p:cNvSpPr/>
          <p:nvPr/>
        </p:nvSpPr>
        <p:spPr>
          <a:xfrm>
            <a:off x="1072208" y="1125809"/>
            <a:ext cx="9252000" cy="1080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2000" b="1" dirty="0">
                <a:latin typeface="+mn-ea"/>
                <a:ea typeface="+mn-ea"/>
              </a:rPr>
              <a:t>고객 영역</a:t>
            </a:r>
          </a:p>
        </p:txBody>
      </p:sp>
      <p:sp>
        <p:nvSpPr>
          <p:cNvPr id="144" name="직사각형 143"/>
          <p:cNvSpPr/>
          <p:nvPr/>
        </p:nvSpPr>
        <p:spPr>
          <a:xfrm>
            <a:off x="1072208" y="2337442"/>
            <a:ext cx="9252000" cy="1080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2000" b="1" dirty="0">
                <a:latin typeface="+mn-ea"/>
                <a:ea typeface="+mn-ea"/>
              </a:rPr>
              <a:t>상품 영역</a:t>
            </a:r>
          </a:p>
        </p:txBody>
      </p:sp>
      <p:sp>
        <p:nvSpPr>
          <p:cNvPr id="150" name="눈물 방울 149"/>
          <p:cNvSpPr/>
          <p:nvPr/>
        </p:nvSpPr>
        <p:spPr>
          <a:xfrm rot="5400000">
            <a:off x="212878" y="8449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51" name="눈물 방울 150"/>
          <p:cNvSpPr/>
          <p:nvPr/>
        </p:nvSpPr>
        <p:spPr>
          <a:xfrm rot="5400000">
            <a:off x="967462" y="227290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38" name="그룹 37"/>
          <p:cNvGrpSpPr/>
          <p:nvPr/>
        </p:nvGrpSpPr>
        <p:grpSpPr>
          <a:xfrm>
            <a:off x="208192" y="1053530"/>
            <a:ext cx="720000" cy="4368542"/>
            <a:chOff x="13973303" y="1053530"/>
            <a:chExt cx="720000" cy="4368542"/>
          </a:xfrm>
        </p:grpSpPr>
        <p:sp>
          <p:nvSpPr>
            <p:cNvPr id="39" name="직사각형 38"/>
            <p:cNvSpPr/>
            <p:nvPr/>
          </p:nvSpPr>
          <p:spPr>
            <a:xfrm>
              <a:off x="13973303" y="1053530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신규</a:t>
              </a:r>
              <a:r>
                <a:rPr lang="en-US" altLang="ko-KR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40" name="직사각형 39"/>
            <p:cNvSpPr/>
            <p:nvPr/>
          </p:nvSpPr>
          <p:spPr>
            <a:xfrm>
              <a:off x="13973303" y="1598009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13973303" y="2133044"/>
              <a:ext cx="720000" cy="540000"/>
            </a:xfrm>
            <a:prstGeom prst="rect">
              <a:avLst/>
            </a:prstGeom>
            <a:solidFill>
              <a:srgbClr val="1BA6C7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명의변경</a:t>
              </a:r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13973303" y="3803079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해지</a:t>
              </a:r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13973303" y="4342575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부가기능</a:t>
              </a:r>
            </a:p>
          </p:txBody>
        </p:sp>
        <p:grpSp>
          <p:nvGrpSpPr>
            <p:cNvPr id="44" name="그룹 43"/>
            <p:cNvGrpSpPr/>
            <p:nvPr/>
          </p:nvGrpSpPr>
          <p:grpSpPr>
            <a:xfrm>
              <a:off x="13973303" y="4882072"/>
              <a:ext cx="720000" cy="540000"/>
              <a:chOff x="2452103" y="5640369"/>
              <a:chExt cx="720000" cy="540000"/>
            </a:xfrm>
          </p:grpSpPr>
          <p:sp>
            <p:nvSpPr>
              <p:cNvPr id="51" name="직사각형 50"/>
              <p:cNvSpPr/>
              <p:nvPr/>
            </p:nvSpPr>
            <p:spPr>
              <a:xfrm>
                <a:off x="2452103" y="5640369"/>
                <a:ext cx="720000" cy="540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rgbClr val="3CC4E4"/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12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52" name="Picture 5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07286" y="5718297"/>
                <a:ext cx="409575" cy="3905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45" name="직사각형 44"/>
            <p:cNvSpPr/>
            <p:nvPr/>
          </p:nvSpPr>
          <p:spPr>
            <a:xfrm>
              <a:off x="14010807" y="2709148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고객</a:t>
              </a:r>
            </a:p>
          </p:txBody>
        </p:sp>
        <p:sp>
          <p:nvSpPr>
            <p:cNvPr id="46" name="타원 45"/>
            <p:cNvSpPr/>
            <p:nvPr/>
          </p:nvSpPr>
          <p:spPr>
            <a:xfrm>
              <a:off x="14042310" y="2772522"/>
              <a:ext cx="216000" cy="216000"/>
            </a:xfrm>
            <a:prstGeom prst="ellipse">
              <a:avLst/>
            </a:prstGeom>
            <a:solidFill>
              <a:srgbClr val="1BA6C7"/>
            </a:solidFill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1</a:t>
              </a:r>
              <a:endParaRPr lang="ko-KR" altLang="en-US" sz="8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14010727" y="3067628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상품</a:t>
              </a:r>
            </a:p>
          </p:txBody>
        </p:sp>
        <p:sp>
          <p:nvSpPr>
            <p:cNvPr id="48" name="타원 47"/>
            <p:cNvSpPr/>
            <p:nvPr/>
          </p:nvSpPr>
          <p:spPr>
            <a:xfrm>
              <a:off x="14042310" y="3131002"/>
              <a:ext cx="216000" cy="216000"/>
            </a:xfrm>
            <a:prstGeom prst="ellipse">
              <a:avLst/>
            </a:prstGeom>
            <a:solidFill>
              <a:srgbClr val="1BA6C7"/>
            </a:solidFill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endParaRPr lang="ko-KR" altLang="en-US" sz="8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9" name="직사각형 48"/>
            <p:cNvSpPr/>
            <p:nvPr/>
          </p:nvSpPr>
          <p:spPr>
            <a:xfrm>
              <a:off x="14010727" y="3427668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동의</a:t>
              </a:r>
            </a:p>
          </p:txBody>
        </p:sp>
        <p:sp>
          <p:nvSpPr>
            <p:cNvPr id="50" name="타원 49"/>
            <p:cNvSpPr/>
            <p:nvPr/>
          </p:nvSpPr>
          <p:spPr>
            <a:xfrm>
              <a:off x="14042310" y="3491042"/>
              <a:ext cx="216000" cy="216000"/>
            </a:xfrm>
            <a:prstGeom prst="ellipse">
              <a:avLst/>
            </a:prstGeom>
            <a:noFill/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endParaRPr lang="ko-KR" altLang="en-US" sz="8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75" name="TextBox 74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35" name="직사각형 34"/>
          <p:cNvSpPr/>
          <p:nvPr/>
        </p:nvSpPr>
        <p:spPr>
          <a:xfrm>
            <a:off x="9641240" y="6274520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다음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8" name="눈물 방울 57"/>
          <p:cNvSpPr/>
          <p:nvPr/>
        </p:nvSpPr>
        <p:spPr>
          <a:xfrm rot="5400000">
            <a:off x="9390553" y="6311859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22867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직사각형 28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graphicFrame>
        <p:nvGraphicFramePr>
          <p:cNvPr id="52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4376405"/>
              </p:ext>
            </p:extLst>
          </p:nvPr>
        </p:nvGraphicFramePr>
        <p:xfrm>
          <a:off x="10505256" y="788950"/>
          <a:ext cx="2130330" cy="455807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보유 여부에 따라 입력 항목 노출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구매 선택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노출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스캔 팝업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신규</a:t>
                      </a:r>
                      <a:r>
                        <a:rPr lang="en-US" altLang="ko-KR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1" kern="1200" dirty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변경 서식지와 동일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번호의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유효한 경우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Text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Box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비활성화 처리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유효하지 않은 경우 사용 불가 안내 메시지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표시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USIM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구매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DB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테이블에 등록된 판매점 재고 유효성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USIM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유효성 체크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(X85)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7" name="직사각형 56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grpSp>
        <p:nvGrpSpPr>
          <p:cNvPr id="58" name="그룹 57"/>
          <p:cNvGrpSpPr/>
          <p:nvPr/>
        </p:nvGrpSpPr>
        <p:grpSpPr>
          <a:xfrm>
            <a:off x="1072208" y="1167349"/>
            <a:ext cx="9252000" cy="246221"/>
            <a:chOff x="1072208" y="1117425"/>
            <a:chExt cx="9252000" cy="246221"/>
          </a:xfrm>
        </p:grpSpPr>
        <p:sp>
          <p:nvSpPr>
            <p:cNvPr id="59" name="TextBox 58"/>
            <p:cNvSpPr txBox="1"/>
            <p:nvPr/>
          </p:nvSpPr>
          <p:spPr>
            <a:xfrm>
              <a:off x="1072208" y="1117425"/>
              <a:ext cx="81464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정보</a:t>
              </a:r>
            </a:p>
          </p:txBody>
        </p:sp>
        <p:cxnSp>
          <p:nvCxnSpPr>
            <p:cNvPr id="60" name="직선 연결선 59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1" name="눈물 방울 60"/>
          <p:cNvSpPr/>
          <p:nvPr/>
        </p:nvSpPr>
        <p:spPr>
          <a:xfrm rot="5400000">
            <a:off x="942909" y="1134098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89" name="그룹 88"/>
          <p:cNvGrpSpPr/>
          <p:nvPr/>
        </p:nvGrpSpPr>
        <p:grpSpPr>
          <a:xfrm>
            <a:off x="1053932" y="1521610"/>
            <a:ext cx="4302660" cy="252000"/>
            <a:chOff x="640160" y="-566622"/>
            <a:chExt cx="4302660" cy="252000"/>
          </a:xfrm>
        </p:grpSpPr>
        <p:sp>
          <p:nvSpPr>
            <p:cNvPr id="90" name="직사각형 89"/>
            <p:cNvSpPr/>
            <p:nvPr/>
          </p:nvSpPr>
          <p:spPr>
            <a:xfrm>
              <a:off x="2129491" y="-566622"/>
              <a:ext cx="97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현재 </a:t>
              </a: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사용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1" name="직사각형 90"/>
            <p:cNvSpPr/>
            <p:nvPr/>
          </p:nvSpPr>
          <p:spPr>
            <a:xfrm>
              <a:off x="3178716" y="-566622"/>
              <a:ext cx="828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구매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640160" y="-556038"/>
              <a:ext cx="72006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보유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7" name="직사각형 46"/>
            <p:cNvSpPr/>
            <p:nvPr/>
          </p:nvSpPr>
          <p:spPr>
            <a:xfrm>
              <a:off x="4114820" y="-566622"/>
              <a:ext cx="828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err="1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eSIM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31" name="그룹 30"/>
          <p:cNvGrpSpPr/>
          <p:nvPr/>
        </p:nvGrpSpPr>
        <p:grpSpPr>
          <a:xfrm>
            <a:off x="1072208" y="3486993"/>
            <a:ext cx="9252000" cy="246221"/>
            <a:chOff x="1072208" y="1117425"/>
            <a:chExt cx="9252000" cy="246221"/>
          </a:xfrm>
        </p:grpSpPr>
        <p:sp>
          <p:nvSpPr>
            <p:cNvPr id="32" name="TextBox 31"/>
            <p:cNvSpPr txBox="1"/>
            <p:nvPr/>
          </p:nvSpPr>
          <p:spPr>
            <a:xfrm>
              <a:off x="1072208" y="1117425"/>
              <a:ext cx="81464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정보</a:t>
              </a:r>
            </a:p>
          </p:txBody>
        </p:sp>
        <p:cxnSp>
          <p:nvCxnSpPr>
            <p:cNvPr id="33" name="직선 연결선 32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그룹 33"/>
          <p:cNvGrpSpPr/>
          <p:nvPr/>
        </p:nvGrpSpPr>
        <p:grpSpPr>
          <a:xfrm>
            <a:off x="1053932" y="3841106"/>
            <a:ext cx="4410764" cy="252148"/>
            <a:chOff x="640160" y="-566770"/>
            <a:chExt cx="4410764" cy="252148"/>
          </a:xfrm>
        </p:grpSpPr>
        <p:sp>
          <p:nvSpPr>
            <p:cNvPr id="35" name="직사각형 34"/>
            <p:cNvSpPr/>
            <p:nvPr/>
          </p:nvSpPr>
          <p:spPr>
            <a:xfrm>
              <a:off x="2129491" y="-566622"/>
              <a:ext cx="97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현재 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사용</a:t>
              </a:r>
            </a:p>
          </p:txBody>
        </p:sp>
        <p:sp>
          <p:nvSpPr>
            <p:cNvPr id="36" name="직사각형 35"/>
            <p:cNvSpPr/>
            <p:nvPr/>
          </p:nvSpPr>
          <p:spPr>
            <a:xfrm>
              <a:off x="3178716" y="-566622"/>
              <a:ext cx="828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구매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0160" y="-556038"/>
              <a:ext cx="72006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보유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4078924" y="-566770"/>
              <a:ext cx="97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err="1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eSIM</a:t>
              </a:r>
              <a:endParaRPr lang="ko-KR" altLang="en-US" sz="900" dirty="0">
                <a:solidFill>
                  <a:schemeClr val="bg1">
                    <a:lumMod val="6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39" name="그룹 38"/>
          <p:cNvGrpSpPr/>
          <p:nvPr/>
        </p:nvGrpSpPr>
        <p:grpSpPr>
          <a:xfrm>
            <a:off x="1056973" y="4201294"/>
            <a:ext cx="3535001" cy="252000"/>
            <a:chOff x="640160" y="-566622"/>
            <a:chExt cx="3535001" cy="252000"/>
          </a:xfrm>
        </p:grpSpPr>
        <p:sp>
          <p:nvSpPr>
            <p:cNvPr id="40" name="직사각형 39"/>
            <p:cNvSpPr/>
            <p:nvPr/>
          </p:nvSpPr>
          <p:spPr>
            <a:xfrm>
              <a:off x="2126450" y="-566622"/>
              <a:ext cx="97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일반 </a:t>
              </a:r>
              <a:r>
                <a:rPr lang="en-US" altLang="ko-KR" sz="900" b="1" dirty="0">
                  <a:latin typeface="맑은 고딕" pitchFamily="50" charset="-127"/>
                  <a:ea typeface="맑은 고딕" pitchFamily="50" charset="-127"/>
                </a:rPr>
                <a:t>6,600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원</a:t>
              </a: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3203161" y="-566622"/>
              <a:ext cx="97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NFC 8,800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원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40160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선택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43" name="오른쪽 중괄호 42"/>
          <p:cNvSpPr/>
          <p:nvPr/>
        </p:nvSpPr>
        <p:spPr>
          <a:xfrm>
            <a:off x="7887090" y="4165262"/>
            <a:ext cx="313910" cy="102870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/>
          <p:cNvSpPr/>
          <p:nvPr/>
        </p:nvSpPr>
        <p:spPr>
          <a:xfrm>
            <a:off x="8158951" y="4551725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‘USIM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구매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인 경우만 항목 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1034704" y="4555631"/>
            <a:ext cx="3908684" cy="252000"/>
            <a:chOff x="602656" y="-566622"/>
            <a:chExt cx="3908684" cy="252000"/>
          </a:xfrm>
        </p:grpSpPr>
        <p:sp>
          <p:nvSpPr>
            <p:cNvPr id="54" name="TextBox 53"/>
            <p:cNvSpPr txBox="1"/>
            <p:nvPr/>
          </p:nvSpPr>
          <p:spPr>
            <a:xfrm>
              <a:off x="602656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5" name="직사각형 54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 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19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endPara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56" name="직사각형 55"/>
          <p:cNvSpPr/>
          <p:nvPr/>
        </p:nvSpPr>
        <p:spPr>
          <a:xfrm>
            <a:off x="6040884" y="4560586"/>
            <a:ext cx="16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USIM</a:t>
            </a: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번호 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유효성 체크</a:t>
            </a:r>
          </a:p>
        </p:txBody>
      </p:sp>
      <p:sp>
        <p:nvSpPr>
          <p:cNvPr id="62" name="눈물 방울 61"/>
          <p:cNvSpPr/>
          <p:nvPr/>
        </p:nvSpPr>
        <p:spPr>
          <a:xfrm rot="5400000">
            <a:off x="6874907" y="433477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3" name="눈물 방울 62"/>
          <p:cNvSpPr/>
          <p:nvPr/>
        </p:nvSpPr>
        <p:spPr>
          <a:xfrm rot="5400000">
            <a:off x="5492179" y="4319970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4" name="직사각형 63"/>
          <p:cNvSpPr/>
          <p:nvPr/>
        </p:nvSpPr>
        <p:spPr>
          <a:xfrm>
            <a:off x="5032648" y="4561334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65" name="눈물 방울 64"/>
          <p:cNvSpPr/>
          <p:nvPr/>
        </p:nvSpPr>
        <p:spPr>
          <a:xfrm rot="5400000">
            <a:off x="677586" y="3136996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6" name="직사각형 65"/>
          <p:cNvSpPr/>
          <p:nvPr/>
        </p:nvSpPr>
        <p:spPr>
          <a:xfrm>
            <a:off x="886143" y="3141761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USIM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구매 여부에 따른 선택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173136" y="2781722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grpSp>
        <p:nvGrpSpPr>
          <p:cNvPr id="70" name="그룹 69"/>
          <p:cNvGrpSpPr/>
          <p:nvPr/>
        </p:nvGrpSpPr>
        <p:grpSpPr>
          <a:xfrm>
            <a:off x="1053932" y="4941962"/>
            <a:ext cx="3743872" cy="252000"/>
            <a:chOff x="640160" y="-566622"/>
            <a:chExt cx="3743872" cy="252000"/>
          </a:xfrm>
        </p:grpSpPr>
        <p:sp>
          <p:nvSpPr>
            <p:cNvPr id="73" name="직사각형 72"/>
            <p:cNvSpPr/>
            <p:nvPr/>
          </p:nvSpPr>
          <p:spPr>
            <a:xfrm>
              <a:off x="2129491" y="-566622"/>
              <a:ext cx="72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즉시납부</a:t>
              </a:r>
            </a:p>
          </p:txBody>
        </p:sp>
        <p:sp>
          <p:nvSpPr>
            <p:cNvPr id="74" name="직사각형 73"/>
            <p:cNvSpPr/>
            <p:nvPr/>
          </p:nvSpPr>
          <p:spPr>
            <a:xfrm>
              <a:off x="2944032" y="-566622"/>
              <a:ext cx="144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다음달 요금에 합산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640160" y="-556038"/>
              <a:ext cx="107593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구매 방식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84" name="직사각형 83"/>
          <p:cNvSpPr/>
          <p:nvPr/>
        </p:nvSpPr>
        <p:spPr>
          <a:xfrm>
            <a:off x="8201000" y="1444769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en-US" altLang="ko-KR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eSIM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개통건인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경우 영역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비노출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85" name="오른쪽 중괄호 84"/>
          <p:cNvSpPr/>
          <p:nvPr/>
        </p:nvSpPr>
        <p:spPr>
          <a:xfrm>
            <a:off x="7840960" y="1053530"/>
            <a:ext cx="313910" cy="102870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46" name="표 4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5584660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eSIM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78782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S103020101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71" name="그룹 70"/>
          <p:cNvGrpSpPr/>
          <p:nvPr/>
        </p:nvGrpSpPr>
        <p:grpSpPr>
          <a:xfrm>
            <a:off x="1037723" y="1320720"/>
            <a:ext cx="3908684" cy="252000"/>
            <a:chOff x="602656" y="-566622"/>
            <a:chExt cx="3908684" cy="252000"/>
          </a:xfrm>
        </p:grpSpPr>
        <p:sp>
          <p:nvSpPr>
            <p:cNvPr id="80" name="TextBox 79"/>
            <p:cNvSpPr txBox="1"/>
            <p:nvPr/>
          </p:nvSpPr>
          <p:spPr>
            <a:xfrm>
              <a:off x="602656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1" name="직사각형 80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1234567890123456789</a:t>
              </a:r>
            </a:p>
          </p:txBody>
        </p:sp>
      </p:grpSp>
      <p:sp>
        <p:nvSpPr>
          <p:cNvPr id="82" name="직사각형 81"/>
          <p:cNvSpPr/>
          <p:nvPr/>
        </p:nvSpPr>
        <p:spPr>
          <a:xfrm>
            <a:off x="6043903" y="1319972"/>
            <a:ext cx="162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USIM</a:t>
            </a:r>
            <a:r>
              <a:rPr lang="ko-KR" altLang="en-US" sz="1000" b="1" dirty="0" smtClean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번호 </a:t>
            </a: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유효성 체크</a:t>
            </a:r>
          </a:p>
        </p:txBody>
      </p:sp>
      <p:sp>
        <p:nvSpPr>
          <p:cNvPr id="83" name="눈물 방울 82"/>
          <p:cNvSpPr/>
          <p:nvPr/>
        </p:nvSpPr>
        <p:spPr>
          <a:xfrm rot="5400000">
            <a:off x="6877926" y="109416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4" name="직사각형 83"/>
          <p:cNvSpPr/>
          <p:nvPr/>
        </p:nvSpPr>
        <p:spPr>
          <a:xfrm>
            <a:off x="5035667" y="1320720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85" name="그룹 84"/>
          <p:cNvGrpSpPr/>
          <p:nvPr/>
        </p:nvGrpSpPr>
        <p:grpSpPr>
          <a:xfrm>
            <a:off x="1040742" y="2076768"/>
            <a:ext cx="3908684" cy="252000"/>
            <a:chOff x="602656" y="-566622"/>
            <a:chExt cx="3908684" cy="252000"/>
          </a:xfrm>
        </p:grpSpPr>
        <p:sp>
          <p:nvSpPr>
            <p:cNvPr id="86" name="TextBox 85"/>
            <p:cNvSpPr txBox="1"/>
            <p:nvPr/>
          </p:nvSpPr>
          <p:spPr>
            <a:xfrm>
              <a:off x="602656" y="-556038"/>
              <a:ext cx="8050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번호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7" name="직사각형 86"/>
            <p:cNvSpPr/>
            <p:nvPr/>
          </p:nvSpPr>
          <p:spPr>
            <a:xfrm>
              <a:off x="2114988" y="-566622"/>
              <a:ext cx="2396352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1234567890123456789</a:t>
              </a:r>
            </a:p>
          </p:txBody>
        </p:sp>
      </p:grpSp>
      <p:sp>
        <p:nvSpPr>
          <p:cNvPr id="88" name="직사각형 87"/>
          <p:cNvSpPr/>
          <p:nvPr/>
        </p:nvSpPr>
        <p:spPr>
          <a:xfrm>
            <a:off x="6046922" y="2076020"/>
            <a:ext cx="162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en-US" altLang="ko-KR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USIM</a:t>
            </a:r>
            <a:r>
              <a:rPr lang="ko-KR" altLang="en-US" sz="10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번호 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유효성 체크 완료</a:t>
            </a:r>
          </a:p>
        </p:txBody>
      </p:sp>
      <p:sp>
        <p:nvSpPr>
          <p:cNvPr id="89" name="눈물 방울 88"/>
          <p:cNvSpPr/>
          <p:nvPr/>
        </p:nvSpPr>
        <p:spPr>
          <a:xfrm rot="5400000">
            <a:off x="6880945" y="185021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0" name="직사각형 89"/>
          <p:cNvSpPr/>
          <p:nvPr/>
        </p:nvSpPr>
        <p:spPr>
          <a:xfrm>
            <a:off x="5038686" y="2076768"/>
            <a:ext cx="90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스캔하기</a:t>
            </a:r>
            <a:endParaRPr lang="ko-KR" altLang="en-US" sz="1000" b="1" dirty="0">
              <a:solidFill>
                <a:schemeClr val="bg1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1" name="눈물 방울 90"/>
          <p:cNvSpPr/>
          <p:nvPr/>
        </p:nvSpPr>
        <p:spPr>
          <a:xfrm rot="5400000">
            <a:off x="644926" y="1028342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92" name="직사각형 91"/>
          <p:cNvSpPr/>
          <p:nvPr/>
        </p:nvSpPr>
        <p:spPr>
          <a:xfrm>
            <a:off x="928192" y="1032624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928192" y="1794515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98" name="눈물 방울 97"/>
          <p:cNvSpPr/>
          <p:nvPr/>
        </p:nvSpPr>
        <p:spPr>
          <a:xfrm rot="5400000">
            <a:off x="428902" y="300570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9" name="직사각형 58"/>
          <p:cNvSpPr/>
          <p:nvPr/>
        </p:nvSpPr>
        <p:spPr>
          <a:xfrm>
            <a:off x="173136" y="621482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60" name="직사각형 59"/>
          <p:cNvSpPr/>
          <p:nvPr/>
        </p:nvSpPr>
        <p:spPr>
          <a:xfrm>
            <a:off x="173136" y="2586604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grpSp>
        <p:nvGrpSpPr>
          <p:cNvPr id="62" name="그룹 61"/>
          <p:cNvGrpSpPr/>
          <p:nvPr/>
        </p:nvGrpSpPr>
        <p:grpSpPr>
          <a:xfrm>
            <a:off x="640160" y="3256376"/>
            <a:ext cx="2881818" cy="1397063"/>
            <a:chOff x="5875124" y="3832891"/>
            <a:chExt cx="2881818" cy="1397063"/>
          </a:xfrm>
        </p:grpSpPr>
        <p:sp>
          <p:nvSpPr>
            <p:cNvPr id="63" name="직사각형 62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유효하지 않은 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입니다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100" name="직사각형 99"/>
          <p:cNvSpPr/>
          <p:nvPr/>
        </p:nvSpPr>
        <p:spPr>
          <a:xfrm>
            <a:off x="671617" y="2967549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유효하지 않은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USIM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01" name="그룹 100"/>
          <p:cNvGrpSpPr/>
          <p:nvPr/>
        </p:nvGrpSpPr>
        <p:grpSpPr>
          <a:xfrm>
            <a:off x="3736504" y="3256867"/>
            <a:ext cx="2881818" cy="1397063"/>
            <a:chOff x="5875124" y="3832891"/>
            <a:chExt cx="2881818" cy="1397063"/>
          </a:xfrm>
        </p:grpSpPr>
        <p:sp>
          <p:nvSpPr>
            <p:cNvPr id="102" name="직사각형 101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03" name="직사각형 102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104" name="직사각형 103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사용 가능한 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번호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입니다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105" name="직사각형 104"/>
          <p:cNvSpPr/>
          <p:nvPr/>
        </p:nvSpPr>
        <p:spPr>
          <a:xfrm>
            <a:off x="3767961" y="2968040"/>
            <a:ext cx="270634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유효한 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USIM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982942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직사각형 96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grpSp>
        <p:nvGrpSpPr>
          <p:cNvPr id="59" name="그룹 58"/>
          <p:cNvGrpSpPr/>
          <p:nvPr/>
        </p:nvGrpSpPr>
        <p:grpSpPr>
          <a:xfrm>
            <a:off x="1072208" y="1053530"/>
            <a:ext cx="9252000" cy="246221"/>
            <a:chOff x="1072208" y="1117425"/>
            <a:chExt cx="9252000" cy="246221"/>
          </a:xfrm>
        </p:grpSpPr>
        <p:sp>
          <p:nvSpPr>
            <p:cNvPr id="60" name="TextBox 59"/>
            <p:cNvSpPr txBox="1"/>
            <p:nvPr/>
          </p:nvSpPr>
          <p:spPr>
            <a:xfrm>
              <a:off x="1072208" y="1117425"/>
              <a:ext cx="7216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000" b="1" dirty="0" smtClean="0">
                  <a:latin typeface="맑은 고딕" pitchFamily="50" charset="-127"/>
                  <a:ea typeface="맑은 고딕" pitchFamily="50" charset="-127"/>
                </a:rPr>
                <a:t>SIM</a:t>
              </a:r>
              <a:r>
                <a:rPr lang="ko-KR" altLang="en-US" sz="10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정보</a:t>
              </a:r>
            </a:p>
          </p:txBody>
        </p:sp>
        <p:cxnSp>
          <p:nvCxnSpPr>
            <p:cNvPr id="61" name="직선 연결선 60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그룹 61"/>
          <p:cNvGrpSpPr/>
          <p:nvPr/>
        </p:nvGrpSpPr>
        <p:grpSpPr>
          <a:xfrm>
            <a:off x="1053932" y="1407791"/>
            <a:ext cx="4266748" cy="259098"/>
            <a:chOff x="640160" y="-566622"/>
            <a:chExt cx="4266748" cy="259098"/>
          </a:xfrm>
        </p:grpSpPr>
        <p:sp>
          <p:nvSpPr>
            <p:cNvPr id="63" name="직사각형 62"/>
            <p:cNvSpPr/>
            <p:nvPr/>
          </p:nvSpPr>
          <p:spPr>
            <a:xfrm>
              <a:off x="2129491" y="-566622"/>
              <a:ext cx="972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현재 </a:t>
              </a:r>
              <a:r>
                <a:rPr lang="en-US" altLang="ko-KR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사용</a:t>
              </a: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3160056" y="-566622"/>
              <a:ext cx="828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USIM</a:t>
              </a:r>
              <a:r>
                <a:rPr lang="ko-KR" altLang="en-US" sz="900" dirty="0" smtClean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구매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640160" y="-556038"/>
              <a:ext cx="72006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latin typeface="맑은 고딕" pitchFamily="50" charset="-127"/>
                  <a:ea typeface="맑은 고딕" pitchFamily="50" charset="-127"/>
                </a:rPr>
                <a:t>SIM</a:t>
              </a:r>
              <a:r>
                <a:rPr lang="ko-KR" altLang="en-US" sz="900" b="1" dirty="0" smtClean="0">
                  <a:latin typeface="맑은 고딕" pitchFamily="50" charset="-127"/>
                  <a:ea typeface="맑은 고딕" pitchFamily="50" charset="-127"/>
                </a:rPr>
                <a:t> 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보유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9" name="직사각형 68"/>
            <p:cNvSpPr/>
            <p:nvPr/>
          </p:nvSpPr>
          <p:spPr>
            <a:xfrm>
              <a:off x="4078908" y="-559524"/>
              <a:ext cx="828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err="1">
                  <a:latin typeface="맑은 고딕" pitchFamily="50" charset="-127"/>
                  <a:ea typeface="맑은 고딕" pitchFamily="50" charset="-127"/>
                </a:rPr>
                <a:t>eSIM</a:t>
              </a:r>
              <a:endParaRPr lang="ko-KR" altLang="en-US" sz="900" b="1" dirty="0"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6" name="TextBox 95"/>
          <p:cNvSpPr txBox="1"/>
          <p:nvPr/>
        </p:nvSpPr>
        <p:spPr>
          <a:xfrm>
            <a:off x="1072208" y="1771637"/>
            <a:ext cx="85472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휴대폰 정보</a:t>
            </a:r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*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8" name="직사각형 97"/>
          <p:cNvSpPr/>
          <p:nvPr/>
        </p:nvSpPr>
        <p:spPr>
          <a:xfrm>
            <a:off x="2546366" y="1761053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휴대폰 모델명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99" name="직사각형 98"/>
          <p:cNvSpPr/>
          <p:nvPr/>
        </p:nvSpPr>
        <p:spPr>
          <a:xfrm>
            <a:off x="4778614" y="1761053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EID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0" name="직사각형 99"/>
          <p:cNvSpPr/>
          <p:nvPr/>
        </p:nvSpPr>
        <p:spPr>
          <a:xfrm>
            <a:off x="2546366" y="2049085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IMEI1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1" name="직사각형 100"/>
          <p:cNvSpPr/>
          <p:nvPr/>
        </p:nvSpPr>
        <p:spPr>
          <a:xfrm>
            <a:off x="4778614" y="2049085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IMEI2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02" name="눈물 방울 101"/>
          <p:cNvSpPr/>
          <p:nvPr/>
        </p:nvSpPr>
        <p:spPr>
          <a:xfrm rot="5400000">
            <a:off x="3813278" y="2346010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3" name="직사각형 102"/>
          <p:cNvSpPr/>
          <p:nvPr/>
        </p:nvSpPr>
        <p:spPr>
          <a:xfrm>
            <a:off x="2544831" y="2336797"/>
            <a:ext cx="1188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이미지 등록</a:t>
            </a:r>
          </a:p>
        </p:txBody>
      </p:sp>
      <p:graphicFrame>
        <p:nvGraphicFramePr>
          <p:cNvPr id="104" name="Group 175">
            <a:extLst>
              <a:ext uri="{FF2B5EF4-FFF2-40B4-BE49-F238E27FC236}">
                <a16:creationId xmlns:a16="http://schemas.microsoft.com/office/drawing/2014/main" xmlns="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5740881"/>
              </p:ext>
            </p:extLst>
          </p:nvPr>
        </p:nvGraphicFramePr>
        <p:xfrm>
          <a:off x="10505256" y="788950"/>
          <a:ext cx="2130330" cy="3754539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1-1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정보 입력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 정보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 항목 모두 비활성화되어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이미지 등록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활성화 되어 표시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이미지 등록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이미지 선택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브라우져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 정보 유효성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DB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테이블에 등록된 판매점 재고 유효성 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기기원부조회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(Y13)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11"/>
                  </a:ext>
                </a:extLst>
              </a:tr>
            </a:tbl>
          </a:graphicData>
        </a:graphic>
      </p:graphicFrame>
      <p:sp>
        <p:nvSpPr>
          <p:cNvPr id="107" name="눈물 방울 106"/>
          <p:cNvSpPr/>
          <p:nvPr/>
        </p:nvSpPr>
        <p:spPr>
          <a:xfrm rot="5400000">
            <a:off x="644926" y="3014370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8" name="직사각형 107"/>
          <p:cNvSpPr/>
          <p:nvPr/>
        </p:nvSpPr>
        <p:spPr>
          <a:xfrm>
            <a:off x="928192" y="3018652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09" name="그룹 108"/>
          <p:cNvGrpSpPr/>
          <p:nvPr/>
        </p:nvGrpSpPr>
        <p:grpSpPr>
          <a:xfrm>
            <a:off x="670118" y="4913051"/>
            <a:ext cx="2881818" cy="1397063"/>
            <a:chOff x="5875124" y="3832891"/>
            <a:chExt cx="2881818" cy="1397063"/>
          </a:xfrm>
        </p:grpSpPr>
        <p:sp>
          <p:nvSpPr>
            <p:cNvPr id="110" name="직사각형 109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1" name="직사각형 110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112" name="직사각형 111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 정보 인증에 실패하였습니다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 정보를 다시 확인해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- 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실패 사유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13" name="직사각형 112"/>
          <p:cNvSpPr/>
          <p:nvPr/>
        </p:nvSpPr>
        <p:spPr>
          <a:xfrm>
            <a:off x="724129" y="4618197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 정보 유효성 오류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14" name="눈물 방울 113"/>
          <p:cNvSpPr/>
          <p:nvPr/>
        </p:nvSpPr>
        <p:spPr>
          <a:xfrm rot="5400000">
            <a:off x="356894" y="4620254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115" name="그룹 114"/>
          <p:cNvGrpSpPr/>
          <p:nvPr/>
        </p:nvGrpSpPr>
        <p:grpSpPr>
          <a:xfrm>
            <a:off x="3897173" y="4913051"/>
            <a:ext cx="2881818" cy="1397063"/>
            <a:chOff x="5875124" y="3832891"/>
            <a:chExt cx="2881818" cy="1397063"/>
          </a:xfrm>
        </p:grpSpPr>
        <p:sp>
          <p:nvSpPr>
            <p:cNvPr id="116" name="직사각형 115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17" name="직사각형 116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118" name="직사각형 117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휴대폰 정보 인증이 완료되었습니다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119" name="직사각형 118"/>
          <p:cNvSpPr/>
          <p:nvPr/>
        </p:nvSpPr>
        <p:spPr>
          <a:xfrm>
            <a:off x="3951184" y="4618197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휴대폰 정보 유효성 체크 완료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120" name="직사각형 119"/>
          <p:cNvSpPr/>
          <p:nvPr/>
        </p:nvSpPr>
        <p:spPr>
          <a:xfrm>
            <a:off x="173136" y="265861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121" name="직사각형 120"/>
          <p:cNvSpPr/>
          <p:nvPr/>
        </p:nvSpPr>
        <p:spPr>
          <a:xfrm>
            <a:off x="173136" y="4242788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72208" y="3281612"/>
            <a:ext cx="85472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휴대폰 정보</a:t>
            </a:r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*</a:t>
            </a:r>
            <a:endParaRPr lang="ko-KR" altLang="en-US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3" name="직사각형 122"/>
          <p:cNvSpPr/>
          <p:nvPr/>
        </p:nvSpPr>
        <p:spPr>
          <a:xfrm>
            <a:off x="2546366" y="3271028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휴대폰 모델명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4" name="직사각형 123"/>
          <p:cNvSpPr/>
          <p:nvPr/>
        </p:nvSpPr>
        <p:spPr>
          <a:xfrm>
            <a:off x="4778614" y="3271028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EID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5" name="직사각형 124"/>
          <p:cNvSpPr/>
          <p:nvPr/>
        </p:nvSpPr>
        <p:spPr>
          <a:xfrm>
            <a:off x="2546366" y="3559060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IMEI1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6" name="직사각형 125"/>
          <p:cNvSpPr/>
          <p:nvPr/>
        </p:nvSpPr>
        <p:spPr>
          <a:xfrm>
            <a:off x="4778614" y="3559060"/>
            <a:ext cx="2126242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IMEI2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7" name="눈물 방울 126"/>
          <p:cNvSpPr/>
          <p:nvPr/>
        </p:nvSpPr>
        <p:spPr>
          <a:xfrm rot="5400000">
            <a:off x="3813278" y="385598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28" name="직사각형 127"/>
          <p:cNvSpPr/>
          <p:nvPr/>
        </p:nvSpPr>
        <p:spPr>
          <a:xfrm>
            <a:off x="2544831" y="3846772"/>
            <a:ext cx="1188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이미지 등록 완료</a:t>
            </a:r>
          </a:p>
        </p:txBody>
      </p:sp>
      <p:sp>
        <p:nvSpPr>
          <p:cNvPr id="130" name="눈물 방울 129"/>
          <p:cNvSpPr/>
          <p:nvPr/>
        </p:nvSpPr>
        <p:spPr>
          <a:xfrm rot="5400000">
            <a:off x="667786" y="113300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aphicFrame>
        <p:nvGraphicFramePr>
          <p:cNvPr id="44" name="표 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217211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eSIM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S103020101</a:t>
            </a:r>
            <a:endParaRPr lang="ko-KR" altLang="en-US" sz="1000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888750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/>
          <p:cNvSpPr/>
          <p:nvPr/>
        </p:nvSpPr>
        <p:spPr>
          <a:xfrm>
            <a:off x="962696" y="981522"/>
            <a:ext cx="9468000" cy="5508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52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4926242"/>
              </p:ext>
            </p:extLst>
          </p:nvPr>
        </p:nvGraphicFramePr>
        <p:xfrm>
          <a:off x="10505256" y="788950"/>
          <a:ext cx="2130330" cy="7822152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명세서 수신 유형 선택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디폴트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모바일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명세서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 납부 방법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디폴트 </a:t>
                      </a:r>
                      <a:r>
                        <a:rPr lang="en-US" altLang="ko-KR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자동이체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메모 입력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계좌번호 유효성 체크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은행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계좌번호 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계좌번호 유효성 체크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은행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계좌번호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계좌번호 유효성 체크 후 가입 가능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계좌번호 유효성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계좌번호 인증조회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(Y26)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신용카드 유효성 체크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카드사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카드번호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유효기간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(MM),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유효기간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(YY)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신용카드 유효성 체크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카드사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카드번호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유효기간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(MM),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유효기간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(YY)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신용카드 유효성 체크 후 가입 가능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신용카드 유효성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체크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플랫폼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신용카드 유효성 검증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(X91)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청구계정 체크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청구계정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ID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인증 완료 이후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버튼명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변경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청구계정 체크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비활성화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 비활성화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불가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청구계정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ID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청구계정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ID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 후 가입 가능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청구계정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ID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grpSp>
        <p:nvGrpSpPr>
          <p:cNvPr id="58" name="그룹 57"/>
          <p:cNvGrpSpPr/>
          <p:nvPr/>
        </p:nvGrpSpPr>
        <p:grpSpPr>
          <a:xfrm>
            <a:off x="1072208" y="1167349"/>
            <a:ext cx="9252000" cy="246221"/>
            <a:chOff x="1072208" y="1117425"/>
            <a:chExt cx="9252000" cy="246221"/>
          </a:xfrm>
        </p:grpSpPr>
        <p:sp>
          <p:nvSpPr>
            <p:cNvPr id="59" name="TextBox 58"/>
            <p:cNvSpPr txBox="1"/>
            <p:nvPr/>
          </p:nvSpPr>
          <p:spPr>
            <a:xfrm>
              <a:off x="1072208" y="1117425"/>
              <a:ext cx="74251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납부 정보</a:t>
              </a:r>
            </a:p>
          </p:txBody>
        </p:sp>
        <p:cxnSp>
          <p:nvCxnSpPr>
            <p:cNvPr id="60" name="직선 연결선 59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그룹 66"/>
          <p:cNvGrpSpPr/>
          <p:nvPr/>
        </p:nvGrpSpPr>
        <p:grpSpPr>
          <a:xfrm>
            <a:off x="1054956" y="1773610"/>
            <a:ext cx="3739658" cy="252000"/>
            <a:chOff x="1053932" y="-893575"/>
            <a:chExt cx="3739658" cy="252000"/>
          </a:xfrm>
        </p:grpSpPr>
        <p:sp>
          <p:nvSpPr>
            <p:cNvPr id="68" name="직사각형 67"/>
            <p:cNvSpPr/>
            <p:nvPr/>
          </p:nvSpPr>
          <p:spPr>
            <a:xfrm>
              <a:off x="254419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자동이체</a:t>
              </a:r>
            </a:p>
          </p:txBody>
        </p:sp>
        <p:sp>
          <p:nvSpPr>
            <p:cNvPr id="69" name="직사각형 68"/>
            <p:cNvSpPr/>
            <p:nvPr/>
          </p:nvSpPr>
          <p:spPr>
            <a:xfrm>
              <a:off x="371359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신용카드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053932" y="-882991"/>
              <a:ext cx="101021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요금 납부 방법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94" name="눈물 방울 93"/>
          <p:cNvSpPr/>
          <p:nvPr/>
        </p:nvSpPr>
        <p:spPr>
          <a:xfrm rot="5400000">
            <a:off x="932958" y="178107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S103020101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110" name="그룹 109"/>
          <p:cNvGrpSpPr/>
          <p:nvPr/>
        </p:nvGrpSpPr>
        <p:grpSpPr>
          <a:xfrm>
            <a:off x="2544198" y="2457714"/>
            <a:ext cx="1800000" cy="252000"/>
            <a:chOff x="2544198" y="-566622"/>
            <a:chExt cx="1800000" cy="252000"/>
          </a:xfrm>
        </p:grpSpPr>
        <p:sp>
          <p:nvSpPr>
            <p:cNvPr id="111" name="직사각형 110"/>
            <p:cNvSpPr/>
            <p:nvPr/>
          </p:nvSpPr>
          <p:spPr>
            <a:xfrm>
              <a:off x="2544198" y="-56662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은행 선택</a:t>
              </a:r>
            </a:p>
          </p:txBody>
        </p:sp>
        <p:pic>
          <p:nvPicPr>
            <p:cNvPr id="112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32568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113" name="직사각형 112"/>
          <p:cNvSpPr/>
          <p:nvPr/>
        </p:nvSpPr>
        <p:spPr>
          <a:xfrm>
            <a:off x="4416407" y="2457714"/>
            <a:ext cx="18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계좌번호 입력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14" name="직사각형 113"/>
          <p:cNvSpPr/>
          <p:nvPr/>
        </p:nvSpPr>
        <p:spPr>
          <a:xfrm>
            <a:off x="6282662" y="2456966"/>
            <a:ext cx="16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계좌번호 유효성 체크</a:t>
            </a:r>
          </a:p>
        </p:txBody>
      </p:sp>
      <p:sp>
        <p:nvSpPr>
          <p:cNvPr id="115" name="눈물 방울 114"/>
          <p:cNvSpPr/>
          <p:nvPr/>
        </p:nvSpPr>
        <p:spPr>
          <a:xfrm rot="5400000">
            <a:off x="7915932" y="243058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41" name="그룹 40"/>
          <p:cNvGrpSpPr/>
          <p:nvPr/>
        </p:nvGrpSpPr>
        <p:grpSpPr>
          <a:xfrm>
            <a:off x="2546573" y="2097674"/>
            <a:ext cx="2249391" cy="252000"/>
            <a:chOff x="2544199" y="-893575"/>
            <a:chExt cx="2249391" cy="252000"/>
          </a:xfrm>
        </p:grpSpPr>
        <p:sp>
          <p:nvSpPr>
            <p:cNvPr id="44" name="직사각형 43"/>
            <p:cNvSpPr/>
            <p:nvPr/>
          </p:nvSpPr>
          <p:spPr>
            <a:xfrm>
              <a:off x="254419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본인납부</a:t>
              </a: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371359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타인납부</a:t>
              </a:r>
            </a:p>
          </p:txBody>
        </p:sp>
      </p:grpSp>
      <p:grpSp>
        <p:nvGrpSpPr>
          <p:cNvPr id="46" name="그룹 45"/>
          <p:cNvGrpSpPr/>
          <p:nvPr/>
        </p:nvGrpSpPr>
        <p:grpSpPr>
          <a:xfrm>
            <a:off x="1100614" y="3041025"/>
            <a:ext cx="9252000" cy="246221"/>
            <a:chOff x="1072208" y="1117425"/>
            <a:chExt cx="9252000" cy="246221"/>
          </a:xfrm>
        </p:grpSpPr>
        <p:sp>
          <p:nvSpPr>
            <p:cNvPr id="47" name="TextBox 46"/>
            <p:cNvSpPr txBox="1"/>
            <p:nvPr/>
          </p:nvSpPr>
          <p:spPr>
            <a:xfrm>
              <a:off x="1072208" y="1117425"/>
              <a:ext cx="44114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메모</a:t>
              </a:r>
            </a:p>
          </p:txBody>
        </p:sp>
        <p:cxnSp>
          <p:nvCxnSpPr>
            <p:cNvPr id="48" name="직선 연결선 47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눈물 방울 48"/>
          <p:cNvSpPr/>
          <p:nvPr/>
        </p:nvSpPr>
        <p:spPr>
          <a:xfrm rot="5400000">
            <a:off x="961364" y="299298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50" name="그룹 49"/>
          <p:cNvGrpSpPr/>
          <p:nvPr/>
        </p:nvGrpSpPr>
        <p:grpSpPr>
          <a:xfrm>
            <a:off x="1050508" y="3395286"/>
            <a:ext cx="8590652" cy="540032"/>
            <a:chOff x="1053932" y="-566622"/>
            <a:chExt cx="8590652" cy="540032"/>
          </a:xfrm>
        </p:grpSpPr>
        <p:sp>
          <p:nvSpPr>
            <p:cNvPr id="51" name="TextBox 50"/>
            <p:cNvSpPr txBox="1"/>
            <p:nvPr/>
          </p:nvSpPr>
          <p:spPr>
            <a:xfrm>
              <a:off x="1053932" y="-556038"/>
              <a:ext cx="4154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메모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3" name="직사각형 52"/>
            <p:cNvSpPr/>
            <p:nvPr/>
          </p:nvSpPr>
          <p:spPr>
            <a:xfrm>
              <a:off x="2544200" y="-566622"/>
              <a:ext cx="7100384" cy="540032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72000" rIns="72000" bIns="72000" rtlCol="0" anchor="t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메모 입력</a:t>
              </a:r>
            </a:p>
          </p:txBody>
        </p:sp>
      </p:grpSp>
      <p:sp>
        <p:nvSpPr>
          <p:cNvPr id="33" name="눈물 방울 32"/>
          <p:cNvSpPr/>
          <p:nvPr/>
        </p:nvSpPr>
        <p:spPr>
          <a:xfrm rot="5400000">
            <a:off x="942909" y="146207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34" name="그룹 33"/>
          <p:cNvGrpSpPr/>
          <p:nvPr/>
        </p:nvGrpSpPr>
        <p:grpSpPr>
          <a:xfrm>
            <a:off x="1053932" y="1466842"/>
            <a:ext cx="4914820" cy="252000"/>
            <a:chOff x="1053932" y="-893575"/>
            <a:chExt cx="4914820" cy="252000"/>
          </a:xfrm>
        </p:grpSpPr>
        <p:sp>
          <p:nvSpPr>
            <p:cNvPr id="35" name="직사각형 34"/>
            <p:cNvSpPr/>
            <p:nvPr/>
          </p:nvSpPr>
          <p:spPr>
            <a:xfrm>
              <a:off x="254419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>
                  <a:latin typeface="맑은 고딕" pitchFamily="50" charset="-127"/>
                  <a:ea typeface="맑은 고딕" pitchFamily="50" charset="-127"/>
                </a:rPr>
                <a:t>모바일</a:t>
              </a: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 명세서</a:t>
              </a:r>
            </a:p>
          </p:txBody>
        </p:sp>
        <p:sp>
          <p:nvSpPr>
            <p:cNvPr id="36" name="직사각형 35"/>
            <p:cNvSpPr/>
            <p:nvPr/>
          </p:nvSpPr>
          <p:spPr>
            <a:xfrm>
              <a:off x="371359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 err="1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이메일</a:t>
              </a: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명세서</a:t>
              </a:r>
            </a:p>
          </p:txBody>
        </p:sp>
        <p:sp>
          <p:nvSpPr>
            <p:cNvPr id="37" name="직사각형 36"/>
            <p:cNvSpPr/>
            <p:nvPr/>
          </p:nvSpPr>
          <p:spPr>
            <a:xfrm>
              <a:off x="4888752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우편 명세서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53932" y="-882991"/>
              <a:ext cx="112562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명세서 수신 유형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39" name="직사각형 38"/>
          <p:cNvSpPr/>
          <p:nvPr/>
        </p:nvSpPr>
        <p:spPr>
          <a:xfrm>
            <a:off x="12881520" y="1053530"/>
            <a:ext cx="2880320" cy="1431289"/>
          </a:xfrm>
          <a:prstGeom prst="rect">
            <a:avLst/>
          </a:prstGeom>
          <a:solidFill>
            <a:srgbClr val="FFFF00">
              <a:alpha val="75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(2026.03.04)</a:t>
            </a:r>
          </a:p>
          <a:p>
            <a:pPr>
              <a:spcBef>
                <a:spcPct val="50000"/>
              </a:spcBef>
            </a:pP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통합청구 가능 여부 청구계정 체크 </a:t>
            </a:r>
            <a:r>
              <a:rPr lang="en-US" altLang="ko-KR" sz="1000" b="1" dirty="0">
                <a:solidFill>
                  <a:srgbClr val="FF0000"/>
                </a:solidFill>
                <a:latin typeface="+mn-ea"/>
                <a:ea typeface="+mn-ea"/>
              </a:rPr>
              <a:t>API m</a:t>
            </a:r>
            <a:r>
              <a:rPr lang="ko-KR" altLang="en-US" sz="1000" b="1" dirty="0">
                <a:solidFill>
                  <a:srgbClr val="FF0000"/>
                </a:solidFill>
                <a:latin typeface="+mn-ea"/>
                <a:ea typeface="+mn-ea"/>
              </a:rPr>
              <a:t>플랫폼 제공 가능 여부 </a:t>
            </a:r>
            <a:r>
              <a:rPr lang="ko-KR" altLang="en-US" sz="1000" b="1" dirty="0" smtClean="0">
                <a:solidFill>
                  <a:srgbClr val="FF0000"/>
                </a:solidFill>
                <a:latin typeface="+mn-ea"/>
                <a:ea typeface="+mn-ea"/>
              </a:rPr>
              <a:t>확인</a:t>
            </a:r>
            <a:endParaRPr lang="en-US" altLang="ko-KR" sz="1000" b="1" dirty="0" smtClean="0">
              <a:solidFill>
                <a:srgbClr val="FF0000"/>
              </a:solidFill>
              <a:latin typeface="+mn-ea"/>
              <a:ea typeface="+mn-ea"/>
            </a:endParaRPr>
          </a:p>
          <a:p>
            <a:pPr>
              <a:spcBef>
                <a:spcPct val="50000"/>
              </a:spcBef>
            </a:pPr>
            <a:r>
              <a:rPr lang="en-US" altLang="ko-KR" sz="1000" b="1" dirty="0" smtClean="0">
                <a:solidFill>
                  <a:srgbClr val="FF0000"/>
                </a:solidFill>
                <a:latin typeface="+mn-ea"/>
                <a:ea typeface="+mn-ea"/>
              </a:rPr>
              <a:t>=&gt; </a:t>
            </a:r>
            <a:r>
              <a:rPr lang="ko-KR" altLang="en-US" sz="1000" b="1" dirty="0" err="1" smtClean="0">
                <a:solidFill>
                  <a:srgbClr val="FF0000"/>
                </a:solidFill>
                <a:latin typeface="+mn-ea"/>
                <a:ea typeface="+mn-ea"/>
              </a:rPr>
              <a:t>확인중</a:t>
            </a:r>
            <a:endParaRPr lang="ko-KR" altLang="en-US" sz="1000" b="1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823423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직사각형 114"/>
          <p:cNvSpPr/>
          <p:nvPr/>
        </p:nvSpPr>
        <p:spPr>
          <a:xfrm>
            <a:off x="1169271" y="2853730"/>
            <a:ext cx="308666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요금 납부 방법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‘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신용카드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16" name="그룹 115"/>
          <p:cNvGrpSpPr/>
          <p:nvPr/>
        </p:nvGrpSpPr>
        <p:grpSpPr>
          <a:xfrm>
            <a:off x="1054956" y="3161074"/>
            <a:ext cx="4913796" cy="254895"/>
            <a:chOff x="1053932" y="-893575"/>
            <a:chExt cx="4913796" cy="254895"/>
          </a:xfrm>
        </p:grpSpPr>
        <p:sp>
          <p:nvSpPr>
            <p:cNvPr id="117" name="직사각형 116"/>
            <p:cNvSpPr/>
            <p:nvPr/>
          </p:nvSpPr>
          <p:spPr>
            <a:xfrm>
              <a:off x="254419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자동이체</a:t>
              </a:r>
            </a:p>
          </p:txBody>
        </p:sp>
        <p:sp>
          <p:nvSpPr>
            <p:cNvPr id="131" name="직사각형 130"/>
            <p:cNvSpPr/>
            <p:nvPr/>
          </p:nvSpPr>
          <p:spPr>
            <a:xfrm>
              <a:off x="371359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신용카드</a:t>
              </a:r>
            </a:p>
          </p:txBody>
        </p:sp>
        <p:sp>
          <p:nvSpPr>
            <p:cNvPr id="132" name="TextBox 131"/>
            <p:cNvSpPr txBox="1"/>
            <p:nvPr/>
          </p:nvSpPr>
          <p:spPr>
            <a:xfrm>
              <a:off x="1053932" y="-882991"/>
              <a:ext cx="101021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요금 납부 방법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33" name="직사각형 132"/>
            <p:cNvSpPr/>
            <p:nvPr/>
          </p:nvSpPr>
          <p:spPr>
            <a:xfrm>
              <a:off x="4887728" y="-890680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통합청구</a:t>
              </a:r>
            </a:p>
          </p:txBody>
        </p:sp>
      </p:grpSp>
      <p:grpSp>
        <p:nvGrpSpPr>
          <p:cNvPr id="154" name="그룹 153"/>
          <p:cNvGrpSpPr/>
          <p:nvPr/>
        </p:nvGrpSpPr>
        <p:grpSpPr>
          <a:xfrm>
            <a:off x="2544198" y="3856024"/>
            <a:ext cx="5944834" cy="252000"/>
            <a:chOff x="2544198" y="3835118"/>
            <a:chExt cx="5944834" cy="252000"/>
          </a:xfrm>
        </p:grpSpPr>
        <p:grpSp>
          <p:nvGrpSpPr>
            <p:cNvPr id="172" name="그룹 171"/>
            <p:cNvGrpSpPr/>
            <p:nvPr/>
          </p:nvGrpSpPr>
          <p:grpSpPr>
            <a:xfrm>
              <a:off x="2544198" y="3835118"/>
              <a:ext cx="1800000" cy="252000"/>
              <a:chOff x="2544198" y="-566622"/>
              <a:chExt cx="1800000" cy="252000"/>
            </a:xfrm>
          </p:grpSpPr>
          <p:sp>
            <p:nvSpPr>
              <p:cNvPr id="180" name="직사각형 179"/>
              <p:cNvSpPr/>
              <p:nvPr/>
            </p:nvSpPr>
            <p:spPr>
              <a:xfrm>
                <a:off x="2544198" y="-566622"/>
                <a:ext cx="180000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카드사 선택</a:t>
                </a:r>
              </a:p>
            </p:txBody>
          </p:sp>
          <p:pic>
            <p:nvPicPr>
              <p:cNvPr id="181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32568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173" name="직사각형 172"/>
            <p:cNvSpPr/>
            <p:nvPr/>
          </p:nvSpPr>
          <p:spPr>
            <a:xfrm>
              <a:off x="4416407" y="3835118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카드번호 입력</a:t>
              </a:r>
            </a:p>
          </p:txBody>
        </p:sp>
        <p:grpSp>
          <p:nvGrpSpPr>
            <p:cNvPr id="174" name="그룹 173"/>
            <p:cNvGrpSpPr/>
            <p:nvPr/>
          </p:nvGrpSpPr>
          <p:grpSpPr>
            <a:xfrm>
              <a:off x="6291288" y="3835118"/>
              <a:ext cx="1080000" cy="252000"/>
              <a:chOff x="2544198" y="-566622"/>
              <a:chExt cx="1080000" cy="252000"/>
            </a:xfrm>
          </p:grpSpPr>
          <p:sp>
            <p:nvSpPr>
              <p:cNvPr id="178" name="직사각형 177"/>
              <p:cNvSpPr/>
              <p:nvPr/>
            </p:nvSpPr>
            <p:spPr>
              <a:xfrm>
                <a:off x="2544198" y="-566622"/>
                <a:ext cx="108000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유효기간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(MM)</a:t>
                </a:r>
                <a:endPara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79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08294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grpSp>
          <p:nvGrpSpPr>
            <p:cNvPr id="175" name="그룹 174"/>
            <p:cNvGrpSpPr/>
            <p:nvPr/>
          </p:nvGrpSpPr>
          <p:grpSpPr>
            <a:xfrm>
              <a:off x="7409032" y="3835118"/>
              <a:ext cx="1080000" cy="252000"/>
              <a:chOff x="2544198" y="-566622"/>
              <a:chExt cx="1080000" cy="252000"/>
            </a:xfrm>
          </p:grpSpPr>
          <p:sp>
            <p:nvSpPr>
              <p:cNvPr id="176" name="직사각형 175"/>
              <p:cNvSpPr/>
              <p:nvPr/>
            </p:nvSpPr>
            <p:spPr>
              <a:xfrm>
                <a:off x="2544198" y="-566622"/>
                <a:ext cx="108000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유효기간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(YY)</a:t>
                </a:r>
                <a:endPara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177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08294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182" name="직사각형 181"/>
          <p:cNvSpPr/>
          <p:nvPr/>
        </p:nvSpPr>
        <p:spPr>
          <a:xfrm>
            <a:off x="8561040" y="3846650"/>
            <a:ext cx="16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신용카드 유효성 체크</a:t>
            </a:r>
          </a:p>
        </p:txBody>
      </p:sp>
      <p:sp>
        <p:nvSpPr>
          <p:cNvPr id="183" name="눈물 방울 182"/>
          <p:cNvSpPr/>
          <p:nvPr/>
        </p:nvSpPr>
        <p:spPr>
          <a:xfrm rot="5400000">
            <a:off x="10185805" y="384188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92" name="직사각형 191"/>
          <p:cNvSpPr/>
          <p:nvPr/>
        </p:nvSpPr>
        <p:spPr>
          <a:xfrm>
            <a:off x="1170621" y="5683266"/>
            <a:ext cx="308666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요금 납부 방법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‘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통합청구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93" name="그룹 192"/>
          <p:cNvGrpSpPr/>
          <p:nvPr/>
        </p:nvGrpSpPr>
        <p:grpSpPr>
          <a:xfrm>
            <a:off x="1056306" y="5990610"/>
            <a:ext cx="4913796" cy="254895"/>
            <a:chOff x="1053932" y="-893575"/>
            <a:chExt cx="4913796" cy="254895"/>
          </a:xfrm>
        </p:grpSpPr>
        <p:sp>
          <p:nvSpPr>
            <p:cNvPr id="194" name="직사각형 193"/>
            <p:cNvSpPr/>
            <p:nvPr/>
          </p:nvSpPr>
          <p:spPr>
            <a:xfrm>
              <a:off x="254419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자동이체</a:t>
              </a:r>
            </a:p>
          </p:txBody>
        </p:sp>
        <p:sp>
          <p:nvSpPr>
            <p:cNvPr id="195" name="직사각형 194"/>
            <p:cNvSpPr/>
            <p:nvPr/>
          </p:nvSpPr>
          <p:spPr>
            <a:xfrm>
              <a:off x="371359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신용카드</a:t>
              </a:r>
            </a:p>
          </p:txBody>
        </p:sp>
        <p:sp>
          <p:nvSpPr>
            <p:cNvPr id="196" name="TextBox 195"/>
            <p:cNvSpPr txBox="1"/>
            <p:nvPr/>
          </p:nvSpPr>
          <p:spPr>
            <a:xfrm>
              <a:off x="1053932" y="-882991"/>
              <a:ext cx="101021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요금 납부 방법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197" name="직사각형 196"/>
            <p:cNvSpPr/>
            <p:nvPr/>
          </p:nvSpPr>
          <p:spPr>
            <a:xfrm>
              <a:off x="4887728" y="-890680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통합청구</a:t>
              </a:r>
            </a:p>
          </p:txBody>
        </p:sp>
      </p:grpSp>
      <p:sp>
        <p:nvSpPr>
          <p:cNvPr id="199" name="직사각형 198"/>
          <p:cNvSpPr/>
          <p:nvPr/>
        </p:nvSpPr>
        <p:spPr>
          <a:xfrm>
            <a:off x="2545548" y="6331338"/>
            <a:ext cx="18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청구계정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ID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입력</a:t>
            </a:r>
          </a:p>
        </p:txBody>
      </p:sp>
      <p:sp>
        <p:nvSpPr>
          <p:cNvPr id="200" name="직사각형 199"/>
          <p:cNvSpPr/>
          <p:nvPr/>
        </p:nvSpPr>
        <p:spPr>
          <a:xfrm>
            <a:off x="4423462" y="6331338"/>
            <a:ext cx="108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청구계정 체크</a:t>
            </a:r>
          </a:p>
        </p:txBody>
      </p:sp>
      <p:sp>
        <p:nvSpPr>
          <p:cNvPr id="201" name="눈물 방울 200"/>
          <p:cNvSpPr/>
          <p:nvPr/>
        </p:nvSpPr>
        <p:spPr>
          <a:xfrm rot="5400000">
            <a:off x="5541470" y="634664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202" name="그룹 201"/>
          <p:cNvGrpSpPr/>
          <p:nvPr/>
        </p:nvGrpSpPr>
        <p:grpSpPr>
          <a:xfrm>
            <a:off x="2546573" y="6655346"/>
            <a:ext cx="3854227" cy="230832"/>
            <a:chOff x="2546573" y="5950074"/>
            <a:chExt cx="3854227" cy="230832"/>
          </a:xfrm>
        </p:grpSpPr>
        <p:sp>
          <p:nvSpPr>
            <p:cNvPr id="203" name="TextBox 202"/>
            <p:cNvSpPr txBox="1"/>
            <p:nvPr/>
          </p:nvSpPr>
          <p:spPr>
            <a:xfrm>
              <a:off x="2686322" y="5950074"/>
              <a:ext cx="371447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본인은 신청한 회선과 통합하여 요금이 청구되는 것에 동의합니다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.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204" name="직사각형 203"/>
            <p:cNvSpPr/>
            <p:nvPr/>
          </p:nvSpPr>
          <p:spPr>
            <a:xfrm>
              <a:off x="2546573" y="5985269"/>
              <a:ext cx="144000" cy="144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205" name="그룹 204"/>
          <p:cNvGrpSpPr/>
          <p:nvPr/>
        </p:nvGrpSpPr>
        <p:grpSpPr>
          <a:xfrm>
            <a:off x="2543380" y="3501484"/>
            <a:ext cx="2249391" cy="252000"/>
            <a:chOff x="2544199" y="-893575"/>
            <a:chExt cx="2249391" cy="252000"/>
          </a:xfrm>
        </p:grpSpPr>
        <p:sp>
          <p:nvSpPr>
            <p:cNvPr id="206" name="직사각형 205"/>
            <p:cNvSpPr/>
            <p:nvPr/>
          </p:nvSpPr>
          <p:spPr>
            <a:xfrm>
              <a:off x="254419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본인납부</a:t>
              </a:r>
            </a:p>
          </p:txBody>
        </p:sp>
        <p:sp>
          <p:nvSpPr>
            <p:cNvPr id="207" name="직사각형 206"/>
            <p:cNvSpPr/>
            <p:nvPr/>
          </p:nvSpPr>
          <p:spPr>
            <a:xfrm>
              <a:off x="371359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타인납부</a:t>
              </a:r>
            </a:p>
          </p:txBody>
        </p:sp>
      </p:grpSp>
      <p:grpSp>
        <p:nvGrpSpPr>
          <p:cNvPr id="208" name="그룹 207"/>
          <p:cNvGrpSpPr/>
          <p:nvPr/>
        </p:nvGrpSpPr>
        <p:grpSpPr>
          <a:xfrm>
            <a:off x="1054956" y="1178810"/>
            <a:ext cx="4913916" cy="252000"/>
            <a:chOff x="1053932" y="-893575"/>
            <a:chExt cx="4913916" cy="252000"/>
          </a:xfrm>
        </p:grpSpPr>
        <p:sp>
          <p:nvSpPr>
            <p:cNvPr id="209" name="직사각형 208"/>
            <p:cNvSpPr/>
            <p:nvPr/>
          </p:nvSpPr>
          <p:spPr>
            <a:xfrm>
              <a:off x="254443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자동이체</a:t>
              </a:r>
            </a:p>
          </p:txBody>
        </p:sp>
        <p:sp>
          <p:nvSpPr>
            <p:cNvPr id="210" name="직사각형 209"/>
            <p:cNvSpPr/>
            <p:nvPr/>
          </p:nvSpPr>
          <p:spPr>
            <a:xfrm>
              <a:off x="371383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신용카드</a:t>
              </a:r>
            </a:p>
          </p:txBody>
        </p:sp>
        <p:sp>
          <p:nvSpPr>
            <p:cNvPr id="211" name="TextBox 210"/>
            <p:cNvSpPr txBox="1"/>
            <p:nvPr/>
          </p:nvSpPr>
          <p:spPr>
            <a:xfrm>
              <a:off x="1053932" y="-882991"/>
              <a:ext cx="101021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요금 납부 방법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12" name="직사각형 211"/>
            <p:cNvSpPr/>
            <p:nvPr/>
          </p:nvSpPr>
          <p:spPr>
            <a:xfrm>
              <a:off x="4887848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통합청구</a:t>
              </a:r>
            </a:p>
          </p:txBody>
        </p:sp>
      </p:grpSp>
      <p:grpSp>
        <p:nvGrpSpPr>
          <p:cNvPr id="214" name="그룹 213"/>
          <p:cNvGrpSpPr/>
          <p:nvPr/>
        </p:nvGrpSpPr>
        <p:grpSpPr>
          <a:xfrm>
            <a:off x="2544198" y="1881650"/>
            <a:ext cx="3672209" cy="252000"/>
            <a:chOff x="2544198" y="2529722"/>
            <a:chExt cx="3672209" cy="252000"/>
          </a:xfrm>
        </p:grpSpPr>
        <p:grpSp>
          <p:nvGrpSpPr>
            <p:cNvPr id="215" name="그룹 214"/>
            <p:cNvGrpSpPr/>
            <p:nvPr/>
          </p:nvGrpSpPr>
          <p:grpSpPr>
            <a:xfrm>
              <a:off x="2544198" y="2529722"/>
              <a:ext cx="1800000" cy="252000"/>
              <a:chOff x="2544198" y="-566622"/>
              <a:chExt cx="1800000" cy="252000"/>
            </a:xfrm>
          </p:grpSpPr>
          <p:sp>
            <p:nvSpPr>
              <p:cNvPr id="217" name="직사각형 216"/>
              <p:cNvSpPr/>
              <p:nvPr/>
            </p:nvSpPr>
            <p:spPr>
              <a:xfrm>
                <a:off x="2544198" y="-566622"/>
                <a:ext cx="180000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은행 선택</a:t>
                </a:r>
                <a:endPara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218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32568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216" name="직사각형 215"/>
            <p:cNvSpPr/>
            <p:nvPr/>
          </p:nvSpPr>
          <p:spPr>
            <a:xfrm>
              <a:off x="4416407" y="252972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계좌번호 입력</a:t>
              </a:r>
            </a:p>
          </p:txBody>
        </p:sp>
      </p:grpSp>
      <p:sp>
        <p:nvSpPr>
          <p:cNvPr id="219" name="직사각형 218"/>
          <p:cNvSpPr/>
          <p:nvPr/>
        </p:nvSpPr>
        <p:spPr>
          <a:xfrm>
            <a:off x="6282662" y="1880902"/>
            <a:ext cx="16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계좌번호 유효성 체크</a:t>
            </a:r>
          </a:p>
        </p:txBody>
      </p:sp>
      <p:sp>
        <p:nvSpPr>
          <p:cNvPr id="220" name="눈물 방울 219"/>
          <p:cNvSpPr/>
          <p:nvPr/>
        </p:nvSpPr>
        <p:spPr>
          <a:xfrm rot="5400000">
            <a:off x="953060" y="939794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221" name="그룹 220"/>
          <p:cNvGrpSpPr/>
          <p:nvPr/>
        </p:nvGrpSpPr>
        <p:grpSpPr>
          <a:xfrm>
            <a:off x="2546573" y="1521610"/>
            <a:ext cx="2249391" cy="252000"/>
            <a:chOff x="2544199" y="-893575"/>
            <a:chExt cx="2249391" cy="252000"/>
          </a:xfrm>
        </p:grpSpPr>
        <p:sp>
          <p:nvSpPr>
            <p:cNvPr id="222" name="직사각형 221"/>
            <p:cNvSpPr/>
            <p:nvPr/>
          </p:nvSpPr>
          <p:spPr>
            <a:xfrm>
              <a:off x="254419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본인납부</a:t>
              </a:r>
            </a:p>
          </p:txBody>
        </p:sp>
        <p:sp>
          <p:nvSpPr>
            <p:cNvPr id="223" name="직사각형 222"/>
            <p:cNvSpPr/>
            <p:nvPr/>
          </p:nvSpPr>
          <p:spPr>
            <a:xfrm>
              <a:off x="371359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타인납부</a:t>
              </a:r>
            </a:p>
          </p:txBody>
        </p:sp>
      </p:grpSp>
      <p:sp>
        <p:nvSpPr>
          <p:cNvPr id="224" name="눈물 방울 223"/>
          <p:cNvSpPr/>
          <p:nvPr/>
        </p:nvSpPr>
        <p:spPr>
          <a:xfrm rot="5400000">
            <a:off x="7917734" y="185308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225" name="그룹 224"/>
          <p:cNvGrpSpPr/>
          <p:nvPr/>
        </p:nvGrpSpPr>
        <p:grpSpPr>
          <a:xfrm>
            <a:off x="2546573" y="2550890"/>
            <a:ext cx="7013747" cy="230832"/>
            <a:chOff x="2546573" y="5950074"/>
            <a:chExt cx="7013747" cy="230832"/>
          </a:xfrm>
        </p:grpSpPr>
        <p:sp>
          <p:nvSpPr>
            <p:cNvPr id="226" name="TextBox 225"/>
            <p:cNvSpPr txBox="1"/>
            <p:nvPr/>
          </p:nvSpPr>
          <p:spPr>
            <a:xfrm>
              <a:off x="2686322" y="5950074"/>
              <a:ext cx="6873998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본인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예금주 또는 가입고객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)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은 납부해야 할 요금에 대해 위 계좌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카드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)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에서 지정된 출금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결제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)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일에 인출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(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결제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)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되는 것에 동의합니다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  <a:ea typeface="+mn-ea"/>
                </a:rPr>
                <a:t>.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endParaRPr>
            </a:p>
          </p:txBody>
        </p:sp>
        <p:sp>
          <p:nvSpPr>
            <p:cNvPr id="227" name="직사각형 226"/>
            <p:cNvSpPr/>
            <p:nvPr/>
          </p:nvSpPr>
          <p:spPr>
            <a:xfrm>
              <a:off x="2546573" y="5985269"/>
              <a:ext cx="144000" cy="144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grpSp>
        <p:nvGrpSpPr>
          <p:cNvPr id="228" name="그룹 227"/>
          <p:cNvGrpSpPr/>
          <p:nvPr/>
        </p:nvGrpSpPr>
        <p:grpSpPr>
          <a:xfrm>
            <a:off x="2544173" y="2205658"/>
            <a:ext cx="5512811" cy="252000"/>
            <a:chOff x="4416407" y="2529722"/>
            <a:chExt cx="5512811" cy="252000"/>
          </a:xfrm>
        </p:grpSpPr>
        <p:grpSp>
          <p:nvGrpSpPr>
            <p:cNvPr id="229" name="그룹 228"/>
            <p:cNvGrpSpPr/>
            <p:nvPr/>
          </p:nvGrpSpPr>
          <p:grpSpPr>
            <a:xfrm>
              <a:off x="8129218" y="2529722"/>
              <a:ext cx="1800000" cy="252000"/>
              <a:chOff x="8129218" y="-566622"/>
              <a:chExt cx="1800000" cy="252000"/>
            </a:xfrm>
          </p:grpSpPr>
          <p:sp>
            <p:nvSpPr>
              <p:cNvPr id="232" name="직사각형 231"/>
              <p:cNvSpPr/>
              <p:nvPr/>
            </p:nvSpPr>
            <p:spPr>
              <a:xfrm>
                <a:off x="8129218" y="-566622"/>
                <a:ext cx="180000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관계</a:t>
                </a:r>
              </a:p>
            </p:txBody>
          </p:sp>
          <p:pic>
            <p:nvPicPr>
              <p:cNvPr id="233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17588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230" name="직사각형 229"/>
            <p:cNvSpPr/>
            <p:nvPr/>
          </p:nvSpPr>
          <p:spPr>
            <a:xfrm>
              <a:off x="4416407" y="252972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납부고객명</a:t>
              </a:r>
            </a:p>
          </p:txBody>
        </p:sp>
        <p:sp>
          <p:nvSpPr>
            <p:cNvPr id="231" name="직사각형 230"/>
            <p:cNvSpPr/>
            <p:nvPr/>
          </p:nvSpPr>
          <p:spPr>
            <a:xfrm>
              <a:off x="6256810" y="252972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생년월일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(8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입력</a:t>
              </a:r>
            </a:p>
          </p:txBody>
        </p:sp>
      </p:grpSp>
      <p:sp>
        <p:nvSpPr>
          <p:cNvPr id="234" name="직사각형 233"/>
          <p:cNvSpPr/>
          <p:nvPr/>
        </p:nvSpPr>
        <p:spPr>
          <a:xfrm>
            <a:off x="1161842" y="951325"/>
            <a:ext cx="48082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요금 납부 방법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‘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자동이체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’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타인납부를 선택한 경우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241" name="직사각형 240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S103020101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73" name="그룹 72"/>
          <p:cNvGrpSpPr/>
          <p:nvPr/>
        </p:nvGrpSpPr>
        <p:grpSpPr>
          <a:xfrm>
            <a:off x="1053158" y="4293890"/>
            <a:ext cx="4913796" cy="254895"/>
            <a:chOff x="1053932" y="-893575"/>
            <a:chExt cx="4913796" cy="254895"/>
          </a:xfrm>
        </p:grpSpPr>
        <p:sp>
          <p:nvSpPr>
            <p:cNvPr id="74" name="직사각형 73"/>
            <p:cNvSpPr/>
            <p:nvPr/>
          </p:nvSpPr>
          <p:spPr>
            <a:xfrm>
              <a:off x="254419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자동이체</a:t>
              </a:r>
            </a:p>
          </p:txBody>
        </p:sp>
        <p:sp>
          <p:nvSpPr>
            <p:cNvPr id="75" name="직사각형 74"/>
            <p:cNvSpPr/>
            <p:nvPr/>
          </p:nvSpPr>
          <p:spPr>
            <a:xfrm>
              <a:off x="371359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신용카드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1053932" y="-882991"/>
              <a:ext cx="101021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요금 납부 방법</a:t>
              </a:r>
              <a:r>
                <a:rPr lang="en-US" altLang="ko-KR" sz="900" b="1" dirty="0">
                  <a:solidFill>
                    <a:srgbClr val="FF0000"/>
                  </a:solidFill>
                  <a:latin typeface="맑은 고딕" pitchFamily="50" charset="-127"/>
                  <a:ea typeface="맑은 고딕" pitchFamily="50" charset="-127"/>
                </a:rPr>
                <a:t>*</a:t>
              </a:r>
              <a:endPara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7" name="직사각형 76"/>
            <p:cNvSpPr/>
            <p:nvPr/>
          </p:nvSpPr>
          <p:spPr>
            <a:xfrm>
              <a:off x="4887728" y="-890680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통합청구</a:t>
              </a:r>
            </a:p>
          </p:txBody>
        </p:sp>
      </p:grpSp>
      <p:grpSp>
        <p:nvGrpSpPr>
          <p:cNvPr id="78" name="그룹 77"/>
          <p:cNvGrpSpPr/>
          <p:nvPr/>
        </p:nvGrpSpPr>
        <p:grpSpPr>
          <a:xfrm>
            <a:off x="2542400" y="4988840"/>
            <a:ext cx="5944834" cy="252000"/>
            <a:chOff x="2544198" y="3835118"/>
            <a:chExt cx="5944834" cy="252000"/>
          </a:xfrm>
        </p:grpSpPr>
        <p:grpSp>
          <p:nvGrpSpPr>
            <p:cNvPr id="79" name="그룹 78"/>
            <p:cNvGrpSpPr/>
            <p:nvPr/>
          </p:nvGrpSpPr>
          <p:grpSpPr>
            <a:xfrm>
              <a:off x="2544198" y="3835118"/>
              <a:ext cx="1800000" cy="252000"/>
              <a:chOff x="2544198" y="-566622"/>
              <a:chExt cx="1800000" cy="252000"/>
            </a:xfrm>
          </p:grpSpPr>
          <p:sp>
            <p:nvSpPr>
              <p:cNvPr id="89" name="직사각형 88"/>
              <p:cNvSpPr/>
              <p:nvPr/>
            </p:nvSpPr>
            <p:spPr>
              <a:xfrm>
                <a:off x="2544198" y="-566622"/>
                <a:ext cx="180000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카드사 선택</a:t>
                </a:r>
              </a:p>
            </p:txBody>
          </p:sp>
          <p:pic>
            <p:nvPicPr>
              <p:cNvPr id="90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32568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80" name="직사각형 79"/>
            <p:cNvSpPr/>
            <p:nvPr/>
          </p:nvSpPr>
          <p:spPr>
            <a:xfrm>
              <a:off x="4416407" y="3835118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카드번호 입력</a:t>
              </a:r>
            </a:p>
          </p:txBody>
        </p:sp>
        <p:grpSp>
          <p:nvGrpSpPr>
            <p:cNvPr id="81" name="그룹 80"/>
            <p:cNvGrpSpPr/>
            <p:nvPr/>
          </p:nvGrpSpPr>
          <p:grpSpPr>
            <a:xfrm>
              <a:off x="6291288" y="3835118"/>
              <a:ext cx="1080000" cy="252000"/>
              <a:chOff x="2544198" y="-566622"/>
              <a:chExt cx="1080000" cy="252000"/>
            </a:xfrm>
          </p:grpSpPr>
          <p:sp>
            <p:nvSpPr>
              <p:cNvPr id="87" name="직사각형 86"/>
              <p:cNvSpPr/>
              <p:nvPr/>
            </p:nvSpPr>
            <p:spPr>
              <a:xfrm>
                <a:off x="2544198" y="-566622"/>
                <a:ext cx="108000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유효기간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(MM)</a:t>
                </a:r>
                <a:endPara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88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08294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grpSp>
          <p:nvGrpSpPr>
            <p:cNvPr id="82" name="그룹 81"/>
            <p:cNvGrpSpPr/>
            <p:nvPr/>
          </p:nvGrpSpPr>
          <p:grpSpPr>
            <a:xfrm>
              <a:off x="7409032" y="3835118"/>
              <a:ext cx="1080000" cy="252000"/>
              <a:chOff x="2544198" y="-566622"/>
              <a:chExt cx="1080000" cy="252000"/>
            </a:xfrm>
          </p:grpSpPr>
          <p:sp>
            <p:nvSpPr>
              <p:cNvPr id="85" name="직사각형 84"/>
              <p:cNvSpPr/>
              <p:nvPr/>
            </p:nvSpPr>
            <p:spPr>
              <a:xfrm>
                <a:off x="2544198" y="-566622"/>
                <a:ext cx="108000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유효기간</a:t>
                </a:r>
                <a:r>
                  <a:rPr lang="en-US" altLang="ko-KR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(YY)</a:t>
                </a:r>
                <a:endPara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86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408294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91" name="직사각형 90"/>
          <p:cNvSpPr/>
          <p:nvPr/>
        </p:nvSpPr>
        <p:spPr>
          <a:xfrm>
            <a:off x="8559242" y="4979466"/>
            <a:ext cx="16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신용카드 유효성 체크</a:t>
            </a:r>
          </a:p>
        </p:txBody>
      </p:sp>
      <p:sp>
        <p:nvSpPr>
          <p:cNvPr id="92" name="눈물 방울 91"/>
          <p:cNvSpPr/>
          <p:nvPr/>
        </p:nvSpPr>
        <p:spPr>
          <a:xfrm rot="5400000">
            <a:off x="10184007" y="497470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93" name="그룹 92"/>
          <p:cNvGrpSpPr/>
          <p:nvPr/>
        </p:nvGrpSpPr>
        <p:grpSpPr>
          <a:xfrm>
            <a:off x="2541582" y="4634300"/>
            <a:ext cx="2249391" cy="252000"/>
            <a:chOff x="2544199" y="-893575"/>
            <a:chExt cx="2249391" cy="252000"/>
          </a:xfrm>
        </p:grpSpPr>
        <p:sp>
          <p:nvSpPr>
            <p:cNvPr id="94" name="직사각형 93"/>
            <p:cNvSpPr/>
            <p:nvPr/>
          </p:nvSpPr>
          <p:spPr>
            <a:xfrm>
              <a:off x="2544199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bg1">
                  <a:lumMod val="75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bg1">
                      <a:lumMod val="6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본인납부</a:t>
              </a:r>
            </a:p>
          </p:txBody>
        </p:sp>
        <p:sp>
          <p:nvSpPr>
            <p:cNvPr id="95" name="직사각형 94"/>
            <p:cNvSpPr/>
            <p:nvPr/>
          </p:nvSpPr>
          <p:spPr>
            <a:xfrm>
              <a:off x="3713590" y="-893575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latin typeface="맑은 고딕" pitchFamily="50" charset="-127"/>
                  <a:ea typeface="맑은 고딕" pitchFamily="50" charset="-127"/>
                </a:rPr>
                <a:t>타인납부</a:t>
              </a:r>
            </a:p>
          </p:txBody>
        </p:sp>
      </p:grpSp>
      <p:grpSp>
        <p:nvGrpSpPr>
          <p:cNvPr id="96" name="그룹 95"/>
          <p:cNvGrpSpPr/>
          <p:nvPr/>
        </p:nvGrpSpPr>
        <p:grpSpPr>
          <a:xfrm>
            <a:off x="2542375" y="5318722"/>
            <a:ext cx="5512811" cy="252000"/>
            <a:chOff x="4416407" y="2529722"/>
            <a:chExt cx="5512811" cy="252000"/>
          </a:xfrm>
        </p:grpSpPr>
        <p:grpSp>
          <p:nvGrpSpPr>
            <p:cNvPr id="97" name="그룹 96"/>
            <p:cNvGrpSpPr/>
            <p:nvPr/>
          </p:nvGrpSpPr>
          <p:grpSpPr>
            <a:xfrm>
              <a:off x="8129218" y="2529722"/>
              <a:ext cx="1800000" cy="252000"/>
              <a:chOff x="8129218" y="-566622"/>
              <a:chExt cx="1800000" cy="252000"/>
            </a:xfrm>
          </p:grpSpPr>
          <p:sp>
            <p:nvSpPr>
              <p:cNvPr id="100" name="직사각형 99"/>
              <p:cNvSpPr/>
              <p:nvPr/>
            </p:nvSpPr>
            <p:spPr>
              <a:xfrm>
                <a:off x="8129218" y="-566622"/>
                <a:ext cx="1800000" cy="252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chemeClr val="tx1">
                    <a:lumMod val="65000"/>
                    <a:lumOff val="35000"/>
                  </a:schemeClr>
                </a:solidFill>
                <a:miter lim="800000"/>
                <a:headEnd/>
                <a:tailEnd/>
              </a:ln>
            </p:spPr>
            <p:txBody>
              <a:bodyPr wrap="square" lIns="72000" tIns="0" rIns="0" bIns="0" rtlCol="0" anchor="ctr">
                <a:noAutofit/>
              </a:bodyPr>
              <a:lstStyle/>
              <a:p>
                <a:pPr>
                  <a:spcBef>
                    <a:spcPct val="50000"/>
                  </a:spcBef>
                </a:pPr>
                <a:r>
                  <a:rPr lang="ko-KR" altLang="en-US" sz="90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맑은 고딕" pitchFamily="50" charset="-127"/>
                    <a:ea typeface="맑은 고딕" pitchFamily="50" charset="-127"/>
                  </a:rPr>
                  <a:t>관계</a:t>
                </a:r>
              </a:p>
            </p:txBody>
          </p:sp>
          <p:pic>
            <p:nvPicPr>
              <p:cNvPr id="101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17588" y="-524671"/>
                <a:ext cx="180000" cy="146667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98" name="직사각형 97"/>
            <p:cNvSpPr/>
            <p:nvPr/>
          </p:nvSpPr>
          <p:spPr>
            <a:xfrm>
              <a:off x="4416407" y="252972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납부고객명</a:t>
              </a:r>
            </a:p>
          </p:txBody>
        </p:sp>
        <p:sp>
          <p:nvSpPr>
            <p:cNvPr id="99" name="직사각형 98"/>
            <p:cNvSpPr/>
            <p:nvPr/>
          </p:nvSpPr>
          <p:spPr>
            <a:xfrm>
              <a:off x="6256810" y="252972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생년월일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(8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자리</a:t>
              </a: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)</a:t>
              </a: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입력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698150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" name="그룹 130"/>
          <p:cNvGrpSpPr/>
          <p:nvPr/>
        </p:nvGrpSpPr>
        <p:grpSpPr>
          <a:xfrm>
            <a:off x="1288232" y="1349351"/>
            <a:ext cx="1800000" cy="252000"/>
            <a:chOff x="2544198" y="-566622"/>
            <a:chExt cx="1800000" cy="252000"/>
          </a:xfrm>
        </p:grpSpPr>
        <p:sp>
          <p:nvSpPr>
            <p:cNvPr id="133" name="직사각형 132"/>
            <p:cNvSpPr/>
            <p:nvPr/>
          </p:nvSpPr>
          <p:spPr>
            <a:xfrm>
              <a:off x="2544198" y="-56662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국민은행</a:t>
              </a:r>
            </a:p>
          </p:txBody>
        </p:sp>
        <p:pic>
          <p:nvPicPr>
            <p:cNvPr id="134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32568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135" name="직사각형 134"/>
          <p:cNvSpPr/>
          <p:nvPr/>
        </p:nvSpPr>
        <p:spPr>
          <a:xfrm>
            <a:off x="3160441" y="1349351"/>
            <a:ext cx="18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853210000000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36" name="직사각형 135"/>
          <p:cNvSpPr/>
          <p:nvPr/>
        </p:nvSpPr>
        <p:spPr>
          <a:xfrm>
            <a:off x="5026696" y="1357229"/>
            <a:ext cx="162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계좌번호 유효성 체크</a:t>
            </a:r>
          </a:p>
        </p:txBody>
      </p:sp>
      <p:sp>
        <p:nvSpPr>
          <p:cNvPr id="137" name="눈물 방울 136"/>
          <p:cNvSpPr/>
          <p:nvPr/>
        </p:nvSpPr>
        <p:spPr>
          <a:xfrm rot="5400000">
            <a:off x="5643429" y="112205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49" name="직사각형 148"/>
          <p:cNvSpPr/>
          <p:nvPr/>
        </p:nvSpPr>
        <p:spPr>
          <a:xfrm>
            <a:off x="1166570" y="952611"/>
            <a:ext cx="308666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</a:p>
        </p:txBody>
      </p:sp>
      <p:sp>
        <p:nvSpPr>
          <p:cNvPr id="153" name="눈물 방울 152"/>
          <p:cNvSpPr/>
          <p:nvPr/>
        </p:nvSpPr>
        <p:spPr>
          <a:xfrm rot="5400000">
            <a:off x="1004966" y="960078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54" name="직사각형 153"/>
          <p:cNvSpPr/>
          <p:nvPr/>
        </p:nvSpPr>
        <p:spPr>
          <a:xfrm>
            <a:off x="1144216" y="1774896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155" name="그룹 154"/>
          <p:cNvGrpSpPr/>
          <p:nvPr/>
        </p:nvGrpSpPr>
        <p:grpSpPr>
          <a:xfrm>
            <a:off x="1288232" y="2098960"/>
            <a:ext cx="1800000" cy="252000"/>
            <a:chOff x="2544198" y="-566622"/>
            <a:chExt cx="1800000" cy="252000"/>
          </a:xfrm>
        </p:grpSpPr>
        <p:sp>
          <p:nvSpPr>
            <p:cNvPr id="156" name="직사각형 155"/>
            <p:cNvSpPr/>
            <p:nvPr/>
          </p:nvSpPr>
          <p:spPr>
            <a:xfrm>
              <a:off x="2544198" y="-566622"/>
              <a:ext cx="180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국민은행</a:t>
              </a:r>
            </a:p>
          </p:txBody>
        </p:sp>
        <p:pic>
          <p:nvPicPr>
            <p:cNvPr id="157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32568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158" name="직사각형 157"/>
          <p:cNvSpPr/>
          <p:nvPr/>
        </p:nvSpPr>
        <p:spPr>
          <a:xfrm>
            <a:off x="3160441" y="2098960"/>
            <a:ext cx="1800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853210000000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83" name="직사각형 182"/>
          <p:cNvSpPr/>
          <p:nvPr/>
        </p:nvSpPr>
        <p:spPr>
          <a:xfrm>
            <a:off x="5026696" y="2106838"/>
            <a:ext cx="162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계좌번호 유효성 체크 완료</a:t>
            </a:r>
          </a:p>
        </p:txBody>
      </p:sp>
      <p:sp>
        <p:nvSpPr>
          <p:cNvPr id="184" name="눈물 방울 183"/>
          <p:cNvSpPr/>
          <p:nvPr/>
        </p:nvSpPr>
        <p:spPr>
          <a:xfrm rot="5400000">
            <a:off x="5643429" y="1871668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62" name="직사각형 61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74" name="직사각형 73"/>
          <p:cNvSpPr/>
          <p:nvPr/>
        </p:nvSpPr>
        <p:spPr>
          <a:xfrm>
            <a:off x="1166570" y="2672925"/>
            <a:ext cx="308666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</a:p>
        </p:txBody>
      </p:sp>
      <p:sp>
        <p:nvSpPr>
          <p:cNvPr id="75" name="눈물 방울 74"/>
          <p:cNvSpPr/>
          <p:nvPr/>
        </p:nvSpPr>
        <p:spPr>
          <a:xfrm rot="5400000">
            <a:off x="1004966" y="2680392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1144216" y="3495210"/>
            <a:ext cx="5400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인증 성공 이후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77" name="그룹 76"/>
          <p:cNvGrpSpPr/>
          <p:nvPr/>
        </p:nvGrpSpPr>
        <p:grpSpPr>
          <a:xfrm>
            <a:off x="1288232" y="3035064"/>
            <a:ext cx="1800000" cy="252000"/>
            <a:chOff x="2544198" y="-566622"/>
            <a:chExt cx="1800000" cy="252000"/>
          </a:xfrm>
        </p:grpSpPr>
        <p:sp>
          <p:nvSpPr>
            <p:cNvPr id="78" name="직사각형 77"/>
            <p:cNvSpPr/>
            <p:nvPr/>
          </p:nvSpPr>
          <p:spPr>
            <a:xfrm>
              <a:off x="2544198" y="-566622"/>
              <a:ext cx="180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국민카드</a:t>
              </a:r>
            </a:p>
          </p:txBody>
        </p:sp>
        <p:pic>
          <p:nvPicPr>
            <p:cNvPr id="79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32568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80" name="직사각형 79"/>
          <p:cNvSpPr/>
          <p:nvPr/>
        </p:nvSpPr>
        <p:spPr>
          <a:xfrm>
            <a:off x="3160441" y="3035064"/>
            <a:ext cx="18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4579922011111111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81" name="그룹 80"/>
          <p:cNvGrpSpPr/>
          <p:nvPr/>
        </p:nvGrpSpPr>
        <p:grpSpPr>
          <a:xfrm>
            <a:off x="5035322" y="3035064"/>
            <a:ext cx="1080000" cy="252000"/>
            <a:chOff x="2544198" y="-566622"/>
            <a:chExt cx="1080000" cy="252000"/>
          </a:xfrm>
        </p:grpSpPr>
        <p:sp>
          <p:nvSpPr>
            <p:cNvPr id="82" name="직사각형 81"/>
            <p:cNvSpPr/>
            <p:nvPr/>
          </p:nvSpPr>
          <p:spPr>
            <a:xfrm>
              <a:off x="2544198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12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pic>
          <p:nvPicPr>
            <p:cNvPr id="83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08294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84" name="그룹 83"/>
          <p:cNvGrpSpPr/>
          <p:nvPr/>
        </p:nvGrpSpPr>
        <p:grpSpPr>
          <a:xfrm>
            <a:off x="6153066" y="3035064"/>
            <a:ext cx="1080000" cy="252000"/>
            <a:chOff x="2544198" y="-566622"/>
            <a:chExt cx="1080000" cy="252000"/>
          </a:xfrm>
        </p:grpSpPr>
        <p:sp>
          <p:nvSpPr>
            <p:cNvPr id="85" name="직사각형 84"/>
            <p:cNvSpPr/>
            <p:nvPr/>
          </p:nvSpPr>
          <p:spPr>
            <a:xfrm>
              <a:off x="2544198" y="-566622"/>
              <a:ext cx="1080000" cy="252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2030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pic>
          <p:nvPicPr>
            <p:cNvPr id="86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08294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87" name="직사각형 86"/>
          <p:cNvSpPr/>
          <p:nvPr/>
        </p:nvSpPr>
        <p:spPr>
          <a:xfrm>
            <a:off x="7305074" y="3025690"/>
            <a:ext cx="162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신용카드 유효성 체크</a:t>
            </a:r>
          </a:p>
        </p:txBody>
      </p:sp>
      <p:sp>
        <p:nvSpPr>
          <p:cNvPr id="88" name="눈물 방울 87"/>
          <p:cNvSpPr/>
          <p:nvPr/>
        </p:nvSpPr>
        <p:spPr>
          <a:xfrm rot="5400000">
            <a:off x="7921807" y="2807036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89" name="그룹 88"/>
          <p:cNvGrpSpPr/>
          <p:nvPr/>
        </p:nvGrpSpPr>
        <p:grpSpPr>
          <a:xfrm>
            <a:off x="1288232" y="3798359"/>
            <a:ext cx="1800000" cy="252000"/>
            <a:chOff x="2544198" y="-566622"/>
            <a:chExt cx="1800000" cy="252000"/>
          </a:xfrm>
        </p:grpSpPr>
        <p:sp>
          <p:nvSpPr>
            <p:cNvPr id="90" name="직사각형 89"/>
            <p:cNvSpPr/>
            <p:nvPr/>
          </p:nvSpPr>
          <p:spPr>
            <a:xfrm>
              <a:off x="2544198" y="-566622"/>
              <a:ext cx="180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ko-KR" altLang="en-US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국민카드</a:t>
              </a:r>
            </a:p>
          </p:txBody>
        </p:sp>
        <p:pic>
          <p:nvPicPr>
            <p:cNvPr id="91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32568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92" name="직사각형 91"/>
          <p:cNvSpPr/>
          <p:nvPr/>
        </p:nvSpPr>
        <p:spPr>
          <a:xfrm>
            <a:off x="3160441" y="3798359"/>
            <a:ext cx="1800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4579922011111111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grpSp>
        <p:nvGrpSpPr>
          <p:cNvPr id="93" name="그룹 92"/>
          <p:cNvGrpSpPr/>
          <p:nvPr/>
        </p:nvGrpSpPr>
        <p:grpSpPr>
          <a:xfrm>
            <a:off x="5035322" y="3798359"/>
            <a:ext cx="1080000" cy="252000"/>
            <a:chOff x="2544198" y="-566622"/>
            <a:chExt cx="1080000" cy="252000"/>
          </a:xfrm>
        </p:grpSpPr>
        <p:sp>
          <p:nvSpPr>
            <p:cNvPr id="94" name="직사각형 93"/>
            <p:cNvSpPr/>
            <p:nvPr/>
          </p:nvSpPr>
          <p:spPr>
            <a:xfrm>
              <a:off x="2544198" y="-566622"/>
              <a:ext cx="108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12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pic>
          <p:nvPicPr>
            <p:cNvPr id="95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08294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grpSp>
        <p:nvGrpSpPr>
          <p:cNvPr id="96" name="그룹 95"/>
          <p:cNvGrpSpPr/>
          <p:nvPr/>
        </p:nvGrpSpPr>
        <p:grpSpPr>
          <a:xfrm>
            <a:off x="6153066" y="3798359"/>
            <a:ext cx="1080000" cy="252000"/>
            <a:chOff x="2544198" y="-566622"/>
            <a:chExt cx="1080000" cy="252000"/>
          </a:xfrm>
        </p:grpSpPr>
        <p:sp>
          <p:nvSpPr>
            <p:cNvPr id="97" name="직사각형 96"/>
            <p:cNvSpPr/>
            <p:nvPr/>
          </p:nvSpPr>
          <p:spPr>
            <a:xfrm>
              <a:off x="2544198" y="-566622"/>
              <a:ext cx="1080000" cy="25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algn="ctr">
              <a:solidFill>
                <a:schemeClr val="tx1">
                  <a:lumMod val="65000"/>
                  <a:lumOff val="35000"/>
                </a:schemeClr>
              </a:solidFill>
              <a:miter lim="800000"/>
              <a:headEnd/>
              <a:tailEnd/>
            </a:ln>
          </p:spPr>
          <p:txBody>
            <a:bodyPr wrap="square" lIns="72000" tIns="0" rIns="0" bIns="0" rtlCol="0" anchor="ctr">
              <a:no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ko-KR" sz="9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2030</a:t>
              </a:r>
              <a:endPara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pic>
          <p:nvPicPr>
            <p:cNvPr id="98" name="Picture 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08294" y="-524671"/>
              <a:ext cx="180000" cy="14666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sp>
        <p:nvSpPr>
          <p:cNvPr id="99" name="직사각형 98"/>
          <p:cNvSpPr/>
          <p:nvPr/>
        </p:nvSpPr>
        <p:spPr>
          <a:xfrm>
            <a:off x="7305074" y="3788985"/>
            <a:ext cx="162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신용카드 유효성 체크 완료</a:t>
            </a:r>
          </a:p>
        </p:txBody>
      </p:sp>
      <p:sp>
        <p:nvSpPr>
          <p:cNvPr id="100" name="눈물 방울 99"/>
          <p:cNvSpPr/>
          <p:nvPr/>
        </p:nvSpPr>
        <p:spPr>
          <a:xfrm rot="5400000">
            <a:off x="7921807" y="357033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817171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Box 59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상품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S103020101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62" name="직사각형 61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74" name="직사각형 73"/>
          <p:cNvSpPr/>
          <p:nvPr/>
        </p:nvSpPr>
        <p:spPr>
          <a:xfrm>
            <a:off x="1216224" y="981522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계좌번호가 유효하지 않은 경우</a:t>
            </a:r>
          </a:p>
        </p:txBody>
      </p:sp>
      <p:grpSp>
        <p:nvGrpSpPr>
          <p:cNvPr id="75" name="그룹 74"/>
          <p:cNvGrpSpPr/>
          <p:nvPr/>
        </p:nvGrpSpPr>
        <p:grpSpPr>
          <a:xfrm>
            <a:off x="1231520" y="1341562"/>
            <a:ext cx="2881818" cy="1397063"/>
            <a:chOff x="5875124" y="3832891"/>
            <a:chExt cx="2881818" cy="1397063"/>
          </a:xfrm>
        </p:grpSpPr>
        <p:sp>
          <p:nvSpPr>
            <p:cNvPr id="76" name="직사각형 75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77" name="직사각형 76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78" name="직사각형 77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유효하지 않은 계좌번호 입니다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다시 확인 후 입력 해주세요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79" name="눈물 방울 78"/>
          <p:cNvSpPr/>
          <p:nvPr/>
        </p:nvSpPr>
        <p:spPr>
          <a:xfrm rot="5400000">
            <a:off x="1004966" y="97675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1184593" y="2853730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신용카드가 유효하지 않은 경우</a:t>
            </a:r>
          </a:p>
        </p:txBody>
      </p:sp>
      <p:grpSp>
        <p:nvGrpSpPr>
          <p:cNvPr id="81" name="그룹 80"/>
          <p:cNvGrpSpPr/>
          <p:nvPr/>
        </p:nvGrpSpPr>
        <p:grpSpPr>
          <a:xfrm>
            <a:off x="1199889" y="3213770"/>
            <a:ext cx="2881818" cy="1397063"/>
            <a:chOff x="5875124" y="3832891"/>
            <a:chExt cx="2881818" cy="1397063"/>
          </a:xfrm>
        </p:grpSpPr>
        <p:sp>
          <p:nvSpPr>
            <p:cNvPr id="82" name="직사각형 81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3" name="직사각형 82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84" name="직사각형 83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유효하지 않은 신용카드 입니다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다시 확인 후 입력 해주세요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85" name="눈물 방울 84"/>
          <p:cNvSpPr/>
          <p:nvPr/>
        </p:nvSpPr>
        <p:spPr>
          <a:xfrm rot="5400000">
            <a:off x="1004966" y="284896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6" name="직사각형 85"/>
          <p:cNvSpPr/>
          <p:nvPr/>
        </p:nvSpPr>
        <p:spPr>
          <a:xfrm>
            <a:off x="4344199" y="981522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계좌번호가 유효한 경우</a:t>
            </a:r>
          </a:p>
        </p:txBody>
      </p:sp>
      <p:grpSp>
        <p:nvGrpSpPr>
          <p:cNvPr id="87" name="그룹 86"/>
          <p:cNvGrpSpPr/>
          <p:nvPr/>
        </p:nvGrpSpPr>
        <p:grpSpPr>
          <a:xfrm>
            <a:off x="4359495" y="1341562"/>
            <a:ext cx="2881818" cy="1397063"/>
            <a:chOff x="5875124" y="3832891"/>
            <a:chExt cx="2881818" cy="1397063"/>
          </a:xfrm>
        </p:grpSpPr>
        <p:sp>
          <p:nvSpPr>
            <p:cNvPr id="88" name="직사각형 87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89" name="직사각형 88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90" name="직사각형 89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계좌번호 인증이 완료되었습니다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91" name="직사각형 90"/>
          <p:cNvSpPr/>
          <p:nvPr/>
        </p:nvSpPr>
        <p:spPr>
          <a:xfrm>
            <a:off x="4312568" y="2853730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신용카드가 유효한 경우</a:t>
            </a:r>
          </a:p>
        </p:txBody>
      </p:sp>
      <p:grpSp>
        <p:nvGrpSpPr>
          <p:cNvPr id="92" name="그룹 91"/>
          <p:cNvGrpSpPr/>
          <p:nvPr/>
        </p:nvGrpSpPr>
        <p:grpSpPr>
          <a:xfrm>
            <a:off x="4327864" y="3213770"/>
            <a:ext cx="2881818" cy="1397063"/>
            <a:chOff x="5875124" y="3832891"/>
            <a:chExt cx="2881818" cy="1397063"/>
          </a:xfrm>
        </p:grpSpPr>
        <p:sp>
          <p:nvSpPr>
            <p:cNvPr id="93" name="직사각형 92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95" name="직사각형 94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신용카드 인증이 완료되었습니다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29" name="눈물 방울 28"/>
          <p:cNvSpPr/>
          <p:nvPr/>
        </p:nvSpPr>
        <p:spPr>
          <a:xfrm rot="5400000">
            <a:off x="1004966" y="4848510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1181892" y="4841043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청구계정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ID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가 유효하지 않은 경우</a:t>
            </a:r>
          </a:p>
        </p:txBody>
      </p:sp>
      <p:grpSp>
        <p:nvGrpSpPr>
          <p:cNvPr id="31" name="그룹 30"/>
          <p:cNvGrpSpPr/>
          <p:nvPr/>
        </p:nvGrpSpPr>
        <p:grpSpPr>
          <a:xfrm>
            <a:off x="1197188" y="5201083"/>
            <a:ext cx="2881818" cy="1397063"/>
            <a:chOff x="5875124" y="3832891"/>
            <a:chExt cx="2881818" cy="1397063"/>
          </a:xfrm>
        </p:grpSpPr>
        <p:sp>
          <p:nvSpPr>
            <p:cNvPr id="32" name="직사각형 31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4" name="직사각형 33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유효하지 않은 청구계정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ID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입니다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다시 확인 후 입력 해주세요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  <p:sp>
        <p:nvSpPr>
          <p:cNvPr id="35" name="직사각형 34"/>
          <p:cNvSpPr/>
          <p:nvPr/>
        </p:nvSpPr>
        <p:spPr>
          <a:xfrm>
            <a:off x="4309867" y="4841043"/>
            <a:ext cx="31683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청구계정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ID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가 유효한 경우</a:t>
            </a:r>
          </a:p>
        </p:txBody>
      </p:sp>
      <p:grpSp>
        <p:nvGrpSpPr>
          <p:cNvPr id="36" name="그룹 35"/>
          <p:cNvGrpSpPr/>
          <p:nvPr/>
        </p:nvGrpSpPr>
        <p:grpSpPr>
          <a:xfrm>
            <a:off x="4325163" y="5201083"/>
            <a:ext cx="2881818" cy="1397063"/>
            <a:chOff x="5875124" y="3832891"/>
            <a:chExt cx="2881818" cy="1397063"/>
          </a:xfrm>
        </p:grpSpPr>
        <p:sp>
          <p:nvSpPr>
            <p:cNvPr id="37" name="직사각형 36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청구계정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ID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인증이 완료되었습니다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91055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692397"/>
              </p:ext>
            </p:extLst>
          </p:nvPr>
        </p:nvGraphicFramePr>
        <p:xfrm>
          <a:off x="10505256" y="788950"/>
          <a:ext cx="2130330" cy="4436155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좌측 메뉴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작성단계에 맞춰 활성화 되어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indent="-889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동의 정보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영역 화면에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내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항목이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선택되면 버튼 활성화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 값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필수값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 여부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입력값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서명 후 등록 가능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안내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녹취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후 등록 가능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작성 완료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작성 내용 등록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내용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전산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전송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리포트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이미징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이미징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시스템 전송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포탈과 동일 사용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m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전산 테이블로 등록</a:t>
                      </a:r>
                      <a:endParaRPr lang="en-US" altLang="ko-KR" sz="800" b="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en-US" altLang="ko-KR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-&gt; </a:t>
                      </a:r>
                      <a:r>
                        <a:rPr lang="ko-KR" altLang="en-US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신분증</a:t>
                      </a:r>
                      <a:r>
                        <a:rPr lang="en-US" altLang="ko-KR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구비서류</a:t>
                      </a:r>
                      <a:r>
                        <a:rPr lang="en-US" altLang="ko-KR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신청서 이미지</a:t>
                      </a:r>
                      <a:r>
                        <a:rPr lang="en-US" altLang="ko-KR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전송 </a:t>
                      </a:r>
                      <a:r>
                        <a:rPr lang="en-US" altLang="ko-KR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=&gt; m</a:t>
                      </a:r>
                      <a:r>
                        <a:rPr lang="ko-KR" altLang="en-US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포탈과 동일하게 처리</a:t>
                      </a:r>
                      <a:endParaRPr lang="en-US" altLang="ko-KR" sz="800" b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- m</a:t>
                      </a:r>
                      <a:r>
                        <a:rPr lang="ko-KR" altLang="en-US" sz="800" b="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전산에서 결과 받은 데이터를 스마트신청서 테이블 데이터 현행화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5" name="직사각형 54"/>
          <p:cNvSpPr/>
          <p:nvPr/>
        </p:nvSpPr>
        <p:spPr>
          <a:xfrm>
            <a:off x="962696" y="1062154"/>
            <a:ext cx="9468000" cy="5580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7" name="직사각형 56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grpSp>
        <p:nvGrpSpPr>
          <p:cNvPr id="58" name="그룹 57"/>
          <p:cNvGrpSpPr/>
          <p:nvPr/>
        </p:nvGrpSpPr>
        <p:grpSpPr>
          <a:xfrm>
            <a:off x="208192" y="1055696"/>
            <a:ext cx="720000" cy="4368542"/>
            <a:chOff x="13169552" y="1055696"/>
            <a:chExt cx="720000" cy="4368542"/>
          </a:xfrm>
        </p:grpSpPr>
        <p:sp>
          <p:nvSpPr>
            <p:cNvPr id="59" name="직사각형 58"/>
            <p:cNvSpPr/>
            <p:nvPr/>
          </p:nvSpPr>
          <p:spPr>
            <a:xfrm>
              <a:off x="13169552" y="1055696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신규</a:t>
              </a:r>
              <a:r>
                <a:rPr lang="en-US" altLang="ko-KR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13169552" y="1600175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61" name="직사각형 60"/>
            <p:cNvSpPr/>
            <p:nvPr/>
          </p:nvSpPr>
          <p:spPr>
            <a:xfrm>
              <a:off x="13169552" y="2135210"/>
              <a:ext cx="720000" cy="540000"/>
            </a:xfrm>
            <a:prstGeom prst="rect">
              <a:avLst/>
            </a:prstGeom>
            <a:solidFill>
              <a:srgbClr val="1BA6C7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명의변경</a:t>
              </a: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13169552" y="3805245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해지</a:t>
              </a:r>
            </a:p>
          </p:txBody>
        </p:sp>
        <p:sp>
          <p:nvSpPr>
            <p:cNvPr id="63" name="직사각형 62"/>
            <p:cNvSpPr/>
            <p:nvPr/>
          </p:nvSpPr>
          <p:spPr>
            <a:xfrm>
              <a:off x="13169552" y="4344741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부가기능</a:t>
              </a:r>
            </a:p>
          </p:txBody>
        </p:sp>
        <p:grpSp>
          <p:nvGrpSpPr>
            <p:cNvPr id="64" name="그룹 63"/>
            <p:cNvGrpSpPr/>
            <p:nvPr/>
          </p:nvGrpSpPr>
          <p:grpSpPr>
            <a:xfrm>
              <a:off x="13169552" y="4884238"/>
              <a:ext cx="720000" cy="540000"/>
              <a:chOff x="1648352" y="5642535"/>
              <a:chExt cx="720000" cy="540000"/>
            </a:xfrm>
          </p:grpSpPr>
          <p:sp>
            <p:nvSpPr>
              <p:cNvPr id="71" name="직사각형 70"/>
              <p:cNvSpPr/>
              <p:nvPr/>
            </p:nvSpPr>
            <p:spPr>
              <a:xfrm>
                <a:off x="1648352" y="5642535"/>
                <a:ext cx="720000" cy="540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rgbClr val="3CC4E4"/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12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72" name="Picture 5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803535" y="5720463"/>
                <a:ext cx="409575" cy="3905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sp>
          <p:nvSpPr>
            <p:cNvPr id="65" name="직사각형 64"/>
            <p:cNvSpPr/>
            <p:nvPr/>
          </p:nvSpPr>
          <p:spPr>
            <a:xfrm>
              <a:off x="13207056" y="2711314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고객</a:t>
              </a:r>
            </a:p>
          </p:txBody>
        </p:sp>
        <p:sp>
          <p:nvSpPr>
            <p:cNvPr id="66" name="타원 65"/>
            <p:cNvSpPr/>
            <p:nvPr/>
          </p:nvSpPr>
          <p:spPr>
            <a:xfrm>
              <a:off x="13238559" y="2774688"/>
              <a:ext cx="216000" cy="216000"/>
            </a:xfrm>
            <a:prstGeom prst="ellipse">
              <a:avLst/>
            </a:prstGeom>
            <a:solidFill>
              <a:srgbClr val="1BA6C7"/>
            </a:solidFill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1</a:t>
              </a:r>
              <a:endParaRPr lang="ko-KR" altLang="en-US" sz="8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7" name="직사각형 66"/>
            <p:cNvSpPr/>
            <p:nvPr/>
          </p:nvSpPr>
          <p:spPr>
            <a:xfrm>
              <a:off x="13206976" y="3069794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상품</a:t>
              </a:r>
            </a:p>
          </p:txBody>
        </p:sp>
        <p:sp>
          <p:nvSpPr>
            <p:cNvPr id="68" name="타원 67"/>
            <p:cNvSpPr/>
            <p:nvPr/>
          </p:nvSpPr>
          <p:spPr>
            <a:xfrm>
              <a:off x="13238559" y="3133168"/>
              <a:ext cx="216000" cy="216000"/>
            </a:xfrm>
            <a:prstGeom prst="ellipse">
              <a:avLst/>
            </a:prstGeom>
            <a:noFill/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2</a:t>
              </a:r>
              <a:endParaRPr lang="ko-KR" altLang="en-US" sz="8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69" name="직사각형 68"/>
            <p:cNvSpPr/>
            <p:nvPr/>
          </p:nvSpPr>
          <p:spPr>
            <a:xfrm>
              <a:off x="13206976" y="3429834"/>
              <a:ext cx="647992" cy="36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   동의</a:t>
              </a:r>
            </a:p>
          </p:txBody>
        </p:sp>
        <p:sp>
          <p:nvSpPr>
            <p:cNvPr id="70" name="타원 69"/>
            <p:cNvSpPr/>
            <p:nvPr/>
          </p:nvSpPr>
          <p:spPr>
            <a:xfrm>
              <a:off x="13238559" y="3493208"/>
              <a:ext cx="216000" cy="216000"/>
            </a:xfrm>
            <a:prstGeom prst="ellipse">
              <a:avLst/>
            </a:prstGeom>
            <a:noFill/>
            <a:ln w="6350" algn="ctr">
              <a:solidFill>
                <a:srgbClr val="1BA6C7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8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3</a:t>
              </a:r>
              <a:endParaRPr lang="ko-KR" altLang="en-US" sz="8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143" name="직사각형 142"/>
          <p:cNvSpPr/>
          <p:nvPr/>
        </p:nvSpPr>
        <p:spPr>
          <a:xfrm>
            <a:off x="1072208" y="1125809"/>
            <a:ext cx="9252000" cy="1080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2000" b="1" dirty="0">
                <a:latin typeface="+mn-ea"/>
                <a:ea typeface="+mn-ea"/>
              </a:rPr>
              <a:t>고객 영역</a:t>
            </a:r>
          </a:p>
        </p:txBody>
      </p:sp>
      <p:sp>
        <p:nvSpPr>
          <p:cNvPr id="144" name="직사각형 143"/>
          <p:cNvSpPr/>
          <p:nvPr/>
        </p:nvSpPr>
        <p:spPr>
          <a:xfrm>
            <a:off x="1072208" y="2337442"/>
            <a:ext cx="9252000" cy="1080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2000" b="1" dirty="0">
                <a:latin typeface="+mn-ea"/>
                <a:ea typeface="+mn-ea"/>
              </a:rPr>
              <a:t>상품 영역</a:t>
            </a:r>
          </a:p>
        </p:txBody>
      </p:sp>
      <p:sp>
        <p:nvSpPr>
          <p:cNvPr id="145" name="직사각형 144"/>
          <p:cNvSpPr/>
          <p:nvPr/>
        </p:nvSpPr>
        <p:spPr>
          <a:xfrm>
            <a:off x="1072208" y="3573930"/>
            <a:ext cx="9252000" cy="1080000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  <a:ln w="6350" algn="ctr">
            <a:solidFill>
              <a:schemeClr val="bg1">
                <a:lumMod val="95000"/>
              </a:schemeClr>
            </a:solidFill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2000" b="1" dirty="0">
                <a:latin typeface="+mn-ea"/>
                <a:ea typeface="+mn-ea"/>
              </a:rPr>
              <a:t>동의 영역</a:t>
            </a:r>
          </a:p>
        </p:txBody>
      </p:sp>
      <p:sp>
        <p:nvSpPr>
          <p:cNvPr id="150" name="눈물 방울 149"/>
          <p:cNvSpPr/>
          <p:nvPr/>
        </p:nvSpPr>
        <p:spPr>
          <a:xfrm rot="5400000">
            <a:off x="212878" y="8449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51" name="눈물 방울 150"/>
          <p:cNvSpPr/>
          <p:nvPr/>
        </p:nvSpPr>
        <p:spPr>
          <a:xfrm rot="5400000">
            <a:off x="967462" y="3509269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동의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5" name="눈물 방울 34"/>
          <p:cNvSpPr/>
          <p:nvPr/>
        </p:nvSpPr>
        <p:spPr>
          <a:xfrm rot="5400000">
            <a:off x="9174529" y="6311859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9425136" y="6274520"/>
            <a:ext cx="900000" cy="288000"/>
          </a:xfrm>
          <a:prstGeom prst="rect">
            <a:avLst/>
          </a:prstGeom>
          <a:solidFill>
            <a:srgbClr val="008080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작성 완료</a:t>
            </a:r>
          </a:p>
        </p:txBody>
      </p:sp>
    </p:spTree>
    <p:extLst>
      <p:ext uri="{BB962C8B-B14F-4D97-AF65-F5344CB8AC3E}">
        <p14:creationId xmlns:p14="http://schemas.microsoft.com/office/powerpoint/2010/main" val="42686936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동의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S103030101</a:t>
            </a:r>
            <a:endParaRPr lang="ko-KR" altLang="en-US" sz="1000" dirty="0">
              <a:latin typeface="+mn-ea"/>
              <a:ea typeface="+mn-ea"/>
            </a:endParaRPr>
          </a:p>
        </p:txBody>
      </p:sp>
      <p:grpSp>
        <p:nvGrpSpPr>
          <p:cNvPr id="41" name="그룹 40"/>
          <p:cNvGrpSpPr/>
          <p:nvPr/>
        </p:nvGrpSpPr>
        <p:grpSpPr>
          <a:xfrm>
            <a:off x="3972650" y="2529775"/>
            <a:ext cx="2881818" cy="1397063"/>
            <a:chOff x="3735006" y="4762023"/>
            <a:chExt cx="2881818" cy="1397063"/>
          </a:xfrm>
        </p:grpSpPr>
        <p:sp>
          <p:nvSpPr>
            <p:cNvPr id="42" name="직사각형 41"/>
            <p:cNvSpPr/>
            <p:nvPr/>
          </p:nvSpPr>
          <p:spPr>
            <a:xfrm>
              <a:off x="3736824" y="4762023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3735006" y="5799086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44" name="직사각형 43"/>
            <p:cNvSpPr/>
            <p:nvPr/>
          </p:nvSpPr>
          <p:spPr>
            <a:xfrm>
              <a:off x="3736825" y="5006964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신청서 등록이 완료되었습니다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45" name="직사각형 44"/>
          <p:cNvSpPr/>
          <p:nvPr/>
        </p:nvSpPr>
        <p:spPr>
          <a:xfrm>
            <a:off x="637459" y="2257414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확인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46" name="그룹 45"/>
          <p:cNvGrpSpPr/>
          <p:nvPr/>
        </p:nvGrpSpPr>
        <p:grpSpPr>
          <a:xfrm>
            <a:off x="856184" y="2533747"/>
            <a:ext cx="2881818" cy="1400103"/>
            <a:chOff x="618540" y="4765995"/>
            <a:chExt cx="2881818" cy="1400103"/>
          </a:xfrm>
        </p:grpSpPr>
        <p:sp>
          <p:nvSpPr>
            <p:cNvPr id="47" name="직사각형 46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618540" y="5803058"/>
              <a:ext cx="144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취소</a:t>
              </a:r>
            </a:p>
          </p:txBody>
        </p:sp>
        <p:sp>
          <p:nvSpPr>
            <p:cNvPr id="49" name="직사각형 48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신청서를 등록하시겠습니까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?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2053459" y="5806098"/>
              <a:ext cx="144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51" name="직사각형 50"/>
          <p:cNvSpPr/>
          <p:nvPr/>
        </p:nvSpPr>
        <p:spPr>
          <a:xfrm>
            <a:off x="4262180" y="2263371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52" name="그룹 51"/>
          <p:cNvGrpSpPr/>
          <p:nvPr/>
        </p:nvGrpSpPr>
        <p:grpSpPr>
          <a:xfrm>
            <a:off x="7141002" y="2528168"/>
            <a:ext cx="2881818" cy="1397063"/>
            <a:chOff x="6903358" y="4760416"/>
            <a:chExt cx="2881818" cy="1397063"/>
          </a:xfrm>
        </p:grpSpPr>
        <p:sp>
          <p:nvSpPr>
            <p:cNvPr id="53" name="직사각형 52"/>
            <p:cNvSpPr/>
            <p:nvPr/>
          </p:nvSpPr>
          <p:spPr>
            <a:xfrm>
              <a:off x="6905176" y="4760416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54" name="직사각형 53"/>
            <p:cNvSpPr/>
            <p:nvPr/>
          </p:nvSpPr>
          <p:spPr>
            <a:xfrm>
              <a:off x="6903358" y="5797479"/>
              <a:ext cx="288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55" name="직사각형 54"/>
            <p:cNvSpPr/>
            <p:nvPr/>
          </p:nvSpPr>
          <p:spPr>
            <a:xfrm>
              <a:off x="6905177" y="5005357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신청서 등록이 실패하였습니다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다시 시도해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56" name="직사각형 55"/>
          <p:cNvSpPr/>
          <p:nvPr/>
        </p:nvSpPr>
        <p:spPr>
          <a:xfrm>
            <a:off x="7430532" y="2261764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실패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57" name="눈물 방울 56"/>
          <p:cNvSpPr/>
          <p:nvPr/>
        </p:nvSpPr>
        <p:spPr>
          <a:xfrm rot="5400000">
            <a:off x="359595" y="2285133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8" name="직사각형 57"/>
          <p:cNvSpPr/>
          <p:nvPr/>
        </p:nvSpPr>
        <p:spPr>
          <a:xfrm>
            <a:off x="856184" y="1246133"/>
            <a:ext cx="900000" cy="288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작성 완료</a:t>
            </a:r>
          </a:p>
        </p:txBody>
      </p:sp>
      <p:sp>
        <p:nvSpPr>
          <p:cNvPr id="59" name="직사각형 58"/>
          <p:cNvSpPr/>
          <p:nvPr/>
        </p:nvSpPr>
        <p:spPr>
          <a:xfrm>
            <a:off x="1967712" y="1246133"/>
            <a:ext cx="900000" cy="288000"/>
          </a:xfrm>
          <a:prstGeom prst="rect">
            <a:avLst/>
          </a:prstGeom>
          <a:solidFill>
            <a:srgbClr val="008080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작성 완료</a:t>
            </a:r>
          </a:p>
        </p:txBody>
      </p:sp>
      <p:sp>
        <p:nvSpPr>
          <p:cNvPr id="60" name="직사각형 59"/>
          <p:cNvSpPr/>
          <p:nvPr/>
        </p:nvSpPr>
        <p:spPr>
          <a:xfrm>
            <a:off x="640160" y="909514"/>
            <a:ext cx="374441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화면 내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 항목이 모두 입력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선택되면 버튼 활성화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61" name="눈물 방울 60"/>
          <p:cNvSpPr/>
          <p:nvPr/>
        </p:nvSpPr>
        <p:spPr>
          <a:xfrm rot="5400000">
            <a:off x="356894" y="925963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2" name="직사각형 61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버튼 활성화</a:t>
            </a:r>
          </a:p>
        </p:txBody>
      </p:sp>
      <p:sp>
        <p:nvSpPr>
          <p:cNvPr id="63" name="직사각형 62"/>
          <p:cNvSpPr/>
          <p:nvPr/>
        </p:nvSpPr>
        <p:spPr>
          <a:xfrm>
            <a:off x="173136" y="1917626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grpSp>
        <p:nvGrpSpPr>
          <p:cNvPr id="29" name="그룹 28"/>
          <p:cNvGrpSpPr/>
          <p:nvPr/>
        </p:nvGrpSpPr>
        <p:grpSpPr>
          <a:xfrm>
            <a:off x="566654" y="4540779"/>
            <a:ext cx="2881818" cy="1397063"/>
            <a:chOff x="5875124" y="3832891"/>
            <a:chExt cx="2881818" cy="1397063"/>
          </a:xfrm>
        </p:grpSpPr>
        <p:sp>
          <p:nvSpPr>
            <p:cNvPr id="30" name="직사각형 29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1" name="직사각형 30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XXX 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입력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선택해 주세요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33" name="직사각형 32"/>
          <p:cNvSpPr/>
          <p:nvPr/>
        </p:nvSpPr>
        <p:spPr>
          <a:xfrm>
            <a:off x="620665" y="4245925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필수값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미입력시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37" name="눈물 방울 36"/>
          <p:cNvSpPr/>
          <p:nvPr/>
        </p:nvSpPr>
        <p:spPr>
          <a:xfrm rot="5400000">
            <a:off x="363821" y="4217117"/>
            <a:ext cx="203791" cy="213322"/>
          </a:xfrm>
          <a:prstGeom prst="teardrop">
            <a:avLst/>
          </a:prstGeom>
          <a:solidFill>
            <a:schemeClr val="accent4">
              <a:lumMod val="20000"/>
              <a:lumOff val="80000"/>
            </a:schemeClr>
          </a:solidFill>
          <a:ln w="63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A1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38" name="그룹 37"/>
          <p:cNvGrpSpPr/>
          <p:nvPr/>
        </p:nvGrpSpPr>
        <p:grpSpPr>
          <a:xfrm>
            <a:off x="3736504" y="4540779"/>
            <a:ext cx="2881818" cy="1397063"/>
            <a:chOff x="5875124" y="3832891"/>
            <a:chExt cx="2881818" cy="1397063"/>
          </a:xfrm>
        </p:grpSpPr>
        <p:sp>
          <p:nvSpPr>
            <p:cNvPr id="39" name="직사각형 38"/>
            <p:cNvSpPr/>
            <p:nvPr/>
          </p:nvSpPr>
          <p:spPr>
            <a:xfrm>
              <a:off x="5876942" y="3832891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0" name="직사각형 39"/>
            <p:cNvSpPr/>
            <p:nvPr/>
          </p:nvSpPr>
          <p:spPr>
            <a:xfrm>
              <a:off x="5875124" y="4869954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5876943" y="4077832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XXX 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인증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체크해 주세요</a:t>
              </a:r>
              <a:r>
                <a:rPr lang="en-US" altLang="ko-KR" sz="900" b="1" dirty="0" smtClean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en-US" altLang="ko-KR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65" name="직사각형 64"/>
          <p:cNvSpPr/>
          <p:nvPr/>
        </p:nvSpPr>
        <p:spPr>
          <a:xfrm>
            <a:off x="3790515" y="4245925"/>
            <a:ext cx="2724343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필수 인증</a:t>
            </a:r>
            <a:r>
              <a:rPr lang="en-US" altLang="ko-KR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/</a:t>
            </a:r>
            <a:r>
              <a:rPr lang="ko-KR" altLang="en-US" sz="1000" dirty="0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체크 </a:t>
            </a:r>
            <a:r>
              <a:rPr lang="ko-KR" altLang="en-US" sz="1000" dirty="0" err="1" smtClean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미완료시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900072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동의</a:t>
            </a:r>
          </a:p>
        </p:txBody>
      </p:sp>
      <p:sp>
        <p:nvSpPr>
          <p:cNvPr id="38" name="직사각형 37"/>
          <p:cNvSpPr/>
          <p:nvPr/>
        </p:nvSpPr>
        <p:spPr>
          <a:xfrm>
            <a:off x="962696" y="1062156"/>
            <a:ext cx="9468000" cy="5544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graphicFrame>
        <p:nvGraphicFramePr>
          <p:cNvPr id="30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8760295"/>
              </p:ext>
            </p:extLst>
          </p:nvPr>
        </p:nvGraphicFramePr>
        <p:xfrm>
          <a:off x="10505256" y="788950"/>
          <a:ext cx="2130330" cy="1122203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고객 안내 사항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모두 필수 체크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31" name="직사각형 30"/>
          <p:cNvSpPr/>
          <p:nvPr/>
        </p:nvSpPr>
        <p:spPr>
          <a:xfrm>
            <a:off x="962696" y="1062156"/>
            <a:ext cx="9468000" cy="558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37" name="그룹 36"/>
          <p:cNvGrpSpPr/>
          <p:nvPr/>
        </p:nvGrpSpPr>
        <p:grpSpPr>
          <a:xfrm>
            <a:off x="1072208" y="1180138"/>
            <a:ext cx="9252000" cy="246221"/>
            <a:chOff x="1072208" y="1117425"/>
            <a:chExt cx="9252000" cy="246221"/>
          </a:xfrm>
        </p:grpSpPr>
        <p:sp>
          <p:nvSpPr>
            <p:cNvPr id="43" name="TextBox 42"/>
            <p:cNvSpPr txBox="1"/>
            <p:nvPr/>
          </p:nvSpPr>
          <p:spPr>
            <a:xfrm>
              <a:off x="1072208" y="1117425"/>
              <a:ext cx="104387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고객 안내 사항</a:t>
              </a:r>
            </a:p>
          </p:txBody>
        </p:sp>
        <p:cxnSp>
          <p:nvCxnSpPr>
            <p:cNvPr id="44" name="직선 연결선 43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TextBox 44"/>
          <p:cNvSpPr txBox="1"/>
          <p:nvPr/>
        </p:nvSpPr>
        <p:spPr>
          <a:xfrm>
            <a:off x="1216224" y="1485577"/>
            <a:ext cx="9001000" cy="612068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lIns="180000" tIns="180000" rIns="180000" bIns="180000" rtlCol="0">
            <a:no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다음 사항을 고객님께 설명하고 서명을 받아주세요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※ </a:t>
            </a:r>
            <a:r>
              <a: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개통정보 녹음거부 동의</a:t>
            </a:r>
            <a:endParaRPr lang="en-US" altLang="ko-KR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     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개통 정보에 대해 모두 확인하였고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신청내용에 이의가 없으며 더 이상의 설명을 거부합니다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※ </a:t>
            </a:r>
            <a:r>
              <a: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명의 대여 위험 안내</a:t>
            </a:r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요금 상품 및 부가 서비스를 고객의사와 상관없이 무단 가입 및 의무기간을 설정하지 않으며 공시지원금 및 요금할인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선택약정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)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은 개통시점 공시된 기준으로 지급되며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이에 동의합니다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신청자 본인은 대출업자 등 제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3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자에게 고객명의의 휴대폰을 개통해 주거나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개통에 필요한 신청서류를 제공하는 경우 휴대폰 대출 사기 등에 악용되어 심각한 경제적 피해를 입을 수 있음을 안내 받았으며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아울러 신규계약서 내용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뒷면의 이동전화 서비스 이용약관 및 유의사항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관련 약관의 중요내용에 대한 명시와 설명을 듣고 이에 동의하여 개인정보 처리방침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이용약관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위치기반 서비스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위치정보사업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900" b="1" dirty="0" err="1">
                <a:latin typeface="맑은 고딕" pitchFamily="50" charset="-127"/>
                <a:ea typeface="맑은 고딕" pitchFamily="50" charset="-127"/>
              </a:rPr>
              <a:t>통신과금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 서비스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본인확인서비스 이용약관에 따라 위와 같이 신규계약을 체결합니다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      위 안내에 대해 확인하고 이해합니다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※ </a:t>
            </a:r>
            <a:r>
              <a: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통신범죄예방 안내</a:t>
            </a:r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타인으로부터 전화나 문자 요청을 받고 그에 따라 휴대폰 또는 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USIM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개통을 하지 않았음을 확인합니다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전기통신사업법 등 관련 법률에 따라 형사처벌을 받을 수 있습니다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.)</a:t>
            </a: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      위 안내에 대해 확인하고 이해합니다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※ </a:t>
            </a:r>
            <a:r>
              <a: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명의도용방지 서비스</a:t>
            </a:r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(M-Safer) </a:t>
            </a:r>
            <a:r>
              <a: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안내</a:t>
            </a:r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명의도용방지서비스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(M-Safer)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는 본인명의 통신서비스 가입 현황을 실시간 조회 가능하며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본인동의 없이 통신서비스에 가입하지 못하도록 차단서비스를 제공합니다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이용 및 신청방법 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: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홈페이지 또는 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PASS</a:t>
            </a:r>
            <a:r>
              <a:rPr lang="ko-KR" altLang="en-US" sz="900" b="1" dirty="0" err="1">
                <a:latin typeface="맑은 고딕" pitchFamily="50" charset="-127"/>
                <a:ea typeface="맑은 고딕" pitchFamily="50" charset="-127"/>
              </a:rPr>
              <a:t>앱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 제공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)</a:t>
            </a: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      위 안내에 대해 확인하고 이해합니다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※ </a:t>
            </a:r>
            <a:r>
              <a: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판매자 확인 안내</a:t>
            </a:r>
            <a:endParaRPr lang="en-US" altLang="ko-KR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      </a:t>
            </a:r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[</a:t>
            </a:r>
            <a:r>
              <a: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판매자</a:t>
            </a:r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]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고객 보호를 위해서 통신상품 가입 시 본인확인 및 가입의사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추가이용에 대해서 성실히 안내 하였습니다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※ </a:t>
            </a:r>
            <a:r>
              <a: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가입자 확인 안내</a:t>
            </a:r>
            <a:endParaRPr lang="en-US" altLang="ko-KR" sz="9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  <a:p>
            <a:endParaRPr lang="en-US" altLang="ko-KR" sz="900" b="1" dirty="0">
              <a:latin typeface="맑은 고딕" pitchFamily="50" charset="-127"/>
              <a:ea typeface="맑은 고딕" pitchFamily="50" charset="-127"/>
            </a:endParaRPr>
          </a:p>
          <a:p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      </a:t>
            </a:r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[</a:t>
            </a:r>
            <a:r>
              <a:rPr lang="ko-KR" altLang="en-US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가입자</a:t>
            </a:r>
            <a:r>
              <a:rPr lang="en-US" altLang="ko-KR" sz="900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]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본인 명의의 통신상품을 타인에게 제공하거나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매개하는 경우 법률에 따라 처벌 받을 수 있습니다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.</a:t>
            </a:r>
            <a:endParaRPr lang="ko-KR" altLang="en-US" sz="900" b="1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5" name="눈물 방울 54"/>
          <p:cNvSpPr/>
          <p:nvPr/>
        </p:nvSpPr>
        <p:spPr>
          <a:xfrm rot="5400000">
            <a:off x="932958" y="1061554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7" name="직사각형 56"/>
          <p:cNvSpPr/>
          <p:nvPr/>
        </p:nvSpPr>
        <p:spPr>
          <a:xfrm>
            <a:off x="1406297" y="2197032"/>
            <a:ext cx="144000" cy="144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73" name="직사각형 72"/>
          <p:cNvSpPr/>
          <p:nvPr/>
        </p:nvSpPr>
        <p:spPr>
          <a:xfrm>
            <a:off x="1406370" y="5924196"/>
            <a:ext cx="144000" cy="144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1406370" y="3717842"/>
            <a:ext cx="144000" cy="144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1406370" y="4815198"/>
            <a:ext cx="144000" cy="144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1414996" y="7300990"/>
            <a:ext cx="144000" cy="144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1414996" y="6598146"/>
            <a:ext cx="144000" cy="144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51711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동의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30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151572"/>
              </p:ext>
            </p:extLst>
          </p:nvPr>
        </p:nvGraphicFramePr>
        <p:xfrm>
          <a:off x="10505256" y="788950"/>
          <a:ext cx="2130330" cy="1194277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확인 서명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신청서 확인 팝업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31" name="직사각형 30"/>
          <p:cNvSpPr/>
          <p:nvPr/>
        </p:nvSpPr>
        <p:spPr>
          <a:xfrm>
            <a:off x="962696" y="981522"/>
            <a:ext cx="9468000" cy="558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46" name="그룹 45"/>
          <p:cNvGrpSpPr/>
          <p:nvPr/>
        </p:nvGrpSpPr>
        <p:grpSpPr>
          <a:xfrm>
            <a:off x="1072208" y="1155117"/>
            <a:ext cx="9252000" cy="246221"/>
            <a:chOff x="1072208" y="1117425"/>
            <a:chExt cx="9252000" cy="246221"/>
          </a:xfrm>
        </p:grpSpPr>
        <p:sp>
          <p:nvSpPr>
            <p:cNvPr id="47" name="TextBox 46"/>
            <p:cNvSpPr txBox="1"/>
            <p:nvPr/>
          </p:nvSpPr>
          <p:spPr>
            <a:xfrm>
              <a:off x="1072208" y="1117425"/>
              <a:ext cx="87075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000" b="1" dirty="0">
                  <a:latin typeface="맑은 고딕" pitchFamily="50" charset="-127"/>
                  <a:ea typeface="맑은 고딕" pitchFamily="50" charset="-127"/>
                </a:rPr>
                <a:t>신청서 확인</a:t>
              </a:r>
            </a:p>
          </p:txBody>
        </p:sp>
        <p:cxnSp>
          <p:nvCxnSpPr>
            <p:cNvPr id="48" name="직선 연결선 47"/>
            <p:cNvCxnSpPr/>
            <p:nvPr/>
          </p:nvCxnSpPr>
          <p:spPr>
            <a:xfrm>
              <a:off x="1072208" y="1363646"/>
              <a:ext cx="9252000" cy="0"/>
            </a:xfrm>
            <a:prstGeom prst="line">
              <a:avLst/>
            </a:prstGeom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눈물 방울 55"/>
          <p:cNvSpPr/>
          <p:nvPr/>
        </p:nvSpPr>
        <p:spPr>
          <a:xfrm rot="5400000">
            <a:off x="932958" y="1120773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75" name="눈물 방울 74"/>
          <p:cNvSpPr/>
          <p:nvPr/>
        </p:nvSpPr>
        <p:spPr>
          <a:xfrm rot="5400000">
            <a:off x="4661477" y="236212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216224" y="1473347"/>
            <a:ext cx="9001000" cy="63563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180000" tIns="180000" rIns="180000" bIns="180000" rtlCol="0">
            <a:noAutofit/>
          </a:bodyPr>
          <a:lstStyle/>
          <a:p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신청서 확인을 눌러서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신청서 작성 내용을 확인하신 후 가입자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대리인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) </a:t>
            </a:r>
            <a:r>
              <a:rPr lang="ko-KR" altLang="en-US" sz="900" b="1" dirty="0">
                <a:latin typeface="맑은 고딕" pitchFamily="50" charset="-127"/>
                <a:ea typeface="맑은 고딕" pitchFamily="50" charset="-127"/>
              </a:rPr>
              <a:t>서명을 등록해 주세요</a:t>
            </a:r>
            <a:r>
              <a:rPr lang="en-US" altLang="ko-KR" sz="900" b="1" dirty="0">
                <a:latin typeface="맑은 고딕" pitchFamily="50" charset="-127"/>
                <a:ea typeface="맑은 고딕" pitchFamily="50" charset="-127"/>
              </a:rPr>
              <a:t>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S103030101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4996424" y="2349674"/>
            <a:ext cx="1080000" cy="288000"/>
          </a:xfrm>
          <a:prstGeom prst="rect">
            <a:avLst/>
          </a:prstGeom>
          <a:solidFill>
            <a:srgbClr val="008080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신청서 확인</a:t>
            </a:r>
          </a:p>
        </p:txBody>
      </p:sp>
    </p:spTree>
    <p:extLst>
      <p:ext uri="{BB962C8B-B14F-4D97-AF65-F5344CB8AC3E}">
        <p14:creationId xmlns:p14="http://schemas.microsoft.com/office/powerpoint/2010/main" val="35889053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812228"/>
              </p:ext>
            </p:extLst>
          </p:nvPr>
        </p:nvGraphicFramePr>
        <p:xfrm>
          <a:off x="10505256" y="788950"/>
          <a:ext cx="2130330" cy="6187288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안내 녹취 스크립트 조회하여 화면에 출력</a:t>
                      </a:r>
                      <a:endParaRPr lang="en-US" altLang="ko-KR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-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안내 녹취 스크립트의 변수명은 고객 정보 및 신청서 작성 내용으로 치환하여 화면에 표시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솔루션 양식에 신청서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작성 내용 조회하여 화면에 출력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아이프레임으로 신청서 솔루션 양식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솔루션 양식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로딩시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신분증 파일을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BASE64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 전달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이미징 처리시 솔루션 내에서 신분증 합본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솔루션 연동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명의변경 신청서 폼 연동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영역 열기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닫기 처리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신청서 작성 확인 완료로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내부적으로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이후 팝업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Close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작성 화면으로 이동하여 작성 내용 화면에 출력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B4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녹취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처리 실행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녹취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등록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-&gt;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녹취파일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확인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포시에스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관리자 사이트에서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솔루션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녹취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모듈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. App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에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포시에스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녹취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모듈 라이브러리 포함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.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해당 모듈 호출하여 녹음 실행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.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녹음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종료시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녹음 파일 서버에 등록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.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정보와 녹음 파일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매핑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관리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B5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서명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서명 팝업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판매자 서명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가입자 서명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-&gt;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솔루션 양식 내에서 서명 팝업 표시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latin typeface="+mn-ea"/>
                <a:ea typeface="+mn-ea"/>
              </a:rPr>
              <a:t>S103030103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동의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신청서 확인</a:t>
            </a:r>
          </a:p>
        </p:txBody>
      </p:sp>
      <p:sp>
        <p:nvSpPr>
          <p:cNvPr id="36" name="직사각형 35"/>
          <p:cNvSpPr/>
          <p:nvPr/>
        </p:nvSpPr>
        <p:spPr>
          <a:xfrm>
            <a:off x="231086" y="1070782"/>
            <a:ext cx="10202162" cy="5585258"/>
          </a:xfrm>
          <a:prstGeom prst="rect">
            <a:avLst/>
          </a:prstGeom>
          <a:solidFill>
            <a:schemeClr val="bg1">
              <a:lumMod val="85000"/>
              <a:alpha val="75000"/>
            </a:schemeClr>
          </a:solidFill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1755355" y="1181185"/>
            <a:ext cx="7524925" cy="5344953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38" name="그룹 37"/>
          <p:cNvGrpSpPr/>
          <p:nvPr/>
        </p:nvGrpSpPr>
        <p:grpSpPr>
          <a:xfrm rot="2700000">
            <a:off x="8949487" y="1301598"/>
            <a:ext cx="214699" cy="216000"/>
            <a:chOff x="6609184" y="2719104"/>
            <a:chExt cx="1008112" cy="1008112"/>
          </a:xfrm>
        </p:grpSpPr>
        <p:cxnSp>
          <p:nvCxnSpPr>
            <p:cNvPr id="39" name="직선 연결선 38"/>
            <p:cNvCxnSpPr/>
            <p:nvPr/>
          </p:nvCxnSpPr>
          <p:spPr>
            <a:xfrm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연결선 39"/>
            <p:cNvCxnSpPr/>
            <p:nvPr/>
          </p:nvCxnSpPr>
          <p:spPr>
            <a:xfrm rot="5400000">
              <a:off x="6609184" y="3223160"/>
              <a:ext cx="1008112" cy="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TextBox 40"/>
          <p:cNvSpPr txBox="1"/>
          <p:nvPr/>
        </p:nvSpPr>
        <p:spPr>
          <a:xfrm>
            <a:off x="1947922" y="1267675"/>
            <a:ext cx="2883555" cy="357523"/>
          </a:xfrm>
          <a:prstGeom prst="rect">
            <a:avLst/>
          </a:prstGeom>
          <a:noFill/>
        </p:spPr>
        <p:txBody>
          <a:bodyPr wrap="square" lIns="107241" tIns="53620" rIns="107241" bIns="53620" rtlCol="0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en-US" sz="1400" b="1" dirty="0">
                <a:solidFill>
                  <a:prstClr val="black"/>
                </a:solidFill>
                <a:latin typeface="+mn-ea"/>
                <a:ea typeface="+mn-ea"/>
              </a:rPr>
              <a:t>신청서 확인</a:t>
            </a:r>
            <a:endParaRPr lang="en-US" altLang="ko-KR" sz="1400" b="1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2043649" y="1845758"/>
            <a:ext cx="3515281" cy="252028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latin typeface="맑은 고딕" pitchFamily="50" charset="-127"/>
                <a:ea typeface="맑은 고딕" pitchFamily="50" charset="-127"/>
              </a:rPr>
              <a:t>안내 </a:t>
            </a:r>
            <a:r>
              <a:rPr lang="ko-KR" altLang="en-US" sz="1000" b="1" dirty="0" err="1">
                <a:latin typeface="맑은 고딕" pitchFamily="50" charset="-127"/>
                <a:ea typeface="맑은 고딕" pitchFamily="50" charset="-127"/>
              </a:rPr>
              <a:t>녹취</a:t>
            </a:r>
            <a:endParaRPr lang="ko-KR" altLang="en-US" sz="1000" b="1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7" name="직사각형 56"/>
          <p:cNvSpPr/>
          <p:nvPr/>
        </p:nvSpPr>
        <p:spPr>
          <a:xfrm>
            <a:off x="2056334" y="2097786"/>
            <a:ext cx="6840000" cy="630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안내 </a:t>
            </a:r>
            <a:r>
              <a:rPr lang="ko-KR" altLang="en-US" sz="9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녹취</a:t>
            </a:r>
            <a:r>
              <a: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스크립트</a:t>
            </a:r>
          </a:p>
        </p:txBody>
      </p:sp>
      <p:sp>
        <p:nvSpPr>
          <p:cNvPr id="59" name="직사각형 58"/>
          <p:cNvSpPr/>
          <p:nvPr/>
        </p:nvSpPr>
        <p:spPr>
          <a:xfrm>
            <a:off x="2721289" y="1815497"/>
            <a:ext cx="360000" cy="216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열기</a:t>
            </a:r>
          </a:p>
        </p:txBody>
      </p:sp>
      <p:sp>
        <p:nvSpPr>
          <p:cNvPr id="60" name="직사각형 59"/>
          <p:cNvSpPr/>
          <p:nvPr/>
        </p:nvSpPr>
        <p:spPr>
          <a:xfrm>
            <a:off x="3160480" y="1815497"/>
            <a:ext cx="360000" cy="216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닫기</a:t>
            </a:r>
          </a:p>
        </p:txBody>
      </p:sp>
      <p:sp>
        <p:nvSpPr>
          <p:cNvPr id="62" name="눈물 방울 61"/>
          <p:cNvSpPr/>
          <p:nvPr/>
        </p:nvSpPr>
        <p:spPr>
          <a:xfrm rot="5400000">
            <a:off x="3592732" y="1805979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7" name="눈물 방울 86"/>
          <p:cNvSpPr/>
          <p:nvPr/>
        </p:nvSpPr>
        <p:spPr>
          <a:xfrm rot="5400000">
            <a:off x="1799755" y="1781077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2" name="직사각형 51"/>
          <p:cNvSpPr/>
          <p:nvPr/>
        </p:nvSpPr>
        <p:spPr>
          <a:xfrm>
            <a:off x="7984976" y="1773610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rgbClr val="008080"/>
                </a:solidFill>
                <a:latin typeface="맑은 고딕" pitchFamily="50" charset="-127"/>
                <a:ea typeface="맑은 고딕" pitchFamily="50" charset="-127"/>
              </a:rPr>
              <a:t>녹취</a:t>
            </a:r>
            <a:endParaRPr lang="ko-KR" altLang="en-US" sz="1000" b="1" dirty="0">
              <a:solidFill>
                <a:srgbClr val="00808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4" name="눈물 방울 53"/>
          <p:cNvSpPr/>
          <p:nvPr/>
        </p:nvSpPr>
        <p:spPr>
          <a:xfrm rot="5400000">
            <a:off x="7701710" y="178093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" name="눈물 방울 3">
            <a:extLst>
              <a:ext uri="{FF2B5EF4-FFF2-40B4-BE49-F238E27FC236}">
                <a16:creationId xmlns="" xmlns:a16="http://schemas.microsoft.com/office/drawing/2014/main" id="{E29967AE-7417-B16D-3153-522E643C750C}"/>
              </a:ext>
            </a:extLst>
          </p:cNvPr>
          <p:cNvSpPr/>
          <p:nvPr/>
        </p:nvSpPr>
        <p:spPr>
          <a:xfrm rot="5400000">
            <a:off x="6120235" y="619521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5" name="눈물 방울 4">
            <a:extLst>
              <a:ext uri="{FF2B5EF4-FFF2-40B4-BE49-F238E27FC236}">
                <a16:creationId xmlns="" xmlns:a16="http://schemas.microsoft.com/office/drawing/2014/main" id="{4FFE497E-DCEF-91C9-8382-0403E2AB3ED8}"/>
              </a:ext>
            </a:extLst>
          </p:cNvPr>
          <p:cNvSpPr/>
          <p:nvPr/>
        </p:nvSpPr>
        <p:spPr>
          <a:xfrm rot="5400000">
            <a:off x="4173318" y="619521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="" xmlns:a16="http://schemas.microsoft.com/office/drawing/2014/main" id="{C1664788-633A-7A75-8131-C0DA7B1324ED}"/>
              </a:ext>
            </a:extLst>
          </p:cNvPr>
          <p:cNvSpPr/>
          <p:nvPr/>
        </p:nvSpPr>
        <p:spPr>
          <a:xfrm>
            <a:off x="5316013" y="6157876"/>
            <a:ext cx="720000" cy="288000"/>
          </a:xfrm>
          <a:prstGeom prst="rect">
            <a:avLst/>
          </a:prstGeom>
          <a:solidFill>
            <a:schemeClr val="tx1"/>
          </a:solidFill>
          <a:ln w="6350" algn="ctr">
            <a:solidFill>
              <a:schemeClr val="tx1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확인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="" xmlns:a16="http://schemas.microsoft.com/office/drawing/2014/main" id="{3C9E57BA-C941-C7E5-52BC-9313CBFA20DD}"/>
              </a:ext>
            </a:extLst>
          </p:cNvPr>
          <p:cNvSpPr/>
          <p:nvPr/>
        </p:nvSpPr>
        <p:spPr>
          <a:xfrm>
            <a:off x="4456584" y="6166130"/>
            <a:ext cx="720000" cy="288000"/>
          </a:xfrm>
          <a:prstGeom prst="rect">
            <a:avLst/>
          </a:prstGeom>
          <a:solidFill>
            <a:srgbClr val="008080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수정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="" xmlns:a16="http://schemas.microsoft.com/office/drawing/2014/main" id="{14484D5A-F1FA-5F80-C072-204CDB82AE12}"/>
              </a:ext>
            </a:extLst>
          </p:cNvPr>
          <p:cNvSpPr/>
          <p:nvPr/>
        </p:nvSpPr>
        <p:spPr>
          <a:xfrm>
            <a:off x="2056334" y="3097053"/>
            <a:ext cx="6840000" cy="286645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72000" rIns="72000" bIns="72000" rtlCol="0" anchor="t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12" name="눈물 방울 11">
            <a:extLst>
              <a:ext uri="{FF2B5EF4-FFF2-40B4-BE49-F238E27FC236}">
                <a16:creationId xmlns="" xmlns:a16="http://schemas.microsoft.com/office/drawing/2014/main" id="{2D7D9674-D335-1C28-EDFB-8A468C07A1C2}"/>
              </a:ext>
            </a:extLst>
          </p:cNvPr>
          <p:cNvSpPr/>
          <p:nvPr/>
        </p:nvSpPr>
        <p:spPr>
          <a:xfrm rot="5400000">
            <a:off x="1799755" y="2990391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="" xmlns:a16="http://schemas.microsoft.com/office/drawing/2014/main" id="{368A8F73-E5F1-BAC9-A4CA-C19A9631ED84}"/>
              </a:ext>
            </a:extLst>
          </p:cNvPr>
          <p:cNvSpPr/>
          <p:nvPr/>
        </p:nvSpPr>
        <p:spPr>
          <a:xfrm>
            <a:off x="2036093" y="2853730"/>
            <a:ext cx="3515281" cy="252028"/>
          </a:xfrm>
          <a:prstGeom prst="rect">
            <a:avLst/>
          </a:prstGeom>
          <a:noFill/>
          <a:ln w="6350" algn="ctr">
            <a:noFill/>
            <a:miter lim="800000"/>
            <a:headEnd/>
            <a:tailEnd/>
          </a:ln>
        </p:spPr>
        <p:txBody>
          <a:bodyPr wrap="square" lIns="0" tIns="0" rIns="0" bIns="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000" b="1" dirty="0">
                <a:latin typeface="맑은 고딕" pitchFamily="50" charset="-127"/>
                <a:ea typeface="맑은 고딕" pitchFamily="50" charset="-127"/>
              </a:rPr>
              <a:t>신청서</a:t>
            </a:r>
          </a:p>
        </p:txBody>
      </p:sp>
      <p:pic>
        <p:nvPicPr>
          <p:cNvPr id="35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129"/>
          <a:stretch/>
        </p:blipFill>
        <p:spPr bwMode="auto">
          <a:xfrm>
            <a:off x="2080320" y="3141762"/>
            <a:ext cx="6804000" cy="28217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31" name="표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9805590"/>
              </p:ext>
            </p:extLst>
          </p:nvPr>
        </p:nvGraphicFramePr>
        <p:xfrm>
          <a:off x="12914755" y="109568"/>
          <a:ext cx="3443089" cy="969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26-03-13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B4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녹취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프로세스 설명 추가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7" name="그림 16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="" xmlns:a16="http://schemas.microsoft.com/office/drawing/2014/main" id="{874A0BFA-76FD-0039-B942-FD65F5110DD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8480" r="432" b="25856"/>
          <a:stretch>
            <a:fillRect/>
          </a:stretch>
        </p:blipFill>
        <p:spPr>
          <a:xfrm>
            <a:off x="8777064" y="4417982"/>
            <a:ext cx="1726998" cy="2091866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="" xmlns:a16="http://schemas.microsoft.com/office/drawing/2014/main" id="{BE969EE5-40EF-AF05-7080-852F9FE8842F}"/>
              </a:ext>
            </a:extLst>
          </p:cNvPr>
          <p:cNvCxnSpPr>
            <a:endCxn id="17" idx="1"/>
          </p:cNvCxnSpPr>
          <p:nvPr/>
        </p:nvCxnSpPr>
        <p:spPr>
          <a:xfrm>
            <a:off x="8637635" y="1894469"/>
            <a:ext cx="139429" cy="35694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066924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눈물 방울 14"/>
          <p:cNvSpPr/>
          <p:nvPr/>
        </p:nvSpPr>
        <p:spPr>
          <a:xfrm rot="5400000">
            <a:off x="627761" y="2776957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928192" y="2821246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확인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618540" y="3097579"/>
            <a:ext cx="2881818" cy="1400103"/>
            <a:chOff x="618540" y="4765995"/>
            <a:chExt cx="2881818" cy="1400103"/>
          </a:xfrm>
        </p:grpSpPr>
        <p:sp>
          <p:nvSpPr>
            <p:cNvPr id="22" name="직사각형 21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5" name="직사각형 24"/>
            <p:cNvSpPr/>
            <p:nvPr/>
          </p:nvSpPr>
          <p:spPr>
            <a:xfrm>
              <a:off x="618540" y="5803058"/>
              <a:ext cx="144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취소</a:t>
              </a:r>
            </a:p>
          </p:txBody>
        </p:sp>
        <p:sp>
          <p:nvSpPr>
            <p:cNvPr id="26" name="직사각형 25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녹취를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시작하시겠습니까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?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27" name="직사각형 26"/>
            <p:cNvSpPr/>
            <p:nvPr/>
          </p:nvSpPr>
          <p:spPr>
            <a:xfrm>
              <a:off x="2053459" y="5806098"/>
              <a:ext cx="144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35" name="눈물 방울 34"/>
          <p:cNvSpPr/>
          <p:nvPr/>
        </p:nvSpPr>
        <p:spPr>
          <a:xfrm rot="5400000">
            <a:off x="627761" y="4649165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grpSp>
        <p:nvGrpSpPr>
          <p:cNvPr id="36" name="그룹 35"/>
          <p:cNvGrpSpPr/>
          <p:nvPr/>
        </p:nvGrpSpPr>
        <p:grpSpPr>
          <a:xfrm>
            <a:off x="3735006" y="4965815"/>
            <a:ext cx="2881818" cy="1397063"/>
            <a:chOff x="3735006" y="4762023"/>
            <a:chExt cx="2881818" cy="1397063"/>
          </a:xfrm>
        </p:grpSpPr>
        <p:sp>
          <p:nvSpPr>
            <p:cNvPr id="37" name="직사각형 36"/>
            <p:cNvSpPr/>
            <p:nvPr/>
          </p:nvSpPr>
          <p:spPr>
            <a:xfrm>
              <a:off x="3736824" y="4762023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38" name="직사각형 37"/>
            <p:cNvSpPr/>
            <p:nvPr/>
          </p:nvSpPr>
          <p:spPr>
            <a:xfrm>
              <a:off x="3735006" y="5799086"/>
              <a:ext cx="2880000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3736825" y="5006964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녹취가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완료되었습니다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40" name="직사각형 39"/>
          <p:cNvSpPr/>
          <p:nvPr/>
        </p:nvSpPr>
        <p:spPr>
          <a:xfrm>
            <a:off x="928192" y="4693454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확인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41" name="그룹 40"/>
          <p:cNvGrpSpPr/>
          <p:nvPr/>
        </p:nvGrpSpPr>
        <p:grpSpPr>
          <a:xfrm>
            <a:off x="618540" y="4969787"/>
            <a:ext cx="2881818" cy="1400103"/>
            <a:chOff x="618540" y="4765995"/>
            <a:chExt cx="2881818" cy="1400103"/>
          </a:xfrm>
        </p:grpSpPr>
        <p:sp>
          <p:nvSpPr>
            <p:cNvPr id="42" name="직사각형 41"/>
            <p:cNvSpPr/>
            <p:nvPr/>
          </p:nvSpPr>
          <p:spPr>
            <a:xfrm>
              <a:off x="620358" y="4765995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3" name="직사각형 42"/>
            <p:cNvSpPr/>
            <p:nvPr/>
          </p:nvSpPr>
          <p:spPr>
            <a:xfrm>
              <a:off x="618540" y="5803058"/>
              <a:ext cx="144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취소</a:t>
              </a:r>
            </a:p>
          </p:txBody>
        </p:sp>
        <p:sp>
          <p:nvSpPr>
            <p:cNvPr id="44" name="직사각형 43"/>
            <p:cNvSpPr/>
            <p:nvPr/>
          </p:nvSpPr>
          <p:spPr>
            <a:xfrm>
              <a:off x="620359" y="5010936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녹취를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중단하시겠습니까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?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2053459" y="5806098"/>
              <a:ext cx="144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</p:grpSp>
      <p:sp>
        <p:nvSpPr>
          <p:cNvPr id="46" name="직사각형 45"/>
          <p:cNvSpPr/>
          <p:nvPr/>
        </p:nvSpPr>
        <p:spPr>
          <a:xfrm>
            <a:off x="4024536" y="4699411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녹취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완료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grpSp>
        <p:nvGrpSpPr>
          <p:cNvPr id="47" name="그룹 46"/>
          <p:cNvGrpSpPr/>
          <p:nvPr/>
        </p:nvGrpSpPr>
        <p:grpSpPr>
          <a:xfrm>
            <a:off x="6903358" y="4964208"/>
            <a:ext cx="2881818" cy="1397063"/>
            <a:chOff x="6903358" y="4760416"/>
            <a:chExt cx="2881818" cy="1397063"/>
          </a:xfrm>
        </p:grpSpPr>
        <p:sp>
          <p:nvSpPr>
            <p:cNvPr id="48" name="직사각형 47"/>
            <p:cNvSpPr/>
            <p:nvPr/>
          </p:nvSpPr>
          <p:spPr>
            <a:xfrm>
              <a:off x="6905176" y="4760416"/>
              <a:ext cx="2880000" cy="1217063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endParaRPr lang="ko-KR" altLang="en-US" sz="10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  <p:sp>
          <p:nvSpPr>
            <p:cNvPr id="49" name="직사각형 48"/>
            <p:cNvSpPr/>
            <p:nvPr/>
          </p:nvSpPr>
          <p:spPr>
            <a:xfrm>
              <a:off x="6903358" y="5797479"/>
              <a:ext cx="2881818" cy="360000"/>
            </a:xfrm>
            <a:prstGeom prst="rect">
              <a:avLst/>
            </a:prstGeom>
            <a:solidFill>
              <a:srgbClr val="FFFFFF"/>
            </a:solidFill>
            <a:ln w="6350" algn="ctr">
              <a:solidFill>
                <a:schemeClr val="tx1">
                  <a:lumMod val="50000"/>
                  <a:lumOff val="50000"/>
                </a:schemeClr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0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확인</a:t>
              </a:r>
            </a:p>
          </p:txBody>
        </p:sp>
        <p:sp>
          <p:nvSpPr>
            <p:cNvPr id="50" name="직사각형 49"/>
            <p:cNvSpPr/>
            <p:nvPr/>
          </p:nvSpPr>
          <p:spPr>
            <a:xfrm>
              <a:off x="6905177" y="5005357"/>
              <a:ext cx="2878182" cy="720114"/>
            </a:xfrm>
            <a:prstGeom prst="rect">
              <a:avLst/>
            </a:prstGeom>
            <a:noFill/>
            <a:ln w="6350" algn="ctr">
              <a:noFill/>
              <a:miter lim="800000"/>
              <a:headEnd/>
              <a:tailEnd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9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녹취가</a:t>
              </a: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 실패하였습니다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</a:p>
            <a:p>
              <a:pPr algn="ctr">
                <a:spcBef>
                  <a:spcPct val="50000"/>
                </a:spcBef>
              </a:pPr>
              <a:r>
                <a:rPr lang="ko-KR" altLang="en-US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다시 시도해 주세요</a:t>
              </a:r>
              <a:r>
                <a:rPr lang="en-US" altLang="ko-KR" sz="9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맑은 고딕" pitchFamily="50" charset="-127"/>
                  <a:ea typeface="맑은 고딕" pitchFamily="50" charset="-127"/>
                </a:rPr>
                <a:t>.</a:t>
              </a:r>
              <a:endParaRPr lang="ko-KR" altLang="en-US" sz="9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endParaRPr>
            </a:p>
          </p:txBody>
        </p:sp>
      </p:grpSp>
      <p:sp>
        <p:nvSpPr>
          <p:cNvPr id="51" name="직사각형 50"/>
          <p:cNvSpPr/>
          <p:nvPr/>
        </p:nvSpPr>
        <p:spPr>
          <a:xfrm>
            <a:off x="7192888" y="4697804"/>
            <a:ext cx="259228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녹취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실패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845839" y="2025666"/>
            <a:ext cx="900000" cy="252000"/>
          </a:xfrm>
          <a:prstGeom prst="rect">
            <a:avLst/>
          </a:prstGeom>
          <a:solidFill>
            <a:srgbClr val="66DBD7"/>
          </a:solidFill>
          <a:ln w="6350" algn="ctr">
            <a:solidFill>
              <a:srgbClr val="66DBD7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녹취</a:t>
            </a: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완료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784176" y="1061633"/>
            <a:ext cx="547260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녹취중인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경우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32" name="눈물 방울 31"/>
          <p:cNvSpPr/>
          <p:nvPr/>
        </p:nvSpPr>
        <p:spPr>
          <a:xfrm rot="5400000">
            <a:off x="575620" y="1042231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B4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856184" y="1346229"/>
            <a:ext cx="9000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rgbClr val="008080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녹취중</a:t>
            </a:r>
            <a:endParaRPr lang="ko-KR" altLang="en-US" sz="1000" b="1" dirty="0">
              <a:solidFill>
                <a:srgbClr val="FF0000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784176" y="1743413"/>
            <a:ext cx="475252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#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녹취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완료 상태 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-&gt; </a:t>
            </a:r>
            <a:r>
              <a:rPr lang="ko-KR" altLang="en-US" sz="1000" dirty="0" err="1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버튼명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 변경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, 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버튼 비활성화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(</a:t>
            </a:r>
            <a:r>
              <a:rPr lang="ko-KR" altLang="en-US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수정 불가</a:t>
            </a:r>
            <a:r>
              <a:rPr lang="en-US" altLang="ko-KR" sz="1000" dirty="0">
                <a:solidFill>
                  <a:srgbClr val="FF0000"/>
                </a:solidFill>
                <a:latin typeface="+mn-ea"/>
                <a:ea typeface="+mn-ea"/>
                <a:cs typeface="Segoe UI" panose="020B0502040204020203" pitchFamily="34" charset="0"/>
              </a:rPr>
              <a:t>)</a:t>
            </a:r>
            <a:endParaRPr lang="ko-KR" altLang="en-US" sz="1000" dirty="0">
              <a:solidFill>
                <a:srgbClr val="FF0000"/>
              </a:solidFill>
              <a:latin typeface="+mn-ea"/>
              <a:ea typeface="+mn-ea"/>
            </a:endParaRPr>
          </a:p>
        </p:txBody>
      </p:sp>
      <p:sp>
        <p:nvSpPr>
          <p:cNvPr id="52" name="직사각형 51"/>
          <p:cNvSpPr/>
          <p:nvPr/>
        </p:nvSpPr>
        <p:spPr>
          <a:xfrm>
            <a:off x="173136" y="621483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 err="1">
                <a:latin typeface="+mn-ea"/>
                <a:ea typeface="+mn-ea"/>
              </a:rPr>
              <a:t>케이스별</a:t>
            </a:r>
            <a:r>
              <a:rPr lang="ko-KR" altLang="en-US" sz="1200" b="1" dirty="0">
                <a:latin typeface="+mn-ea"/>
                <a:ea typeface="+mn-ea"/>
              </a:rPr>
              <a:t> 항목 </a:t>
            </a:r>
            <a:r>
              <a:rPr lang="ko-KR" altLang="en-US" sz="1200" b="1" dirty="0" err="1">
                <a:latin typeface="+mn-ea"/>
                <a:ea typeface="+mn-ea"/>
              </a:rPr>
              <a:t>세팅</a:t>
            </a:r>
            <a:endParaRPr lang="ko-KR" altLang="en-US" sz="1200" b="1" dirty="0">
              <a:latin typeface="+mn-ea"/>
              <a:ea typeface="+mn-ea"/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173136" y="2421682"/>
            <a:ext cx="3707384" cy="267126"/>
          </a:xfrm>
          <a:prstGeom prst="rect">
            <a:avLst/>
          </a:prstGeom>
          <a:solidFill>
            <a:srgbClr val="FF0000">
              <a:alpha val="40000"/>
            </a:srgbClr>
          </a:solidFill>
          <a:ln w="6350" algn="ctr">
            <a:noFill/>
            <a:miter lim="800000"/>
            <a:headEnd/>
            <a:tailEnd/>
          </a:ln>
        </p:spPr>
        <p:txBody>
          <a:bodyPr wrap="square" tIns="90000" bIns="9000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1200" b="1" dirty="0">
                <a:latin typeface="+mn-ea"/>
                <a:ea typeface="+mn-ea"/>
              </a:rPr>
              <a:t>메시지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latin typeface="+mn-ea"/>
                <a:ea typeface="+mn-ea"/>
              </a:rPr>
              <a:t>S103030103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동의 </a:t>
            </a:r>
            <a:r>
              <a:rPr lang="en-US" altLang="ko-KR" sz="1000" dirty="0">
                <a:latin typeface="+mn-ea"/>
                <a:ea typeface="+mn-ea"/>
              </a:rPr>
              <a:t>&gt; </a:t>
            </a:r>
            <a:r>
              <a:rPr lang="ko-KR" altLang="en-US" sz="1000" dirty="0">
                <a:latin typeface="+mn-ea"/>
                <a:ea typeface="+mn-ea"/>
              </a:rPr>
              <a:t>신청서 확인</a:t>
            </a:r>
          </a:p>
        </p:txBody>
      </p:sp>
    </p:spTree>
    <p:extLst>
      <p:ext uri="{BB962C8B-B14F-4D97-AF65-F5344CB8AC3E}">
        <p14:creationId xmlns:p14="http://schemas.microsoft.com/office/powerpoint/2010/main" val="2073550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    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1689" y="331038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ko-KR" altLang="en-US" sz="1000" dirty="0">
                <a:latin typeface="+mn-ea"/>
                <a:ea typeface="+mn-ea"/>
              </a:rPr>
              <a:t>서식지 </a:t>
            </a:r>
            <a:r>
              <a:rPr lang="en-US" altLang="ko-KR" sz="1000" dirty="0">
                <a:latin typeface="+mn-ea"/>
                <a:ea typeface="+mn-ea"/>
              </a:rPr>
              <a:t>App &gt; </a:t>
            </a:r>
            <a:r>
              <a:rPr lang="ko-KR" altLang="en-US" sz="1000" dirty="0">
                <a:latin typeface="+mn-ea"/>
                <a:ea typeface="+mn-ea"/>
              </a:rPr>
              <a:t>명의변경 신청서 </a:t>
            </a:r>
            <a:r>
              <a:rPr lang="en-US" altLang="ko-KR" sz="1000" dirty="0">
                <a:latin typeface="+mn-ea"/>
                <a:ea typeface="+mn-ea"/>
              </a:rPr>
              <a:t>- </a:t>
            </a:r>
            <a:r>
              <a:rPr lang="ko-KR" altLang="en-US" sz="1000" dirty="0">
                <a:latin typeface="+mn-ea"/>
                <a:ea typeface="+mn-ea"/>
              </a:rPr>
              <a:t>신청완료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0297" y="109543"/>
            <a:ext cx="6898794" cy="201600"/>
          </a:xfrm>
          <a:prstGeom prst="rect">
            <a:avLst/>
          </a:prstGeom>
          <a:noFill/>
        </p:spPr>
        <p:txBody>
          <a:bodyPr wrap="square" lIns="107241" tIns="53620" rIns="107241" bIns="53620" rtlCol="0" anchor="ctr" anchorCtr="0">
            <a:noAutofit/>
          </a:bodyPr>
          <a:lstStyle/>
          <a:p>
            <a:r>
              <a:rPr lang="en-US" altLang="ko-KR" sz="1000" dirty="0">
                <a:solidFill>
                  <a:srgbClr val="000000"/>
                </a:solidFill>
                <a:latin typeface="맑은 고딕"/>
              </a:rPr>
              <a:t>S103040101</a:t>
            </a:r>
            <a:endParaRPr lang="ko-KR" altLang="en-US" sz="1000" dirty="0">
              <a:latin typeface="+mn-ea"/>
              <a:ea typeface="+mn-ea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="" xmlns:a16="http://schemas.microsoft.com/office/drawing/2014/main" id="{318037FF-0F51-44A5-946A-86CB13C3F553}"/>
              </a:ext>
            </a:extLst>
          </p:cNvPr>
          <p:cNvSpPr/>
          <p:nvPr/>
        </p:nvSpPr>
        <p:spPr>
          <a:xfrm>
            <a:off x="166014" y="812837"/>
            <a:ext cx="10296000" cy="5833999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endParaRPr lang="ko-KR" altLang="en-US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206106" y="845620"/>
            <a:ext cx="10224000" cy="1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7241" tIns="53620" rIns="107241" bIns="53620" rtlCol="0" anchor="ctr"/>
          <a:lstStyle/>
          <a:p>
            <a:pPr algn="ctr"/>
            <a:r>
              <a:rPr lang="ko-KR" altLang="en-US" sz="1200" b="1" dirty="0">
                <a:solidFill>
                  <a:schemeClr val="tx1"/>
                </a:solidFill>
              </a:rPr>
              <a:t>상단 공통 영역</a:t>
            </a:r>
          </a:p>
        </p:txBody>
      </p:sp>
      <p:grpSp>
        <p:nvGrpSpPr>
          <p:cNvPr id="37" name="그룹 36"/>
          <p:cNvGrpSpPr/>
          <p:nvPr/>
        </p:nvGrpSpPr>
        <p:grpSpPr>
          <a:xfrm>
            <a:off x="208192" y="1062869"/>
            <a:ext cx="720000" cy="3237481"/>
            <a:chOff x="395258" y="1812433"/>
            <a:chExt cx="720000" cy="3237481"/>
          </a:xfrm>
        </p:grpSpPr>
        <p:sp>
          <p:nvSpPr>
            <p:cNvPr id="38" name="직사각형 37"/>
            <p:cNvSpPr/>
            <p:nvPr/>
          </p:nvSpPr>
          <p:spPr>
            <a:xfrm>
              <a:off x="395258" y="1812433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신규</a:t>
              </a:r>
              <a:r>
                <a:rPr lang="en-US" altLang="ko-KR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/</a:t>
              </a: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395258" y="2351929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변경</a:t>
              </a:r>
            </a:p>
          </p:txBody>
        </p:sp>
        <p:sp>
          <p:nvSpPr>
            <p:cNvPr id="40" name="직사각형 39"/>
            <p:cNvSpPr/>
            <p:nvPr/>
          </p:nvSpPr>
          <p:spPr>
            <a:xfrm>
              <a:off x="395258" y="2891425"/>
              <a:ext cx="720000" cy="540000"/>
            </a:xfrm>
            <a:prstGeom prst="rect">
              <a:avLst/>
            </a:prstGeom>
            <a:solidFill>
              <a:srgbClr val="1BA6C7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chemeClr val="bg1"/>
                  </a:solidFill>
                  <a:latin typeface="맑은 고딕" pitchFamily="50" charset="-127"/>
                  <a:ea typeface="맑은 고딕" pitchFamily="50" charset="-127"/>
                </a:rPr>
                <a:t>명의변경</a:t>
              </a: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395258" y="3430921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서비스</a:t>
              </a:r>
              <a:endParaRPr lang="en-US" altLang="ko-KR" sz="11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endParaRPr>
            </a:p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해지</a:t>
              </a:r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395258" y="3970417"/>
              <a:ext cx="720000" cy="540000"/>
            </a:xfrm>
            <a:prstGeom prst="rect">
              <a:avLst/>
            </a:prstGeom>
            <a:solidFill>
              <a:schemeClr val="bg1"/>
            </a:solidFill>
            <a:ln w="6350" algn="ctr">
              <a:solidFill>
                <a:srgbClr val="3CC4E4"/>
              </a:solidFill>
              <a:miter lim="800000"/>
              <a:headEnd/>
              <a:tailEnd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ct val="50000"/>
                </a:spcBef>
              </a:pPr>
              <a:r>
                <a:rPr lang="ko-KR" altLang="en-US" sz="11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rPr>
                <a:t>부가기능</a:t>
              </a:r>
            </a:p>
          </p:txBody>
        </p:sp>
        <p:grpSp>
          <p:nvGrpSpPr>
            <p:cNvPr id="43" name="그룹 42"/>
            <p:cNvGrpSpPr/>
            <p:nvPr/>
          </p:nvGrpSpPr>
          <p:grpSpPr>
            <a:xfrm>
              <a:off x="395258" y="4509914"/>
              <a:ext cx="720000" cy="540000"/>
              <a:chOff x="395258" y="4509914"/>
              <a:chExt cx="720000" cy="540000"/>
            </a:xfrm>
          </p:grpSpPr>
          <p:sp>
            <p:nvSpPr>
              <p:cNvPr id="44" name="직사각형 43"/>
              <p:cNvSpPr/>
              <p:nvPr/>
            </p:nvSpPr>
            <p:spPr>
              <a:xfrm>
                <a:off x="395258" y="4509914"/>
                <a:ext cx="720000" cy="540000"/>
              </a:xfrm>
              <a:prstGeom prst="rect">
                <a:avLst/>
              </a:prstGeom>
              <a:solidFill>
                <a:schemeClr val="bg1"/>
              </a:solidFill>
              <a:ln w="6350" algn="ctr">
                <a:solidFill>
                  <a:srgbClr val="3CC4E4"/>
                </a:solidFill>
                <a:miter lim="800000"/>
                <a:headEnd/>
                <a:tailE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pPr algn="ctr">
                  <a:spcBef>
                    <a:spcPct val="50000"/>
                  </a:spcBef>
                </a:pPr>
                <a:endParaRPr lang="ko-KR" altLang="en-US" sz="1200" b="1" dirty="0">
                  <a:solidFill>
                    <a:srgbClr val="1BA6C7"/>
                  </a:solidFill>
                  <a:latin typeface="맑은 고딕" pitchFamily="50" charset="-127"/>
                  <a:ea typeface="맑은 고딕" pitchFamily="50" charset="-127"/>
                </a:endParaRPr>
              </a:p>
            </p:txBody>
          </p:sp>
          <p:pic>
            <p:nvPicPr>
              <p:cNvPr id="45" name="Picture 5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50441" y="4587842"/>
                <a:ext cx="409575" cy="39052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</p:grpSp>
      <p:sp>
        <p:nvSpPr>
          <p:cNvPr id="25" name="직사각형 24"/>
          <p:cNvSpPr/>
          <p:nvPr/>
        </p:nvSpPr>
        <p:spPr>
          <a:xfrm>
            <a:off x="962696" y="1062156"/>
            <a:ext cx="9468000" cy="5544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962696" y="1062156"/>
            <a:ext cx="9468000" cy="5544000"/>
          </a:xfrm>
          <a:prstGeom prst="rect">
            <a:avLst/>
          </a:prstGeom>
          <a:solidFill>
            <a:srgbClr val="FFFFFF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endParaRPr lang="ko-KR" altLang="en-US" sz="800" b="1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aphicFrame>
        <p:nvGraphicFramePr>
          <p:cNvPr id="52" name="Group 175">
            <a:extLst>
              <a:ext uri="{FF2B5EF4-FFF2-40B4-BE49-F238E27FC236}">
                <a16:creationId xmlns="" xmlns:a16="http://schemas.microsoft.com/office/drawing/2014/main" id="{C0A6EDB3-1F77-439F-8818-B2201F638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1444417"/>
              </p:ext>
            </p:extLst>
          </p:nvPr>
        </p:nvGraphicFramePr>
        <p:xfrm>
          <a:off x="10505256" y="788950"/>
          <a:ext cx="2130330" cy="6580840"/>
        </p:xfrm>
        <a:graphic>
          <a:graphicData uri="http://schemas.openxmlformats.org/drawingml/2006/table">
            <a:tbl>
              <a:tblPr/>
              <a:tblGrid>
                <a:gridCol w="259032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871298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193965">
                <a:tc gridSpan="2">
                  <a:txBody>
                    <a:bodyPr/>
                    <a:lstStyle/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※ 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신규</a:t>
                      </a:r>
                      <a:r>
                        <a:rPr lang="en-US" altLang="ko-KR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1" kern="1200" dirty="0" smtClean="0">
                          <a:solidFill>
                            <a:srgbClr val="0070C0"/>
                          </a:solidFill>
                          <a:latin typeface="+mn-ea"/>
                          <a:ea typeface="+mn-ea"/>
                          <a:cs typeface="+mn-cs"/>
                        </a:rPr>
                        <a:t>변경 신청서 와 동일</a:t>
                      </a:r>
                      <a:endParaRPr lang="en-US" altLang="ko-KR" sz="800" b="1" kern="1200" dirty="0" smtClean="0">
                        <a:solidFill>
                          <a:srgbClr val="0070C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88900" indent="-88900">
                        <a:buFont typeface="Arial" panose="020B0604020202020204" pitchFamily="34" charset="0"/>
                        <a:buChar char="•"/>
                      </a:pPr>
                      <a:endParaRPr lang="ko-KR" altLang="en-US" sz="9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신청서 작성 고객명 화면에 출력</a:t>
                      </a: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B1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신청서 열람 팝업 화면 표시</a:t>
                      </a:r>
                      <a:endParaRPr lang="en-US" altLang="ko-KR" sz="800" b="0" kern="12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B2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발송 번호 자동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교부 휴대폰번호 자동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성인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법인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공공기관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개통한 휴대폰 번호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미성년자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법정대리인 휴대폰 번호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발송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가입자 연락처 휴대폰 번호로도 강제 발송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발송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입력된 휴대폰번호 유효성 체크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입력된 휴대폰번호로 톡 발송 처리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신청서 교부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발송시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가입자 연락처에 추가로 발송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SMS/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카톡 내에 열람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URL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클릭시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솔루션사 화면 표시 후 해당 화면에서 패스워드 입력 후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이미징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열람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-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솔루션 제공 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로 발송 처리</a:t>
                      </a:r>
                      <a:endParaRPr lang="en-US" altLang="ko-KR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포시에스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신청서 교부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API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8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B3</a:t>
                      </a: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[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발송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]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 활성화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항목 모두 입력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선택시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버튼 활성화 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휴대폰번호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안내 발송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kt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M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모바일에서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제공하는 서비스를 </a:t>
                      </a:r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이용할수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있습니다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신규가입에서 부가서비스의 신청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변경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실시간 사용량 조회까지 다양한 서비스를 이용하실 수 있습니다</a:t>
                      </a: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hlinkClick r:id="rId3"/>
                        </a:rPr>
                        <a:t>https://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  <a:hlinkClick r:id="rId3"/>
                        </a:rPr>
                        <a:t>play.google.com/store/apps/details?id=kt.co.ktmmobile&amp;hl=ko</a:t>
                      </a: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endParaRPr lang="en-US" altLang="ko-KR" sz="800" b="0" kern="1200" baseline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#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개발</a:t>
                      </a:r>
                    </a:p>
                    <a:p>
                      <a:pPr marL="0" indent="0" algn="l" defTabSz="914400" rtl="0" eaLnBrk="1" latinLnBrk="1" hangingPunct="1">
                        <a:buFont typeface="Arial" panose="020B0604020202020204" pitchFamily="34" charset="0"/>
                        <a:buNone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 M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모바일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SMS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발송 모듈 호출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88900" indent="-88900" algn="l" defTabSz="914400" rtl="0" eaLnBrk="1" latinLnBrk="1" hangingPunct="1">
                        <a:buFont typeface="Arial" panose="020B0604020202020204" pitchFamily="34" charset="0"/>
                        <a:buChar char="•"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2445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Remarks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1419" marR="91419" marT="45734" marB="45734" anchor="ctr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193965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46523" marR="46523" marT="36008" marB="36008" horzOverflow="overflow"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53" name="직사각형 52"/>
          <p:cNvSpPr/>
          <p:nvPr/>
        </p:nvSpPr>
        <p:spPr>
          <a:xfrm>
            <a:off x="1432248" y="1341562"/>
            <a:ext cx="8280920" cy="3096344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180000" tIns="180000" rIns="180000" bIns="180000" rtlCol="0" anchor="t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6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rPr>
              <a:t>홍길</a:t>
            </a:r>
            <a:r>
              <a:rPr lang="en-US" altLang="ko-KR" sz="1600" b="1" dirty="0">
                <a:solidFill>
                  <a:srgbClr val="1BA6C7"/>
                </a:solidFill>
                <a:latin typeface="맑은 고딕" pitchFamily="50" charset="-127"/>
                <a:ea typeface="맑은 고딕" pitchFamily="50" charset="-127"/>
              </a:rPr>
              <a:t>*</a:t>
            </a:r>
            <a:r>
              <a:rPr lang="en-US" altLang="ko-K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lang="ko-KR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님이 작성하신 신청서가 작성 완료되었습니다</a:t>
            </a:r>
            <a:r>
              <a:rPr lang="en-US" altLang="ko-K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 algn="ctr">
              <a:spcBef>
                <a:spcPct val="50000"/>
              </a:spcBef>
            </a:pPr>
            <a:endParaRPr lang="en-US" altLang="ko-KR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algn="ctr">
              <a:spcBef>
                <a:spcPct val="50000"/>
              </a:spcBef>
            </a:pPr>
            <a:r>
              <a:rPr lang="ko-KR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고객님께 </a:t>
            </a:r>
            <a:r>
              <a:rPr lang="ko-KR" altLang="en-US" sz="16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신청서를 </a:t>
            </a:r>
            <a:r>
              <a:rPr lang="ko-KR" altLang="en-US" sz="16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발송해 </a:t>
            </a:r>
            <a:r>
              <a:rPr lang="ko-KR" alt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주세요</a:t>
            </a:r>
            <a:r>
              <a:rPr lang="en-US" altLang="ko-KR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 algn="ctr">
              <a:spcBef>
                <a:spcPct val="50000"/>
              </a:spcBef>
            </a:pPr>
            <a:endParaRPr lang="en-US" altLang="ko-KR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algn="ctr">
              <a:spcBef>
                <a:spcPct val="50000"/>
              </a:spcBef>
            </a:pPr>
            <a:endParaRPr lang="en-US" altLang="ko-KR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algn="ctr">
              <a:spcBef>
                <a:spcPct val="50000"/>
              </a:spcBef>
            </a:pPr>
            <a:endParaRPr lang="en-US" altLang="ko-KR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algn="ctr">
              <a:spcBef>
                <a:spcPct val="50000"/>
              </a:spcBef>
            </a:pPr>
            <a:endParaRPr lang="en-US" altLang="ko-KR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  <a:p>
            <a:pPr algn="ctr">
              <a:spcBef>
                <a:spcPct val="50000"/>
              </a:spcBef>
            </a:pPr>
            <a:endParaRPr lang="en-US" altLang="ko-KR" sz="16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3258326" y="2919200"/>
            <a:ext cx="1656184" cy="101465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180000" tIns="180000" rIns="180000" bIns="180000" rtlCol="0" anchor="t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400" b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신청서</a:t>
            </a:r>
            <a:endParaRPr lang="ko-KR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3726418" y="3472428"/>
            <a:ext cx="720000" cy="25200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 algn="ctr">
            <a:solidFill>
              <a:schemeClr val="bg1">
                <a:lumMod val="50000"/>
              </a:schemeClr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bg1"/>
                </a:solidFill>
                <a:latin typeface="맑은 고딕" pitchFamily="50" charset="-127"/>
                <a:ea typeface="맑은 고딕" pitchFamily="50" charset="-127"/>
              </a:rPr>
              <a:t>열람</a:t>
            </a:r>
          </a:p>
        </p:txBody>
      </p:sp>
      <p:sp>
        <p:nvSpPr>
          <p:cNvPr id="58" name="눈물 방울 57"/>
          <p:cNvSpPr/>
          <p:nvPr/>
        </p:nvSpPr>
        <p:spPr>
          <a:xfrm rot="5400000">
            <a:off x="4505275" y="3454176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2" name="눈물 방울 61"/>
          <p:cNvSpPr/>
          <p:nvPr/>
        </p:nvSpPr>
        <p:spPr>
          <a:xfrm rot="5400000">
            <a:off x="2879875" y="1408805"/>
            <a:ext cx="203791" cy="213322"/>
          </a:xfrm>
          <a:prstGeom prst="teardrop">
            <a:avLst/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1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63" name="직사각형 62"/>
          <p:cNvSpPr/>
          <p:nvPr/>
        </p:nvSpPr>
        <p:spPr>
          <a:xfrm>
            <a:off x="1432248" y="4486596"/>
            <a:ext cx="8280920" cy="1967534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180000" tIns="180000" rIns="180000" bIns="180000" rtlCol="0" anchor="t">
            <a:noAutofit/>
          </a:bodyPr>
          <a:lstStyle/>
          <a:p>
            <a:pPr>
              <a:spcBef>
                <a:spcPct val="50000"/>
              </a:spcBef>
            </a:pPr>
            <a:endParaRPr lang="en-US" altLang="ko-KR" sz="12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64" name="Picture 3" descr="D:\1_Working\2025년_엠모바일_스마트서식지\kt엠모바일 스마트서식지 프로젝트 관련_하현숙_추후삭제\App등록\앱스토어등록 이미지_0222\AOS\ktMmobile_android_1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8472" y="4570627"/>
            <a:ext cx="1002722" cy="178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9" name="직사각형 68"/>
          <p:cNvSpPr/>
          <p:nvPr/>
        </p:nvSpPr>
        <p:spPr>
          <a:xfrm>
            <a:off x="2890456" y="4624042"/>
            <a:ext cx="6552728" cy="965992"/>
          </a:xfrm>
          <a:prstGeom prst="rect">
            <a:avLst/>
          </a:prstGeom>
          <a:solidFill>
            <a:schemeClr val="bg1"/>
          </a:solidFill>
          <a:ln w="6350" algn="ctr">
            <a:noFill/>
            <a:miter lim="800000"/>
            <a:headEnd/>
            <a:tailEnd/>
          </a:ln>
        </p:spPr>
        <p:txBody>
          <a:bodyPr wrap="square" lIns="180000" tIns="180000" rIns="180000" bIns="180000" rtlCol="0" anchor="t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105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kt</a:t>
            </a:r>
            <a:r>
              <a:rPr lang="en-US" altLang="ko-KR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M</a:t>
            </a:r>
            <a:r>
              <a:rPr lang="ko-KR" altLang="en-US" sz="105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모바일에서</a:t>
            </a:r>
            <a:r>
              <a:rPr lang="ko-KR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제공하는 서비스를 </a:t>
            </a:r>
            <a:r>
              <a:rPr lang="ko-KR" altLang="en-US" sz="105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이용할수</a:t>
            </a:r>
            <a:r>
              <a:rPr lang="ko-KR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 있도록 고객에게 안내 발송해 주세요</a:t>
            </a:r>
            <a:r>
              <a:rPr lang="en-US" altLang="ko-KR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>
              <a:spcBef>
                <a:spcPct val="50000"/>
              </a:spcBef>
            </a:pPr>
            <a:r>
              <a:rPr lang="ko-KR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신규가입에서 부가서비스의 신청</a:t>
            </a:r>
            <a:r>
              <a:rPr lang="en-US" altLang="ko-KR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/</a:t>
            </a:r>
            <a:r>
              <a:rPr lang="ko-KR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변경</a:t>
            </a:r>
            <a:r>
              <a:rPr lang="en-US" altLang="ko-KR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, </a:t>
            </a:r>
            <a:r>
              <a:rPr lang="ko-KR" altLang="en-US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실시간 사용량 조회까지 다양한 서비스를 이용하실 수 있습니다</a:t>
            </a:r>
            <a:r>
              <a:rPr lang="en-US" altLang="ko-KR" sz="105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</p:txBody>
      </p:sp>
      <p:sp>
        <p:nvSpPr>
          <p:cNvPr id="78" name="직사각형 77"/>
          <p:cNvSpPr/>
          <p:nvPr/>
        </p:nvSpPr>
        <p:spPr>
          <a:xfrm>
            <a:off x="3088432" y="5392042"/>
            <a:ext cx="1800200" cy="25200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휴대폰번호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‘-’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없이 입력</a:t>
            </a:r>
          </a:p>
        </p:txBody>
      </p:sp>
      <p:sp>
        <p:nvSpPr>
          <p:cNvPr id="79" name="눈물 방울 78"/>
          <p:cNvSpPr/>
          <p:nvPr/>
        </p:nvSpPr>
        <p:spPr>
          <a:xfrm rot="5400000">
            <a:off x="5729924" y="538415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 smtClean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B3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80" name="직사각형 79"/>
          <p:cNvSpPr/>
          <p:nvPr/>
        </p:nvSpPr>
        <p:spPr>
          <a:xfrm>
            <a:off x="4943468" y="5392790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발송</a:t>
            </a:r>
          </a:p>
        </p:txBody>
      </p:sp>
      <p:graphicFrame>
        <p:nvGraphicFramePr>
          <p:cNvPr id="35" name="표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570296"/>
              </p:ext>
            </p:extLst>
          </p:nvPr>
        </p:nvGraphicFramePr>
        <p:xfrm>
          <a:off x="12914755" y="109568"/>
          <a:ext cx="3443089" cy="1213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139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46528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1130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변경일자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버전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변경내용</a:t>
                      </a:r>
                    </a:p>
                  </a:txBody>
                  <a:tcPr marL="46523" marR="46523" marT="36008" marB="36008" anchor="ctr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26-03-10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1.0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B2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1. 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발송 번호 자동 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세팅</a:t>
                      </a:r>
                      <a:endParaRPr lang="en-US" altLang="ko-KR" sz="800" b="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2.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처리 사항 추가 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신청서 교부</a:t>
                      </a:r>
                      <a:r>
                        <a:rPr lang="en-US" altLang="ko-KR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b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발송시</a:t>
                      </a:r>
                      <a:r>
                        <a:rPr lang="ko-KR" altLang="en-US" sz="800" b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가입자 연락처에 추가로 발송 처리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1939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800" dirty="0">
                        <a:latin typeface="+mn-ea"/>
                        <a:cs typeface="Segoe UI" panose="020B0502040204020203" pitchFamily="34" charset="0"/>
                      </a:endParaRPr>
                    </a:p>
                  </a:txBody>
                  <a:tcPr marL="46523" marR="46523" marT="36008" marB="36008">
                    <a:lnL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6" name="직사각형 35"/>
          <p:cNvSpPr/>
          <p:nvPr/>
        </p:nvSpPr>
        <p:spPr>
          <a:xfrm>
            <a:off x="5058526" y="2919200"/>
            <a:ext cx="2928342" cy="1014650"/>
          </a:xfrm>
          <a:prstGeom prst="rect">
            <a:avLst/>
          </a:prstGeom>
          <a:solidFill>
            <a:schemeClr val="bg1"/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180000" tIns="180000" rIns="180000" bIns="180000" rtlCol="0" anchor="t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4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발송</a:t>
            </a:r>
            <a:endParaRPr lang="ko-KR" altLang="en-US" sz="1400" b="1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232448" y="3996566"/>
            <a:ext cx="6024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개통한 전화번호와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가입자 연락처 휴대폰번호로 동시에 발송됩니다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</a:p>
          <a:p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※ </a:t>
            </a:r>
            <a:r>
              <a:rPr lang="ko-KR" altLang="en-US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고객님께서 신청서 출력을 원하실 경우 관리자 사이트에서 출력하여 제공해 주시기 바랍니다</a:t>
            </a: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</a:rPr>
              <a:t>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</a:endParaRPr>
          </a:p>
        </p:txBody>
      </p:sp>
      <p:sp>
        <p:nvSpPr>
          <p:cNvPr id="47" name="눈물 방울 46"/>
          <p:cNvSpPr/>
          <p:nvPr/>
        </p:nvSpPr>
        <p:spPr>
          <a:xfrm rot="5400000">
            <a:off x="7848427" y="3458022"/>
            <a:ext cx="203791" cy="213322"/>
          </a:xfrm>
          <a:prstGeom prst="teardrop">
            <a:avLst/>
          </a:prstGeom>
          <a:solidFill>
            <a:srgbClr val="B7DEE8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ko-KR" sz="800" b="1" dirty="0">
                <a:solidFill>
                  <a:schemeClr val="tx1"/>
                </a:solidFill>
                <a:latin typeface="+mn-ea"/>
                <a:cs typeface="Segoe UI" panose="020B0502040204020203" pitchFamily="34" charset="0"/>
              </a:rPr>
              <a:t>B2</a:t>
            </a:r>
            <a:endParaRPr lang="ko-KR" altLang="en-US" sz="800" b="1" dirty="0">
              <a:solidFill>
                <a:schemeClr val="tx1"/>
              </a:solidFill>
              <a:latin typeface="+mn-ea"/>
              <a:cs typeface="Segoe UI" panose="020B0502040204020203" pitchFamily="34" charset="0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5224766" y="3457875"/>
            <a:ext cx="18002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algn="ctr">
            <a:solidFill>
              <a:schemeClr val="tx1">
                <a:lumMod val="65000"/>
                <a:lumOff val="35000"/>
              </a:schemeClr>
            </a:solidFill>
            <a:miter lim="800000"/>
            <a:headEnd/>
            <a:tailEnd/>
          </a:ln>
        </p:spPr>
        <p:txBody>
          <a:bodyPr wrap="square" lIns="72000" tIns="0" rIns="0" bIns="0" rtlCol="0" anchor="ctr">
            <a:noAutofit/>
          </a:bodyPr>
          <a:lstStyle/>
          <a:p>
            <a:pPr>
              <a:spcBef>
                <a:spcPct val="50000"/>
              </a:spcBef>
            </a:pPr>
            <a:r>
              <a:rPr lang="en-US" altLang="ko-KR" sz="9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010-1111-2222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7074830" y="3450589"/>
            <a:ext cx="720000" cy="252000"/>
          </a:xfrm>
          <a:prstGeom prst="rect">
            <a:avLst/>
          </a:prstGeom>
          <a:solidFill>
            <a:srgbClr val="E8E8E8"/>
          </a:solidFill>
          <a:ln w="6350" algn="ctr">
            <a:solidFill>
              <a:srgbClr val="E8E8E8"/>
            </a:solidFill>
            <a:miter lim="800000"/>
            <a:headEnd/>
            <a:tailEnd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spcBef>
                <a:spcPct val="50000"/>
              </a:spcBef>
            </a:pPr>
            <a:r>
              <a:rPr lang="ko-KR" altLang="en-US" sz="1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itchFamily="50" charset="-127"/>
                <a:ea typeface="맑은 고딕" pitchFamily="50" charset="-127"/>
              </a:rPr>
              <a:t>발송</a:t>
            </a:r>
          </a:p>
        </p:txBody>
      </p:sp>
    </p:spTree>
    <p:extLst>
      <p:ext uri="{BB962C8B-B14F-4D97-AF65-F5344CB8AC3E}">
        <p14:creationId xmlns:p14="http://schemas.microsoft.com/office/powerpoint/2010/main" val="2381588356"/>
      </p:ext>
    </p:extLst>
  </p:cSld>
  <p:clrMapOvr>
    <a:masterClrMapping/>
  </p:clrMapOvr>
</p:sld>
</file>

<file path=ppt/theme/theme1.xml><?xml version="1.0" encoding="utf-8"?>
<a:theme xmlns:a="http://schemas.openxmlformats.org/drawingml/2006/main" name="설명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lumMod val="65000"/>
            <a:lumOff val="35000"/>
            <a:alpha val="75000"/>
          </a:schemeClr>
        </a:solidFill>
        <a:ln w="6350" algn="ctr">
          <a:noFill/>
          <a:miter lim="800000"/>
          <a:headEnd/>
          <a:tailEnd/>
        </a:ln>
      </a:spPr>
      <a:bodyPr wrap="square" rtlCol="0" anchor="ctr">
        <a:spAutoFit/>
      </a:bodyPr>
      <a:lstStyle>
        <a:defPPr algn="ctr">
          <a:spcBef>
            <a:spcPct val="50000"/>
          </a:spcBef>
          <a:defRPr sz="800" b="1" smtClean="0">
            <a:latin typeface="나눔고딕" panose="020D0604000000000000" pitchFamily="50" charset="-127"/>
            <a:ea typeface="나눔고딕" panose="020D0604000000000000" pitchFamily="50" charset="-127"/>
          </a:defRPr>
        </a:defPPr>
      </a:lstStyle>
    </a:spDef>
    <a:txDef>
      <a:spPr>
        <a:noFill/>
      </a:spPr>
      <a:bodyPr wrap="none" rtlCol="0">
        <a:spAutoFit/>
      </a:bodyPr>
      <a:lstStyle>
        <a:defPPr>
          <a:defRPr sz="8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2_화면설계서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lumMod val="65000"/>
            <a:lumOff val="35000"/>
            <a:alpha val="75000"/>
          </a:schemeClr>
        </a:solidFill>
        <a:ln w="6350" algn="ctr">
          <a:noFill/>
          <a:miter lim="800000"/>
          <a:headEnd/>
          <a:tailEnd/>
        </a:ln>
      </a:spPr>
      <a:bodyPr wrap="square" rtlCol="0" anchor="ctr">
        <a:spAutoFit/>
      </a:bodyPr>
      <a:lstStyle>
        <a:defPPr algn="ctr">
          <a:spcBef>
            <a:spcPct val="50000"/>
          </a:spcBef>
          <a:defRPr sz="800" b="1" smtClean="0">
            <a:latin typeface="나눔고딕" panose="020D0604000000000000" pitchFamily="50" charset="-127"/>
            <a:ea typeface="나눔고딕" panose="020D0604000000000000" pitchFamily="50" charset="-127"/>
          </a:defRPr>
        </a:defPPr>
      </a:lstStyle>
    </a:spDef>
    <a:txDef>
      <a:spPr>
        <a:noFill/>
      </a:spPr>
      <a:bodyPr wrap="none" rtlCol="0">
        <a:spAutoFit/>
      </a:bodyPr>
      <a:lstStyle>
        <a:defPPr>
          <a:defRPr sz="800" smtClean="0"/>
        </a:defPPr>
      </a:lstStyle>
    </a:txDef>
  </a:objectDefaults>
  <a:extraClrSchemeLst/>
</a:theme>
</file>

<file path=ppt/theme/theme3.xml><?xml version="1.0" encoding="utf-8"?>
<a:theme xmlns:a="http://schemas.openxmlformats.org/drawingml/2006/main" name="1_화면설계서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lumMod val="65000"/>
            <a:lumOff val="35000"/>
            <a:alpha val="75000"/>
          </a:schemeClr>
        </a:solidFill>
        <a:ln w="6350" algn="ctr">
          <a:noFill/>
          <a:miter lim="800000"/>
          <a:headEnd/>
          <a:tailEnd/>
        </a:ln>
      </a:spPr>
      <a:bodyPr wrap="square" rtlCol="0" anchor="ctr">
        <a:spAutoFit/>
      </a:bodyPr>
      <a:lstStyle>
        <a:defPPr algn="ctr">
          <a:spcBef>
            <a:spcPct val="50000"/>
          </a:spcBef>
          <a:defRPr sz="800" b="1" smtClean="0">
            <a:latin typeface="나눔고딕" panose="020D0604000000000000" pitchFamily="50" charset="-127"/>
            <a:ea typeface="나눔고딕" panose="020D0604000000000000" pitchFamily="50" charset="-127"/>
          </a:defRPr>
        </a:defPPr>
      </a:lstStyle>
    </a:spDef>
    <a:txDef>
      <a:spPr>
        <a:noFill/>
      </a:spPr>
      <a:bodyPr wrap="none" rtlCol="0">
        <a:spAutoFit/>
      </a:bodyPr>
      <a:lstStyle>
        <a:defPPr>
          <a:defRPr sz="800" smtClean="0"/>
        </a:defPPr>
      </a:lstStyle>
    </a:txDef>
  </a:objectDefaults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LongProperties xmlns="http://schemas.microsoft.com/office/2006/metadata/longProperties"/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Assembly>Microsoft.Office.DocumentManagement, Version=14.0.0.0,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Assembly>Microsoft.Office.DocumentManagement, Version=14.0.0.0,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3DC77A828EE2C4D81AF024F460569B5" ma:contentTypeVersion="1" ma:contentTypeDescription="새 문서를 만듭니다." ma:contentTypeScope="" ma:versionID="cc9d5630a70d8196d048ee69f0fc4281">
  <xsd:schema xmlns:xsd="http://www.w3.org/2001/XMLSchema" xmlns:xs="http://www.w3.org/2001/XMLSchema" xmlns:p="http://schemas.microsoft.com/office/2006/metadata/properties" xmlns:ns2="38401c30-03ba-420f-896f-36299c68a925" targetNamespace="http://schemas.microsoft.com/office/2006/metadata/properties" ma:root="true" ma:fieldsID="f52a3d49948d89f7fa0004adad49ab67" ns2:_="">
    <xsd:import namespace="38401c30-03ba-420f-896f-36299c68a925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401c30-03ba-420f-896f-36299c68a925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문서 ID 값" ma:description="이 항목에 할당된 문서 ID 값입니다." ma:internalName="_dlc_DocId" ma:readOnly="true">
      <xsd:simpleType>
        <xsd:restriction base="dms:Text"/>
      </xsd:simpleType>
    </xsd:element>
    <xsd:element name="_dlc_DocIdUrl" ma:index="9" nillable="true" ma:displayName="문서 ID" ma:description="이 문서에 대한 영구 링크입니다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영구 ID" ma:description="추가 시 ID를 유지합니다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C7F5794-410F-4B53-A605-F79AEA507B76}">
  <ds:schemaRefs>
    <ds:schemaRef ds:uri="http://schemas.microsoft.com/office/2006/metadata/longProperties"/>
  </ds:schemaRefs>
</ds:datastoreItem>
</file>

<file path=customXml/itemProps2.xml><?xml version="1.0" encoding="utf-8"?>
<ds:datastoreItem xmlns:ds="http://schemas.openxmlformats.org/officeDocument/2006/customXml" ds:itemID="{F5DA953D-B00F-4D53-B01B-5A1C523FA2C0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D3A49A56-48DF-45A9-B7BA-B180B664DF62}">
  <ds:schemaRefs>
    <ds:schemaRef ds:uri="http://purl.org/dc/terms/"/>
    <ds:schemaRef ds:uri="http://schemas.openxmlformats.org/package/2006/metadata/core-properties"/>
    <ds:schemaRef ds:uri="http://purl.org/dc/dcmitype/"/>
    <ds:schemaRef ds:uri="38401c30-03ba-420f-896f-36299c68a925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http://www.w3.org/XML/1998/namespace"/>
  </ds:schemaRefs>
</ds:datastoreItem>
</file>

<file path=customXml/itemProps4.xml><?xml version="1.0" encoding="utf-8"?>
<ds:datastoreItem xmlns:ds="http://schemas.openxmlformats.org/officeDocument/2006/customXml" ds:itemID="{474891BC-C640-43D5-8175-33BC5943071B}">
  <ds:schemaRefs>
    <ds:schemaRef ds:uri="http://schemas.microsoft.com/sharepoint/v3/contenttype/forms"/>
  </ds:schemaRefs>
</ds:datastoreItem>
</file>

<file path=customXml/itemProps5.xml><?xml version="1.0" encoding="utf-8"?>
<ds:datastoreItem xmlns:ds="http://schemas.openxmlformats.org/officeDocument/2006/customXml" ds:itemID="{880D073E-B96D-419D-A08A-BEEB1D21415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8401c30-03ba-420f-896f-36299c68a9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30595</TotalTime>
  <Words>7245</Words>
  <Application>Microsoft Office PowerPoint</Application>
  <PresentationFormat>사용자 지정</PresentationFormat>
  <Paragraphs>2079</Paragraphs>
  <Slides>46</Slides>
  <Notes>1</Notes>
  <HiddenSlides>0</HiddenSlides>
  <MMClips>0</MMClips>
  <ScaleCrop>false</ScaleCrop>
  <HeadingPairs>
    <vt:vector size="4" baseType="variant">
      <vt:variant>
        <vt:lpstr>테마</vt:lpstr>
      </vt:variant>
      <vt:variant>
        <vt:i4>4</vt:i4>
      </vt:variant>
      <vt:variant>
        <vt:lpstr>슬라이드 제목</vt:lpstr>
      </vt:variant>
      <vt:variant>
        <vt:i4>46</vt:i4>
      </vt:variant>
    </vt:vector>
  </HeadingPairs>
  <TitlesOfParts>
    <vt:vector size="50" baseType="lpstr">
      <vt:lpstr>설명</vt:lpstr>
      <vt:lpstr>2_화면설계서</vt:lpstr>
      <vt:lpstr>1_화면설계서</vt:lpstr>
      <vt:lpstr>Office 테마</vt:lpstr>
      <vt:lpstr>UI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Organization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Owner</dc:creator>
  <cp:lastModifiedBy>hsha</cp:lastModifiedBy>
  <cp:revision>5307</cp:revision>
  <dcterms:created xsi:type="dcterms:W3CDTF">2011-01-04T12:32:05Z</dcterms:created>
  <dcterms:modified xsi:type="dcterms:W3CDTF">2026-03-13T05:52:07Z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dlc_DocId">
    <vt:lpwstr>FCNHZ7S6XMZC-6-2714</vt:lpwstr>
  </property>
  <property fmtid="{D5CDD505-2E9C-101B-9397-08002B2CF9AE}" pid="3" name="_dlc_DocIdItemGuid">
    <vt:lpwstr>ab86fa6f-0ef5-4b90-9ff9-987649a96697</vt:lpwstr>
  </property>
  <property fmtid="{D5CDD505-2E9C-101B-9397-08002B2CF9AE}" pid="4" name="_dlc_DocIdUrl">
    <vt:lpwstr>https://ecm.ktds.co.kr/sites/ECM/_layouts/DocIdRedir.aspx?ID=FCNHZ7S6XMZC-6-2714, FCNHZ7S6XMZC-6-2714</vt:lpwstr>
  </property>
</Properties>
</file>