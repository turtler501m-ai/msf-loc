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719" r:id="rId6"/>
    <p:sldMasterId id="2147484712" r:id="rId7"/>
    <p:sldMasterId id="2147484714" r:id="rId8"/>
    <p:sldMasterId id="2147483648" r:id="rId9"/>
  </p:sldMasterIdLst>
  <p:notesMasterIdLst>
    <p:notesMasterId r:id="rId37"/>
  </p:notesMasterIdLst>
  <p:handoutMasterIdLst>
    <p:handoutMasterId r:id="rId38"/>
  </p:handoutMasterIdLst>
  <p:sldIdLst>
    <p:sldId id="260" r:id="rId10"/>
    <p:sldId id="312" r:id="rId11"/>
    <p:sldId id="314" r:id="rId12"/>
    <p:sldId id="758" r:id="rId13"/>
    <p:sldId id="863" r:id="rId14"/>
    <p:sldId id="864" r:id="rId15"/>
    <p:sldId id="834" r:id="rId16"/>
    <p:sldId id="883" r:id="rId17"/>
    <p:sldId id="852" r:id="rId18"/>
    <p:sldId id="837" r:id="rId19"/>
    <p:sldId id="838" r:id="rId20"/>
    <p:sldId id="861" r:id="rId21"/>
    <p:sldId id="839" r:id="rId22"/>
    <p:sldId id="840" r:id="rId23"/>
    <p:sldId id="887" r:id="rId24"/>
    <p:sldId id="859" r:id="rId25"/>
    <p:sldId id="885" r:id="rId26"/>
    <p:sldId id="886" r:id="rId27"/>
    <p:sldId id="884" r:id="rId28"/>
    <p:sldId id="851" r:id="rId29"/>
    <p:sldId id="841" r:id="rId30"/>
    <p:sldId id="860" r:id="rId31"/>
    <p:sldId id="791" r:id="rId32"/>
    <p:sldId id="853" r:id="rId33"/>
    <p:sldId id="850" r:id="rId34"/>
    <p:sldId id="845" r:id="rId35"/>
    <p:sldId id="835" r:id="rId36"/>
  </p:sldIdLst>
  <p:sldSz cx="12801600" cy="6859588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536204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07240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8612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144817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681021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3217225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753429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4289633" algn="l" defTabSz="1072408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2F286AD-7015-4EE0-ADF9-893C2BCEA316}">
          <p14:sldIdLst>
            <p14:sldId id="260"/>
            <p14:sldId id="312"/>
            <p14:sldId id="314"/>
          </p14:sldIdLst>
        </p14:section>
        <p14:section name="UI 목록" id="{33C8F5A9-241A-4CBF-9BC1-009254C1F1BA}">
          <p14:sldIdLst>
            <p14:sldId id="758"/>
          </p14:sldIdLst>
        </p14:section>
        <p14:section name="서비스해지 신청서 작성 절차 및 프로세스" id="{5F31C51C-EE12-4DAD-8FA4-792255906258}">
          <p14:sldIdLst>
            <p14:sldId id="863"/>
            <p14:sldId id="864"/>
          </p14:sldIdLst>
        </p14:section>
        <p14:section name="서비스해지 신청서" id="{21C56AE0-8D20-4181-865A-6051B43D4410}">
          <p14:sldIdLst>
            <p14:sldId id="834"/>
            <p14:sldId id="883"/>
          </p14:sldIdLst>
        </p14:section>
        <p14:section name="서비스해지 신청서 - 고객" id="{F8AAD163-CCA3-4B72-A8EB-E306D0F3167E}">
          <p14:sldIdLst>
            <p14:sldId id="852"/>
            <p14:sldId id="837"/>
            <p14:sldId id="838"/>
            <p14:sldId id="861"/>
            <p14:sldId id="839"/>
            <p14:sldId id="840"/>
            <p14:sldId id="887"/>
            <p14:sldId id="859"/>
            <p14:sldId id="885"/>
            <p14:sldId id="886"/>
            <p14:sldId id="884"/>
          </p14:sldIdLst>
        </p14:section>
        <p14:section name="서비스해지 신청서 - 상품" id="{73536A80-255D-4014-8844-4F68A31ACBEE}">
          <p14:sldIdLst>
            <p14:sldId id="851"/>
            <p14:sldId id="841"/>
            <p14:sldId id="860"/>
          </p14:sldIdLst>
        </p14:section>
        <p14:section name="서비스해지 신청서 - 동의" id="{E578634F-1178-44C0-8E54-C9D71120F6B2}">
          <p14:sldIdLst>
            <p14:sldId id="791"/>
            <p14:sldId id="853"/>
            <p14:sldId id="850"/>
            <p14:sldId id="845"/>
          </p14:sldIdLst>
        </p14:section>
        <p14:section name="서비스해지 신청서 - 신청완료" id="{083AC7C5-15B6-4782-B5BF-F3FD951849E5}">
          <p14:sldIdLst>
            <p14:sldId id="83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205">
          <p15:clr>
            <a:srgbClr val="A4A3A4"/>
          </p15:clr>
        </p15:guide>
        <p15:guide id="2" orient="horz" pos="527">
          <p15:clr>
            <a:srgbClr val="A4A3A4"/>
          </p15:clr>
        </p15:guide>
        <p15:guide id="3" pos="3120">
          <p15:clr>
            <a:srgbClr val="A4A3A4"/>
          </p15:clr>
        </p15:guide>
        <p15:guide id="4" pos="353">
          <p15:clr>
            <a:srgbClr val="A4A3A4"/>
          </p15:clr>
        </p15:guide>
        <p15:guide id="5" orient="horz" pos="2206">
          <p15:clr>
            <a:srgbClr val="A4A3A4"/>
          </p15:clr>
        </p15:guide>
        <p15:guide id="6" pos="4032">
          <p15:clr>
            <a:srgbClr val="A4A3A4"/>
          </p15:clr>
        </p15:guide>
        <p15:guide id="7" pos="4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office463" initials="m" lastIdx="5" clrIdx="0">
    <p:extLst>
      <p:ext uri="{19B8F6BF-5375-455C-9EA6-DF929625EA0E}">
        <p15:presenceInfo xmlns:p15="http://schemas.microsoft.com/office/powerpoint/2012/main" xmlns="" userId="S::msoffice463@unsja.onmicrosoft.com::98a27196-cbe2-46a8-a975-4b2fdc4eb4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A6C7"/>
    <a:srgbClr val="3CC4E4"/>
    <a:srgbClr val="FFFFFF"/>
    <a:srgbClr val="E8F8FC"/>
    <a:srgbClr val="FF3300"/>
    <a:srgbClr val="FFC000"/>
    <a:srgbClr val="FF0000"/>
    <a:srgbClr val="B7DEE8"/>
    <a:srgbClr val="0070C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92" autoAdjust="0"/>
    <p:restoredTop sz="94717" autoAdjust="0"/>
  </p:normalViewPr>
  <p:slideViewPr>
    <p:cSldViewPr>
      <p:cViewPr>
        <p:scale>
          <a:sx n="100" d="100"/>
          <a:sy n="100" d="100"/>
        </p:scale>
        <p:origin x="-2918" y="-1498"/>
      </p:cViewPr>
      <p:guideLst>
        <p:guide orient="horz" pos="2205"/>
        <p:guide orient="horz" pos="527"/>
        <p:guide orient="horz" pos="2206"/>
        <p:guide pos="3120"/>
        <p:guide pos="353"/>
        <p:guide pos="4032"/>
        <p:guide pos="4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-384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A3FC-922A-4EA6-8220-C7D31A08AE2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60E98-F2DF-4BA5-9CEA-C7A72CA67F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351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9C0FC0A-8EC4-45F8-BAE3-5FBDF274FF84}" type="datetimeFigureOut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0188" y="685800"/>
            <a:ext cx="63976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8A35F2-6331-49D4-8813-E163F37982F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504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204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408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8612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4817" algn="l" rtl="0" eaLnBrk="0" fontAlgn="base" latinLnBrk="1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1021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7225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3429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89633" algn="l" defTabSz="1072408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0188" y="685800"/>
            <a:ext cx="6397625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z="300" dirty="0"/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897F6F4-9267-44EB-B43D-D3AB4AFE9860}" type="slidenum">
              <a:rPr lang="ko-KR" altLang="en-US" smtClean="0"/>
              <a:pPr eaLnBrk="1" hangingPunct="1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058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64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58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15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_3.계속 이어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7"/>
          <p:cNvSpPr/>
          <p:nvPr userDrawn="1"/>
        </p:nvSpPr>
        <p:spPr bwMode="auto">
          <a:xfrm>
            <a:off x="178642" y="6479107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324312" y="1648"/>
                </a:lnTo>
                <a:lnTo>
                  <a:pt x="523917" y="1648"/>
                </a:lnTo>
                <a:lnTo>
                  <a:pt x="527547" y="0"/>
                </a:lnTo>
                <a:lnTo>
                  <a:pt x="531177" y="1648"/>
                </a:lnTo>
                <a:lnTo>
                  <a:pt x="729804" y="1648"/>
                </a:lnTo>
                <a:lnTo>
                  <a:pt x="733434" y="0"/>
                </a:lnTo>
                <a:lnTo>
                  <a:pt x="737064" y="1648"/>
                </a:lnTo>
                <a:lnTo>
                  <a:pt x="935691" y="1648"/>
                </a:lnTo>
                <a:lnTo>
                  <a:pt x="939321" y="0"/>
                </a:lnTo>
                <a:lnTo>
                  <a:pt x="942951" y="1648"/>
                </a:lnTo>
                <a:lnTo>
                  <a:pt x="1141578" y="1648"/>
                </a:lnTo>
                <a:lnTo>
                  <a:pt x="1145208" y="0"/>
                </a:lnTo>
                <a:lnTo>
                  <a:pt x="1148839" y="1648"/>
                </a:lnTo>
                <a:lnTo>
                  <a:pt x="1347465" y="1648"/>
                </a:lnTo>
                <a:lnTo>
                  <a:pt x="1351095" y="0"/>
                </a:lnTo>
                <a:lnTo>
                  <a:pt x="1354726" y="1648"/>
                </a:lnTo>
                <a:lnTo>
                  <a:pt x="1553352" y="1648"/>
                </a:lnTo>
                <a:lnTo>
                  <a:pt x="1556982" y="0"/>
                </a:lnTo>
                <a:lnTo>
                  <a:pt x="1560613" y="1648"/>
                </a:lnTo>
                <a:lnTo>
                  <a:pt x="1759239" y="1648"/>
                </a:lnTo>
                <a:lnTo>
                  <a:pt x="1762869" y="0"/>
                </a:lnTo>
                <a:lnTo>
                  <a:pt x="1766500" y="1648"/>
                </a:lnTo>
                <a:lnTo>
                  <a:pt x="1965126" y="1648"/>
                </a:lnTo>
                <a:lnTo>
                  <a:pt x="1968756" y="0"/>
                </a:lnTo>
                <a:lnTo>
                  <a:pt x="1972387" y="1648"/>
                </a:lnTo>
                <a:lnTo>
                  <a:pt x="2171013" y="1648"/>
                </a:lnTo>
                <a:lnTo>
                  <a:pt x="2174643" y="0"/>
                </a:lnTo>
                <a:lnTo>
                  <a:pt x="2178274" y="1648"/>
                </a:lnTo>
                <a:lnTo>
                  <a:pt x="2376900" y="1648"/>
                </a:lnTo>
                <a:lnTo>
                  <a:pt x="2380530" y="0"/>
                </a:lnTo>
                <a:lnTo>
                  <a:pt x="2384161" y="1648"/>
                </a:lnTo>
                <a:lnTo>
                  <a:pt x="2492847" y="1648"/>
                </a:lnTo>
                <a:lnTo>
                  <a:pt x="2492847" y="46952"/>
                </a:lnTo>
                <a:lnTo>
                  <a:pt x="2492847" y="85846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2380530" y="121444"/>
                </a:lnTo>
                <a:lnTo>
                  <a:pt x="2277586" y="168174"/>
                </a:lnTo>
                <a:lnTo>
                  <a:pt x="2174643" y="121444"/>
                </a:lnTo>
                <a:lnTo>
                  <a:pt x="2071699" y="168174"/>
                </a:lnTo>
                <a:lnTo>
                  <a:pt x="1968756" y="121444"/>
                </a:lnTo>
                <a:lnTo>
                  <a:pt x="1865812" y="168174"/>
                </a:lnTo>
                <a:lnTo>
                  <a:pt x="1762869" y="121444"/>
                </a:lnTo>
                <a:lnTo>
                  <a:pt x="1659925" y="168174"/>
                </a:lnTo>
                <a:lnTo>
                  <a:pt x="1556982" y="121444"/>
                </a:lnTo>
                <a:lnTo>
                  <a:pt x="1454038" y="168174"/>
                </a:lnTo>
                <a:lnTo>
                  <a:pt x="1351095" y="121444"/>
                </a:lnTo>
                <a:lnTo>
                  <a:pt x="1248151" y="168174"/>
                </a:lnTo>
                <a:lnTo>
                  <a:pt x="1145208" y="121444"/>
                </a:lnTo>
                <a:lnTo>
                  <a:pt x="1042264" y="168174"/>
                </a:lnTo>
                <a:lnTo>
                  <a:pt x="939321" y="121444"/>
                </a:lnTo>
                <a:lnTo>
                  <a:pt x="836377" y="168174"/>
                </a:lnTo>
                <a:lnTo>
                  <a:pt x="733434" y="121444"/>
                </a:lnTo>
                <a:lnTo>
                  <a:pt x="630490" y="168174"/>
                </a:lnTo>
                <a:lnTo>
                  <a:pt x="527547" y="121444"/>
                </a:lnTo>
                <a:lnTo>
                  <a:pt x="424114" y="168396"/>
                </a:lnTo>
                <a:lnTo>
                  <a:pt x="320682" y="121444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13817" y="122178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5846"/>
                </a:lnTo>
                <a:lnTo>
                  <a:pt x="0" y="46952"/>
                </a:lnTo>
                <a:lnTo>
                  <a:pt x="0" y="1648"/>
                </a:lnTo>
                <a:lnTo>
                  <a:pt x="111804" y="1648"/>
                </a:lnTo>
                <a:lnTo>
                  <a:pt x="113817" y="734"/>
                </a:lnTo>
                <a:lnTo>
                  <a:pt x="115831" y="1648"/>
                </a:lnTo>
                <a:lnTo>
                  <a:pt x="317052" y="164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다음 페이지 이어서 계속됨</a:t>
            </a:r>
          </a:p>
        </p:txBody>
      </p:sp>
      <p:sp>
        <p:nvSpPr>
          <p:cNvPr id="5" name="직사각형 7"/>
          <p:cNvSpPr/>
          <p:nvPr userDrawn="1"/>
        </p:nvSpPr>
        <p:spPr bwMode="auto">
          <a:xfrm>
            <a:off x="180322" y="831870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424114" y="46952"/>
                </a:lnTo>
                <a:lnTo>
                  <a:pt x="527547" y="0"/>
                </a:lnTo>
                <a:lnTo>
                  <a:pt x="630490" y="46730"/>
                </a:lnTo>
                <a:lnTo>
                  <a:pt x="733434" y="0"/>
                </a:lnTo>
                <a:lnTo>
                  <a:pt x="836377" y="46730"/>
                </a:lnTo>
                <a:lnTo>
                  <a:pt x="939321" y="0"/>
                </a:lnTo>
                <a:lnTo>
                  <a:pt x="1042264" y="46730"/>
                </a:lnTo>
                <a:lnTo>
                  <a:pt x="1145208" y="0"/>
                </a:lnTo>
                <a:lnTo>
                  <a:pt x="1248151" y="46730"/>
                </a:lnTo>
                <a:lnTo>
                  <a:pt x="1351095" y="0"/>
                </a:lnTo>
                <a:lnTo>
                  <a:pt x="1454038" y="46730"/>
                </a:lnTo>
                <a:lnTo>
                  <a:pt x="1556982" y="0"/>
                </a:lnTo>
                <a:lnTo>
                  <a:pt x="1659925" y="46730"/>
                </a:lnTo>
                <a:lnTo>
                  <a:pt x="1762869" y="0"/>
                </a:lnTo>
                <a:lnTo>
                  <a:pt x="1865812" y="46730"/>
                </a:lnTo>
                <a:lnTo>
                  <a:pt x="1968756" y="0"/>
                </a:lnTo>
                <a:lnTo>
                  <a:pt x="2071699" y="46730"/>
                </a:lnTo>
                <a:lnTo>
                  <a:pt x="2174643" y="0"/>
                </a:lnTo>
                <a:lnTo>
                  <a:pt x="2277586" y="46730"/>
                </a:lnTo>
                <a:lnTo>
                  <a:pt x="2380530" y="0"/>
                </a:lnTo>
                <a:lnTo>
                  <a:pt x="2483962" y="46952"/>
                </a:lnTo>
                <a:lnTo>
                  <a:pt x="2492847" y="46952"/>
                </a:lnTo>
                <a:lnTo>
                  <a:pt x="2492847" y="84198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424114" y="168396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4198"/>
                </a:lnTo>
                <a:lnTo>
                  <a:pt x="0" y="46952"/>
                </a:lnTo>
                <a:lnTo>
                  <a:pt x="12001" y="46952"/>
                </a:lnTo>
                <a:lnTo>
                  <a:pt x="113817" y="734"/>
                </a:lnTo>
                <a:lnTo>
                  <a:pt x="215632" y="46952"/>
                </a:lnTo>
                <a:lnTo>
                  <a:pt x="217249" y="46952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이전 내용에 이어짐</a:t>
            </a:r>
          </a:p>
        </p:txBody>
      </p:sp>
    </p:spTree>
    <p:extLst>
      <p:ext uri="{BB962C8B-B14F-4D97-AF65-F5344CB8AC3E}">
        <p14:creationId xmlns:p14="http://schemas.microsoft.com/office/powerpoint/2010/main" val="223073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_3.계속 이어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 bwMode="auto">
          <a:xfrm>
            <a:off x="178642" y="6479107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324312" y="1648"/>
                </a:lnTo>
                <a:lnTo>
                  <a:pt x="523917" y="1648"/>
                </a:lnTo>
                <a:lnTo>
                  <a:pt x="527547" y="0"/>
                </a:lnTo>
                <a:lnTo>
                  <a:pt x="531177" y="1648"/>
                </a:lnTo>
                <a:lnTo>
                  <a:pt x="729804" y="1648"/>
                </a:lnTo>
                <a:lnTo>
                  <a:pt x="733434" y="0"/>
                </a:lnTo>
                <a:lnTo>
                  <a:pt x="737064" y="1648"/>
                </a:lnTo>
                <a:lnTo>
                  <a:pt x="935691" y="1648"/>
                </a:lnTo>
                <a:lnTo>
                  <a:pt x="939321" y="0"/>
                </a:lnTo>
                <a:lnTo>
                  <a:pt x="942951" y="1648"/>
                </a:lnTo>
                <a:lnTo>
                  <a:pt x="1141578" y="1648"/>
                </a:lnTo>
                <a:lnTo>
                  <a:pt x="1145208" y="0"/>
                </a:lnTo>
                <a:lnTo>
                  <a:pt x="1148839" y="1648"/>
                </a:lnTo>
                <a:lnTo>
                  <a:pt x="1347465" y="1648"/>
                </a:lnTo>
                <a:lnTo>
                  <a:pt x="1351095" y="0"/>
                </a:lnTo>
                <a:lnTo>
                  <a:pt x="1354726" y="1648"/>
                </a:lnTo>
                <a:lnTo>
                  <a:pt x="1553352" y="1648"/>
                </a:lnTo>
                <a:lnTo>
                  <a:pt x="1556982" y="0"/>
                </a:lnTo>
                <a:lnTo>
                  <a:pt x="1560613" y="1648"/>
                </a:lnTo>
                <a:lnTo>
                  <a:pt x="1759239" y="1648"/>
                </a:lnTo>
                <a:lnTo>
                  <a:pt x="1762869" y="0"/>
                </a:lnTo>
                <a:lnTo>
                  <a:pt x="1766500" y="1648"/>
                </a:lnTo>
                <a:lnTo>
                  <a:pt x="1965126" y="1648"/>
                </a:lnTo>
                <a:lnTo>
                  <a:pt x="1968756" y="0"/>
                </a:lnTo>
                <a:lnTo>
                  <a:pt x="1972387" y="1648"/>
                </a:lnTo>
                <a:lnTo>
                  <a:pt x="2171013" y="1648"/>
                </a:lnTo>
                <a:lnTo>
                  <a:pt x="2174643" y="0"/>
                </a:lnTo>
                <a:lnTo>
                  <a:pt x="2178274" y="1648"/>
                </a:lnTo>
                <a:lnTo>
                  <a:pt x="2376900" y="1648"/>
                </a:lnTo>
                <a:lnTo>
                  <a:pt x="2380530" y="0"/>
                </a:lnTo>
                <a:lnTo>
                  <a:pt x="2384161" y="1648"/>
                </a:lnTo>
                <a:lnTo>
                  <a:pt x="2492847" y="1648"/>
                </a:lnTo>
                <a:lnTo>
                  <a:pt x="2492847" y="46952"/>
                </a:lnTo>
                <a:lnTo>
                  <a:pt x="2492847" y="85846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2380530" y="121444"/>
                </a:lnTo>
                <a:lnTo>
                  <a:pt x="2277586" y="168174"/>
                </a:lnTo>
                <a:lnTo>
                  <a:pt x="2174643" y="121444"/>
                </a:lnTo>
                <a:lnTo>
                  <a:pt x="2071699" y="168174"/>
                </a:lnTo>
                <a:lnTo>
                  <a:pt x="1968756" y="121444"/>
                </a:lnTo>
                <a:lnTo>
                  <a:pt x="1865812" y="168174"/>
                </a:lnTo>
                <a:lnTo>
                  <a:pt x="1762869" y="121444"/>
                </a:lnTo>
                <a:lnTo>
                  <a:pt x="1659925" y="168174"/>
                </a:lnTo>
                <a:lnTo>
                  <a:pt x="1556982" y="121444"/>
                </a:lnTo>
                <a:lnTo>
                  <a:pt x="1454038" y="168174"/>
                </a:lnTo>
                <a:lnTo>
                  <a:pt x="1351095" y="121444"/>
                </a:lnTo>
                <a:lnTo>
                  <a:pt x="1248151" y="168174"/>
                </a:lnTo>
                <a:lnTo>
                  <a:pt x="1145208" y="121444"/>
                </a:lnTo>
                <a:lnTo>
                  <a:pt x="1042264" y="168174"/>
                </a:lnTo>
                <a:lnTo>
                  <a:pt x="939321" y="121444"/>
                </a:lnTo>
                <a:lnTo>
                  <a:pt x="836377" y="168174"/>
                </a:lnTo>
                <a:lnTo>
                  <a:pt x="733434" y="121444"/>
                </a:lnTo>
                <a:lnTo>
                  <a:pt x="630490" y="168174"/>
                </a:lnTo>
                <a:lnTo>
                  <a:pt x="527547" y="121444"/>
                </a:lnTo>
                <a:lnTo>
                  <a:pt x="424114" y="168396"/>
                </a:lnTo>
                <a:lnTo>
                  <a:pt x="320682" y="121444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13817" y="122178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5846"/>
                </a:lnTo>
                <a:lnTo>
                  <a:pt x="0" y="46952"/>
                </a:lnTo>
                <a:lnTo>
                  <a:pt x="0" y="1648"/>
                </a:lnTo>
                <a:lnTo>
                  <a:pt x="111804" y="1648"/>
                </a:lnTo>
                <a:lnTo>
                  <a:pt x="113817" y="734"/>
                </a:lnTo>
                <a:lnTo>
                  <a:pt x="115831" y="1648"/>
                </a:lnTo>
                <a:lnTo>
                  <a:pt x="317052" y="1648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다음 페이지 이어서 계속됨</a:t>
            </a:r>
          </a:p>
        </p:txBody>
      </p:sp>
    </p:spTree>
    <p:extLst>
      <p:ext uri="{BB962C8B-B14F-4D97-AF65-F5344CB8AC3E}">
        <p14:creationId xmlns:p14="http://schemas.microsoft.com/office/powerpoint/2010/main" val="311980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_3.계속 이어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7"/>
          <p:cNvSpPr/>
          <p:nvPr userDrawn="1"/>
        </p:nvSpPr>
        <p:spPr bwMode="auto">
          <a:xfrm>
            <a:off x="180322" y="831870"/>
            <a:ext cx="10296000" cy="144000"/>
          </a:xfrm>
          <a:custGeom>
            <a:avLst/>
            <a:gdLst/>
            <a:ahLst/>
            <a:cxnLst/>
            <a:rect l="l" t="t" r="r" b="b"/>
            <a:pathLst>
              <a:path w="2492847" h="168396">
                <a:moveTo>
                  <a:pt x="320682" y="0"/>
                </a:moveTo>
                <a:lnTo>
                  <a:pt x="424114" y="46952"/>
                </a:lnTo>
                <a:lnTo>
                  <a:pt x="527547" y="0"/>
                </a:lnTo>
                <a:lnTo>
                  <a:pt x="630490" y="46730"/>
                </a:lnTo>
                <a:lnTo>
                  <a:pt x="733434" y="0"/>
                </a:lnTo>
                <a:lnTo>
                  <a:pt x="836377" y="46730"/>
                </a:lnTo>
                <a:lnTo>
                  <a:pt x="939321" y="0"/>
                </a:lnTo>
                <a:lnTo>
                  <a:pt x="1042264" y="46730"/>
                </a:lnTo>
                <a:lnTo>
                  <a:pt x="1145208" y="0"/>
                </a:lnTo>
                <a:lnTo>
                  <a:pt x="1248151" y="46730"/>
                </a:lnTo>
                <a:lnTo>
                  <a:pt x="1351095" y="0"/>
                </a:lnTo>
                <a:lnTo>
                  <a:pt x="1454038" y="46730"/>
                </a:lnTo>
                <a:lnTo>
                  <a:pt x="1556982" y="0"/>
                </a:lnTo>
                <a:lnTo>
                  <a:pt x="1659925" y="46730"/>
                </a:lnTo>
                <a:lnTo>
                  <a:pt x="1762869" y="0"/>
                </a:lnTo>
                <a:lnTo>
                  <a:pt x="1865812" y="46730"/>
                </a:lnTo>
                <a:lnTo>
                  <a:pt x="1968756" y="0"/>
                </a:lnTo>
                <a:lnTo>
                  <a:pt x="2071699" y="46730"/>
                </a:lnTo>
                <a:lnTo>
                  <a:pt x="2174643" y="0"/>
                </a:lnTo>
                <a:lnTo>
                  <a:pt x="2277586" y="46730"/>
                </a:lnTo>
                <a:lnTo>
                  <a:pt x="2380530" y="0"/>
                </a:lnTo>
                <a:lnTo>
                  <a:pt x="2483962" y="46952"/>
                </a:lnTo>
                <a:lnTo>
                  <a:pt x="2492847" y="46952"/>
                </a:lnTo>
                <a:lnTo>
                  <a:pt x="2492847" y="84198"/>
                </a:lnTo>
                <a:lnTo>
                  <a:pt x="2492847" y="168396"/>
                </a:lnTo>
                <a:lnTo>
                  <a:pt x="2483962" y="168396"/>
                </a:lnTo>
                <a:lnTo>
                  <a:pt x="424114" y="168396"/>
                </a:lnTo>
                <a:lnTo>
                  <a:pt x="217249" y="168396"/>
                </a:lnTo>
                <a:lnTo>
                  <a:pt x="215632" y="168396"/>
                </a:lnTo>
                <a:lnTo>
                  <a:pt x="12001" y="168396"/>
                </a:lnTo>
                <a:lnTo>
                  <a:pt x="0" y="168396"/>
                </a:lnTo>
                <a:lnTo>
                  <a:pt x="0" y="84198"/>
                </a:lnTo>
                <a:lnTo>
                  <a:pt x="0" y="46952"/>
                </a:lnTo>
                <a:lnTo>
                  <a:pt x="12001" y="46952"/>
                </a:lnTo>
                <a:lnTo>
                  <a:pt x="113817" y="734"/>
                </a:lnTo>
                <a:lnTo>
                  <a:pt x="215632" y="46952"/>
                </a:lnTo>
                <a:lnTo>
                  <a:pt x="217249" y="46952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42221" tIns="42221" rIns="42221" bIns="42221" anchor="ctr"/>
          <a:lstStyle/>
          <a:p>
            <a:pPr algn="ctr" latinLnBrk="0">
              <a:defRPr/>
            </a:pPr>
            <a:r>
              <a:rPr lang="ko-KR" altLang="en-US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이전 내용에 이어짐</a:t>
            </a:r>
          </a:p>
        </p:txBody>
      </p:sp>
    </p:spTree>
    <p:extLst>
      <p:ext uri="{BB962C8B-B14F-4D97-AF65-F5344CB8AC3E}">
        <p14:creationId xmlns:p14="http://schemas.microsoft.com/office/powerpoint/2010/main" val="2085361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8016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374" y="2139101"/>
            <a:ext cx="8972196" cy="470609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marR="0" indent="0" algn="l" defTabSz="107240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ko-KR" altLang="en-US" sz="28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55373" y="2656577"/>
            <a:ext cx="8961120" cy="312512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marR="0" indent="0" algn="l" defTabSz="1072408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 lang="ko-KR" altLang="en-US" sz="19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6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72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8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44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810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17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53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89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altLang="ko-KR" dirty="0"/>
          </a:p>
        </p:txBody>
      </p:sp>
      <p:pic>
        <p:nvPicPr>
          <p:cNvPr id="6" name="그림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66" y="490538"/>
            <a:ext cx="100965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25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4788" y="144498"/>
            <a:ext cx="11665055" cy="33186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524789" y="550387"/>
            <a:ext cx="11794808" cy="561790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4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22CB5-4570-49ED-BF13-73F7A1F5852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54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73A1B-AE72-474E-9878-8491C498EE0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17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239" y="4407922"/>
            <a:ext cx="10881360" cy="1362390"/>
          </a:xfrm>
        </p:spPr>
        <p:txBody>
          <a:bodyPr anchor="t"/>
          <a:lstStyle>
            <a:lvl1pPr algn="l">
              <a:defRPr sz="47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11239" y="2907387"/>
            <a:ext cx="10881360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3620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7240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6086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448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810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21722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7534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896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FD5D6-1A0E-4427-8817-CABD5E39BE5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616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40080" y="1600572"/>
            <a:ext cx="5654040" cy="4527011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07480" y="1600572"/>
            <a:ext cx="5654040" cy="4527011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8E112-7C0F-4B78-ADFC-4081E505FD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58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0080" y="1535469"/>
            <a:ext cx="5656263" cy="639910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6204" indent="0">
              <a:buNone/>
              <a:defRPr sz="2300" b="1"/>
            </a:lvl2pPr>
            <a:lvl3pPr marL="1072408" indent="0">
              <a:buNone/>
              <a:defRPr sz="2100" b="1"/>
            </a:lvl3pPr>
            <a:lvl4pPr marL="1608612" indent="0">
              <a:buNone/>
              <a:defRPr sz="1900" b="1"/>
            </a:lvl4pPr>
            <a:lvl5pPr marL="2144817" indent="0">
              <a:buNone/>
              <a:defRPr sz="1900" b="1"/>
            </a:lvl5pPr>
            <a:lvl6pPr marL="2681021" indent="0">
              <a:buNone/>
              <a:defRPr sz="1900" b="1"/>
            </a:lvl6pPr>
            <a:lvl7pPr marL="3217225" indent="0">
              <a:buNone/>
              <a:defRPr sz="1900" b="1"/>
            </a:lvl7pPr>
            <a:lvl8pPr marL="3753429" indent="0">
              <a:buNone/>
              <a:defRPr sz="1900" b="1"/>
            </a:lvl8pPr>
            <a:lvl9pPr marL="4289633" indent="0">
              <a:buNone/>
              <a:defRPr sz="1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080" y="2175379"/>
            <a:ext cx="5656263" cy="395220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03036" y="1535469"/>
            <a:ext cx="5658486" cy="639910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6204" indent="0">
              <a:buNone/>
              <a:defRPr sz="2300" b="1"/>
            </a:lvl2pPr>
            <a:lvl3pPr marL="1072408" indent="0">
              <a:buNone/>
              <a:defRPr sz="2100" b="1"/>
            </a:lvl3pPr>
            <a:lvl4pPr marL="1608612" indent="0">
              <a:buNone/>
              <a:defRPr sz="1900" b="1"/>
            </a:lvl4pPr>
            <a:lvl5pPr marL="2144817" indent="0">
              <a:buNone/>
              <a:defRPr sz="1900" b="1"/>
            </a:lvl5pPr>
            <a:lvl6pPr marL="2681021" indent="0">
              <a:buNone/>
              <a:defRPr sz="1900" b="1"/>
            </a:lvl6pPr>
            <a:lvl7pPr marL="3217225" indent="0">
              <a:buNone/>
              <a:defRPr sz="1900" b="1"/>
            </a:lvl7pPr>
            <a:lvl8pPr marL="3753429" indent="0">
              <a:buNone/>
              <a:defRPr sz="1900" b="1"/>
            </a:lvl8pPr>
            <a:lvl9pPr marL="4289633" indent="0">
              <a:buNone/>
              <a:defRPr sz="19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03036" y="2175379"/>
            <a:ext cx="5658486" cy="395220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5CE30-F600-48EA-B808-A26FFA49E5B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27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732DF-286B-459C-A7AD-1B7BB8E11A1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776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8E713-7CC6-4756-A129-44C94FB5DA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15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0080" y="273113"/>
            <a:ext cx="4211639" cy="116231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5071" y="273115"/>
            <a:ext cx="7156450" cy="5854468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40080" y="1435434"/>
            <a:ext cx="4211639" cy="4692149"/>
          </a:xfrm>
        </p:spPr>
        <p:txBody>
          <a:bodyPr/>
          <a:lstStyle>
            <a:lvl1pPr marL="0" indent="0">
              <a:buNone/>
              <a:defRPr sz="1600"/>
            </a:lvl1pPr>
            <a:lvl2pPr marL="536204" indent="0">
              <a:buNone/>
              <a:defRPr sz="1400"/>
            </a:lvl2pPr>
            <a:lvl3pPr marL="1072408" indent="0">
              <a:buNone/>
              <a:defRPr sz="1200"/>
            </a:lvl3pPr>
            <a:lvl4pPr marL="1608612" indent="0">
              <a:buNone/>
              <a:defRPr sz="1100"/>
            </a:lvl4pPr>
            <a:lvl5pPr marL="2144817" indent="0">
              <a:buNone/>
              <a:defRPr sz="1100"/>
            </a:lvl5pPr>
            <a:lvl6pPr marL="2681021" indent="0">
              <a:buNone/>
              <a:defRPr sz="1100"/>
            </a:lvl6pPr>
            <a:lvl7pPr marL="3217225" indent="0">
              <a:buNone/>
              <a:defRPr sz="1100"/>
            </a:lvl7pPr>
            <a:lvl8pPr marL="3753429" indent="0">
              <a:buNone/>
              <a:defRPr sz="1100"/>
            </a:lvl8pPr>
            <a:lvl9pPr marL="4289633" indent="0">
              <a:buNone/>
              <a:defRPr sz="1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28358-77FE-4D01-9706-2E344B9F5AF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89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9203" y="4801712"/>
            <a:ext cx="7680960" cy="56686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509203" y="612917"/>
            <a:ext cx="7680960" cy="4115753"/>
          </a:xfrm>
        </p:spPr>
        <p:txBody>
          <a:bodyPr rtlCol="0">
            <a:normAutofit/>
          </a:bodyPr>
          <a:lstStyle>
            <a:lvl1pPr marL="0" indent="0">
              <a:buNone/>
              <a:defRPr sz="3800"/>
            </a:lvl1pPr>
            <a:lvl2pPr marL="536204" indent="0">
              <a:buNone/>
              <a:defRPr sz="3300"/>
            </a:lvl2pPr>
            <a:lvl3pPr marL="1072408" indent="0">
              <a:buNone/>
              <a:defRPr sz="2800"/>
            </a:lvl3pPr>
            <a:lvl4pPr marL="1608612" indent="0">
              <a:buNone/>
              <a:defRPr sz="2300"/>
            </a:lvl4pPr>
            <a:lvl5pPr marL="2144817" indent="0">
              <a:buNone/>
              <a:defRPr sz="2300"/>
            </a:lvl5pPr>
            <a:lvl6pPr marL="2681021" indent="0">
              <a:buNone/>
              <a:defRPr sz="2300"/>
            </a:lvl6pPr>
            <a:lvl7pPr marL="3217225" indent="0">
              <a:buNone/>
              <a:defRPr sz="2300"/>
            </a:lvl7pPr>
            <a:lvl8pPr marL="3753429" indent="0">
              <a:buNone/>
              <a:defRPr sz="2300"/>
            </a:lvl8pPr>
            <a:lvl9pPr marL="4289633" indent="0">
              <a:buNone/>
              <a:defRPr sz="23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509203" y="5368581"/>
            <a:ext cx="7680960" cy="805048"/>
          </a:xfrm>
        </p:spPr>
        <p:txBody>
          <a:bodyPr/>
          <a:lstStyle>
            <a:lvl1pPr marL="0" indent="0">
              <a:buNone/>
              <a:defRPr sz="1600"/>
            </a:lvl1pPr>
            <a:lvl2pPr marL="536204" indent="0">
              <a:buNone/>
              <a:defRPr sz="1400"/>
            </a:lvl2pPr>
            <a:lvl3pPr marL="1072408" indent="0">
              <a:buNone/>
              <a:defRPr sz="1200"/>
            </a:lvl3pPr>
            <a:lvl4pPr marL="1608612" indent="0">
              <a:buNone/>
              <a:defRPr sz="1100"/>
            </a:lvl4pPr>
            <a:lvl5pPr marL="2144817" indent="0">
              <a:buNone/>
              <a:defRPr sz="1100"/>
            </a:lvl5pPr>
            <a:lvl6pPr marL="2681021" indent="0">
              <a:buNone/>
              <a:defRPr sz="1100"/>
            </a:lvl6pPr>
            <a:lvl7pPr marL="3217225" indent="0">
              <a:buNone/>
              <a:defRPr sz="1100"/>
            </a:lvl7pPr>
            <a:lvl8pPr marL="3753429" indent="0">
              <a:buNone/>
              <a:defRPr sz="1100"/>
            </a:lvl8pPr>
            <a:lvl9pPr marL="4289633" indent="0">
              <a:buNone/>
              <a:defRPr sz="1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9FD95-7B77-4D3C-B958-516623C4AD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175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27781-B685-41BD-8677-2645103156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379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81160" y="274703"/>
            <a:ext cx="2880360" cy="585288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40080" y="274703"/>
            <a:ext cx="8427720" cy="585288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" y="6357822"/>
            <a:ext cx="2987040" cy="365210"/>
          </a:xfrm>
          <a:prstGeom prst="rect">
            <a:avLst/>
          </a:prstGeom>
        </p:spPr>
        <p:txBody>
          <a:bodyPr lIns="107241" tIns="53620" rIns="107241" bIns="53620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D20DC-F672-4E85-9B00-BE397DEE9E1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1216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493396" y="527172"/>
            <a:ext cx="1181481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7774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C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76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 txBox="1">
            <a:spLocks/>
          </p:cNvSpPr>
          <p:nvPr userDrawn="1"/>
        </p:nvSpPr>
        <p:spPr bwMode="auto">
          <a:xfrm>
            <a:off x="9791962" y="6638994"/>
            <a:ext cx="2843624" cy="2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67" tIns="46233" rIns="92467" bIns="46233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defRPr/>
            </a:pPr>
            <a:fld id="{D88DE2CC-46C9-4BB4-BD10-F21D4DE0FDA2}" type="slidenum">
              <a:rPr kumimoji="0" lang="ko-KR" altLang="en-US" sz="1200" b="1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t>‹#›</a:t>
            </a:fld>
            <a:endParaRPr kumimoji="0" lang="ko-KR" altLang="en-US" sz="1200" b="1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166015" y="116659"/>
            <a:ext cx="12469570" cy="360123"/>
          </a:xfrm>
          <a:prstGeom prst="rect">
            <a:avLst/>
          </a:prstGeom>
          <a:solidFill>
            <a:schemeClr val="bg2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l"/>
            <a:endParaRPr lang="ko-KR" altLang="en-US" sz="1200" b="1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895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0" r:id="rId1"/>
  </p:sldLayoutIdLst>
  <p:txStyles>
    <p:titleStyle>
      <a:lvl1pPr algn="ctr" defTabSz="924804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802" indent="-346802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1402" indent="-289003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00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408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80810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209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05611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014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3041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0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48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2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608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009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41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368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2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roup 8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664226291"/>
              </p:ext>
            </p:extLst>
          </p:nvPr>
        </p:nvGraphicFramePr>
        <p:xfrm>
          <a:off x="128775" y="108621"/>
          <a:ext cx="12513236" cy="428620"/>
        </p:xfrm>
        <a:graphic>
          <a:graphicData uri="http://schemas.openxmlformats.org/drawingml/2006/table">
            <a:tbl>
              <a:tblPr/>
              <a:tblGrid>
                <a:gridCol w="1412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196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166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하현숙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2026-02-09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바닥글 개체 틀 3"/>
          <p:cNvSpPr txBox="1">
            <a:spLocks/>
          </p:cNvSpPr>
          <p:nvPr userDrawn="1"/>
        </p:nvSpPr>
        <p:spPr bwMode="auto">
          <a:xfrm>
            <a:off x="9791962" y="6638994"/>
            <a:ext cx="2843624" cy="2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67" tIns="46233" rIns="92467" bIns="46233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defRPr/>
            </a:pPr>
            <a:fld id="{D88DE2CC-46C9-4BB4-BD10-F21D4DE0FDA2}" type="slidenum">
              <a:rPr kumimoji="0" lang="ko-KR" altLang="en-US" sz="1200" b="1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t>‹#›</a:t>
            </a:fld>
            <a:endParaRPr kumimoji="0" lang="ko-KR" altLang="en-US" sz="1200" b="1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14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3" r:id="rId1"/>
  </p:sldLayoutIdLst>
  <p:txStyles>
    <p:titleStyle>
      <a:lvl1pPr algn="ctr" defTabSz="924804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802" indent="-346802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1402" indent="-289003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00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408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80810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209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05611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014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30416" indent="-231201" algn="l" defTabSz="92480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0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48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204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608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009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411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368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213" algn="l" defTabSz="92480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바닥글 개체 틀 3"/>
          <p:cNvSpPr txBox="1">
            <a:spLocks/>
          </p:cNvSpPr>
          <p:nvPr userDrawn="1"/>
        </p:nvSpPr>
        <p:spPr bwMode="auto">
          <a:xfrm>
            <a:off x="9791962" y="6638994"/>
            <a:ext cx="2843624" cy="2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467" tIns="46233" rIns="92467" bIns="46233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defRPr/>
            </a:pPr>
            <a:fld id="{D88DE2CC-46C9-4BB4-BD10-F21D4DE0FDA2}" type="slidenum">
              <a:rPr kumimoji="0" lang="ko-KR" altLang="en-US" sz="1200" b="1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t>‹#›</a:t>
            </a:fld>
            <a:endParaRPr kumimoji="0" lang="ko-KR" altLang="en-US" sz="1200" b="1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47396342"/>
              </p:ext>
            </p:extLst>
          </p:nvPr>
        </p:nvGraphicFramePr>
        <p:xfrm>
          <a:off x="128775" y="569694"/>
          <a:ext cx="12513234" cy="6101211"/>
        </p:xfrm>
        <a:graphic>
          <a:graphicData uri="http://schemas.openxmlformats.org/drawingml/2006/table">
            <a:tbl>
              <a:tblPr/>
              <a:tblGrid>
                <a:gridCol w="103764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3675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4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864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1177" marB="3117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" name="Group 8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45462982"/>
              </p:ext>
            </p:extLst>
          </p:nvPr>
        </p:nvGraphicFramePr>
        <p:xfrm>
          <a:off x="128775" y="108621"/>
          <a:ext cx="12513236" cy="428620"/>
        </p:xfrm>
        <a:graphic>
          <a:graphicData uri="http://schemas.openxmlformats.org/drawingml/2006/table">
            <a:tbl>
              <a:tblPr/>
              <a:tblGrid>
                <a:gridCol w="1412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196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166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하현숙</a:t>
                      </a: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2026-02-09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351" marR="108351" marT="30937" marB="30937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15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</p:sldLayoutIdLst>
  <p:txStyles>
    <p:titleStyle>
      <a:lvl1pPr algn="ctr" defTabSz="924734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775" indent="-346775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51344" indent="-288980" algn="l" defTabSz="924734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55918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283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80649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013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05380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67747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30114" indent="-231184" algn="l" defTabSz="92473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366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4734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098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466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11832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197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36563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8929" algn="l" defTabSz="924734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525194" y="144497"/>
            <a:ext cx="11665048" cy="33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7241" tIns="53620" rIns="107241" bIns="536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큰 제목 </a:t>
            </a:r>
            <a:r>
              <a:rPr lang="en-US" altLang="ko-KR"/>
              <a:t>[</a:t>
            </a:r>
            <a:r>
              <a:rPr lang="ko-KR" altLang="en-US"/>
              <a:t>맑은 고딕 </a:t>
            </a:r>
            <a:r>
              <a:rPr lang="en-US" altLang="ko-KR"/>
              <a:t>bold, 14pt]</a:t>
            </a:r>
            <a:endParaRPr lang="ko-KR" altLang="en-US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56493" y="549402"/>
            <a:ext cx="11476306" cy="55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7241" tIns="53620" rIns="107241" bIns="536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 </a:t>
            </a:r>
            <a:r>
              <a:rPr lang="en-US" altLang="ko-KR"/>
              <a:t>bold, 14pt]</a:t>
            </a:r>
            <a:endParaRPr lang="ko-KR" altLang="en-US"/>
          </a:p>
          <a:p>
            <a:pPr lvl="1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</a:t>
            </a:r>
            <a:r>
              <a:rPr lang="en-US" altLang="ko-KR"/>
              <a:t>, 12pt]</a:t>
            </a:r>
            <a:endParaRPr lang="ko-KR" altLang="en-US"/>
          </a:p>
          <a:p>
            <a:pPr lvl="2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</a:t>
            </a:r>
            <a:r>
              <a:rPr lang="en-US" altLang="ko-KR"/>
              <a:t>, 12pt]</a:t>
            </a:r>
          </a:p>
          <a:p>
            <a:pPr lvl="3"/>
            <a:r>
              <a:rPr lang="ko-KR" altLang="en-US"/>
              <a:t>기본 문자열 </a:t>
            </a:r>
            <a:r>
              <a:rPr lang="en-US" altLang="ko-KR"/>
              <a:t>[</a:t>
            </a:r>
            <a:r>
              <a:rPr lang="ko-KR" altLang="en-US"/>
              <a:t>맑은 고딕</a:t>
            </a:r>
            <a:r>
              <a:rPr lang="en-US" altLang="ko-KR"/>
              <a:t>, 12pt]</a:t>
            </a:r>
          </a:p>
          <a:p>
            <a:pPr lvl="4"/>
            <a:endParaRPr lang="en-US" altLang="ko-KR"/>
          </a:p>
          <a:p>
            <a:pPr lvl="4"/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73880" y="6357822"/>
            <a:ext cx="4053840" cy="365210"/>
          </a:xfrm>
          <a:prstGeom prst="rect">
            <a:avLst/>
          </a:prstGeom>
        </p:spPr>
        <p:txBody>
          <a:bodyPr vert="horz" lIns="107241" tIns="53620" rIns="107241" bIns="536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74480" y="6494379"/>
            <a:ext cx="2987040" cy="365210"/>
          </a:xfrm>
          <a:prstGeom prst="rect">
            <a:avLst/>
          </a:prstGeom>
        </p:spPr>
        <p:txBody>
          <a:bodyPr vert="horz" lIns="107241" tIns="53620" rIns="107241" bIns="536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B6A1E78-535E-4C4C-9FBF-3AAF332AFC1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 bwMode="auto">
          <a:xfrm>
            <a:off x="494422" y="527172"/>
            <a:ext cx="1181480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  <p:sldLayoutId id="2147484469" r:id="rId8"/>
    <p:sldLayoutId id="2147484470" r:id="rId9"/>
    <p:sldLayoutId id="2147484471" r:id="rId10"/>
    <p:sldLayoutId id="2147484472" r:id="rId11"/>
    <p:sldLayoutId id="2147484473" r:id="rId12"/>
    <p:sldLayoutId id="2147484474" r:id="rId13"/>
    <p:sldLayoutId id="2147484721" r:id="rId1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1600" b="1" kern="1200" dirty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536204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1072408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608612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2144817" algn="l" rtl="0" fontAlgn="base" latinLnBrk="1">
        <a:spcBef>
          <a:spcPct val="0"/>
        </a:spcBef>
        <a:spcAft>
          <a:spcPct val="0"/>
        </a:spcAft>
        <a:defRPr sz="16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66241" indent="-26624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"/>
        <a:defRPr sz="1600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91520" indent="-21597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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688873" indent="-147084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맑은 고딕" pitchFamily="50" charset="-127"/>
        <a:buChar char="-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895536" indent="-167564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§"/>
        <a:tabLst>
          <a:tab pos="845266" algn="l"/>
        </a:tabLst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1396365" indent="-137775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949123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85327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1531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7735" indent="-268102" algn="l" defTabSz="1072408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204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408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8612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4817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1021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7225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3429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89633" algn="l" defTabSz="1072408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kt.co.ktmmobile&amp;hl=k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6400800" y="1587978"/>
            <a:ext cx="5883851" cy="471596"/>
          </a:xfrm>
          <a:ln/>
        </p:spPr>
        <p:txBody>
          <a:bodyPr/>
          <a:lstStyle/>
          <a:p>
            <a:pPr algn="r"/>
            <a:r>
              <a:rPr lang="en-US" altLang="ko-KR" dirty="0"/>
              <a:t>UI </a:t>
            </a:r>
            <a:r>
              <a:rPr lang="ko-KR" altLang="en-US" dirty="0"/>
              <a:t>설계서</a:t>
            </a:r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7517478" y="1197030"/>
            <a:ext cx="4735656" cy="312809"/>
          </a:xfrm>
          <a:ln/>
        </p:spPr>
        <p:txBody>
          <a:bodyPr/>
          <a:lstStyle/>
          <a:p>
            <a:pPr algn="r"/>
            <a:r>
              <a:rPr lang="en-US" altLang="ko-KR" sz="1600" dirty="0"/>
              <a:t>[</a:t>
            </a:r>
            <a:r>
              <a:rPr lang="ko-KR" altLang="en-US" sz="1600" dirty="0"/>
              <a:t>스마트서식지</a:t>
            </a:r>
            <a:r>
              <a:rPr lang="en-US" altLang="ko-KR" sz="1600" dirty="0"/>
              <a:t>]</a:t>
            </a:r>
            <a:endParaRPr sz="1600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188049"/>
              </p:ext>
            </p:extLst>
          </p:nvPr>
        </p:nvGraphicFramePr>
        <p:xfrm>
          <a:off x="7475351" y="4294090"/>
          <a:ext cx="4694952" cy="1368468"/>
        </p:xfrm>
        <a:graphic>
          <a:graphicData uri="http://schemas.openxmlformats.org/drawingml/2006/table">
            <a:tbl>
              <a:tblPr/>
              <a:tblGrid>
                <a:gridCol w="174691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480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문 서 번 호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스마트서식지</a:t>
                      </a:r>
                      <a:r>
                        <a:rPr lang="en-US" altLang="ko-KR" sz="1000" b="1" kern="100" dirty="0">
                          <a:effectLst/>
                          <a:latin typeface="+mn-ea"/>
                          <a:ea typeface="+mn-ea"/>
                        </a:rPr>
                        <a:t>-DS-02</a:t>
                      </a: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ko-KR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문 서 </a:t>
                      </a:r>
                      <a:r>
                        <a:rPr lang="ko-KR" sz="1000" b="1" kern="100" dirty="0" err="1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버</a:t>
                      </a: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 전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sz="1000" b="1" kern="100" dirty="0" smtClean="0">
                          <a:effectLst/>
                          <a:latin typeface="+mn-ea"/>
                          <a:ea typeface="+mn-ea"/>
                        </a:rPr>
                        <a:t>v1.0</a:t>
                      </a:r>
                      <a:endParaRPr lang="ko-KR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작 성 일 자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dirty="0" smtClean="0">
                          <a:effectLst/>
                          <a:latin typeface="+mn-ea"/>
                          <a:ea typeface="+mn-ea"/>
                        </a:rPr>
                        <a:t> 2026.03.10</a:t>
                      </a:r>
                      <a:endParaRPr lang="ko-KR" sz="1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2117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하현숙</a:t>
                      </a:r>
                      <a:endParaRPr lang="ko-KR" sz="1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1241" marR="81241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11" name="직선 연결선 10"/>
          <p:cNvCxnSpPr/>
          <p:nvPr/>
        </p:nvCxnSpPr>
        <p:spPr>
          <a:xfrm>
            <a:off x="6400800" y="2061325"/>
            <a:ext cx="5768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:\1_Working\2025년_엠모바일_스마트서식지\산출물\202509241717380629SkAXV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18" y="299910"/>
            <a:ext cx="2304000" cy="70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 txBox="1">
            <a:spLocks/>
          </p:cNvSpPr>
          <p:nvPr/>
        </p:nvSpPr>
        <p:spPr bwMode="auto">
          <a:xfrm>
            <a:off x="466725" y="182607"/>
            <a:ext cx="8261033" cy="32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41" tIns="53620" rIns="107241" bIns="53620"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승인이력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832041"/>
              </p:ext>
            </p:extLst>
          </p:nvPr>
        </p:nvGraphicFramePr>
        <p:xfrm>
          <a:off x="509994" y="837591"/>
          <a:ext cx="11844371" cy="2219715"/>
        </p:xfrm>
        <a:graphic>
          <a:graphicData uri="http://schemas.openxmlformats.org/drawingml/2006/table">
            <a:tbl>
              <a:tblPr firstRow="1" firstCol="1" bandRow="1"/>
              <a:tblGrid>
                <a:gridCol w="32488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18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1859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5018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8829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71988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수행 역할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소속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이름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승인일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서명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비고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작성자</a:t>
                      </a: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kt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ds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+mn-lt"/>
                          <a:ea typeface="+mn-ea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 2026.02.09</a:t>
                      </a:r>
                      <a:endParaRPr lang="ko-KR" altLang="ko-KR" sz="1400" b="0" dirty="0">
                        <a:effectLst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검토자</a:t>
                      </a: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(PL)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kt ds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김남용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altLang="ko-KR" sz="1400" b="0" dirty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+mn-lt"/>
                          <a:ea typeface="+mn-ea"/>
                          <a:cs typeface="Times New Roman"/>
                        </a:rPr>
                        <a:t>김남용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프로젝트관리자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(PM)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kt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ds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+mn-lt"/>
                          <a:ea typeface="+mn-ea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 2026.02.27</a:t>
                      </a:r>
                      <a:endParaRPr lang="ko-KR" sz="1400" b="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3943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사업총괄 </a:t>
                      </a: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PM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고객사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민경원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2026.03.03</a:t>
                      </a:r>
                      <a:endParaRPr lang="ko-KR" sz="1400" b="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민경원</a:t>
                      </a:r>
                      <a:r>
                        <a:rPr lang="en-US" altLang="ko-KR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강성룡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37" marR="88637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04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8" name="제목 1"/>
          <p:cNvSpPr txBox="1">
            <a:spLocks/>
          </p:cNvSpPr>
          <p:nvPr/>
        </p:nvSpPr>
        <p:spPr bwMode="auto">
          <a:xfrm>
            <a:off x="466725" y="182607"/>
            <a:ext cx="8261033" cy="32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7241" tIns="53620" rIns="107241" bIns="53620"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개정이력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159154"/>
              </p:ext>
            </p:extLst>
          </p:nvPr>
        </p:nvGraphicFramePr>
        <p:xfrm>
          <a:off x="497554" y="836906"/>
          <a:ext cx="11829299" cy="3157952"/>
        </p:xfrm>
        <a:graphic>
          <a:graphicData uri="http://schemas.openxmlformats.org/drawingml/2006/table">
            <a:tbl>
              <a:tblPr firstRow="1" firstCol="1" bandRow="1"/>
              <a:tblGrid>
                <a:gridCol w="19689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66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313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622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2669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날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짜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버전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변경내용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작성자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</a:rPr>
                        <a:t>2026.02.09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0.6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최초 작성</a:t>
                      </a: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+mn-lt"/>
                          <a:ea typeface="+mn-ea"/>
                          <a:cs typeface="Times New Roman"/>
                        </a:rPr>
                        <a:t>내부 동료검토</a:t>
                      </a: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김남용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0.8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QA</a:t>
                      </a:r>
                      <a:r>
                        <a:rPr lang="ko-KR" altLang="en-US" sz="1100" baseline="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검토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+mn-lt"/>
                          <a:ea typeface="+mn-ea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2026.02.27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0.9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PM</a:t>
                      </a: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검토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민천홍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kern="100" dirty="0" smtClean="0">
                          <a:effectLst/>
                          <a:latin typeface="+mn-ea"/>
                          <a:ea typeface="+mn-ea"/>
                        </a:rPr>
                        <a:t>2026.03.03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1.0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고객검토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민경원</a:t>
                      </a:r>
                      <a:r>
                        <a:rPr lang="en-US" altLang="ko-KR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ko-KR" altLang="en-US" sz="1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강성룡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2026.03.10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1.0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화면설계서 </a:t>
                      </a:r>
                      <a:r>
                        <a:rPr lang="ko-KR" altLang="en-US" sz="1100" dirty="0" err="1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리뷰시</a:t>
                      </a: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수정사항 반영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하현숙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dirty="0">
                        <a:effectLst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100" dirty="0">
                        <a:effectLst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1058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 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88626" marR="88626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83699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8" name="제목 1"/>
          <p:cNvSpPr txBox="1">
            <a:spLocks/>
          </p:cNvSpPr>
          <p:nvPr/>
        </p:nvSpPr>
        <p:spPr bwMode="auto">
          <a:xfrm>
            <a:off x="466724" y="182608"/>
            <a:ext cx="8261033" cy="327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en-US" altLang="ko-KR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UI </a:t>
            </a: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0105" y="109568"/>
            <a:ext cx="6897938" cy="20164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xmlns="" id="{C3E79606-BD3B-1CC7-FD7E-CFA568A03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111934"/>
              </p:ext>
            </p:extLst>
          </p:nvPr>
        </p:nvGraphicFramePr>
        <p:xfrm>
          <a:off x="497555" y="622138"/>
          <a:ext cx="11829299" cy="1872000"/>
        </p:xfrm>
        <a:graphic>
          <a:graphicData uri="http://schemas.openxmlformats.org/drawingml/2006/table">
            <a:tbl>
              <a:tblPr firstRow="1" firstCol="1" bandRow="1"/>
              <a:tblGrid>
                <a:gridCol w="5753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94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455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baseline="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No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 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ID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 명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메뉴 경로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설명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화면 구분</a:t>
                      </a:r>
                      <a:endParaRPr lang="en-US" alt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신규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변경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ko-KR" altLang="en-US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유지</a:t>
                      </a:r>
                      <a:r>
                        <a:rPr lang="en-US" alt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)</a:t>
                      </a:r>
                      <a:endParaRPr lang="ko-KR" sz="1100" b="1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2000" marR="7200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S104050101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메인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서비스해지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메인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950922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2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S104010101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고객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서비스해지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신청서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고객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고객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3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S104020101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서비스해지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신청서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상품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4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S104030101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동의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서비스해지 신청서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동의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동의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5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S104030103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신청정보 확인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신청정보 확인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6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S104040101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신청완료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서비스해지 신청서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신청완료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신청완료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21608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80400" y="189434"/>
            <a:ext cx="2520000" cy="288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>
                <a:latin typeface="+mn-ea"/>
                <a:ea typeface="+mn-ea"/>
              </a:rPr>
              <a:t>서비스해지 신청서 작성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80400" y="549474"/>
            <a:ext cx="900000" cy="2808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고객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1333202" y="549514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고객유형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내국인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미성년자</a:t>
            </a:r>
            <a:r>
              <a:rPr lang="en-US" altLang="ko-KR" sz="800" dirty="0">
                <a:latin typeface="+mn-ea"/>
                <a:ea typeface="+mn-ea"/>
              </a:rPr>
              <a:t>(19</a:t>
            </a:r>
            <a:r>
              <a:rPr lang="ko-KR" altLang="en-US" sz="800" dirty="0">
                <a:latin typeface="+mn-ea"/>
                <a:ea typeface="+mn-ea"/>
              </a:rPr>
              <a:t>세 미만</a:t>
            </a:r>
            <a:r>
              <a:rPr lang="en-US" altLang="ko-KR" sz="800" dirty="0">
                <a:latin typeface="+mn-ea"/>
                <a:ea typeface="+mn-ea"/>
              </a:rPr>
              <a:t>)/</a:t>
            </a:r>
            <a:r>
              <a:rPr lang="ko-KR" altLang="en-US" sz="800" dirty="0">
                <a:latin typeface="+mn-ea"/>
                <a:ea typeface="+mn-ea"/>
              </a:rPr>
              <a:t>외국인</a:t>
            </a:r>
            <a:r>
              <a:rPr lang="en-US" altLang="ko-KR" sz="800" dirty="0">
                <a:latin typeface="+mn-ea"/>
                <a:ea typeface="+mn-ea"/>
              </a:rPr>
              <a:t>(Foreigner)/</a:t>
            </a:r>
            <a:r>
              <a:rPr lang="ko-KR" altLang="en-US" sz="800" dirty="0">
                <a:latin typeface="+mn-ea"/>
                <a:ea typeface="+mn-ea"/>
              </a:rPr>
              <a:t>외국인</a:t>
            </a:r>
            <a:r>
              <a:rPr lang="en-US" altLang="ko-KR" sz="800" dirty="0">
                <a:latin typeface="+mn-ea"/>
                <a:ea typeface="+mn-ea"/>
              </a:rPr>
              <a:t>(Foreigner) </a:t>
            </a:r>
            <a:r>
              <a:rPr lang="ko-KR" altLang="en-US" sz="800" dirty="0">
                <a:latin typeface="+mn-ea"/>
                <a:ea typeface="+mn-ea"/>
              </a:rPr>
              <a:t>미성년자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법인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공공기관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1333202" y="90953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방문고객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본인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대리인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1333202" y="126957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가입자 정보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이름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생년월일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법인등록번호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1333202" y="270965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연락처 정보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연락처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err="1">
                <a:latin typeface="+mn-ea"/>
                <a:ea typeface="+mn-ea"/>
              </a:rPr>
              <a:t>이메일주소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주소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333202" y="162961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서비스해지</a:t>
            </a:r>
            <a:r>
              <a:rPr lang="ko-KR" altLang="en-US" sz="800" b="1" dirty="0">
                <a:latin typeface="+mn-ea"/>
                <a:ea typeface="+mn-ea"/>
              </a:rPr>
              <a:t> 휴대폰번호 </a:t>
            </a:r>
            <a:r>
              <a:rPr lang="en-US" altLang="ko-KR" sz="800" b="1" dirty="0">
                <a:latin typeface="+mn-ea"/>
                <a:ea typeface="+mn-ea"/>
              </a:rPr>
              <a:t>[</a:t>
            </a:r>
            <a:r>
              <a:rPr lang="ko-KR" altLang="en-US" sz="800" b="1" dirty="0">
                <a:latin typeface="+mn-ea"/>
                <a:ea typeface="+mn-ea"/>
              </a:rPr>
              <a:t>체크</a:t>
            </a:r>
            <a:r>
              <a:rPr lang="en-US" altLang="ko-KR" sz="800" b="1" dirty="0">
                <a:latin typeface="+mn-ea"/>
                <a:ea typeface="+mn-ea"/>
              </a:rPr>
              <a:t>]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1333202" y="2349674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대리인 위임 정보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이름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생년월일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신청인과 관계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연락처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10350454" y="2349674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방문고객이 </a:t>
            </a:r>
            <a:r>
              <a:rPr lang="en-US" altLang="ko-KR" sz="800" dirty="0">
                <a:latin typeface="+mn-ea"/>
                <a:ea typeface="+mn-ea"/>
              </a:rPr>
              <a:t>‘</a:t>
            </a:r>
            <a:r>
              <a:rPr lang="ko-KR" altLang="en-US" sz="800" dirty="0">
                <a:latin typeface="+mn-ea"/>
                <a:ea typeface="+mn-ea"/>
              </a:rPr>
              <a:t>대리인</a:t>
            </a:r>
            <a:r>
              <a:rPr lang="en-US" altLang="ko-KR" sz="800" dirty="0">
                <a:latin typeface="+mn-ea"/>
                <a:ea typeface="+mn-ea"/>
              </a:rPr>
              <a:t>’</a:t>
            </a:r>
            <a:r>
              <a:rPr lang="ko-KR" altLang="en-US" sz="800" dirty="0">
                <a:latin typeface="+mn-ea"/>
                <a:ea typeface="+mn-ea"/>
              </a:rPr>
              <a:t>인 경우만 해당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97652" y="3501963"/>
            <a:ext cx="900000" cy="1027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1333202" y="3501802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해지 후 사용 여부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통신사 중 선택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333202" y="3871659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해지 정산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사용요금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위약금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단말기 할부금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333202" y="4241516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메모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33202" y="1989666"/>
            <a:ext cx="8929840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법정대리인 정보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이름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신청인과 관계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주민등록번호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휴대폰번호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안내 및 동의 사항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0350454" y="1989634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고객유형 </a:t>
            </a:r>
            <a:r>
              <a:rPr lang="en-US" altLang="ko-KR" sz="800" dirty="0">
                <a:latin typeface="+mn-ea"/>
                <a:ea typeface="+mn-ea"/>
              </a:rPr>
              <a:t>‘</a:t>
            </a:r>
            <a:r>
              <a:rPr lang="ko-KR" altLang="en-US" sz="800" dirty="0">
                <a:latin typeface="+mn-ea"/>
                <a:ea typeface="+mn-ea"/>
              </a:rPr>
              <a:t>미성년자</a:t>
            </a:r>
            <a:r>
              <a:rPr lang="en-US" altLang="ko-KR" sz="800" dirty="0">
                <a:latin typeface="+mn-ea"/>
                <a:ea typeface="+mn-ea"/>
              </a:rPr>
              <a:t>’ </a:t>
            </a:r>
            <a:r>
              <a:rPr lang="ko-KR" altLang="en-US" sz="800" dirty="0">
                <a:latin typeface="+mn-ea"/>
                <a:ea typeface="+mn-ea"/>
              </a:rPr>
              <a:t>인 경우만 해당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333202" y="3069754"/>
            <a:ext cx="8929840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약관 동의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필수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선택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0350454" y="3167640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고객유형에 따라 해당하는 약관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80120" y="4653930"/>
            <a:ext cx="900000" cy="1008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동의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80120" y="5806058"/>
            <a:ext cx="900000" cy="28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완료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315670" y="465397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고객 안내 사항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315670" y="501397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확인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가입정보 확인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서명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가입자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대리인</a:t>
            </a:r>
            <a:r>
              <a:rPr lang="en-US" altLang="ko-KR" sz="800" dirty="0">
                <a:latin typeface="+mn-ea"/>
                <a:ea typeface="+mn-ea"/>
              </a:rPr>
              <a:t>) </a:t>
            </a:r>
            <a:r>
              <a:rPr lang="ko-KR" altLang="en-US" sz="800" dirty="0">
                <a:latin typeface="+mn-ea"/>
                <a:ea typeface="+mn-ea"/>
              </a:rPr>
              <a:t>서명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315670" y="5806058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교부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열람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발송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0343708" y="5014010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팝업 화면으로 최종 정보 확인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315670" y="5374010"/>
            <a:ext cx="8920054" cy="28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처리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신청서 등록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리포트 </a:t>
            </a:r>
            <a:r>
              <a:rPr lang="ko-KR" altLang="en-US" sz="800" dirty="0" err="1">
                <a:latin typeface="+mn-ea"/>
                <a:ea typeface="+mn-ea"/>
              </a:rPr>
              <a:t>이미징</a:t>
            </a:r>
            <a:r>
              <a:rPr lang="ko-KR" altLang="en-US" sz="800" dirty="0">
                <a:latin typeface="+mn-ea"/>
                <a:ea typeface="+mn-ea"/>
              </a:rPr>
              <a:t> 처리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err="1">
                <a:latin typeface="+mn-ea"/>
                <a:ea typeface="+mn-ea"/>
              </a:rPr>
              <a:t>이미징</a:t>
            </a:r>
            <a:r>
              <a:rPr lang="ko-KR" altLang="en-US" sz="800" dirty="0">
                <a:latin typeface="+mn-ea"/>
                <a:ea typeface="+mn-ea"/>
              </a:rPr>
              <a:t> 시스템 리포트 전송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 err="1">
                <a:latin typeface="+mn-ea"/>
                <a:ea typeface="+mn-ea"/>
              </a:rPr>
              <a:t>서비스해지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m</a:t>
            </a:r>
            <a:r>
              <a:rPr lang="ko-KR" altLang="en-US" sz="800" dirty="0" smtClean="0">
                <a:latin typeface="+mn-ea"/>
                <a:ea typeface="+mn-ea"/>
              </a:rPr>
              <a:t>전산 전송</a:t>
            </a:r>
            <a:r>
              <a:rPr lang="en-US" altLang="ko-KR" sz="800" dirty="0" smtClean="0">
                <a:latin typeface="+mn-ea"/>
                <a:ea typeface="+mn-ea"/>
              </a:rPr>
              <a:t>,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신청서 </a:t>
            </a:r>
            <a:r>
              <a:rPr lang="en-US" altLang="ko-KR" sz="800" dirty="0">
                <a:latin typeface="+mn-ea"/>
                <a:ea typeface="+mn-ea"/>
              </a:rPr>
              <a:t>K-NOTE </a:t>
            </a:r>
            <a:r>
              <a:rPr lang="ko-KR" altLang="en-US" sz="800" dirty="0">
                <a:latin typeface="+mn-ea"/>
                <a:ea typeface="+mn-ea"/>
              </a:rPr>
              <a:t>전송 </a:t>
            </a: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*** </a:t>
            </a:r>
            <a:r>
              <a:rPr lang="ko-KR" altLang="en-US" sz="800" dirty="0">
                <a:solidFill>
                  <a:srgbClr val="0070C0"/>
                </a:solidFill>
                <a:latin typeface="+mn-ea"/>
                <a:ea typeface="+mn-ea"/>
              </a:rPr>
              <a:t>별도 작성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0361240" y="5806026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신규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변경 신청서와 동일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0369191" y="909514"/>
            <a:ext cx="2243034" cy="288000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800" dirty="0">
                <a:latin typeface="+mn-ea"/>
                <a:ea typeface="+mn-ea"/>
              </a:rPr>
              <a:t>법인</a:t>
            </a:r>
            <a:r>
              <a:rPr lang="en-US" altLang="ko-KR" sz="800" dirty="0">
                <a:latin typeface="+mn-ea"/>
                <a:ea typeface="+mn-ea"/>
              </a:rPr>
              <a:t>/</a:t>
            </a:r>
            <a:r>
              <a:rPr lang="ko-KR" altLang="en-US" sz="800" dirty="0">
                <a:latin typeface="+mn-ea"/>
                <a:ea typeface="+mn-ea"/>
              </a:rPr>
              <a:t>공공기관만 선택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성인 </a:t>
            </a:r>
            <a:r>
              <a:rPr lang="en-US" altLang="ko-KR" sz="800" dirty="0">
                <a:latin typeface="+mn-ea"/>
                <a:ea typeface="+mn-ea"/>
              </a:rPr>
              <a:t>: ‘</a:t>
            </a:r>
            <a:r>
              <a:rPr lang="ko-KR" altLang="en-US" sz="800" dirty="0">
                <a:latin typeface="+mn-ea"/>
                <a:ea typeface="+mn-ea"/>
              </a:rPr>
              <a:t>본인’ 고정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미성년자 </a:t>
            </a:r>
            <a:r>
              <a:rPr lang="en-US" altLang="ko-KR" sz="800" dirty="0">
                <a:latin typeface="+mn-ea"/>
                <a:ea typeface="+mn-ea"/>
              </a:rPr>
              <a:t>: ‘</a:t>
            </a:r>
            <a:r>
              <a:rPr lang="ko-KR" altLang="en-US" sz="800" dirty="0">
                <a:latin typeface="+mn-ea"/>
                <a:ea typeface="+mn-ea"/>
              </a:rPr>
              <a:t>대리인’ 고정</a:t>
            </a:r>
          </a:p>
        </p:txBody>
      </p:sp>
    </p:spTree>
    <p:extLst>
      <p:ext uri="{BB962C8B-B14F-4D97-AF65-F5344CB8AC3E}">
        <p14:creationId xmlns:p14="http://schemas.microsoft.com/office/powerpoint/2010/main" val="172896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80400" y="189434"/>
            <a:ext cx="2520000" cy="288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 err="1">
                <a:latin typeface="+mn-ea"/>
                <a:ea typeface="+mn-ea"/>
              </a:rPr>
              <a:t>서비스해지</a:t>
            </a:r>
            <a:r>
              <a:rPr lang="ko-KR" altLang="en-US" sz="1000" b="1" dirty="0">
                <a:latin typeface="+mn-ea"/>
                <a:ea typeface="+mn-ea"/>
              </a:rPr>
              <a:t> 신청서 처리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14076" y="693490"/>
            <a:ext cx="499559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>
                <a:latin typeface="+mn-ea"/>
                <a:ea typeface="+mn-ea"/>
              </a:rPr>
              <a:t>스마트 서식지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14076" y="981522"/>
            <a:ext cx="4995590" cy="54006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작성 완료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25" name="직선 화살표 연결선 24"/>
          <p:cNvCxnSpPr>
            <a:stCxn id="28" idx="3"/>
            <a:endCxn id="2" idx="2"/>
          </p:cNvCxnSpPr>
          <p:nvPr/>
        </p:nvCxnSpPr>
        <p:spPr>
          <a:xfrm>
            <a:off x="2593162" y="1755578"/>
            <a:ext cx="828272" cy="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973162" y="1485578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등록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73162" y="2457746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리포트 </a:t>
            </a:r>
            <a:r>
              <a:rPr lang="ko-KR" altLang="en-US" sz="800" b="1" dirty="0" err="1">
                <a:latin typeface="+mn-ea"/>
                <a:ea typeface="+mn-ea"/>
              </a:rPr>
              <a:t>이미징</a:t>
            </a:r>
            <a:r>
              <a:rPr lang="ko-KR" altLang="en-US" sz="800" b="1" dirty="0">
                <a:latin typeface="+mn-ea"/>
                <a:ea typeface="+mn-ea"/>
              </a:rPr>
              <a:t> 처리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33" name="직선 화살표 연결선 32"/>
          <p:cNvCxnSpPr>
            <a:stCxn id="28" idx="2"/>
            <a:endCxn id="32" idx="0"/>
          </p:cNvCxnSpPr>
          <p:nvPr/>
        </p:nvCxnSpPr>
        <p:spPr>
          <a:xfrm>
            <a:off x="1783162" y="2025578"/>
            <a:ext cx="0" cy="43216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원통 35"/>
          <p:cNvSpPr/>
          <p:nvPr/>
        </p:nvSpPr>
        <p:spPr>
          <a:xfrm>
            <a:off x="3422384" y="2457746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리포트 서식</a:t>
            </a:r>
          </a:p>
        </p:txBody>
      </p:sp>
      <p:cxnSp>
        <p:nvCxnSpPr>
          <p:cNvPr id="37" name="직선 화살표 연결선 36"/>
          <p:cNvCxnSpPr>
            <a:stCxn id="36" idx="2"/>
            <a:endCxn id="32" idx="3"/>
          </p:cNvCxnSpPr>
          <p:nvPr/>
        </p:nvCxnSpPr>
        <p:spPr>
          <a:xfrm flipH="1">
            <a:off x="2593162" y="2727746"/>
            <a:ext cx="829222" cy="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2" idx="3"/>
            <a:endCxn id="32" idx="3"/>
          </p:cNvCxnSpPr>
          <p:nvPr/>
        </p:nvCxnSpPr>
        <p:spPr>
          <a:xfrm flipH="1">
            <a:off x="2593162" y="2025578"/>
            <a:ext cx="1638272" cy="70216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973162" y="3429914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리포트 </a:t>
            </a:r>
            <a:r>
              <a:rPr lang="ko-KR" altLang="en-US" sz="800" b="1" dirty="0" err="1">
                <a:latin typeface="+mn-ea"/>
                <a:ea typeface="+mn-ea"/>
              </a:rPr>
              <a:t>이미징</a:t>
            </a:r>
            <a:r>
              <a:rPr lang="ko-KR" altLang="en-US" sz="800" b="1" dirty="0">
                <a:latin typeface="+mn-ea"/>
                <a:ea typeface="+mn-ea"/>
              </a:rPr>
              <a:t> 전송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46" name="직선 화살표 연결선 45"/>
          <p:cNvCxnSpPr>
            <a:stCxn id="32" idx="2"/>
            <a:endCxn id="45" idx="0"/>
          </p:cNvCxnSpPr>
          <p:nvPr/>
        </p:nvCxnSpPr>
        <p:spPr>
          <a:xfrm>
            <a:off x="1783162" y="2997746"/>
            <a:ext cx="0" cy="43216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6157738" y="1953802"/>
            <a:ext cx="261932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b="1" dirty="0" err="1">
                <a:latin typeface="+mn-ea"/>
                <a:ea typeface="+mn-ea"/>
              </a:rPr>
              <a:t>이미징</a:t>
            </a:r>
            <a:r>
              <a:rPr lang="ko-KR" altLang="en-US" sz="900" b="1" dirty="0">
                <a:latin typeface="+mn-ea"/>
                <a:ea typeface="+mn-ea"/>
              </a:rPr>
              <a:t> 시스템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6157738" y="2241402"/>
            <a:ext cx="2619326" cy="82835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49" name="원통 48"/>
          <p:cNvSpPr/>
          <p:nvPr/>
        </p:nvSpPr>
        <p:spPr>
          <a:xfrm>
            <a:off x="6733802" y="2349674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이미징</a:t>
            </a:r>
            <a:r>
              <a:rPr lang="ko-KR" altLang="en-US" sz="800" b="1" dirty="0">
                <a:latin typeface="+mn-ea"/>
                <a:ea typeface="+mn-ea"/>
              </a:rPr>
              <a:t> 시스템</a:t>
            </a:r>
          </a:p>
        </p:txBody>
      </p:sp>
      <p:cxnSp>
        <p:nvCxnSpPr>
          <p:cNvPr id="50" name="직선 화살표 연결선 49"/>
          <p:cNvCxnSpPr>
            <a:stCxn id="45" idx="3"/>
            <a:endCxn id="49" idx="2"/>
          </p:cNvCxnSpPr>
          <p:nvPr/>
        </p:nvCxnSpPr>
        <p:spPr>
          <a:xfrm flipV="1">
            <a:off x="2593162" y="2619674"/>
            <a:ext cx="4140640" cy="108024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45" idx="2"/>
          </p:cNvCxnSpPr>
          <p:nvPr/>
        </p:nvCxnSpPr>
        <p:spPr>
          <a:xfrm>
            <a:off x="1783162" y="3969914"/>
            <a:ext cx="0" cy="43204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원통 1"/>
          <p:cNvSpPr/>
          <p:nvPr/>
        </p:nvSpPr>
        <p:spPr>
          <a:xfrm>
            <a:off x="3421434" y="1485578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157738" y="3430226"/>
            <a:ext cx="261932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b="1" dirty="0" smtClean="0">
                <a:latin typeface="+mn-ea"/>
                <a:ea typeface="+mn-ea"/>
              </a:rPr>
              <a:t>M</a:t>
            </a:r>
            <a:r>
              <a:rPr lang="ko-KR" altLang="en-US" sz="900" b="1" dirty="0" smtClean="0">
                <a:latin typeface="+mn-ea"/>
                <a:ea typeface="+mn-ea"/>
              </a:rPr>
              <a:t>전산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157738" y="3717826"/>
            <a:ext cx="2619326" cy="86409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47" name="원통 46"/>
          <p:cNvSpPr/>
          <p:nvPr/>
        </p:nvSpPr>
        <p:spPr>
          <a:xfrm>
            <a:off x="6657401" y="3879702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서비스해지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9470106" y="3429794"/>
            <a:ext cx="261932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b="1" dirty="0">
                <a:latin typeface="+mn-ea"/>
                <a:ea typeface="+mn-ea"/>
              </a:rPr>
              <a:t>M</a:t>
            </a:r>
            <a:r>
              <a:rPr lang="ko-KR" altLang="en-US" sz="900" b="1" dirty="0" smtClean="0">
                <a:latin typeface="+mn-ea"/>
                <a:ea typeface="+mn-ea"/>
              </a:rPr>
              <a:t>플랫폼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470106" y="3717394"/>
            <a:ext cx="2619326" cy="86409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60" name="원통 59"/>
          <p:cNvSpPr/>
          <p:nvPr/>
        </p:nvSpPr>
        <p:spPr>
          <a:xfrm>
            <a:off x="9969769" y="3879270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서비스해지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824736" y="3285778"/>
            <a:ext cx="6480720" cy="3168352"/>
          </a:xfrm>
          <a:prstGeom prst="rect">
            <a:avLst/>
          </a:prstGeom>
          <a:noFill/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62" name="직선 화살표 연결선 61"/>
          <p:cNvCxnSpPr>
            <a:stCxn id="47" idx="4"/>
            <a:endCxn id="60" idx="2"/>
          </p:cNvCxnSpPr>
          <p:nvPr/>
        </p:nvCxnSpPr>
        <p:spPr>
          <a:xfrm flipV="1">
            <a:off x="8277401" y="4149270"/>
            <a:ext cx="1692368" cy="432"/>
          </a:xfrm>
          <a:prstGeom prst="straightConnector1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6157738" y="4725938"/>
            <a:ext cx="261932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b="1" dirty="0">
                <a:latin typeface="+mn-ea"/>
                <a:ea typeface="+mn-ea"/>
              </a:rPr>
              <a:t>K-NOTE</a:t>
            </a:r>
            <a:endParaRPr lang="ko-KR" altLang="en-US" sz="900" b="1" dirty="0">
              <a:latin typeface="+mn-ea"/>
              <a:ea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157738" y="5013538"/>
            <a:ext cx="2619326" cy="136858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70" name="원통 69"/>
          <p:cNvSpPr/>
          <p:nvPr/>
        </p:nvSpPr>
        <p:spPr>
          <a:xfrm>
            <a:off x="6657401" y="5122474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973162" y="4401962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 err="1">
                <a:latin typeface="+mn-ea"/>
                <a:ea typeface="+mn-ea"/>
              </a:rPr>
              <a:t>서비스해지</a:t>
            </a:r>
            <a:r>
              <a:rPr lang="ko-KR" altLang="en-US" sz="800" b="1" dirty="0">
                <a:latin typeface="+mn-ea"/>
                <a:ea typeface="+mn-ea"/>
              </a:rPr>
              <a:t> 요청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72" name="직선 화살표 연결선 71"/>
          <p:cNvCxnSpPr>
            <a:stCxn id="71" idx="3"/>
          </p:cNvCxnSpPr>
          <p:nvPr/>
        </p:nvCxnSpPr>
        <p:spPr>
          <a:xfrm flipV="1">
            <a:off x="2593162" y="4563458"/>
            <a:ext cx="4064239" cy="108504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973002" y="5374010"/>
            <a:ext cx="1620000" cy="54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신청서 전송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76" name="직선 화살표 연결선 75"/>
          <p:cNvCxnSpPr>
            <a:stCxn id="71" idx="2"/>
            <a:endCxn id="75" idx="0"/>
          </p:cNvCxnSpPr>
          <p:nvPr/>
        </p:nvCxnSpPr>
        <p:spPr>
          <a:xfrm flipH="1">
            <a:off x="1783002" y="4941962"/>
            <a:ext cx="160" cy="432048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75" idx="3"/>
            <a:endCxn id="70" idx="2"/>
          </p:cNvCxnSpPr>
          <p:nvPr/>
        </p:nvCxnSpPr>
        <p:spPr>
          <a:xfrm flipV="1">
            <a:off x="2593002" y="5392474"/>
            <a:ext cx="4064399" cy="251536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원통 38"/>
          <p:cNvSpPr/>
          <p:nvPr/>
        </p:nvSpPr>
        <p:spPr>
          <a:xfrm>
            <a:off x="6657401" y="5770114"/>
            <a:ext cx="1620000" cy="540000"/>
          </a:xfrm>
          <a:prstGeom prst="can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800" b="1" dirty="0">
                <a:latin typeface="+mn-ea"/>
                <a:ea typeface="+mn-ea"/>
              </a:rPr>
              <a:t>첨부서류</a:t>
            </a:r>
          </a:p>
        </p:txBody>
      </p:sp>
      <p:cxnSp>
        <p:nvCxnSpPr>
          <p:cNvPr id="40" name="직선 화살표 연결선 39"/>
          <p:cNvCxnSpPr>
            <a:stCxn id="75" idx="3"/>
            <a:endCxn id="39" idx="2"/>
          </p:cNvCxnSpPr>
          <p:nvPr/>
        </p:nvCxnSpPr>
        <p:spPr>
          <a:xfrm>
            <a:off x="2593002" y="5644010"/>
            <a:ext cx="4064399" cy="396104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79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883260"/>
              </p:ext>
            </p:extLst>
          </p:nvPr>
        </p:nvGraphicFramePr>
        <p:xfrm>
          <a:off x="10505256" y="788950"/>
          <a:ext cx="2130330" cy="229149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 신청서 양식 펼침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S104050101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</a:t>
            </a:r>
            <a:r>
              <a:rPr lang="ko-KR" altLang="en-US" sz="1000" dirty="0" smtClean="0">
                <a:latin typeface="+mn-ea"/>
                <a:ea typeface="+mn-ea"/>
              </a:rPr>
              <a:t>신청서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81C76F3E-BD41-B60F-B143-F1886F350314}"/>
              </a:ext>
            </a:extLst>
          </p:cNvPr>
          <p:cNvGrpSpPr/>
          <p:nvPr/>
        </p:nvGrpSpPr>
        <p:grpSpPr>
          <a:xfrm>
            <a:off x="208192" y="1062869"/>
            <a:ext cx="720000" cy="3237481"/>
            <a:chOff x="208192" y="1062869"/>
            <a:chExt cx="720000" cy="3237481"/>
          </a:xfrm>
        </p:grpSpPr>
        <p:sp>
          <p:nvSpPr>
            <p:cNvPr id="39" name="직사각형 38"/>
            <p:cNvSpPr/>
            <p:nvPr/>
          </p:nvSpPr>
          <p:spPr>
            <a:xfrm>
              <a:off x="208192" y="1062869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08192" y="1602365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08192" y="214186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08192" y="2681357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208192" y="3220853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44" name="그룹 43"/>
            <p:cNvGrpSpPr/>
            <p:nvPr/>
          </p:nvGrpSpPr>
          <p:grpSpPr>
            <a:xfrm>
              <a:off x="208192" y="3760350"/>
              <a:ext cx="720000" cy="540000"/>
              <a:chOff x="395258" y="4509914"/>
              <a:chExt cx="720000" cy="540000"/>
            </a:xfrm>
          </p:grpSpPr>
          <p:sp>
            <p:nvSpPr>
              <p:cNvPr id="45" name="직사각형 44"/>
              <p:cNvSpPr/>
              <p:nvPr/>
            </p:nvSpPr>
            <p:spPr>
              <a:xfrm>
                <a:off x="395258" y="4509914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46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441" y="4587842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53" name="눈물 방울 52"/>
          <p:cNvSpPr/>
          <p:nvPr/>
        </p:nvSpPr>
        <p:spPr>
          <a:xfrm rot="5400000">
            <a:off x="212878" y="8449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641240" y="6274520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눈물 방울 26"/>
          <p:cNvSpPr/>
          <p:nvPr/>
        </p:nvSpPr>
        <p:spPr>
          <a:xfrm rot="5400000">
            <a:off x="9390553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18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856184" y="1269586"/>
            <a:ext cx="720000" cy="288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40160" y="909514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화면 내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 항목이 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96662" y="1269586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</a:p>
        </p:txBody>
      </p:sp>
      <p:sp>
        <p:nvSpPr>
          <p:cNvPr id="16" name="눈물 방울 15"/>
          <p:cNvSpPr/>
          <p:nvPr/>
        </p:nvSpPr>
        <p:spPr>
          <a:xfrm rot="5400000">
            <a:off x="356894" y="925963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46C829E-E8E4-AA9F-AEBA-EA6866F15C16}"/>
              </a:ext>
            </a:extLst>
          </p:cNvPr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S104050101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8E7380-4CBC-A1EA-1965-69DD5A9648A9}"/>
              </a:ext>
            </a:extLst>
          </p:cNvPr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</a:t>
            </a:r>
            <a:r>
              <a:rPr lang="ko-KR" altLang="en-US" sz="1000" dirty="0" smtClean="0">
                <a:latin typeface="+mn-ea"/>
                <a:ea typeface="+mn-ea"/>
              </a:rPr>
              <a:t>신청서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566654" y="2680803"/>
            <a:ext cx="2881818" cy="1397063"/>
            <a:chOff x="5875124" y="3832891"/>
            <a:chExt cx="2881818" cy="1397063"/>
          </a:xfrm>
        </p:grpSpPr>
        <p:sp>
          <p:nvSpPr>
            <p:cNvPr id="10" name="직사각형 9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입력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선택해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620665" y="2385949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필수값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미입력시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73136" y="1981629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20" name="눈물 방울 19"/>
          <p:cNvSpPr/>
          <p:nvPr/>
        </p:nvSpPr>
        <p:spPr>
          <a:xfrm rot="5400000">
            <a:off x="363821" y="2357141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3736504" y="2680803"/>
            <a:ext cx="2881818" cy="1397063"/>
            <a:chOff x="5875124" y="3832891"/>
            <a:chExt cx="2881818" cy="1397063"/>
          </a:xfrm>
        </p:grpSpPr>
        <p:sp>
          <p:nvSpPr>
            <p:cNvPr id="22" name="직사각형 21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체크해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3790515" y="2385949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 인증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미완료시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9540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4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807640"/>
              </p:ext>
            </p:extLst>
          </p:nvPr>
        </p:nvGraphicFramePr>
        <p:xfrm>
          <a:off x="10505256" y="788950"/>
          <a:ext cx="2130330" cy="285119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정보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영역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여부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 신청서 양식 펼침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95" name="직사각형 94"/>
          <p:cNvSpPr/>
          <p:nvPr/>
        </p:nvSpPr>
        <p:spPr>
          <a:xfrm>
            <a:off x="962696" y="1062156"/>
            <a:ext cx="9468000" cy="558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72208" y="1125809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고객 영역</a:t>
            </a:r>
          </a:p>
        </p:txBody>
      </p:sp>
      <p:sp>
        <p:nvSpPr>
          <p:cNvPr id="49" name="눈물 방울 48"/>
          <p:cNvSpPr/>
          <p:nvPr/>
        </p:nvSpPr>
        <p:spPr>
          <a:xfrm rot="5400000">
            <a:off x="967462" y="104876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208192" y="1057862"/>
            <a:ext cx="720000" cy="4368542"/>
            <a:chOff x="15738594" y="1057862"/>
            <a:chExt cx="720000" cy="4368542"/>
          </a:xfrm>
        </p:grpSpPr>
        <p:sp>
          <p:nvSpPr>
            <p:cNvPr id="63" name="직사각형 62"/>
            <p:cNvSpPr/>
            <p:nvPr/>
          </p:nvSpPr>
          <p:spPr>
            <a:xfrm>
              <a:off x="15738594" y="1057862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15738594" y="160234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15738594" y="2137376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5738594" y="2673842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15738594" y="4346907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68" name="그룹 67"/>
            <p:cNvGrpSpPr/>
            <p:nvPr/>
          </p:nvGrpSpPr>
          <p:grpSpPr>
            <a:xfrm>
              <a:off x="15738594" y="4886404"/>
              <a:ext cx="720000" cy="540000"/>
              <a:chOff x="1648352" y="5642535"/>
              <a:chExt cx="720000" cy="540000"/>
            </a:xfrm>
          </p:grpSpPr>
          <p:sp>
            <p:nvSpPr>
              <p:cNvPr id="75" name="직사각형 74"/>
              <p:cNvSpPr/>
              <p:nvPr/>
            </p:nvSpPr>
            <p:spPr>
              <a:xfrm>
                <a:off x="1648352" y="5642535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76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03535" y="5720463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69" name="직사각형 68"/>
            <p:cNvSpPr/>
            <p:nvPr/>
          </p:nvSpPr>
          <p:spPr>
            <a:xfrm>
              <a:off x="15776098" y="3249340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고객</a:t>
              </a:r>
            </a:p>
          </p:txBody>
        </p:sp>
        <p:sp>
          <p:nvSpPr>
            <p:cNvPr id="70" name="타원 69"/>
            <p:cNvSpPr/>
            <p:nvPr/>
          </p:nvSpPr>
          <p:spPr>
            <a:xfrm>
              <a:off x="15807601" y="3312714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5776018" y="3607820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상품</a:t>
              </a:r>
            </a:p>
          </p:txBody>
        </p:sp>
        <p:sp>
          <p:nvSpPr>
            <p:cNvPr id="72" name="타원 71"/>
            <p:cNvSpPr/>
            <p:nvPr/>
          </p:nvSpPr>
          <p:spPr>
            <a:xfrm>
              <a:off x="15807601" y="3671194"/>
              <a:ext cx="216000" cy="216000"/>
            </a:xfrm>
            <a:prstGeom prst="ellipse">
              <a:avLst/>
            </a:prstGeom>
            <a:noFill/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8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5776018" y="3967860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동의</a:t>
              </a:r>
            </a:p>
          </p:txBody>
        </p:sp>
        <p:sp>
          <p:nvSpPr>
            <p:cNvPr id="74" name="타원 73"/>
            <p:cNvSpPr/>
            <p:nvPr/>
          </p:nvSpPr>
          <p:spPr>
            <a:xfrm>
              <a:off x="15807601" y="4031234"/>
              <a:ext cx="216000" cy="216000"/>
            </a:xfrm>
            <a:prstGeom prst="ellipse">
              <a:avLst/>
            </a:prstGeom>
            <a:noFill/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8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9641240" y="6274520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눈물 방울 32"/>
          <p:cNvSpPr/>
          <p:nvPr/>
        </p:nvSpPr>
        <p:spPr>
          <a:xfrm rot="5400000">
            <a:off x="9390553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8" name="눈물 방울 27"/>
          <p:cNvSpPr/>
          <p:nvPr/>
        </p:nvSpPr>
        <p:spPr>
          <a:xfrm rot="5400000">
            <a:off x="140870" y="97675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47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70566"/>
              </p:ext>
            </p:extLst>
          </p:nvPr>
        </p:nvGraphicFramePr>
        <p:xfrm>
          <a:off x="10505256" y="788950"/>
          <a:ext cx="2130330" cy="850373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유형 선택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방문고객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내국인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외국인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(Foreigner) 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미노출하고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으로 고정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(19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 미만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외국인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(Foreigner)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미노출하고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대리인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으로 고정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공공기관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선택하도록 노출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디폴트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스캔하기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신분증 유형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신분증 유형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신분증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스캔한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정보를 디폴트로 화면에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 아닌 경우는 고객명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외국인등록번호 생년월일 스캔 연동 값으로 화면에 고정 노출 처리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미성년자인 경우는 법정 대리인 정보에 고객명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외국인등록번호 생년월일 스캔 연동 값으로 화면에 고정 노출 처리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스캔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이미지</a:t>
                      </a:r>
                      <a:endParaRPr lang="ko-KR" altLang="en-US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신분증 이미지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구비서류로 제출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처리시 신청서 이미지와 병합 처리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정보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해지할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 번호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유효성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계약정보 유효성체크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(Y04)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구비 서류 등록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스캔 팝업 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스캔 후 해당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Text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는 화면에 자동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B6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구비서류 사진 촬영 팝업 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내국인</a:t>
            </a:r>
            <a:r>
              <a:rPr lang="en-US" altLang="ko-KR" sz="1000" dirty="0">
                <a:latin typeface="+mn-ea"/>
                <a:ea typeface="+mn-ea"/>
              </a:rPr>
              <a:t>, </a:t>
            </a:r>
            <a:r>
              <a:rPr lang="ko-KR" altLang="en-US" sz="1000" dirty="0">
                <a:latin typeface="+mn-ea"/>
                <a:ea typeface="+mn-ea"/>
              </a:rPr>
              <a:t>외국인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98" name="그룹 97"/>
          <p:cNvGrpSpPr/>
          <p:nvPr/>
        </p:nvGrpSpPr>
        <p:grpSpPr>
          <a:xfrm>
            <a:off x="1072208" y="1167349"/>
            <a:ext cx="9252000" cy="246221"/>
            <a:chOff x="1072208" y="1117425"/>
            <a:chExt cx="9252000" cy="246221"/>
          </a:xfrm>
        </p:grpSpPr>
        <p:sp>
          <p:nvSpPr>
            <p:cNvPr id="99" name="TextBox 98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고객유형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0" name="직선 연결선 99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눈물 방울 100"/>
          <p:cNvSpPr/>
          <p:nvPr/>
        </p:nvSpPr>
        <p:spPr>
          <a:xfrm rot="5400000">
            <a:off x="967461" y="11193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1072208" y="2901800"/>
            <a:ext cx="9252000" cy="246221"/>
            <a:chOff x="1072208" y="1117425"/>
            <a:chExt cx="9252000" cy="246221"/>
          </a:xfrm>
        </p:grpSpPr>
        <p:sp>
          <p:nvSpPr>
            <p:cNvPr id="116" name="TextBox 115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가입자 정보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17" name="직선 연결선 116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눈물 방울 117"/>
          <p:cNvSpPr/>
          <p:nvPr/>
        </p:nvSpPr>
        <p:spPr>
          <a:xfrm rot="5400000">
            <a:off x="932957" y="284896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1072208" y="3261896"/>
            <a:ext cx="5391974" cy="252000"/>
            <a:chOff x="640160" y="-566622"/>
            <a:chExt cx="5391974" cy="252000"/>
          </a:xfrm>
        </p:grpSpPr>
        <p:sp>
          <p:nvSpPr>
            <p:cNvPr id="130" name="TextBox 129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2112151" y="-566622"/>
              <a:ext cx="3919983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1072208" y="3621936"/>
            <a:ext cx="5391974" cy="252000"/>
            <a:chOff x="640160" y="-566622"/>
            <a:chExt cx="5391974" cy="252000"/>
          </a:xfrm>
        </p:grpSpPr>
        <p:sp>
          <p:nvSpPr>
            <p:cNvPr id="133" name="TextBox 132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1059141" y="4015994"/>
            <a:ext cx="5405041" cy="252000"/>
            <a:chOff x="424136" y="-566622"/>
            <a:chExt cx="5405041" cy="252000"/>
          </a:xfrm>
        </p:grpSpPr>
        <p:sp>
          <p:nvSpPr>
            <p:cNvPr id="81" name="TextBox 80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해지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87" name="눈물 방울 86"/>
          <p:cNvSpPr/>
          <p:nvPr/>
        </p:nvSpPr>
        <p:spPr>
          <a:xfrm rot="5400000">
            <a:off x="7344371" y="402716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542922" y="4017952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grpSp>
        <p:nvGrpSpPr>
          <p:cNvPr id="38" name="그룹 37"/>
          <p:cNvGrpSpPr/>
          <p:nvPr/>
        </p:nvGrpSpPr>
        <p:grpSpPr>
          <a:xfrm>
            <a:off x="1053932" y="1521610"/>
            <a:ext cx="7867148" cy="252000"/>
            <a:chOff x="640160" y="-566622"/>
            <a:chExt cx="7867148" cy="252000"/>
          </a:xfrm>
        </p:grpSpPr>
        <p:sp>
          <p:nvSpPr>
            <p:cNvPr id="40" name="직사각형 39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내국인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912391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(19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세 미만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114820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301602" y="-566622"/>
              <a:ext cx="16215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699526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법인</a:t>
              </a: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778730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공공기관</a:t>
              </a:r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1072208" y="2061642"/>
            <a:ext cx="9252000" cy="246221"/>
            <a:chOff x="1072208" y="1117425"/>
            <a:chExt cx="9252000" cy="246221"/>
          </a:xfrm>
        </p:grpSpPr>
        <p:sp>
          <p:nvSpPr>
            <p:cNvPr id="95" name="TextBox 94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신분증 확인</a:t>
              </a:r>
            </a:p>
          </p:txBody>
        </p:sp>
        <p:cxnSp>
          <p:nvCxnSpPr>
            <p:cNvPr id="97" name="직선 연결선 96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눈물 방울 106"/>
          <p:cNvSpPr/>
          <p:nvPr/>
        </p:nvSpPr>
        <p:spPr>
          <a:xfrm rot="5400000">
            <a:off x="932958" y="206910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37" name="그룹 136"/>
          <p:cNvGrpSpPr/>
          <p:nvPr/>
        </p:nvGrpSpPr>
        <p:grpSpPr>
          <a:xfrm>
            <a:off x="1072208" y="4437906"/>
            <a:ext cx="9252000" cy="246221"/>
            <a:chOff x="1072208" y="1117425"/>
            <a:chExt cx="9252000" cy="246221"/>
          </a:xfrm>
        </p:grpSpPr>
        <p:sp>
          <p:nvSpPr>
            <p:cNvPr id="138" name="TextBox 137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구비서류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9" name="직선 연결선 138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눈물 방울 139"/>
          <p:cNvSpPr/>
          <p:nvPr/>
        </p:nvSpPr>
        <p:spPr>
          <a:xfrm rot="5400000">
            <a:off x="932958" y="443314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8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054956" y="4783138"/>
            <a:ext cx="699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latin typeface="맑은 고딕" pitchFamily="50" charset="-127"/>
                <a:ea typeface="맑은 고딕" pitchFamily="50" charset="-127"/>
              </a:rPr>
              <a:t>구비서류</a:t>
            </a:r>
            <a:r>
              <a:rPr lang="en-US" altLang="ko-KR" sz="9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2" name="눈물 방울 141"/>
          <p:cNvSpPr/>
          <p:nvPr/>
        </p:nvSpPr>
        <p:spPr>
          <a:xfrm rot="5400000">
            <a:off x="3527947" y="476778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2559799" y="4760322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4" name="오른쪽 중괄호 143"/>
          <p:cNvSpPr/>
          <p:nvPr/>
        </p:nvSpPr>
        <p:spPr>
          <a:xfrm>
            <a:off x="7696944" y="4473938"/>
            <a:ext cx="313910" cy="75605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/>
          <p:cNvSpPr/>
          <p:nvPr/>
        </p:nvSpPr>
        <p:spPr>
          <a:xfrm>
            <a:off x="8027755" y="4725938"/>
            <a:ext cx="20454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외국인인 경우만 노출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9" name="눈물 방울 68"/>
          <p:cNvSpPr/>
          <p:nvPr/>
        </p:nvSpPr>
        <p:spPr>
          <a:xfrm rot="5400000">
            <a:off x="6072804" y="242914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5104656" y="2421682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1072208" y="2421682"/>
            <a:ext cx="3928878" cy="252000"/>
            <a:chOff x="-36790" y="4763928"/>
            <a:chExt cx="3928878" cy="252000"/>
          </a:xfrm>
        </p:grpSpPr>
        <p:sp>
          <p:nvSpPr>
            <p:cNvPr id="72" name="TextBox 71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74" name="직사각형 73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선택해 주세요</a:t>
                </a:r>
                <a:r>
                  <a:rPr lang="en-US" altLang="ko-KR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.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75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54006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서비스해지시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신분증 인증 기능 삭제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6415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>
                <a:latin typeface="+mn-ea"/>
                <a:ea typeface="+mn-ea"/>
              </a:rPr>
              <a:t>), </a:t>
            </a:r>
            <a:r>
              <a:rPr lang="ko-KR" altLang="en-US" sz="1000" dirty="0">
                <a:latin typeface="+mn-ea"/>
                <a:ea typeface="+mn-ea"/>
              </a:rPr>
              <a:t>외국인 미성년자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59" name="눈물 방울 58"/>
          <p:cNvSpPr/>
          <p:nvPr/>
        </p:nvSpPr>
        <p:spPr>
          <a:xfrm rot="5400000">
            <a:off x="967461" y="109582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1072208" y="3369880"/>
            <a:ext cx="6264696" cy="252000"/>
            <a:chOff x="640160" y="-566622"/>
            <a:chExt cx="6264696" cy="252000"/>
          </a:xfrm>
        </p:grpSpPr>
        <p:sp>
          <p:nvSpPr>
            <p:cNvPr id="66" name="TextBox 65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2112151" y="-566622"/>
              <a:ext cx="4792705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3" name="눈물 방울 92"/>
          <p:cNvSpPr/>
          <p:nvPr/>
        </p:nvSpPr>
        <p:spPr>
          <a:xfrm rot="5400000">
            <a:off x="932957" y="29209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61" name="그룹 160"/>
          <p:cNvGrpSpPr/>
          <p:nvPr/>
        </p:nvGrpSpPr>
        <p:grpSpPr>
          <a:xfrm>
            <a:off x="1072208" y="1167349"/>
            <a:ext cx="9252000" cy="246221"/>
            <a:chOff x="1072208" y="1117425"/>
            <a:chExt cx="9252000" cy="246221"/>
          </a:xfrm>
        </p:grpSpPr>
        <p:sp>
          <p:nvSpPr>
            <p:cNvPr id="162" name="TextBox 161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고객유형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3" name="직선 연결선 162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그룹 163"/>
          <p:cNvGrpSpPr/>
          <p:nvPr/>
        </p:nvGrpSpPr>
        <p:grpSpPr>
          <a:xfrm>
            <a:off x="1072208" y="2973808"/>
            <a:ext cx="9252000" cy="246221"/>
            <a:chOff x="1072208" y="1117425"/>
            <a:chExt cx="9252000" cy="246221"/>
          </a:xfrm>
        </p:grpSpPr>
        <p:sp>
          <p:nvSpPr>
            <p:cNvPr id="165" name="TextBox 164"/>
            <p:cNvSpPr txBox="1"/>
            <p:nvPr/>
          </p:nvSpPr>
          <p:spPr>
            <a:xfrm>
              <a:off x="1072208" y="1117425"/>
              <a:ext cx="14766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가입자 정보</a:t>
              </a:r>
              <a:r>
                <a:rPr lang="en-US" altLang="ko-KR" sz="1000" b="1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1000" b="1" dirty="0" smtClean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6" name="직선 연결선 16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그룹 166"/>
          <p:cNvGrpSpPr/>
          <p:nvPr/>
        </p:nvGrpSpPr>
        <p:grpSpPr>
          <a:xfrm>
            <a:off x="1072208" y="3729920"/>
            <a:ext cx="5391974" cy="252000"/>
            <a:chOff x="640160" y="-566622"/>
            <a:chExt cx="5391974" cy="252000"/>
          </a:xfrm>
        </p:grpSpPr>
        <p:sp>
          <p:nvSpPr>
            <p:cNvPr id="169" name="TextBox 168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0" name="직사각형 169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88" name="그룹 87"/>
          <p:cNvGrpSpPr/>
          <p:nvPr/>
        </p:nvGrpSpPr>
        <p:grpSpPr>
          <a:xfrm>
            <a:off x="1059141" y="4088002"/>
            <a:ext cx="5405041" cy="252000"/>
            <a:chOff x="424136" y="-566622"/>
            <a:chExt cx="5405041" cy="252000"/>
          </a:xfrm>
        </p:grpSpPr>
        <p:sp>
          <p:nvSpPr>
            <p:cNvPr id="89" name="TextBox 88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해지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35" name="눈물 방울 134"/>
          <p:cNvSpPr/>
          <p:nvPr/>
        </p:nvSpPr>
        <p:spPr>
          <a:xfrm rot="5400000">
            <a:off x="7344371" y="409917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6542922" y="4089960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grpSp>
        <p:nvGrpSpPr>
          <p:cNvPr id="73" name="그룹 72"/>
          <p:cNvGrpSpPr/>
          <p:nvPr/>
        </p:nvGrpSpPr>
        <p:grpSpPr>
          <a:xfrm>
            <a:off x="1053932" y="1521610"/>
            <a:ext cx="7867148" cy="252000"/>
            <a:chOff x="640160" y="-566622"/>
            <a:chExt cx="7867148" cy="252000"/>
          </a:xfrm>
        </p:grpSpPr>
        <p:sp>
          <p:nvSpPr>
            <p:cNvPr id="74" name="직사각형 73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내국인</a:t>
              </a: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912391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(19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세 미만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4114820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5301602" y="-566622"/>
              <a:ext cx="16215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699526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법인</a:t>
              </a: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778730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공공기관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1072208" y="2061642"/>
            <a:ext cx="9252000" cy="246221"/>
            <a:chOff x="1072208" y="1117425"/>
            <a:chExt cx="9252000" cy="246221"/>
          </a:xfrm>
        </p:grpSpPr>
        <p:sp>
          <p:nvSpPr>
            <p:cNvPr id="106" name="TextBox 105"/>
            <p:cNvSpPr txBox="1"/>
            <p:nvPr/>
          </p:nvSpPr>
          <p:spPr>
            <a:xfrm>
              <a:off x="1072208" y="1117425"/>
              <a:ext cx="16049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신분증 </a:t>
              </a:r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확인</a:t>
              </a:r>
              <a:r>
                <a:rPr lang="en-US" altLang="ko-KR" sz="1000" b="1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법정대리인</a:t>
              </a:r>
              <a:r>
                <a:rPr lang="en-US" altLang="ko-KR" sz="1000" b="1" dirty="0" smtClean="0"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7" name="직선 연결선 106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눈물 방울 115"/>
          <p:cNvSpPr/>
          <p:nvPr/>
        </p:nvSpPr>
        <p:spPr>
          <a:xfrm rot="5400000">
            <a:off x="932958" y="206910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145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337363"/>
              </p:ext>
            </p:extLst>
          </p:nvPr>
        </p:nvGraphicFramePr>
        <p:xfrm>
          <a:off x="10505256" y="788950"/>
          <a:ext cx="2130330" cy="338877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미성년자 법정대리인 정보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 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디폴트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없음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발송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57" name="눈물 방울 56"/>
          <p:cNvSpPr/>
          <p:nvPr/>
        </p:nvSpPr>
        <p:spPr>
          <a:xfrm rot="5400000">
            <a:off x="6072804" y="242914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104656" y="2421682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1072208" y="2421682"/>
            <a:ext cx="3928878" cy="252000"/>
            <a:chOff x="-36790" y="4763928"/>
            <a:chExt cx="3928878" cy="252000"/>
          </a:xfrm>
        </p:grpSpPr>
        <p:sp>
          <p:nvSpPr>
            <p:cNvPr id="61" name="TextBox 60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63" name="직사각형 62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선택해 주세요</a:t>
                </a:r>
                <a:r>
                  <a:rPr lang="en-US" altLang="ko-KR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.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64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81386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서비스해지시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신분증 인증 기능 삭제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pSp>
        <p:nvGrpSpPr>
          <p:cNvPr id="71" name="그룹 70"/>
          <p:cNvGrpSpPr/>
          <p:nvPr/>
        </p:nvGrpSpPr>
        <p:grpSpPr>
          <a:xfrm>
            <a:off x="1072209" y="5039236"/>
            <a:ext cx="6264695" cy="252000"/>
            <a:chOff x="640160" y="-566622"/>
            <a:chExt cx="6264695" cy="252000"/>
          </a:xfrm>
        </p:grpSpPr>
        <p:sp>
          <p:nvSpPr>
            <p:cNvPr id="80" name="TextBox 79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2112150" y="-566622"/>
              <a:ext cx="4792705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1072209" y="4643164"/>
            <a:ext cx="9252000" cy="246221"/>
            <a:chOff x="1072208" y="1117425"/>
            <a:chExt cx="9252000" cy="246221"/>
          </a:xfrm>
        </p:grpSpPr>
        <p:sp>
          <p:nvSpPr>
            <p:cNvPr id="83" name="TextBox 82"/>
            <p:cNvSpPr txBox="1"/>
            <p:nvPr/>
          </p:nvSpPr>
          <p:spPr>
            <a:xfrm>
              <a:off x="1072208" y="1117425"/>
              <a:ext cx="1172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법정대리인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정보</a:t>
              </a:r>
            </a:p>
          </p:txBody>
        </p:sp>
        <p:cxnSp>
          <p:nvCxnSpPr>
            <p:cNvPr id="84" name="직선 연결선 8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눈물 방울 85"/>
          <p:cNvSpPr/>
          <p:nvPr/>
        </p:nvSpPr>
        <p:spPr>
          <a:xfrm rot="5400000">
            <a:off x="932958" y="459032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1072208" y="5783254"/>
            <a:ext cx="3087718" cy="252000"/>
            <a:chOff x="640160" y="-566622"/>
            <a:chExt cx="3087718" cy="252000"/>
          </a:xfrm>
        </p:grpSpPr>
        <p:sp>
          <p:nvSpPr>
            <p:cNvPr id="91" name="TextBox 90"/>
            <p:cNvSpPr txBox="1"/>
            <p:nvPr/>
          </p:nvSpPr>
          <p:spPr>
            <a:xfrm>
              <a:off x="640160" y="-556038"/>
              <a:ext cx="10855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신청인과의 관계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2112152" y="-566622"/>
              <a:ext cx="1615726" cy="252000"/>
              <a:chOff x="2112152" y="-566622"/>
              <a:chExt cx="1615726" cy="252000"/>
            </a:xfrm>
          </p:grpSpPr>
          <p:sp>
            <p:nvSpPr>
              <p:cNvPr id="94" name="직사각형 93"/>
              <p:cNvSpPr/>
              <p:nvPr/>
            </p:nvSpPr>
            <p:spPr>
              <a:xfrm>
                <a:off x="2112152" y="-566622"/>
                <a:ext cx="1615726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95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2048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pSp>
        <p:nvGrpSpPr>
          <p:cNvPr id="96" name="그룹 95"/>
          <p:cNvGrpSpPr/>
          <p:nvPr/>
        </p:nvGrpSpPr>
        <p:grpSpPr>
          <a:xfrm>
            <a:off x="1072208" y="6119356"/>
            <a:ext cx="5391974" cy="252000"/>
            <a:chOff x="640160" y="-566622"/>
            <a:chExt cx="5391974" cy="252000"/>
          </a:xfrm>
        </p:grpSpPr>
        <p:sp>
          <p:nvSpPr>
            <p:cNvPr id="97" name="TextBox 96"/>
            <p:cNvSpPr txBox="1"/>
            <p:nvPr/>
          </p:nvSpPr>
          <p:spPr>
            <a:xfrm>
              <a:off x="640160" y="-556038"/>
              <a:ext cx="10134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2113382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3481534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269696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4862753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650915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1072208" y="5410338"/>
            <a:ext cx="5391974" cy="252000"/>
            <a:chOff x="640160" y="-566622"/>
            <a:chExt cx="5391974" cy="252000"/>
          </a:xfrm>
        </p:grpSpPr>
        <p:sp>
          <p:nvSpPr>
            <p:cNvPr id="104" name="TextBox 103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sp>
        <p:nvSpPr>
          <p:cNvPr id="113" name="눈물 방울 112"/>
          <p:cNvSpPr/>
          <p:nvPr/>
        </p:nvSpPr>
        <p:spPr>
          <a:xfrm rot="5400000">
            <a:off x="7634297" y="613933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6544816" y="6130122"/>
            <a:ext cx="972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577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962696" y="981522"/>
            <a:ext cx="9468000" cy="5472608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>
                <a:latin typeface="+mn-ea"/>
                <a:ea typeface="+mn-ea"/>
              </a:rPr>
              <a:t>), </a:t>
            </a:r>
            <a:r>
              <a:rPr lang="ko-KR" altLang="en-US" sz="1000" dirty="0">
                <a:latin typeface="+mn-ea"/>
                <a:ea typeface="+mn-ea"/>
              </a:rPr>
              <a:t>외국인 미성년자</a:t>
            </a:r>
            <a:r>
              <a:rPr lang="en-US" altLang="ko-KR" sz="1000" dirty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145" name="그룹 144"/>
          <p:cNvGrpSpPr/>
          <p:nvPr/>
        </p:nvGrpSpPr>
        <p:grpSpPr>
          <a:xfrm>
            <a:off x="1072208" y="1197546"/>
            <a:ext cx="9252000" cy="246221"/>
            <a:chOff x="1072208" y="1117425"/>
            <a:chExt cx="9252000" cy="246221"/>
          </a:xfrm>
        </p:grpSpPr>
        <p:sp>
          <p:nvSpPr>
            <p:cNvPr id="146" name="TextBox 145"/>
            <p:cNvSpPr txBox="1"/>
            <p:nvPr/>
          </p:nvSpPr>
          <p:spPr>
            <a:xfrm>
              <a:off x="1072208" y="1117425"/>
              <a:ext cx="22044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법정대리인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안내사항 확인 및 동의</a:t>
              </a:r>
            </a:p>
          </p:txBody>
        </p:sp>
        <p:cxnSp>
          <p:nvCxnSpPr>
            <p:cNvPr id="147" name="직선 연결선 146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1163507" y="1614150"/>
            <a:ext cx="8758499" cy="253916"/>
            <a:chOff x="1936304" y="-857339"/>
            <a:chExt cx="8758499" cy="253916"/>
          </a:xfrm>
        </p:grpSpPr>
        <p:sp>
          <p:nvSpPr>
            <p:cNvPr id="51" name="타원 50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116304" y="-857339"/>
              <a:ext cx="23631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본인은 안내사항을 확인하였습니다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413957" y="-857339"/>
              <a:ext cx="2808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aphicFrame>
        <p:nvGraphicFramePr>
          <p:cNvPr id="89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847535"/>
              </p:ext>
            </p:extLst>
          </p:nvPr>
        </p:nvGraphicFramePr>
        <p:xfrm>
          <a:off x="10505256" y="788950"/>
          <a:ext cx="2130330" cy="1559979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법정대리인 안내사항 확인 및 동의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사항 화면에 출력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B5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상세 팝업 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91" name="눈물 방울 90"/>
          <p:cNvSpPr/>
          <p:nvPr/>
        </p:nvSpPr>
        <p:spPr>
          <a:xfrm rot="5400000">
            <a:off x="9861950" y="162902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B5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1072208" y="2197621"/>
            <a:ext cx="9252000" cy="246221"/>
            <a:chOff x="1072208" y="1117425"/>
            <a:chExt cx="9252000" cy="246221"/>
          </a:xfrm>
        </p:grpSpPr>
        <p:sp>
          <p:nvSpPr>
            <p:cNvPr id="93" name="TextBox 92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구비서류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눈물 방울 94"/>
          <p:cNvSpPr/>
          <p:nvPr/>
        </p:nvSpPr>
        <p:spPr>
          <a:xfrm rot="5400000">
            <a:off x="932958" y="2192856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8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54956" y="2542853"/>
            <a:ext cx="699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latin typeface="맑은 고딕" pitchFamily="50" charset="-127"/>
                <a:ea typeface="맑은 고딕" pitchFamily="50" charset="-127"/>
              </a:rPr>
              <a:t>구비서류</a:t>
            </a:r>
            <a:r>
              <a:rPr lang="en-US" altLang="ko-KR" sz="9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눈물 방울 96"/>
          <p:cNvSpPr/>
          <p:nvPr/>
        </p:nvSpPr>
        <p:spPr>
          <a:xfrm rot="5400000">
            <a:off x="3527947" y="2527504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559799" y="2520037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눈물 방울 107"/>
          <p:cNvSpPr/>
          <p:nvPr/>
        </p:nvSpPr>
        <p:spPr>
          <a:xfrm rot="5400000">
            <a:off x="932958" y="1196976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7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459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 smtClean="0">
                <a:latin typeface="+mn-ea"/>
                <a:ea typeface="+mn-ea"/>
              </a:rPr>
              <a:t>법인</a:t>
            </a:r>
            <a:r>
              <a:rPr lang="en-US" altLang="ko-KR" sz="1000" dirty="0" smtClean="0"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latin typeface="+mn-ea"/>
                <a:ea typeface="+mn-ea"/>
              </a:rPr>
              <a:t>공공기관</a:t>
            </a:r>
            <a:r>
              <a:rPr lang="en-US" altLang="ko-KR" sz="1000" dirty="0" smtClean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962696" y="981522"/>
            <a:ext cx="9468000" cy="5472608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0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221103"/>
              </p:ext>
            </p:extLst>
          </p:nvPr>
        </p:nvGraphicFramePr>
        <p:xfrm>
          <a:off x="10505256" y="788950"/>
          <a:ext cx="2130330" cy="1000312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53" name="그룹 52"/>
          <p:cNvGrpSpPr/>
          <p:nvPr/>
        </p:nvGrpSpPr>
        <p:grpSpPr>
          <a:xfrm>
            <a:off x="1072208" y="1167349"/>
            <a:ext cx="9252000" cy="246221"/>
            <a:chOff x="1072208" y="1117425"/>
            <a:chExt cx="9252000" cy="246221"/>
          </a:xfrm>
        </p:grpSpPr>
        <p:sp>
          <p:nvSpPr>
            <p:cNvPr id="54" name="TextBox 53"/>
            <p:cNvSpPr txBox="1"/>
            <p:nvPr/>
          </p:nvSpPr>
          <p:spPr>
            <a:xfrm>
              <a:off x="1072208" y="1117425"/>
              <a:ext cx="7425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고객</a:t>
              </a:r>
              <a:r>
                <a:rPr lang="en-US" altLang="ko-KR" sz="10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유형</a:t>
              </a:r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눈물 방울 55"/>
          <p:cNvSpPr/>
          <p:nvPr/>
        </p:nvSpPr>
        <p:spPr>
          <a:xfrm rot="5400000">
            <a:off x="967461" y="11193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072208" y="3285778"/>
            <a:ext cx="9252000" cy="246221"/>
            <a:chOff x="1072208" y="1117425"/>
            <a:chExt cx="9252000" cy="246221"/>
          </a:xfrm>
        </p:grpSpPr>
        <p:sp>
          <p:nvSpPr>
            <p:cNvPr id="58" name="TextBox 57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가입자 정보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9" name="직선 연결선 58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그룹 60"/>
          <p:cNvGrpSpPr/>
          <p:nvPr/>
        </p:nvGrpSpPr>
        <p:grpSpPr>
          <a:xfrm>
            <a:off x="1072208" y="3645874"/>
            <a:ext cx="5391974" cy="252000"/>
            <a:chOff x="640160" y="-566622"/>
            <a:chExt cx="5391974" cy="252000"/>
          </a:xfrm>
        </p:grpSpPr>
        <p:sp>
          <p:nvSpPr>
            <p:cNvPr id="62" name="TextBox 61"/>
            <p:cNvSpPr txBox="1"/>
            <p:nvPr/>
          </p:nvSpPr>
          <p:spPr>
            <a:xfrm>
              <a:off x="640160" y="-556038"/>
              <a:ext cx="4683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2112151" y="-566622"/>
              <a:ext cx="391998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1059141" y="5085978"/>
            <a:ext cx="5405041" cy="252000"/>
            <a:chOff x="424136" y="-566622"/>
            <a:chExt cx="5405041" cy="252000"/>
          </a:xfrm>
        </p:grpSpPr>
        <p:sp>
          <p:nvSpPr>
            <p:cNvPr id="68" name="TextBox 67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해지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5" name="눈물 방울 74"/>
          <p:cNvSpPr/>
          <p:nvPr/>
        </p:nvSpPr>
        <p:spPr>
          <a:xfrm rot="5400000">
            <a:off x="7344371" y="509714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542922" y="5087936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1053932" y="1521610"/>
            <a:ext cx="7867068" cy="252000"/>
            <a:chOff x="640160" y="-566622"/>
            <a:chExt cx="7867068" cy="252000"/>
          </a:xfrm>
        </p:grpSpPr>
        <p:sp>
          <p:nvSpPr>
            <p:cNvPr id="87" name="직사각형 86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내국인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2912391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(19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세 미만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4114820" y="-566622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고객유형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5301602" y="-566622"/>
              <a:ext cx="162153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외국인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(Foreigner)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미성년자</a:t>
              </a: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699526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법인</a:t>
              </a: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7787228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공공기관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1072208" y="4005858"/>
            <a:ext cx="4006570" cy="252000"/>
            <a:chOff x="640160" y="-566622"/>
            <a:chExt cx="4006570" cy="252000"/>
          </a:xfrm>
        </p:grpSpPr>
        <p:sp>
          <p:nvSpPr>
            <p:cNvPr id="117" name="TextBox 116"/>
            <p:cNvSpPr txBox="1"/>
            <p:nvPr/>
          </p:nvSpPr>
          <p:spPr>
            <a:xfrm>
              <a:off x="640160" y="-556038"/>
              <a:ext cx="9300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법인등록번호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210919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앞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6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347734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7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26551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1053884" y="1881650"/>
            <a:ext cx="2992231" cy="252000"/>
            <a:chOff x="640160" y="-566622"/>
            <a:chExt cx="2992231" cy="252000"/>
          </a:xfrm>
        </p:grpSpPr>
        <p:sp>
          <p:nvSpPr>
            <p:cNvPr id="130" name="직사각형 129"/>
            <p:cNvSpPr/>
            <p:nvPr/>
          </p:nvSpPr>
          <p:spPr>
            <a:xfrm>
              <a:off x="2135204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본인</a:t>
              </a: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대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표</a:t>
              </a: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2912391" y="-566622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대리인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방문고객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072208" y="4365898"/>
            <a:ext cx="5400600" cy="252000"/>
            <a:chOff x="640160" y="-566622"/>
            <a:chExt cx="5400600" cy="252000"/>
          </a:xfrm>
        </p:grpSpPr>
        <p:sp>
          <p:nvSpPr>
            <p:cNvPr id="78" name="TextBox 77"/>
            <p:cNvSpPr txBox="1"/>
            <p:nvPr/>
          </p:nvSpPr>
          <p:spPr>
            <a:xfrm>
              <a:off x="640160" y="-556038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사업자등록번호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10919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앞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347734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26551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4871379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5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659541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21" name="그룹 120"/>
          <p:cNvGrpSpPr/>
          <p:nvPr/>
        </p:nvGrpSpPr>
        <p:grpSpPr>
          <a:xfrm>
            <a:off x="1065858" y="4725938"/>
            <a:ext cx="3087718" cy="252000"/>
            <a:chOff x="640160" y="-566622"/>
            <a:chExt cx="3087718" cy="252000"/>
          </a:xfrm>
        </p:grpSpPr>
        <p:sp>
          <p:nvSpPr>
            <p:cNvPr id="122" name="TextBox 121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대표자명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2112152" y="-566622"/>
              <a:ext cx="1615726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대표자명 입력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4" name="오른쪽 중괄호 123"/>
          <p:cNvSpPr/>
          <p:nvPr/>
        </p:nvSpPr>
        <p:spPr>
          <a:xfrm>
            <a:off x="7696944" y="1845618"/>
            <a:ext cx="313910" cy="39576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/>
          <p:cNvSpPr/>
          <p:nvPr/>
        </p:nvSpPr>
        <p:spPr>
          <a:xfrm>
            <a:off x="8027755" y="1887253"/>
            <a:ext cx="20454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법인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공공기관만 항목 노출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1072208" y="2421682"/>
            <a:ext cx="9252000" cy="246221"/>
            <a:chOff x="1072208" y="1117425"/>
            <a:chExt cx="9252000" cy="246221"/>
          </a:xfrm>
        </p:grpSpPr>
        <p:sp>
          <p:nvSpPr>
            <p:cNvPr id="127" name="TextBox 126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신분증 확인</a:t>
              </a:r>
            </a:p>
          </p:txBody>
        </p:sp>
        <p:cxnSp>
          <p:nvCxnSpPr>
            <p:cNvPr id="128" name="직선 연결선 127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눈물 방울 137"/>
          <p:cNvSpPr/>
          <p:nvPr/>
        </p:nvSpPr>
        <p:spPr>
          <a:xfrm rot="5400000">
            <a:off x="932958" y="242914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8" name="오른쪽 중괄호 147"/>
          <p:cNvSpPr/>
          <p:nvPr/>
        </p:nvSpPr>
        <p:spPr>
          <a:xfrm>
            <a:off x="7696944" y="4005859"/>
            <a:ext cx="313910" cy="97208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/>
          <p:cNvSpPr/>
          <p:nvPr/>
        </p:nvSpPr>
        <p:spPr>
          <a:xfrm>
            <a:off x="8027755" y="4365898"/>
            <a:ext cx="20454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법인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공공기관만 항목 노출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5" name="눈물 방울 84"/>
          <p:cNvSpPr/>
          <p:nvPr/>
        </p:nvSpPr>
        <p:spPr>
          <a:xfrm rot="5400000">
            <a:off x="6072804" y="278918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104656" y="2781722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1072208" y="2781722"/>
            <a:ext cx="3928878" cy="252000"/>
            <a:chOff x="-36790" y="4763928"/>
            <a:chExt cx="3928878" cy="252000"/>
          </a:xfrm>
        </p:grpSpPr>
        <p:sp>
          <p:nvSpPr>
            <p:cNvPr id="95" name="TextBox 94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96" name="그룹 95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97" name="직사각형 96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선택해 주세요</a:t>
                </a:r>
                <a:r>
                  <a:rPr lang="en-US" altLang="ko-KR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.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98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graphicFrame>
        <p:nvGraphicFramePr>
          <p:cNvPr id="100" name="표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81386"/>
              </p:ext>
            </p:extLst>
          </p:nvPr>
        </p:nvGraphicFramePr>
        <p:xfrm>
          <a:off x="12914755" y="109568"/>
          <a:ext cx="3443089" cy="96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서비스해지시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신분증 인증 기능 삭제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434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962696" y="981521"/>
            <a:ext cx="9468000" cy="5570667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591534"/>
              </p:ext>
            </p:extLst>
          </p:nvPr>
        </p:nvGraphicFramePr>
        <p:xfrm>
          <a:off x="10505256" y="788950"/>
          <a:ext cx="2130330" cy="1000312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 smtClean="0">
                <a:latin typeface="+mn-ea"/>
                <a:ea typeface="+mn-ea"/>
              </a:rPr>
              <a:t>법인</a:t>
            </a:r>
            <a:r>
              <a:rPr lang="en-US" altLang="ko-KR" sz="1000" dirty="0" smtClean="0"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latin typeface="+mn-ea"/>
                <a:ea typeface="+mn-ea"/>
              </a:rPr>
              <a:t>공공기관</a:t>
            </a:r>
            <a:r>
              <a:rPr lang="en-US" altLang="ko-KR" sz="1000" dirty="0" smtClean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072208" y="1173608"/>
            <a:ext cx="9252000" cy="246221"/>
            <a:chOff x="1072208" y="1117425"/>
            <a:chExt cx="9252000" cy="246221"/>
          </a:xfrm>
        </p:grpSpPr>
        <p:sp>
          <p:nvSpPr>
            <p:cNvPr id="41" name="TextBox 40"/>
            <p:cNvSpPr txBox="1"/>
            <p:nvPr/>
          </p:nvSpPr>
          <p:spPr>
            <a:xfrm>
              <a:off x="1072208" y="1117425"/>
              <a:ext cx="11721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대리인 위임</a:t>
              </a:r>
              <a:r>
                <a:rPr lang="en-US" altLang="ko-KR" sz="1000" b="1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정보</a:t>
              </a:r>
            </a:p>
          </p:txBody>
        </p:sp>
        <p:cxnSp>
          <p:nvCxnSpPr>
            <p:cNvPr id="42" name="직선 연결선 41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눈물 방울 42"/>
          <p:cNvSpPr/>
          <p:nvPr/>
        </p:nvSpPr>
        <p:spPr>
          <a:xfrm rot="5400000">
            <a:off x="932957" y="112077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1072208" y="1533704"/>
            <a:ext cx="5391974" cy="252000"/>
            <a:chOff x="640160" y="-566622"/>
            <a:chExt cx="5391974" cy="252000"/>
          </a:xfrm>
        </p:grpSpPr>
        <p:sp>
          <p:nvSpPr>
            <p:cNvPr id="45" name="TextBox 44"/>
            <p:cNvSpPr txBox="1"/>
            <p:nvPr/>
          </p:nvSpPr>
          <p:spPr>
            <a:xfrm>
              <a:off x="640160" y="-556038"/>
              <a:ext cx="12410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err="1">
                  <a:latin typeface="맑은 고딕" pitchFamily="50" charset="-127"/>
                  <a:ea typeface="맑은 고딕" pitchFamily="50" charset="-127"/>
                </a:rPr>
                <a:t>위임받은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 고객 이름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112151" y="-566622"/>
              <a:ext cx="3919983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이름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072208" y="1893744"/>
            <a:ext cx="5391974" cy="252000"/>
            <a:chOff x="640160" y="-566622"/>
            <a:chExt cx="5391974" cy="252000"/>
          </a:xfrm>
        </p:grpSpPr>
        <p:sp>
          <p:nvSpPr>
            <p:cNvPr id="48" name="TextBox 47"/>
            <p:cNvSpPr txBox="1"/>
            <p:nvPr/>
          </p:nvSpPr>
          <p:spPr>
            <a:xfrm>
              <a:off x="640160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생년월일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2109197" y="-566622"/>
              <a:ext cx="3922937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8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(YYYYMMDD)</a:t>
              </a: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059141" y="2613768"/>
            <a:ext cx="5405041" cy="252000"/>
            <a:chOff x="424136" y="-566622"/>
            <a:chExt cx="5405041" cy="252000"/>
          </a:xfrm>
        </p:grpSpPr>
        <p:sp>
          <p:nvSpPr>
            <p:cNvPr id="51" name="TextBox 50"/>
            <p:cNvSpPr txBox="1"/>
            <p:nvPr/>
          </p:nvSpPr>
          <p:spPr>
            <a:xfrm>
              <a:off x="424136" y="-556038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앞자리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631509" y="1911674"/>
            <a:ext cx="897050" cy="234014"/>
            <a:chOff x="4999694" y="-1228030"/>
            <a:chExt cx="897050" cy="234014"/>
          </a:xfrm>
        </p:grpSpPr>
        <p:grpSp>
          <p:nvGrpSpPr>
            <p:cNvPr id="59" name="그룹 58"/>
            <p:cNvGrpSpPr/>
            <p:nvPr/>
          </p:nvGrpSpPr>
          <p:grpSpPr>
            <a:xfrm>
              <a:off x="4999694" y="-1193269"/>
              <a:ext cx="144000" cy="144000"/>
              <a:chOff x="4999694" y="-1193269"/>
              <a:chExt cx="144000" cy="144000"/>
            </a:xfrm>
          </p:grpSpPr>
          <p:sp>
            <p:nvSpPr>
              <p:cNvPr id="63" name="타원 62"/>
              <p:cNvSpPr/>
              <p:nvPr/>
            </p:nvSpPr>
            <p:spPr>
              <a:xfrm>
                <a:off x="4999694" y="-1193269"/>
                <a:ext cx="144000" cy="144000"/>
              </a:xfrm>
              <a:prstGeom prst="ellipse">
                <a:avLst/>
              </a:prstGeom>
              <a:solidFill>
                <a:schemeClr val="bg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4" name="타원 63"/>
              <p:cNvSpPr/>
              <p:nvPr/>
            </p:nvSpPr>
            <p:spPr>
              <a:xfrm>
                <a:off x="5024022" y="-1177206"/>
                <a:ext cx="108000" cy="108000"/>
              </a:xfrm>
              <a:prstGeom prst="ellipse">
                <a:avLst/>
              </a:prstGeom>
              <a:solidFill>
                <a:schemeClr val="tx1">
                  <a:alpha val="7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800" b="1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60" name="타원 59"/>
            <p:cNvSpPr/>
            <p:nvPr/>
          </p:nvSpPr>
          <p:spPr>
            <a:xfrm>
              <a:off x="5519468" y="-1195970"/>
              <a:ext cx="144000" cy="144000"/>
            </a:xfrm>
            <a:prstGeom prst="ellipse">
              <a:avLst/>
            </a:prstGeom>
            <a:solidFill>
              <a:schemeClr val="bg1">
                <a:alpha val="7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8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096030" y="-1228030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남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596662" y="-1224848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여</a:t>
              </a: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1072208" y="2253728"/>
            <a:ext cx="3087718" cy="252000"/>
            <a:chOff x="640160" y="-566622"/>
            <a:chExt cx="3087718" cy="252000"/>
          </a:xfrm>
        </p:grpSpPr>
        <p:sp>
          <p:nvSpPr>
            <p:cNvPr id="66" name="TextBox 65"/>
            <p:cNvSpPr txBox="1"/>
            <p:nvPr/>
          </p:nvSpPr>
          <p:spPr>
            <a:xfrm>
              <a:off x="640160" y="-556038"/>
              <a:ext cx="10855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신청인과의 관계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67" name="그룹 66"/>
            <p:cNvGrpSpPr/>
            <p:nvPr/>
          </p:nvGrpSpPr>
          <p:grpSpPr>
            <a:xfrm>
              <a:off x="2112152" y="-566622"/>
              <a:ext cx="1615726" cy="252000"/>
              <a:chOff x="2112152" y="-566622"/>
              <a:chExt cx="1615726" cy="252000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2112152" y="-566622"/>
                <a:ext cx="1615726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6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2048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70" name="오른쪽 중괄호 69"/>
          <p:cNvSpPr/>
          <p:nvPr/>
        </p:nvSpPr>
        <p:spPr>
          <a:xfrm>
            <a:off x="7696904" y="1125538"/>
            <a:ext cx="313910" cy="1800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8027715" y="1959437"/>
            <a:ext cx="22775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방문고객이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‘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대리인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’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 경우만 영역 노출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1072208" y="3285778"/>
            <a:ext cx="9252000" cy="246221"/>
            <a:chOff x="1072208" y="1117425"/>
            <a:chExt cx="9252000" cy="246221"/>
          </a:xfrm>
        </p:grpSpPr>
        <p:sp>
          <p:nvSpPr>
            <p:cNvPr id="86" name="TextBox 85"/>
            <p:cNvSpPr txBox="1"/>
            <p:nvPr/>
          </p:nvSpPr>
          <p:spPr>
            <a:xfrm>
              <a:off x="1072208" y="1117425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구비서류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7" name="직선 연결선 86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눈물 방울 87"/>
          <p:cNvSpPr/>
          <p:nvPr/>
        </p:nvSpPr>
        <p:spPr>
          <a:xfrm rot="5400000">
            <a:off x="932958" y="329324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8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54956" y="3632658"/>
            <a:ext cx="699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>
                <a:latin typeface="맑은 고딕" pitchFamily="50" charset="-127"/>
                <a:ea typeface="맑은 고딕" pitchFamily="50" charset="-127"/>
              </a:rPr>
              <a:t>구비서류</a:t>
            </a:r>
            <a:r>
              <a:rPr lang="en-US" altLang="ko-KR" sz="9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눈물 방울 89"/>
          <p:cNvSpPr/>
          <p:nvPr/>
        </p:nvSpPr>
        <p:spPr>
          <a:xfrm rot="5400000">
            <a:off x="3527947" y="361730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559799" y="3609842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9462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직사각형 130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50" name="눈물 방울 49"/>
          <p:cNvSpPr/>
          <p:nvPr/>
        </p:nvSpPr>
        <p:spPr>
          <a:xfrm rot="5400000">
            <a:off x="356894" y="1091194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970931" y="1053530"/>
            <a:ext cx="204549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신분증 스캔 선택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424136" y="1413570"/>
            <a:ext cx="3928878" cy="1800200"/>
            <a:chOff x="-36790" y="4763928"/>
            <a:chExt cx="3928878" cy="1800200"/>
          </a:xfrm>
        </p:grpSpPr>
        <p:sp>
          <p:nvSpPr>
            <p:cNvPr id="87" name="TextBox 86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8" name="그룹 87"/>
            <p:cNvGrpSpPr/>
            <p:nvPr/>
          </p:nvGrpSpPr>
          <p:grpSpPr>
            <a:xfrm>
              <a:off x="1425710" y="4763928"/>
              <a:ext cx="2466378" cy="1800200"/>
              <a:chOff x="1768498" y="-566622"/>
              <a:chExt cx="2466378" cy="1800200"/>
            </a:xfrm>
          </p:grpSpPr>
          <p:sp>
            <p:nvSpPr>
              <p:cNvPr id="89" name="직사각형 88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선택해 주세요</a:t>
                </a:r>
                <a:r>
                  <a:rPr lang="en-US" altLang="ko-KR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.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90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3" name="직사각형 92"/>
              <p:cNvSpPr/>
              <p:nvPr/>
            </p:nvSpPr>
            <p:spPr>
              <a:xfrm>
                <a:off x="1768498" y="-314566"/>
                <a:ext cx="2459840" cy="1548144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72000" rIns="0" bIns="72000" rtlCol="0" anchor="t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주민등록증</a:t>
                </a:r>
                <a:endPara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운전면허증</a:t>
                </a:r>
                <a:endPara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국내여권</a:t>
                </a:r>
                <a:endPara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외국인등록증</a:t>
                </a:r>
                <a:endPara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ko-KR" altLang="en-US" sz="900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영주증</a:t>
                </a:r>
                <a:endPara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ko-KR" altLang="en-US" sz="900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국내거소신고증</a:t>
                </a:r>
                <a:endPara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ko-KR" altLang="en-US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국가보훈증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sp>
        <p:nvSpPr>
          <p:cNvPr id="94" name="눈물 방울 93"/>
          <p:cNvSpPr/>
          <p:nvPr/>
        </p:nvSpPr>
        <p:spPr>
          <a:xfrm rot="5400000">
            <a:off x="5424732" y="142103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456584" y="1413570"/>
            <a:ext cx="90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6184776" y="2097302"/>
            <a:ext cx="3928878" cy="252000"/>
            <a:chOff x="-36790" y="4763928"/>
            <a:chExt cx="3928878" cy="252000"/>
          </a:xfrm>
        </p:grpSpPr>
        <p:sp>
          <p:nvSpPr>
            <p:cNvPr id="100" name="TextBox 99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02" name="그룹 101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105" name="직사각형 104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운전면허증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06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07" name="눈물 방울 106"/>
          <p:cNvSpPr/>
          <p:nvPr/>
        </p:nvSpPr>
        <p:spPr>
          <a:xfrm rot="5400000">
            <a:off x="11160795" y="210476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0192647" y="2097302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10898858" y="2417848"/>
            <a:ext cx="18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발급 일자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(YYYY.MM.DD)</a:t>
            </a:r>
          </a:p>
        </p:txBody>
      </p:sp>
      <p:pic>
        <p:nvPicPr>
          <p:cNvPr id="1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083" y="2450582"/>
            <a:ext cx="196097" cy="186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" name="직사각형 111"/>
          <p:cNvSpPr/>
          <p:nvPr/>
        </p:nvSpPr>
        <p:spPr>
          <a:xfrm>
            <a:off x="7647796" y="2407264"/>
            <a:ext cx="18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면허번호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9582912" y="2421366"/>
            <a:ext cx="1229920" cy="252000"/>
            <a:chOff x="1775036" y="-566622"/>
            <a:chExt cx="1229920" cy="252000"/>
          </a:xfrm>
        </p:grpSpPr>
        <p:sp>
          <p:nvSpPr>
            <p:cNvPr id="116" name="직사각형 115"/>
            <p:cNvSpPr/>
            <p:nvPr/>
          </p:nvSpPr>
          <p:spPr>
            <a:xfrm>
              <a:off x="1775036" y="-566622"/>
              <a:ext cx="122992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면허지역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117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8232" y="-524671"/>
              <a:ext cx="180000" cy="146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8" name="그룹 117"/>
          <p:cNvGrpSpPr/>
          <p:nvPr/>
        </p:nvGrpSpPr>
        <p:grpSpPr>
          <a:xfrm>
            <a:off x="6184776" y="1401110"/>
            <a:ext cx="3928878" cy="252000"/>
            <a:chOff x="-36790" y="4763928"/>
            <a:chExt cx="3928878" cy="252000"/>
          </a:xfrm>
        </p:grpSpPr>
        <p:sp>
          <p:nvSpPr>
            <p:cNvPr id="119" name="TextBox 118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20" name="그룹 119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121" name="직사각형 120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주민등록증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23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24" name="눈물 방울 123"/>
          <p:cNvSpPr/>
          <p:nvPr/>
        </p:nvSpPr>
        <p:spPr>
          <a:xfrm rot="5400000">
            <a:off x="11160795" y="140857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10192647" y="1401110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7653814" y="1701286"/>
            <a:ext cx="1800000" cy="252000"/>
            <a:chOff x="8355718" y="5478532"/>
            <a:chExt cx="1800000" cy="252000"/>
          </a:xfrm>
        </p:grpSpPr>
        <p:sp>
          <p:nvSpPr>
            <p:cNvPr id="129" name="직사각형 128"/>
            <p:cNvSpPr/>
            <p:nvPr/>
          </p:nvSpPr>
          <p:spPr>
            <a:xfrm>
              <a:off x="8355718" y="5478532"/>
              <a:ext cx="180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발급 일자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(YYYY.MM.DD)</a:t>
              </a:r>
            </a:p>
          </p:txBody>
        </p:sp>
        <p:pic>
          <p:nvPicPr>
            <p:cNvPr id="13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3943" y="5511266"/>
              <a:ext cx="196097" cy="186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5" name="그룹 144"/>
          <p:cNvGrpSpPr/>
          <p:nvPr/>
        </p:nvGrpSpPr>
        <p:grpSpPr>
          <a:xfrm>
            <a:off x="6184776" y="2781722"/>
            <a:ext cx="3928878" cy="252000"/>
            <a:chOff x="-36790" y="4763928"/>
            <a:chExt cx="3928878" cy="252000"/>
          </a:xfrm>
        </p:grpSpPr>
        <p:sp>
          <p:nvSpPr>
            <p:cNvPr id="146" name="TextBox 145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47" name="그룹 146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148" name="직사각형 147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국내여권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4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50" name="눈물 방울 149"/>
          <p:cNvSpPr/>
          <p:nvPr/>
        </p:nvSpPr>
        <p:spPr>
          <a:xfrm rot="5400000">
            <a:off x="11160795" y="278918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10192647" y="2781722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52" name="그룹 151"/>
          <p:cNvGrpSpPr/>
          <p:nvPr/>
        </p:nvGrpSpPr>
        <p:grpSpPr>
          <a:xfrm>
            <a:off x="7653814" y="3069754"/>
            <a:ext cx="1800000" cy="252000"/>
            <a:chOff x="8355718" y="5478532"/>
            <a:chExt cx="1800000" cy="252000"/>
          </a:xfrm>
        </p:grpSpPr>
        <p:sp>
          <p:nvSpPr>
            <p:cNvPr id="153" name="직사각형 152"/>
            <p:cNvSpPr/>
            <p:nvPr/>
          </p:nvSpPr>
          <p:spPr>
            <a:xfrm>
              <a:off x="8355718" y="5478532"/>
              <a:ext cx="180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발급 일자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(YYYY.MM.DD)</a:t>
              </a:r>
            </a:p>
          </p:txBody>
        </p:sp>
        <p:pic>
          <p:nvPicPr>
            <p:cNvPr id="15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3943" y="5511266"/>
              <a:ext cx="196097" cy="186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55" name="그룹 154"/>
          <p:cNvGrpSpPr/>
          <p:nvPr/>
        </p:nvGrpSpPr>
        <p:grpSpPr>
          <a:xfrm>
            <a:off x="6184776" y="4041890"/>
            <a:ext cx="3928878" cy="252000"/>
            <a:chOff x="-36790" y="4763928"/>
            <a:chExt cx="3928878" cy="252000"/>
          </a:xfrm>
        </p:grpSpPr>
        <p:sp>
          <p:nvSpPr>
            <p:cNvPr id="156" name="TextBox 155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158" name="직사각형 157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영주증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5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60" name="눈물 방울 159"/>
          <p:cNvSpPr/>
          <p:nvPr/>
        </p:nvSpPr>
        <p:spPr>
          <a:xfrm rot="5400000">
            <a:off x="11160795" y="404935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0192647" y="4041890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62" name="그룹 161"/>
          <p:cNvGrpSpPr/>
          <p:nvPr/>
        </p:nvGrpSpPr>
        <p:grpSpPr>
          <a:xfrm>
            <a:off x="7653814" y="4329922"/>
            <a:ext cx="1800000" cy="252000"/>
            <a:chOff x="8355718" y="5478532"/>
            <a:chExt cx="1800000" cy="252000"/>
          </a:xfrm>
        </p:grpSpPr>
        <p:sp>
          <p:nvSpPr>
            <p:cNvPr id="163" name="직사각형 162"/>
            <p:cNvSpPr/>
            <p:nvPr/>
          </p:nvSpPr>
          <p:spPr>
            <a:xfrm>
              <a:off x="8355718" y="5478532"/>
              <a:ext cx="180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발급 일자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(YYYY.MM.DD)</a:t>
              </a:r>
            </a:p>
          </p:txBody>
        </p:sp>
        <p:pic>
          <p:nvPicPr>
            <p:cNvPr id="16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3943" y="5511266"/>
              <a:ext cx="196097" cy="186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65" name="그룹 164"/>
          <p:cNvGrpSpPr/>
          <p:nvPr/>
        </p:nvGrpSpPr>
        <p:grpSpPr>
          <a:xfrm>
            <a:off x="6184776" y="4653930"/>
            <a:ext cx="3928878" cy="252000"/>
            <a:chOff x="-36790" y="4763928"/>
            <a:chExt cx="3928878" cy="252000"/>
          </a:xfrm>
        </p:grpSpPr>
        <p:sp>
          <p:nvSpPr>
            <p:cNvPr id="166" name="TextBox 165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168" name="직사각형 167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국내거소신고증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6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70" name="눈물 방울 169"/>
          <p:cNvSpPr/>
          <p:nvPr/>
        </p:nvSpPr>
        <p:spPr>
          <a:xfrm rot="5400000">
            <a:off x="11160795" y="466139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10192647" y="4653930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72" name="그룹 171"/>
          <p:cNvGrpSpPr/>
          <p:nvPr/>
        </p:nvGrpSpPr>
        <p:grpSpPr>
          <a:xfrm>
            <a:off x="7653814" y="4941962"/>
            <a:ext cx="1800000" cy="252000"/>
            <a:chOff x="8355718" y="5478532"/>
            <a:chExt cx="1800000" cy="252000"/>
          </a:xfrm>
        </p:grpSpPr>
        <p:sp>
          <p:nvSpPr>
            <p:cNvPr id="173" name="직사각형 172"/>
            <p:cNvSpPr/>
            <p:nvPr/>
          </p:nvSpPr>
          <p:spPr>
            <a:xfrm>
              <a:off x="8355718" y="5478532"/>
              <a:ext cx="180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발급 일자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(YYYY.MM.DD)</a:t>
              </a:r>
            </a:p>
          </p:txBody>
        </p:sp>
        <p:pic>
          <p:nvPicPr>
            <p:cNvPr id="1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3943" y="5511266"/>
              <a:ext cx="196097" cy="186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75" name="그룹 174"/>
          <p:cNvGrpSpPr/>
          <p:nvPr/>
        </p:nvGrpSpPr>
        <p:grpSpPr>
          <a:xfrm>
            <a:off x="6184776" y="5266026"/>
            <a:ext cx="3928878" cy="252000"/>
            <a:chOff x="-36790" y="4763928"/>
            <a:chExt cx="3928878" cy="252000"/>
          </a:xfrm>
        </p:grpSpPr>
        <p:sp>
          <p:nvSpPr>
            <p:cNvPr id="176" name="TextBox 175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178" name="직사각형 177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국가보훈증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7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80" name="눈물 방울 179"/>
          <p:cNvSpPr/>
          <p:nvPr/>
        </p:nvSpPr>
        <p:spPr>
          <a:xfrm rot="5400000">
            <a:off x="11160795" y="527349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10192647" y="5266026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82" name="그룹 181"/>
          <p:cNvGrpSpPr/>
          <p:nvPr/>
        </p:nvGrpSpPr>
        <p:grpSpPr>
          <a:xfrm>
            <a:off x="7653814" y="5554058"/>
            <a:ext cx="1800000" cy="252000"/>
            <a:chOff x="8355718" y="5478532"/>
            <a:chExt cx="1800000" cy="252000"/>
          </a:xfrm>
        </p:grpSpPr>
        <p:sp>
          <p:nvSpPr>
            <p:cNvPr id="183" name="직사각형 182"/>
            <p:cNvSpPr/>
            <p:nvPr/>
          </p:nvSpPr>
          <p:spPr>
            <a:xfrm>
              <a:off x="8355718" y="5478532"/>
              <a:ext cx="180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발급 일자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(YYYY.MM.DD)</a:t>
              </a:r>
            </a:p>
          </p:txBody>
        </p:sp>
        <p:pic>
          <p:nvPicPr>
            <p:cNvPr id="18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3943" y="5511266"/>
              <a:ext cx="196097" cy="186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25" name="TextBox 124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 smtClean="0">
                <a:latin typeface="+mn-ea"/>
                <a:ea typeface="+mn-ea"/>
              </a:rPr>
              <a:t>고객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>
            <a:off x="6184776" y="3429794"/>
            <a:ext cx="3928878" cy="252000"/>
            <a:chOff x="-36790" y="4763928"/>
            <a:chExt cx="3928878" cy="252000"/>
          </a:xfrm>
        </p:grpSpPr>
        <p:sp>
          <p:nvSpPr>
            <p:cNvPr id="195" name="TextBox 194"/>
            <p:cNvSpPr txBox="1"/>
            <p:nvPr/>
          </p:nvSpPr>
          <p:spPr>
            <a:xfrm>
              <a:off x="-36790" y="4772554"/>
              <a:ext cx="85472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신분증 스캔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96" name="그룹 195"/>
            <p:cNvGrpSpPr/>
            <p:nvPr/>
          </p:nvGrpSpPr>
          <p:grpSpPr>
            <a:xfrm>
              <a:off x="1432248" y="4763928"/>
              <a:ext cx="2459840" cy="252000"/>
              <a:chOff x="1775036" y="-566622"/>
              <a:chExt cx="2459840" cy="252000"/>
            </a:xfrm>
          </p:grpSpPr>
          <p:sp>
            <p:nvSpPr>
              <p:cNvPr id="197" name="직사각형 196"/>
              <p:cNvSpPr/>
              <p:nvPr/>
            </p:nvSpPr>
            <p:spPr>
              <a:xfrm>
                <a:off x="1775036" y="-566622"/>
                <a:ext cx="2459840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외국인등록증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98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14430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99" name="눈물 방울 198"/>
          <p:cNvSpPr/>
          <p:nvPr/>
        </p:nvSpPr>
        <p:spPr>
          <a:xfrm rot="5400000">
            <a:off x="11160795" y="343726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10192647" y="3429794"/>
            <a:ext cx="90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스캔하기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01" name="그룹 200"/>
          <p:cNvGrpSpPr/>
          <p:nvPr/>
        </p:nvGrpSpPr>
        <p:grpSpPr>
          <a:xfrm>
            <a:off x="7681904" y="3729914"/>
            <a:ext cx="1800000" cy="252000"/>
            <a:chOff x="2978346" y="4761970"/>
            <a:chExt cx="1800000" cy="252000"/>
          </a:xfrm>
        </p:grpSpPr>
        <p:sp>
          <p:nvSpPr>
            <p:cNvPr id="202" name="직사각형 201"/>
            <p:cNvSpPr/>
            <p:nvPr/>
          </p:nvSpPr>
          <p:spPr>
            <a:xfrm>
              <a:off x="2978346" y="4761970"/>
              <a:ext cx="180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발급 일자 </a:t>
              </a: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(YYYY.MM.DD)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20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9774" y="4797914"/>
              <a:ext cx="196097" cy="186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0365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눈물 방울 139"/>
          <p:cNvSpPr/>
          <p:nvPr/>
        </p:nvSpPr>
        <p:spPr>
          <a:xfrm rot="5400000">
            <a:off x="500910" y="302925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991945" y="1268138"/>
            <a:ext cx="5405041" cy="252000"/>
            <a:chOff x="424136" y="-566622"/>
            <a:chExt cx="5405041" cy="252000"/>
          </a:xfrm>
        </p:grpSpPr>
        <p:sp>
          <p:nvSpPr>
            <p:cNvPr id="142" name="TextBox 141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해지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48" name="눈물 방울 147"/>
          <p:cNvSpPr/>
          <p:nvPr/>
        </p:nvSpPr>
        <p:spPr>
          <a:xfrm rot="5400000">
            <a:off x="529665" y="977782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9" name="눈물 방울 148"/>
          <p:cNvSpPr/>
          <p:nvPr/>
        </p:nvSpPr>
        <p:spPr>
          <a:xfrm rot="5400000">
            <a:off x="7277175" y="127930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6475726" y="1270096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</a:t>
            </a:r>
          </a:p>
        </p:txBody>
      </p:sp>
      <p:grpSp>
        <p:nvGrpSpPr>
          <p:cNvPr id="151" name="그룹 150"/>
          <p:cNvGrpSpPr/>
          <p:nvPr/>
        </p:nvGrpSpPr>
        <p:grpSpPr>
          <a:xfrm>
            <a:off x="998636" y="2024250"/>
            <a:ext cx="5405041" cy="252000"/>
            <a:chOff x="424136" y="-566622"/>
            <a:chExt cx="5405041" cy="252000"/>
          </a:xfrm>
        </p:grpSpPr>
        <p:sp>
          <p:nvSpPr>
            <p:cNvPr id="152" name="TextBox 151"/>
            <p:cNvSpPr txBox="1"/>
            <p:nvPr/>
          </p:nvSpPr>
          <p:spPr>
            <a:xfrm>
              <a:off x="424136" y="-556038"/>
              <a:ext cx="11256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>
                  <a:latin typeface="맑은 고딕" pitchFamily="50" charset="-127"/>
                  <a:ea typeface="맑은 고딕" pitchFamily="50" charset="-127"/>
                </a:rPr>
                <a:t>해지 휴대폰번호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6" name="직사각형 155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8" name="눈물 방울 157"/>
          <p:cNvSpPr/>
          <p:nvPr/>
        </p:nvSpPr>
        <p:spPr>
          <a:xfrm rot="5400000">
            <a:off x="7283866" y="203542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6482417" y="2026208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 완료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812931" y="982064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812931" y="1743955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73136" y="2658612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867991" y="3328875"/>
            <a:ext cx="2881818" cy="1397063"/>
            <a:chOff x="5875124" y="3832891"/>
            <a:chExt cx="2881818" cy="1397063"/>
          </a:xfrm>
        </p:grpSpPr>
        <p:sp>
          <p:nvSpPr>
            <p:cNvPr id="38" name="직사각형 37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고객 정보와 휴대폰번호가 일치하지 않습니다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휴대폰번호를 다시 확인해 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922002" y="3034021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휴대폰번호 유효성 오류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095046" y="3328875"/>
            <a:ext cx="2881818" cy="1397063"/>
            <a:chOff x="5875124" y="3832891"/>
            <a:chExt cx="2881818" cy="1397063"/>
          </a:xfrm>
        </p:grpSpPr>
        <p:sp>
          <p:nvSpPr>
            <p:cNvPr id="43" name="직사각형 42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휴대폰번호 인증이 완료되었습니다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</p:txBody>
        </p:sp>
      </p:grpSp>
      <p:sp>
        <p:nvSpPr>
          <p:cNvPr id="46" name="직사각형 45"/>
          <p:cNvSpPr/>
          <p:nvPr/>
        </p:nvSpPr>
        <p:spPr>
          <a:xfrm>
            <a:off x="4149057" y="3034021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휴대폰번호 유효성 체크 완료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5590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 smtClean="0">
                <a:latin typeface="+mn-ea"/>
                <a:ea typeface="+mn-ea"/>
              </a:rPr>
              <a:t>서비스해</a:t>
            </a:r>
            <a:r>
              <a:rPr lang="ko-KR" altLang="en-US" sz="1000" dirty="0" err="1">
                <a:latin typeface="+mn-ea"/>
                <a:ea typeface="+mn-ea"/>
              </a:rPr>
              <a:t>지</a:t>
            </a:r>
            <a:r>
              <a:rPr lang="ko-KR" altLang="en-US" sz="1000" dirty="0" smtClean="0">
                <a:latin typeface="+mn-ea"/>
                <a:ea typeface="+mn-ea"/>
              </a:rPr>
              <a:t> </a:t>
            </a:r>
            <a:r>
              <a:rPr lang="ko-KR" altLang="en-US" sz="1000" dirty="0">
                <a:latin typeface="+mn-ea"/>
                <a:ea typeface="+mn-ea"/>
              </a:rPr>
              <a:t>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 smtClean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 smtClean="0">
                <a:latin typeface="+mn-ea"/>
                <a:ea typeface="+mn-ea"/>
              </a:rPr>
              <a:t>), </a:t>
            </a:r>
            <a:r>
              <a:rPr lang="ko-KR" altLang="en-US" sz="1000" dirty="0" smtClean="0">
                <a:latin typeface="+mn-ea"/>
                <a:ea typeface="+mn-ea"/>
              </a:rPr>
              <a:t>외국인 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>
                <a:latin typeface="+mn-ea"/>
                <a:ea typeface="+mn-ea"/>
              </a:rPr>
              <a:t>))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1107206" y="1267596"/>
            <a:ext cx="5405041" cy="252000"/>
            <a:chOff x="424136" y="-566622"/>
            <a:chExt cx="5405041" cy="252000"/>
          </a:xfrm>
        </p:grpSpPr>
        <p:sp>
          <p:nvSpPr>
            <p:cNvPr id="59" name="TextBox 58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5" name="눈물 방울 64"/>
          <p:cNvSpPr/>
          <p:nvPr/>
        </p:nvSpPr>
        <p:spPr>
          <a:xfrm rot="5400000">
            <a:off x="7629702" y="1278767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590987" y="1269554"/>
            <a:ext cx="90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발송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1113897" y="4039932"/>
            <a:ext cx="5405041" cy="252000"/>
            <a:chOff x="424136" y="-566622"/>
            <a:chExt cx="5405041" cy="252000"/>
          </a:xfrm>
        </p:grpSpPr>
        <p:sp>
          <p:nvSpPr>
            <p:cNvPr id="91" name="TextBox 90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7" name="눈물 방울 96"/>
          <p:cNvSpPr/>
          <p:nvPr/>
        </p:nvSpPr>
        <p:spPr>
          <a:xfrm rot="5400000">
            <a:off x="7399127" y="405110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6597678" y="4041890"/>
            <a:ext cx="720000" cy="252000"/>
          </a:xfrm>
          <a:prstGeom prst="rect">
            <a:avLst/>
          </a:prstGeom>
          <a:solidFill>
            <a:srgbClr val="66DBD7"/>
          </a:solidFill>
          <a:ln w="6350" algn="ctr">
            <a:solidFill>
              <a:srgbClr val="66DBD7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 완료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928192" y="98152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활성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928192" y="3759637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 성공 이후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-&gt;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버튼명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변경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비활성화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수정 불가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)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graphicFrame>
        <p:nvGraphicFramePr>
          <p:cNvPr id="102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855415"/>
              </p:ext>
            </p:extLst>
          </p:nvPr>
        </p:nvGraphicFramePr>
        <p:xfrm>
          <a:off x="10505256" y="788950"/>
          <a:ext cx="2130330" cy="650879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해당 영역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남은 시간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3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기준으로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시작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확인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B4-1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재발송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재발송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이후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남은 시간 다시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3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기준으로 처음부터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카운팅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시작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B4-2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 확인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인증번호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 이후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완료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비활성화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 비활성화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 불가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신청인과의 관계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주민등록번호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모듈 이용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103" name="직사각형 102"/>
          <p:cNvSpPr/>
          <p:nvPr/>
        </p:nvSpPr>
        <p:spPr>
          <a:xfrm>
            <a:off x="928192" y="1701602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[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발송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]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버튼 클릭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1107206" y="1989634"/>
            <a:ext cx="5405041" cy="252000"/>
            <a:chOff x="424136" y="-566622"/>
            <a:chExt cx="5405041" cy="252000"/>
          </a:xfrm>
        </p:grpSpPr>
        <p:sp>
          <p:nvSpPr>
            <p:cNvPr id="105" name="TextBox 104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1" name="눈물 방울 120"/>
          <p:cNvSpPr/>
          <p:nvPr/>
        </p:nvSpPr>
        <p:spPr>
          <a:xfrm rot="5400000">
            <a:off x="7696976" y="1969570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590986" y="1991592"/>
            <a:ext cx="1016698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</a:t>
            </a:r>
            <a:r>
              <a:rPr lang="ko-KR" altLang="en-US" sz="1000" b="1" dirty="0" err="1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재발송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7" name="제목 1"/>
          <p:cNvSpPr txBox="1">
            <a:spLocks/>
          </p:cNvSpPr>
          <p:nvPr/>
        </p:nvSpPr>
        <p:spPr bwMode="auto">
          <a:xfrm>
            <a:off x="3808512" y="2279624"/>
            <a:ext cx="107437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6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남은시간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02:33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596597" y="2333624"/>
            <a:ext cx="1169381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입력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눈물 방울 128"/>
          <p:cNvSpPr/>
          <p:nvPr/>
        </p:nvSpPr>
        <p:spPr>
          <a:xfrm rot="5400000">
            <a:off x="6040792" y="2311602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4960639" y="2333624"/>
            <a:ext cx="973607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확인</a:t>
            </a:r>
          </a:p>
        </p:txBody>
      </p:sp>
      <p:sp>
        <p:nvSpPr>
          <p:cNvPr id="131" name="직사각형 130"/>
          <p:cNvSpPr/>
          <p:nvPr/>
        </p:nvSpPr>
        <p:spPr>
          <a:xfrm>
            <a:off x="928192" y="2707796"/>
            <a:ext cx="5400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입력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46" name="그룹 145"/>
          <p:cNvGrpSpPr/>
          <p:nvPr/>
        </p:nvGrpSpPr>
        <p:grpSpPr>
          <a:xfrm>
            <a:off x="1107206" y="2995828"/>
            <a:ext cx="5405041" cy="252000"/>
            <a:chOff x="424136" y="-566622"/>
            <a:chExt cx="5405041" cy="252000"/>
          </a:xfrm>
        </p:grpSpPr>
        <p:sp>
          <p:nvSpPr>
            <p:cNvPr id="147" name="TextBox 146"/>
            <p:cNvSpPr txBox="1"/>
            <p:nvPr/>
          </p:nvSpPr>
          <p:spPr>
            <a:xfrm>
              <a:off x="424136" y="-556038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연락처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휴대폰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</a:t>
              </a:r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1111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2222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3" name="눈물 방울 152"/>
          <p:cNvSpPr/>
          <p:nvPr/>
        </p:nvSpPr>
        <p:spPr>
          <a:xfrm rot="5400000">
            <a:off x="7696976" y="2975764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6590986" y="2997786"/>
            <a:ext cx="1016698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</a:t>
            </a:r>
            <a:r>
              <a:rPr lang="ko-KR" altLang="en-US" sz="1000" b="1" dirty="0" err="1" smtClean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재발송</a:t>
            </a:r>
            <a:endParaRPr lang="ko-KR" altLang="en-US" sz="1000" b="1" dirty="0">
              <a:solidFill>
                <a:srgbClr val="00808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5" name="제목 1"/>
          <p:cNvSpPr txBox="1">
            <a:spLocks/>
          </p:cNvSpPr>
          <p:nvPr/>
        </p:nvSpPr>
        <p:spPr bwMode="auto">
          <a:xfrm>
            <a:off x="3808512" y="3285818"/>
            <a:ext cx="1074374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6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남은시간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02:33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2596597" y="3339818"/>
            <a:ext cx="1169381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인증번호 입력</a:t>
            </a: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눈물 방울 156"/>
          <p:cNvSpPr/>
          <p:nvPr/>
        </p:nvSpPr>
        <p:spPr>
          <a:xfrm rot="5400000">
            <a:off x="6040792" y="3317796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4960639" y="3339818"/>
            <a:ext cx="973607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rgbClr val="008080"/>
                </a:solidFill>
                <a:latin typeface="맑은 고딕" pitchFamily="50" charset="-127"/>
                <a:ea typeface="맑은 고딕" pitchFamily="50" charset="-127"/>
              </a:rPr>
              <a:t>인증번호 확인</a:t>
            </a:r>
          </a:p>
        </p:txBody>
      </p:sp>
      <p:sp>
        <p:nvSpPr>
          <p:cNvPr id="159" name="눈물 방울 158"/>
          <p:cNvSpPr/>
          <p:nvPr/>
        </p:nvSpPr>
        <p:spPr>
          <a:xfrm rot="5400000">
            <a:off x="356894" y="97675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792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 smtClean="0">
                <a:latin typeface="+mn-ea"/>
                <a:ea typeface="+mn-ea"/>
              </a:rPr>
              <a:t>서비스해</a:t>
            </a:r>
            <a:r>
              <a:rPr lang="ko-KR" altLang="en-US" sz="1000" dirty="0" err="1">
                <a:latin typeface="+mn-ea"/>
                <a:ea typeface="+mn-ea"/>
              </a:rPr>
              <a:t>지</a:t>
            </a:r>
            <a:r>
              <a:rPr lang="ko-KR" altLang="en-US" sz="1000" dirty="0" smtClean="0">
                <a:latin typeface="+mn-ea"/>
                <a:ea typeface="+mn-ea"/>
              </a:rPr>
              <a:t> </a:t>
            </a:r>
            <a:r>
              <a:rPr lang="ko-KR" altLang="en-US" sz="1000" dirty="0">
                <a:latin typeface="+mn-ea"/>
                <a:ea typeface="+mn-ea"/>
              </a:rPr>
              <a:t>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고객 </a:t>
            </a:r>
            <a:r>
              <a:rPr lang="en-US" altLang="ko-KR" sz="1000" dirty="0" smtClean="0">
                <a:latin typeface="+mn-ea"/>
                <a:ea typeface="+mn-ea"/>
              </a:rPr>
              <a:t>(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 smtClean="0">
                <a:latin typeface="+mn-ea"/>
                <a:ea typeface="+mn-ea"/>
              </a:rPr>
              <a:t>), </a:t>
            </a:r>
            <a:r>
              <a:rPr lang="ko-KR" altLang="en-US" sz="1000" dirty="0" smtClean="0">
                <a:latin typeface="+mn-ea"/>
                <a:ea typeface="+mn-ea"/>
              </a:rPr>
              <a:t>외국인 </a:t>
            </a:r>
            <a:r>
              <a:rPr lang="ko-KR" altLang="en-US" sz="1000" dirty="0">
                <a:latin typeface="+mn-ea"/>
                <a:ea typeface="+mn-ea"/>
              </a:rPr>
              <a:t>미성년자</a:t>
            </a:r>
            <a:r>
              <a:rPr lang="en-US" altLang="ko-KR" sz="1000" dirty="0">
                <a:latin typeface="+mn-ea"/>
                <a:ea typeface="+mn-ea"/>
              </a:rPr>
              <a:t>(19</a:t>
            </a:r>
            <a:r>
              <a:rPr lang="ko-KR" altLang="en-US" sz="1000" dirty="0">
                <a:latin typeface="+mn-ea"/>
                <a:ea typeface="+mn-ea"/>
              </a:rPr>
              <a:t>세 미만</a:t>
            </a:r>
            <a:r>
              <a:rPr lang="en-US" altLang="ko-KR" sz="1000" dirty="0">
                <a:latin typeface="+mn-ea"/>
                <a:ea typeface="+mn-ea"/>
              </a:rPr>
              <a:t>))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73136" y="693490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928192" y="1072148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발송 처리 후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93" name="그룹 92"/>
          <p:cNvGrpSpPr/>
          <p:nvPr/>
        </p:nvGrpSpPr>
        <p:grpSpPr>
          <a:xfrm>
            <a:off x="620358" y="1348481"/>
            <a:ext cx="2880000" cy="1400103"/>
            <a:chOff x="620358" y="4765995"/>
            <a:chExt cx="2880000" cy="1400103"/>
          </a:xfrm>
        </p:grpSpPr>
        <p:sp>
          <p:nvSpPr>
            <p:cNvPr id="94" name="직사각형 93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발송되었습니다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98" name="직사각형 97"/>
          <p:cNvSpPr/>
          <p:nvPr/>
        </p:nvSpPr>
        <p:spPr>
          <a:xfrm>
            <a:off x="4053413" y="1072147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미발송된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745579" y="1348480"/>
            <a:ext cx="2880000" cy="1400103"/>
            <a:chOff x="620358" y="4765995"/>
            <a:chExt cx="2880000" cy="1400103"/>
          </a:xfrm>
        </p:grpSpPr>
        <p:sp>
          <p:nvSpPr>
            <p:cNvPr id="100" name="직사각형 99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 발송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]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버튼을 클릭하시면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등록된 휴대폰으로 발송됩니다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103" name="직사각형 102"/>
          <p:cNvSpPr/>
          <p:nvPr/>
        </p:nvSpPr>
        <p:spPr>
          <a:xfrm>
            <a:off x="928192" y="3007738"/>
            <a:ext cx="278851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미입력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혹은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6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자리가 아닌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657325" y="3284071"/>
            <a:ext cx="2880000" cy="1400103"/>
            <a:chOff x="620358" y="4765995"/>
            <a:chExt cx="2880000" cy="1400103"/>
          </a:xfrm>
        </p:grpSpPr>
        <p:sp>
          <p:nvSpPr>
            <p:cNvPr id="105" name="직사각형 104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인증번호는 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6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 숫자로 입력해 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110" name="직사각형 109"/>
          <p:cNvSpPr/>
          <p:nvPr/>
        </p:nvSpPr>
        <p:spPr>
          <a:xfrm>
            <a:off x="3880520" y="3007738"/>
            <a:ext cx="278851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일치하지 않는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11" name="그룹 110"/>
          <p:cNvGrpSpPr/>
          <p:nvPr/>
        </p:nvGrpSpPr>
        <p:grpSpPr>
          <a:xfrm>
            <a:off x="3609653" y="3284071"/>
            <a:ext cx="2880000" cy="1400103"/>
            <a:chOff x="620358" y="4765995"/>
            <a:chExt cx="2880000" cy="1400103"/>
          </a:xfrm>
        </p:grpSpPr>
        <p:sp>
          <p:nvSpPr>
            <p:cNvPr id="112" name="직사각형 111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일치하지 않습니다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127" name="직사각형 126"/>
          <p:cNvSpPr/>
          <p:nvPr/>
        </p:nvSpPr>
        <p:spPr>
          <a:xfrm>
            <a:off x="6832848" y="3004132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인증번호 유효시간 경과된 경우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6561981" y="3280465"/>
            <a:ext cx="2880000" cy="1400103"/>
            <a:chOff x="620358" y="4765995"/>
            <a:chExt cx="2880000" cy="1400103"/>
          </a:xfrm>
        </p:grpSpPr>
        <p:sp>
          <p:nvSpPr>
            <p:cNvPr id="129" name="직사각형 128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0" name="직사각형 129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 유효시간이 종료되었습니다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재발송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] 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버튼을 클릭하시면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인증번호가 </a:t>
              </a:r>
              <a:r>
                <a:rPr lang="ko-KR" altLang="en-US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재발송</a:t>
              </a: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됩니다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622994" y="5806098"/>
              <a:ext cx="2877363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38" name="눈물 방울 37"/>
          <p:cNvSpPr/>
          <p:nvPr/>
        </p:nvSpPr>
        <p:spPr>
          <a:xfrm rot="5400000">
            <a:off x="627761" y="1027859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9" name="눈물 방울 38"/>
          <p:cNvSpPr/>
          <p:nvPr/>
        </p:nvSpPr>
        <p:spPr>
          <a:xfrm rot="5400000">
            <a:off x="604152" y="2925770"/>
            <a:ext cx="252000" cy="324000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B4-2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" name="눈물 방울 40"/>
          <p:cNvSpPr/>
          <p:nvPr/>
        </p:nvSpPr>
        <p:spPr>
          <a:xfrm rot="5400000">
            <a:off x="356894" y="97675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6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184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545121"/>
              </p:ext>
            </p:extLst>
          </p:nvPr>
        </p:nvGraphicFramePr>
        <p:xfrm>
          <a:off x="10505256" y="788950"/>
          <a:ext cx="2130330" cy="4721524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연락처 정보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아이디의 대리점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판매점 선택 정보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대리점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아이디의 설정 대리점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개통 대리점 정보를 디폴트로 조회하여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전산에서 조회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개통일자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휴대대폰 번호 개통일자 조회하여 화면에 출력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가입정보조회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(X01)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화면에서 선택한 가입정보에 따라 대상 약관 정보를 조회하여 화면에 출력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화면 출력 정보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선택항목 하위에 여러 개인 경우 중첩 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약관 동의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선택 체크 박스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항목 동의 체크 처리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체크 박스 중 일부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체크해제된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경우 전체 선택 체크 해제 처리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전체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펼침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약관 상세 팝업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S104010101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 smtClean="0">
                <a:latin typeface="+mn-ea"/>
                <a:ea typeface="+mn-ea"/>
              </a:rPr>
              <a:t>고객</a:t>
            </a:r>
            <a:endParaRPr lang="ko-KR" altLang="en-US" sz="1000" dirty="0">
              <a:latin typeface="+mn-ea"/>
              <a:ea typeface="+mn-ea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5603"/>
              </p:ext>
            </p:extLst>
          </p:nvPr>
        </p:nvGraphicFramePr>
        <p:xfrm>
          <a:off x="12914755" y="109568"/>
          <a:ext cx="3443089" cy="1091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휴대폰번호 항목에 안내 문구추가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추가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개통일자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가입정보 디폴트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latin typeface="+mn-ea"/>
                          <a:cs typeface="Segoe UI" panose="020B0502040204020203" pitchFamily="34" charset="0"/>
                        </a:rPr>
                        <a:t>선택 약관 하위 표시 추가</a:t>
                      </a:r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962696" y="981522"/>
            <a:ext cx="9468000" cy="633670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072208" y="2444075"/>
            <a:ext cx="9252000" cy="246221"/>
            <a:chOff x="1072208" y="1117425"/>
            <a:chExt cx="9252000" cy="246221"/>
          </a:xfrm>
        </p:grpSpPr>
        <p:sp>
          <p:nvSpPr>
            <p:cNvPr id="3" name="TextBox 2"/>
            <p:cNvSpPr txBox="1"/>
            <p:nvPr/>
          </p:nvSpPr>
          <p:spPr>
            <a:xfrm>
              <a:off x="1072208" y="1117425"/>
              <a:ext cx="9989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가입유형 선택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눈물 방울 197"/>
          <p:cNvSpPr/>
          <p:nvPr/>
        </p:nvSpPr>
        <p:spPr>
          <a:xfrm rot="5400000">
            <a:off x="860950" y="242914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37BAFDF8-FAE2-CC50-8187-0F27DDF769C3}"/>
              </a:ext>
            </a:extLst>
          </p:cNvPr>
          <p:cNvGrpSpPr/>
          <p:nvPr/>
        </p:nvGrpSpPr>
        <p:grpSpPr>
          <a:xfrm>
            <a:off x="1072208" y="2798336"/>
            <a:ext cx="3240360" cy="252000"/>
            <a:chOff x="568152" y="-568150"/>
            <a:chExt cx="3240360" cy="2520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FAA0C3DF-DD13-88F3-27AA-4DFA9DFE70D8}"/>
                </a:ext>
              </a:extLst>
            </p:cNvPr>
            <p:cNvSpPr txBox="1"/>
            <p:nvPr/>
          </p:nvSpPr>
          <p:spPr>
            <a:xfrm>
              <a:off x="568152" y="-556038"/>
              <a:ext cx="9172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개통일자 확인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xmlns="" id="{D19A66EA-E596-3356-599C-EB8167737B01}"/>
                </a:ext>
              </a:extLst>
            </p:cNvPr>
            <p:cNvSpPr/>
            <p:nvPr/>
          </p:nvSpPr>
          <p:spPr>
            <a:xfrm>
              <a:off x="2111550" y="-568150"/>
              <a:ext cx="1696962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2023-01-05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072208" y="1173630"/>
            <a:ext cx="9252000" cy="246221"/>
            <a:chOff x="1072208" y="1117425"/>
            <a:chExt cx="9252000" cy="246221"/>
          </a:xfrm>
        </p:grpSpPr>
        <p:sp>
          <p:nvSpPr>
            <p:cNvPr id="20" name="TextBox 19"/>
            <p:cNvSpPr txBox="1"/>
            <p:nvPr/>
          </p:nvSpPr>
          <p:spPr>
            <a:xfrm>
              <a:off x="1072208" y="1117425"/>
              <a:ext cx="1043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 smtClean="0">
                  <a:latin typeface="맑은 고딕" pitchFamily="50" charset="-127"/>
                  <a:ea typeface="맑은 고딕" pitchFamily="50" charset="-127"/>
                </a:rPr>
                <a:t>해지 후 연락처</a:t>
              </a:r>
              <a:endParaRPr lang="ko-KR" altLang="en-US" sz="1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/>
          <p:cNvGrpSpPr/>
          <p:nvPr/>
        </p:nvGrpSpPr>
        <p:grpSpPr>
          <a:xfrm>
            <a:off x="1059141" y="1512984"/>
            <a:ext cx="5405041" cy="252000"/>
            <a:chOff x="424136" y="-566622"/>
            <a:chExt cx="5405041" cy="252000"/>
          </a:xfrm>
        </p:grpSpPr>
        <p:sp>
          <p:nvSpPr>
            <p:cNvPr id="23" name="TextBox 22"/>
            <p:cNvSpPr txBox="1"/>
            <p:nvPr/>
          </p:nvSpPr>
          <p:spPr>
            <a:xfrm>
              <a:off x="424136" y="-556038"/>
              <a:ext cx="9701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연락 전화번호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910425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010/</a:t>
              </a:r>
              <a:r>
                <a:rPr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지역번호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278577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가운데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66739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659796" y="-566622"/>
              <a:ext cx="1169381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뒤 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자리</a:t>
              </a:r>
              <a:endPara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47958" y="-554080"/>
              <a:ext cx="23275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9" name="눈물 방울 28"/>
          <p:cNvSpPr/>
          <p:nvPr/>
        </p:nvSpPr>
        <p:spPr>
          <a:xfrm rot="5400000">
            <a:off x="878602" y="111214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072208" y="3687629"/>
            <a:ext cx="9252000" cy="246221"/>
            <a:chOff x="1072208" y="1117425"/>
            <a:chExt cx="9252000" cy="246221"/>
          </a:xfrm>
        </p:grpSpPr>
        <p:sp>
          <p:nvSpPr>
            <p:cNvPr id="33" name="TextBox 32"/>
            <p:cNvSpPr txBox="1"/>
            <p:nvPr/>
          </p:nvSpPr>
          <p:spPr>
            <a:xfrm>
              <a:off x="1072208" y="1117425"/>
              <a:ext cx="7425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약관 동의</a:t>
              </a: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눈물 방울 37"/>
          <p:cNvSpPr/>
          <p:nvPr/>
        </p:nvSpPr>
        <p:spPr>
          <a:xfrm rot="5400000">
            <a:off x="850584" y="367094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1163507" y="4077866"/>
            <a:ext cx="8758499" cy="253916"/>
            <a:chOff x="1936304" y="-857339"/>
            <a:chExt cx="8758499" cy="253916"/>
          </a:xfrm>
        </p:grpSpPr>
        <p:sp>
          <p:nvSpPr>
            <p:cNvPr id="40" name="타원 39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116304" y="-857339"/>
              <a:ext cx="20569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항목에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413957" y="-857339"/>
              <a:ext cx="2808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1053903" y="1845618"/>
            <a:ext cx="3025389" cy="252000"/>
            <a:chOff x="1053932" y="-893575"/>
            <a:chExt cx="3025389" cy="252000"/>
          </a:xfrm>
        </p:grpSpPr>
        <p:sp>
          <p:nvSpPr>
            <p:cNvPr id="71" name="직사각형 70"/>
            <p:cNvSpPr/>
            <p:nvPr/>
          </p:nvSpPr>
          <p:spPr>
            <a:xfrm>
              <a:off x="2544199" y="-893575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우편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3359321" y="-893575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이메일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53932" y="-882991"/>
              <a:ext cx="11128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해지 후 연락 수단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5" name="직사각형 74"/>
          <p:cNvSpPr/>
          <p:nvPr/>
        </p:nvSpPr>
        <p:spPr>
          <a:xfrm>
            <a:off x="6544816" y="1549059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※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개통신청서 발송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xmlns="" id="{37BAFDF8-FAE2-CC50-8187-0F27DDF769C3}"/>
              </a:ext>
            </a:extLst>
          </p:cNvPr>
          <p:cNvGrpSpPr/>
          <p:nvPr/>
        </p:nvGrpSpPr>
        <p:grpSpPr>
          <a:xfrm>
            <a:off x="1072208" y="3141762"/>
            <a:ext cx="3240360" cy="252000"/>
            <a:chOff x="568152" y="-568150"/>
            <a:chExt cx="3240360" cy="25200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FAA0C3DF-DD13-88F3-27AA-4DFA9DFE70D8}"/>
                </a:ext>
              </a:extLst>
            </p:cNvPr>
            <p:cNvSpPr txBox="1"/>
            <p:nvPr/>
          </p:nvSpPr>
          <p:spPr>
            <a:xfrm>
              <a:off x="568152" y="-556038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대리점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xmlns="" id="{AA342615-562C-B999-7A21-96C7273DF252}"/>
                </a:ext>
              </a:extLst>
            </p:cNvPr>
            <p:cNvGrpSpPr/>
            <p:nvPr/>
          </p:nvGrpSpPr>
          <p:grpSpPr>
            <a:xfrm>
              <a:off x="2111550" y="-568150"/>
              <a:ext cx="1696962" cy="252000"/>
              <a:chOff x="2111550" y="-568150"/>
              <a:chExt cx="1696962" cy="252000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xmlns="" id="{D19A66EA-E596-3356-599C-EB8167737B01}"/>
                  </a:ext>
                </a:extLst>
              </p:cNvPr>
              <p:cNvSpPr/>
              <p:nvPr/>
            </p:nvSpPr>
            <p:spPr>
              <a:xfrm>
                <a:off x="2111550" y="-568150"/>
                <a:ext cx="1696962" cy="252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wrap="square" lIns="72000" tIns="0" rIns="0" bIns="0" rtlCol="0" anchor="ctr">
                <a:no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대리점 선택</a:t>
                </a:r>
                <a:endPara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80" name="Picture 4">
                <a:extLst>
                  <a:ext uri="{FF2B5EF4-FFF2-40B4-BE49-F238E27FC236}">
                    <a16:creationId xmlns:a16="http://schemas.microsoft.com/office/drawing/2014/main" xmlns="" id="{995BA138-8511-4A34-605F-9E7390DC9F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1886" y="-524671"/>
                <a:ext cx="180000" cy="146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81" name="직사각형 80"/>
          <p:cNvSpPr/>
          <p:nvPr/>
        </p:nvSpPr>
        <p:spPr>
          <a:xfrm>
            <a:off x="1343506" y="4497682"/>
            <a:ext cx="8980707" cy="2592288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1504256" y="4641698"/>
            <a:ext cx="8629740" cy="504056"/>
            <a:chOff x="1936304" y="-857339"/>
            <a:chExt cx="8629740" cy="504056"/>
          </a:xfrm>
        </p:grpSpPr>
        <p:sp>
          <p:nvSpPr>
            <p:cNvPr id="83" name="타원 82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116304" y="-857339"/>
              <a:ext cx="416171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이용약관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개인정보 수집</a:t>
              </a:r>
              <a:r>
                <a:rPr lang="en-US" altLang="ko-KR" sz="900" dirty="0">
                  <a:latin typeface="+mn-ea"/>
                  <a:ea typeface="+mn-ea"/>
                </a:rPr>
                <a:t>/</a:t>
              </a:r>
              <a:r>
                <a:rPr lang="ko-KR" altLang="en-US" sz="900" dirty="0">
                  <a:latin typeface="+mn-ea"/>
                  <a:ea typeface="+mn-ea"/>
                </a:rPr>
                <a:t>이용 및 선택동의 항목에 모두 동의합니다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124353" y="-584115"/>
              <a:ext cx="418415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※ 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고객님의 편의를 위한 모든 약관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선택약관 포함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에 일괄동의 하시겠습니까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?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87" name="구부러진 연결선 86"/>
          <p:cNvCxnSpPr/>
          <p:nvPr/>
        </p:nvCxnSpPr>
        <p:spPr>
          <a:xfrm rot="16200000" flipH="1">
            <a:off x="9625062" y="4476070"/>
            <a:ext cx="466166" cy="153126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1504256" y="5289770"/>
            <a:ext cx="8639358" cy="253916"/>
            <a:chOff x="1936304" y="-857339"/>
            <a:chExt cx="8639358" cy="253916"/>
          </a:xfrm>
        </p:grpSpPr>
        <p:sp>
          <p:nvSpPr>
            <p:cNvPr id="89" name="타원 88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1504256" y="5613177"/>
            <a:ext cx="8639358" cy="253916"/>
            <a:chOff x="1936304" y="-857339"/>
            <a:chExt cx="8639358" cy="253916"/>
          </a:xfrm>
        </p:grpSpPr>
        <p:sp>
          <p:nvSpPr>
            <p:cNvPr id="93" name="타원 92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1504256" y="5936584"/>
            <a:ext cx="8639358" cy="253916"/>
            <a:chOff x="1936304" y="-857339"/>
            <a:chExt cx="8639358" cy="253916"/>
          </a:xfrm>
        </p:grpSpPr>
        <p:sp>
          <p:nvSpPr>
            <p:cNvPr id="97" name="타원 96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solidFill>
                    <a:srgbClr val="FF0000"/>
                  </a:solidFill>
                  <a:latin typeface="+mn-ea"/>
                  <a:ea typeface="+mn-ea"/>
                </a:rPr>
                <a:t>필수</a:t>
              </a:r>
              <a:r>
                <a:rPr lang="en-US" altLang="ko-KR" sz="900" dirty="0">
                  <a:solidFill>
                    <a:srgbClr val="FF0000"/>
                  </a:solidFill>
                  <a:latin typeface="+mn-ea"/>
                  <a:ea typeface="+mn-ea"/>
                </a:rPr>
                <a:t>)</a:t>
              </a:r>
              <a:endParaRPr lang="ko-KR" altLang="en-US" sz="9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29641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1504256" y="6259990"/>
            <a:ext cx="8629740" cy="253916"/>
            <a:chOff x="1936304" y="-857339"/>
            <a:chExt cx="8629740" cy="253916"/>
          </a:xfrm>
        </p:grpSpPr>
        <p:sp>
          <p:nvSpPr>
            <p:cNvPr id="101" name="타원 100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0296418" y="-857339"/>
              <a:ext cx="26962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 smtClean="0">
                  <a:latin typeface="+mn-ea"/>
                  <a:ea typeface="+mn-ea"/>
                </a:rPr>
                <a:t>V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sp>
        <p:nvSpPr>
          <p:cNvPr id="104" name="눈물 방울 103"/>
          <p:cNvSpPr/>
          <p:nvPr/>
        </p:nvSpPr>
        <p:spPr>
          <a:xfrm rot="5400000">
            <a:off x="9861950" y="400109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5" name="눈물 방울 104"/>
          <p:cNvSpPr/>
          <p:nvPr/>
        </p:nvSpPr>
        <p:spPr>
          <a:xfrm rot="5400000">
            <a:off x="9648627" y="5285005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1793890" y="6548022"/>
            <a:ext cx="8342538" cy="253916"/>
            <a:chOff x="1936304" y="-857339"/>
            <a:chExt cx="8342538" cy="253916"/>
          </a:xfrm>
        </p:grpSpPr>
        <p:sp>
          <p:nvSpPr>
            <p:cNvPr id="107" name="타원 106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1792288" y="6801938"/>
            <a:ext cx="8342538" cy="253916"/>
            <a:chOff x="1936304" y="-857339"/>
            <a:chExt cx="8342538" cy="253916"/>
          </a:xfrm>
        </p:grpSpPr>
        <p:sp>
          <p:nvSpPr>
            <p:cNvPr id="111" name="타원 110"/>
            <p:cNvSpPr/>
            <p:nvPr/>
          </p:nvSpPr>
          <p:spPr>
            <a:xfrm>
              <a:off x="1936304" y="-833237"/>
              <a:ext cx="180000" cy="180000"/>
            </a:xfrm>
            <a:prstGeom prst="ellipse">
              <a:avLst/>
            </a:prstGeom>
            <a:solidFill>
              <a:srgbClr val="FFFFFF"/>
            </a:solidFill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V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116304" y="-857339"/>
              <a:ext cx="18261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dirty="0">
                  <a:latin typeface="+mn-ea"/>
                  <a:ea typeface="+mn-ea"/>
                </a:rPr>
                <a:t>약관 타이틀 문구 입니다</a:t>
              </a:r>
              <a:r>
                <a:rPr lang="en-US" altLang="ko-KR" sz="900" dirty="0">
                  <a:latin typeface="+mn-ea"/>
                  <a:ea typeface="+mn-ea"/>
                </a:rPr>
                <a:t>. (</a:t>
              </a:r>
              <a:r>
                <a:rPr lang="ko-KR" altLang="en-US" sz="900" dirty="0">
                  <a:latin typeface="+mn-ea"/>
                  <a:ea typeface="+mn-ea"/>
                </a:rPr>
                <a:t>선택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9999598" y="-857339"/>
              <a:ext cx="279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  <a:endParaRPr lang="ko-KR" altLang="en-US" sz="1050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2989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4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827918"/>
              </p:ext>
            </p:extLst>
          </p:nvPr>
        </p:nvGraphicFramePr>
        <p:xfrm>
          <a:off x="10505256" y="788950"/>
          <a:ext cx="2130330" cy="285119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상품 정보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영역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여부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 신청서 양식 펼침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95" name="직사각형 94"/>
          <p:cNvSpPr/>
          <p:nvPr/>
        </p:nvSpPr>
        <p:spPr>
          <a:xfrm>
            <a:off x="962696" y="1062156"/>
            <a:ext cx="9468000" cy="558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72208" y="1125809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고객 영역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072208" y="2337442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상품 영역</a:t>
            </a:r>
          </a:p>
        </p:txBody>
      </p:sp>
      <p:sp>
        <p:nvSpPr>
          <p:cNvPr id="49" name="눈물 방울 48"/>
          <p:cNvSpPr/>
          <p:nvPr/>
        </p:nvSpPr>
        <p:spPr>
          <a:xfrm rot="5400000">
            <a:off x="967462" y="2200893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grpSp>
        <p:nvGrpSpPr>
          <p:cNvPr id="38" name="그룹 37"/>
          <p:cNvGrpSpPr/>
          <p:nvPr/>
        </p:nvGrpSpPr>
        <p:grpSpPr>
          <a:xfrm>
            <a:off x="208192" y="1064322"/>
            <a:ext cx="720000" cy="4368542"/>
            <a:chOff x="16542345" y="1055696"/>
            <a:chExt cx="720000" cy="4368542"/>
          </a:xfrm>
        </p:grpSpPr>
        <p:sp>
          <p:nvSpPr>
            <p:cNvPr id="39" name="직사각형 38"/>
            <p:cNvSpPr/>
            <p:nvPr/>
          </p:nvSpPr>
          <p:spPr>
            <a:xfrm>
              <a:off x="16542345" y="1055696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6542345" y="1600175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6542345" y="2135210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6542345" y="2671676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6542345" y="4344741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50" name="그룹 49"/>
            <p:cNvGrpSpPr/>
            <p:nvPr/>
          </p:nvGrpSpPr>
          <p:grpSpPr>
            <a:xfrm>
              <a:off x="16542345" y="4884238"/>
              <a:ext cx="720000" cy="540000"/>
              <a:chOff x="2452103" y="5640369"/>
              <a:chExt cx="720000" cy="540000"/>
            </a:xfrm>
          </p:grpSpPr>
          <p:sp>
            <p:nvSpPr>
              <p:cNvPr id="57" name="직사각형 56"/>
              <p:cNvSpPr/>
              <p:nvPr/>
            </p:nvSpPr>
            <p:spPr>
              <a:xfrm>
                <a:off x="2452103" y="5640369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58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7286" y="5718297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51" name="직사각형 50"/>
            <p:cNvSpPr/>
            <p:nvPr/>
          </p:nvSpPr>
          <p:spPr>
            <a:xfrm>
              <a:off x="16579849" y="324717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고객</a:t>
              </a:r>
            </a:p>
          </p:txBody>
        </p:sp>
        <p:sp>
          <p:nvSpPr>
            <p:cNvPr id="52" name="타원 51"/>
            <p:cNvSpPr/>
            <p:nvPr/>
          </p:nvSpPr>
          <p:spPr>
            <a:xfrm>
              <a:off x="16611352" y="3310548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6579769" y="360565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</a:p>
          </p:txBody>
        </p:sp>
        <p:sp>
          <p:nvSpPr>
            <p:cNvPr id="54" name="타원 53"/>
            <p:cNvSpPr/>
            <p:nvPr/>
          </p:nvSpPr>
          <p:spPr>
            <a:xfrm>
              <a:off x="16611352" y="3669028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16579769" y="3965694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동의</a:t>
              </a:r>
            </a:p>
          </p:txBody>
        </p:sp>
        <p:sp>
          <p:nvSpPr>
            <p:cNvPr id="56" name="타원 55"/>
            <p:cNvSpPr/>
            <p:nvPr/>
          </p:nvSpPr>
          <p:spPr>
            <a:xfrm>
              <a:off x="16611352" y="4029068"/>
              <a:ext cx="216000" cy="216000"/>
            </a:xfrm>
            <a:prstGeom prst="ellipse">
              <a:avLst/>
            </a:prstGeom>
            <a:noFill/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8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9641240" y="6274520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다음</a:t>
            </a:r>
            <a:endParaRPr lang="ko-KR" altLang="en-US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눈물 방울 44"/>
          <p:cNvSpPr/>
          <p:nvPr/>
        </p:nvSpPr>
        <p:spPr>
          <a:xfrm rot="5400000">
            <a:off x="9390553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" name="눈물 방울 28"/>
          <p:cNvSpPr/>
          <p:nvPr/>
        </p:nvSpPr>
        <p:spPr>
          <a:xfrm rot="5400000">
            <a:off x="140870" y="91698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578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4352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aphicFrame>
        <p:nvGraphicFramePr>
          <p:cNvPr id="25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15031"/>
              </p:ext>
            </p:extLst>
          </p:nvPr>
        </p:nvGraphicFramePr>
        <p:xfrm>
          <a:off x="10505256" y="788950"/>
          <a:ext cx="2130330" cy="2363544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서비스해지할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정보 선택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디폴트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사용여부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없음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정산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플랫폼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: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실시간요금조회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(X18)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메모 입력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29" name="그룹 28"/>
          <p:cNvGrpSpPr/>
          <p:nvPr/>
        </p:nvGrpSpPr>
        <p:grpSpPr>
          <a:xfrm>
            <a:off x="1072208" y="1167349"/>
            <a:ext cx="9252000" cy="246221"/>
            <a:chOff x="1072208" y="1117425"/>
            <a:chExt cx="9252000" cy="246221"/>
          </a:xfrm>
        </p:grpSpPr>
        <p:sp>
          <p:nvSpPr>
            <p:cNvPr id="30" name="TextBox 29"/>
            <p:cNvSpPr txBox="1"/>
            <p:nvPr/>
          </p:nvSpPr>
          <p:spPr>
            <a:xfrm>
              <a:off x="1072208" y="1117425"/>
              <a:ext cx="7425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해지 신청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눈물 방울 31"/>
          <p:cNvSpPr/>
          <p:nvPr/>
        </p:nvSpPr>
        <p:spPr>
          <a:xfrm rot="5400000">
            <a:off x="932958" y="11193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1053932" y="1557586"/>
            <a:ext cx="5922932" cy="252000"/>
            <a:chOff x="1053932" y="-893575"/>
            <a:chExt cx="5922932" cy="252000"/>
          </a:xfrm>
        </p:grpSpPr>
        <p:sp>
          <p:nvSpPr>
            <p:cNvPr id="93" name="직사각형 92"/>
            <p:cNvSpPr/>
            <p:nvPr/>
          </p:nvSpPr>
          <p:spPr>
            <a:xfrm>
              <a:off x="3811498" y="-893575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err="1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kt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재사용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4626620" y="-893575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err="1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skt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</a:t>
              </a: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5441742" y="-893575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err="1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lgt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사용</a:t>
              </a: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6256864" y="-893575"/>
              <a:ext cx="720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기타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053932" y="-882991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사용여부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538246" y="-893575"/>
              <a:ext cx="1152000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bg1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dirty="0" err="1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kt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M mobile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재사용</a:t>
              </a:r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1053932" y="2529722"/>
            <a:ext cx="3414702" cy="252000"/>
            <a:chOff x="1053932" y="-566622"/>
            <a:chExt cx="3414702" cy="252000"/>
          </a:xfrm>
        </p:grpSpPr>
        <p:sp>
          <p:nvSpPr>
            <p:cNvPr id="104" name="TextBox 103"/>
            <p:cNvSpPr txBox="1"/>
            <p:nvPr/>
          </p:nvSpPr>
          <p:spPr>
            <a:xfrm>
              <a:off x="1053932" y="-556038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사용요금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544200" y="-566622"/>
              <a:ext cx="164939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금액을입력하세요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168552" y="-545454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1054956" y="2925738"/>
            <a:ext cx="3414702" cy="252000"/>
            <a:chOff x="1053932" y="-566622"/>
            <a:chExt cx="3414702" cy="252000"/>
          </a:xfrm>
        </p:grpSpPr>
        <p:sp>
          <p:nvSpPr>
            <p:cNvPr id="110" name="TextBox 109"/>
            <p:cNvSpPr txBox="1"/>
            <p:nvPr/>
          </p:nvSpPr>
          <p:spPr>
            <a:xfrm>
              <a:off x="1053932" y="-556038"/>
              <a:ext cx="5838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위약금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2544200" y="-566622"/>
              <a:ext cx="164939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금액을입력하세요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168552" y="-545454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1054956" y="3321810"/>
            <a:ext cx="3414702" cy="252000"/>
            <a:chOff x="1053932" y="-566622"/>
            <a:chExt cx="3414702" cy="252000"/>
          </a:xfrm>
        </p:grpSpPr>
        <p:sp>
          <p:nvSpPr>
            <p:cNvPr id="114" name="TextBox 113"/>
            <p:cNvSpPr txBox="1"/>
            <p:nvPr/>
          </p:nvSpPr>
          <p:spPr>
            <a:xfrm>
              <a:off x="1053932" y="-556038"/>
              <a:ext cx="9701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최종 정산요금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*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2544200" y="-566622"/>
              <a:ext cx="164939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금액을입력하세요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168552" y="-545454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1054956" y="3681850"/>
            <a:ext cx="5470078" cy="252000"/>
            <a:chOff x="1053932" y="-566622"/>
            <a:chExt cx="5470078" cy="252000"/>
          </a:xfrm>
        </p:grpSpPr>
        <p:sp>
          <p:nvSpPr>
            <p:cNvPr id="118" name="TextBox 117"/>
            <p:cNvSpPr txBox="1"/>
            <p:nvPr/>
          </p:nvSpPr>
          <p:spPr>
            <a:xfrm>
              <a:off x="1053932" y="-556038"/>
              <a:ext cx="139012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잔여분할상환기간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금액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2544200" y="-566622"/>
              <a:ext cx="164939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분할상환 기간을 입력하세요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168552" y="-545454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4599576" y="-566622"/>
              <a:ext cx="1649396" cy="252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0" rIns="0" bIns="0" rtlCol="0" anchor="ctr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금액을 입력하세요</a:t>
              </a:r>
              <a:r>
                <a:rPr lang="en-US" altLang="ko-KR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223928" y="-545454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원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1083362" y="2148334"/>
            <a:ext cx="9252000" cy="246221"/>
            <a:chOff x="1072208" y="1117425"/>
            <a:chExt cx="9252000" cy="246221"/>
          </a:xfrm>
        </p:grpSpPr>
        <p:sp>
          <p:nvSpPr>
            <p:cNvPr id="65" name="TextBox 64"/>
            <p:cNvSpPr txBox="1"/>
            <p:nvPr/>
          </p:nvSpPr>
          <p:spPr>
            <a:xfrm>
              <a:off x="1072208" y="1117425"/>
              <a:ext cx="7425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해지 정산</a:t>
              </a:r>
            </a:p>
          </p:txBody>
        </p:sp>
        <p:cxnSp>
          <p:nvCxnSpPr>
            <p:cNvPr id="66" name="직선 연결선 65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눈물 방울 66"/>
          <p:cNvSpPr/>
          <p:nvPr/>
        </p:nvSpPr>
        <p:spPr>
          <a:xfrm rot="5400000">
            <a:off x="944112" y="2100290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1" name="그룹 70"/>
          <p:cNvGrpSpPr/>
          <p:nvPr/>
        </p:nvGrpSpPr>
        <p:grpSpPr>
          <a:xfrm>
            <a:off x="1100614" y="4481185"/>
            <a:ext cx="9252000" cy="246221"/>
            <a:chOff x="1072208" y="1117425"/>
            <a:chExt cx="9252000" cy="246221"/>
          </a:xfrm>
        </p:grpSpPr>
        <p:sp>
          <p:nvSpPr>
            <p:cNvPr id="72" name="TextBox 71"/>
            <p:cNvSpPr txBox="1"/>
            <p:nvPr/>
          </p:nvSpPr>
          <p:spPr>
            <a:xfrm>
              <a:off x="1072208" y="1117425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메모</a:t>
              </a:r>
            </a:p>
          </p:txBody>
        </p:sp>
        <p:cxnSp>
          <p:nvCxnSpPr>
            <p:cNvPr id="73" name="직선 연결선 72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눈물 방울 73"/>
          <p:cNvSpPr/>
          <p:nvPr/>
        </p:nvSpPr>
        <p:spPr>
          <a:xfrm rot="5400000">
            <a:off x="961364" y="443314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1050508" y="4835446"/>
            <a:ext cx="8590652" cy="540032"/>
            <a:chOff x="1053932" y="-566622"/>
            <a:chExt cx="8590652" cy="540032"/>
          </a:xfrm>
        </p:grpSpPr>
        <p:sp>
          <p:nvSpPr>
            <p:cNvPr id="76" name="TextBox 75"/>
            <p:cNvSpPr txBox="1"/>
            <p:nvPr/>
          </p:nvSpPr>
          <p:spPr>
            <a:xfrm>
              <a:off x="1053932" y="-556038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 pitchFamily="50" charset="-127"/>
                  <a:ea typeface="맑은 고딕" pitchFamily="50" charset="-127"/>
                </a:rPr>
                <a:t>메모</a:t>
              </a:r>
              <a:endParaRPr lang="ko-KR" altLang="en-US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2544200" y="-566622"/>
              <a:ext cx="7100384" cy="540032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square" lIns="72000" tIns="72000" rIns="72000" bIns="72000" rtlCol="0"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메모 입력</a:t>
              </a:r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388816"/>
              </p:ext>
            </p:extLst>
          </p:nvPr>
        </p:nvGraphicFramePr>
        <p:xfrm>
          <a:off x="12914755" y="109568"/>
          <a:ext cx="3443089" cy="121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서비스해지시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해지정산 조회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 정산 관련 안내 문구 추가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1" name="직사각형 50"/>
          <p:cNvSpPr/>
          <p:nvPr/>
        </p:nvSpPr>
        <p:spPr>
          <a:xfrm>
            <a:off x="2547868" y="4005858"/>
            <a:ext cx="709329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rPr>
              <a:t>※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해지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시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까지 사용한 사용료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위약금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잔여 단말기 대금 등의 자세한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사용 요금은 다음달 청구서에서 확인 가능합니다</a:t>
            </a:r>
            <a:r>
              <a:rPr lang="en-US" altLang="ko-KR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8960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S104020101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4352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상품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928192" y="945546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항목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07" name="눈물 방울 106"/>
          <p:cNvSpPr/>
          <p:nvPr/>
        </p:nvSpPr>
        <p:spPr>
          <a:xfrm rot="5400000">
            <a:off x="716934" y="94078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 err="1">
                <a:latin typeface="+mn-ea"/>
                <a:ea typeface="+mn-ea"/>
              </a:rPr>
              <a:t>케이스별</a:t>
            </a:r>
            <a:r>
              <a:rPr lang="ko-KR" altLang="en-US" sz="1200" b="1" dirty="0">
                <a:latin typeface="+mn-ea"/>
                <a:ea typeface="+mn-ea"/>
              </a:rPr>
              <a:t> 항목 </a:t>
            </a:r>
            <a:r>
              <a:rPr lang="ko-KR" altLang="en-US" sz="1200" b="1" dirty="0" err="1">
                <a:latin typeface="+mn-ea"/>
                <a:ea typeface="+mn-ea"/>
              </a:rPr>
              <a:t>세팅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811498" y="1269554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dirty="0" err="1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kt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재사용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4626620" y="1269554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dirty="0" err="1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skt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441742" y="1269554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dirty="0" err="1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lgt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56864" y="1269554"/>
            <a:ext cx="720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기타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932" y="1280138"/>
            <a:ext cx="699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사용여부</a:t>
            </a:r>
            <a:r>
              <a:rPr lang="en-US" altLang="ko-KR" sz="9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9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538246" y="1269554"/>
            <a:ext cx="11880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900" b="1" dirty="0" err="1">
                <a:latin typeface="맑은 고딕" pitchFamily="50" charset="-127"/>
                <a:ea typeface="맑은 고딕" pitchFamily="50" charset="-127"/>
              </a:rPr>
              <a:t>kt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 M mobile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재사용</a:t>
            </a:r>
          </a:p>
        </p:txBody>
      </p:sp>
    </p:spTree>
    <p:extLst>
      <p:ext uri="{BB962C8B-B14F-4D97-AF65-F5344CB8AC3E}">
        <p14:creationId xmlns:p14="http://schemas.microsoft.com/office/powerpoint/2010/main" val="2784848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동의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78" name="그룹 77"/>
          <p:cNvGrpSpPr/>
          <p:nvPr/>
        </p:nvGrpSpPr>
        <p:grpSpPr>
          <a:xfrm>
            <a:off x="208192" y="1053530"/>
            <a:ext cx="720000" cy="4368542"/>
            <a:chOff x="17346096" y="1053530"/>
            <a:chExt cx="720000" cy="4368542"/>
          </a:xfrm>
        </p:grpSpPr>
        <p:sp>
          <p:nvSpPr>
            <p:cNvPr id="79" name="직사각형 78"/>
            <p:cNvSpPr/>
            <p:nvPr/>
          </p:nvSpPr>
          <p:spPr>
            <a:xfrm>
              <a:off x="17346096" y="1053530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7346096" y="1589383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17346096" y="2133044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17346096" y="2669510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17346096" y="4342575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84" name="그룹 83"/>
            <p:cNvGrpSpPr/>
            <p:nvPr/>
          </p:nvGrpSpPr>
          <p:grpSpPr>
            <a:xfrm>
              <a:off x="17346096" y="4882072"/>
              <a:ext cx="720000" cy="540000"/>
              <a:chOff x="3255854" y="5638203"/>
              <a:chExt cx="720000" cy="540000"/>
            </a:xfrm>
          </p:grpSpPr>
          <p:sp>
            <p:nvSpPr>
              <p:cNvPr id="91" name="직사각형 90"/>
              <p:cNvSpPr/>
              <p:nvPr/>
            </p:nvSpPr>
            <p:spPr>
              <a:xfrm>
                <a:off x="3255854" y="5638203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92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1037" y="5716131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85" name="직사각형 84"/>
            <p:cNvSpPr/>
            <p:nvPr/>
          </p:nvSpPr>
          <p:spPr>
            <a:xfrm>
              <a:off x="17383600" y="3245008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고객</a:t>
              </a:r>
            </a:p>
          </p:txBody>
        </p:sp>
        <p:sp>
          <p:nvSpPr>
            <p:cNvPr id="86" name="타원 85"/>
            <p:cNvSpPr/>
            <p:nvPr/>
          </p:nvSpPr>
          <p:spPr>
            <a:xfrm>
              <a:off x="17415103" y="3308382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7383520" y="3603488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</a:p>
          </p:txBody>
        </p:sp>
        <p:sp>
          <p:nvSpPr>
            <p:cNvPr id="88" name="타원 87"/>
            <p:cNvSpPr/>
            <p:nvPr/>
          </p:nvSpPr>
          <p:spPr>
            <a:xfrm>
              <a:off x="17415103" y="3666862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17383520" y="3963528"/>
              <a:ext cx="647992" cy="36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동의</a:t>
              </a:r>
            </a:p>
          </p:txBody>
        </p:sp>
        <p:sp>
          <p:nvSpPr>
            <p:cNvPr id="90" name="타원 89"/>
            <p:cNvSpPr/>
            <p:nvPr/>
          </p:nvSpPr>
          <p:spPr>
            <a:xfrm>
              <a:off x="17415103" y="4026902"/>
              <a:ext cx="216000" cy="216000"/>
            </a:xfrm>
            <a:prstGeom prst="ellipse">
              <a:avLst/>
            </a:prstGeom>
            <a:solidFill>
              <a:srgbClr val="1BA6C7"/>
            </a:solidFill>
            <a:ln w="6350" algn="ctr">
              <a:solidFill>
                <a:srgbClr val="1BA6C7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8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3" name="직사각형 92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4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461056"/>
              </p:ext>
            </p:extLst>
          </p:nvPr>
        </p:nvGraphicFramePr>
        <p:xfrm>
          <a:off x="10505256" y="788950"/>
          <a:ext cx="2130330" cy="4436155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좌측 메뉴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작성단계에 맞춰 활성화 되어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동의 정보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영역 화면에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내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항목이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선택되면 버튼 활성화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 값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 여부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서명 후 등록 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안내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녹취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후 등록 가능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완료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작성 내용 등록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내용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전산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전송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리포트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시스템 전송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포탈과 동일 사용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m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 테이블로 등록</a:t>
                      </a:r>
                      <a:endParaRPr lang="en-US" altLang="ko-KR" sz="800" b="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-&gt; 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신분증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구비서류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신청서 이미지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전송 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=&gt; m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포탈과 동일하게 처리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m</a:t>
                      </a:r>
                      <a:r>
                        <a:rPr lang="ko-KR" altLang="en-US" sz="8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전산에서 결과 받은 데이터를 스마트신청서 테이블 데이터 현행화 처리</a:t>
                      </a:r>
                      <a:endParaRPr lang="ko-KR" altLang="en-US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95" name="직사각형 94"/>
          <p:cNvSpPr/>
          <p:nvPr/>
        </p:nvSpPr>
        <p:spPr>
          <a:xfrm>
            <a:off x="962696" y="1062156"/>
            <a:ext cx="9468000" cy="558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072208" y="1125809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고객 영역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072208" y="2337442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상품 영역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072208" y="3573930"/>
            <a:ext cx="9252000" cy="1080000"/>
          </a:xfrm>
          <a:prstGeom prst="rect">
            <a:avLst/>
          </a:prstGeom>
          <a:solidFill>
            <a:schemeClr val="bg1">
              <a:lumMod val="95000"/>
              <a:alpha val="75000"/>
            </a:schemeClr>
          </a:solidFill>
          <a:ln w="6350" algn="ctr">
            <a:solidFill>
              <a:schemeClr val="bg1">
                <a:lumMod val="95000"/>
              </a:schemeClr>
            </a:solidFill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b="1" dirty="0">
                <a:latin typeface="+mn-ea"/>
                <a:ea typeface="+mn-ea"/>
              </a:rPr>
              <a:t>동의 영역</a:t>
            </a:r>
          </a:p>
        </p:txBody>
      </p:sp>
      <p:sp>
        <p:nvSpPr>
          <p:cNvPr id="49" name="눈물 방울 48"/>
          <p:cNvSpPr/>
          <p:nvPr/>
        </p:nvSpPr>
        <p:spPr>
          <a:xfrm rot="5400000">
            <a:off x="967462" y="350926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3" name="눈물 방울 32"/>
          <p:cNvSpPr/>
          <p:nvPr/>
        </p:nvSpPr>
        <p:spPr>
          <a:xfrm rot="5400000">
            <a:off x="9174529" y="631185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425136" y="6274520"/>
            <a:ext cx="90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작성 완료</a:t>
            </a:r>
          </a:p>
        </p:txBody>
      </p:sp>
      <p:sp>
        <p:nvSpPr>
          <p:cNvPr id="31" name="눈물 방울 30"/>
          <p:cNvSpPr/>
          <p:nvPr/>
        </p:nvSpPr>
        <p:spPr>
          <a:xfrm rot="5400000">
            <a:off x="143571" y="904749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272805"/>
              </p:ext>
            </p:extLst>
          </p:nvPr>
        </p:nvGraphicFramePr>
        <p:xfrm>
          <a:off x="12914755" y="109568"/>
          <a:ext cx="3443089" cy="1335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서비스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전산으로 데이터 전송하고 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상담사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 후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전산에서 해지 처리하도록 프로세스 처리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256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동의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3972650" y="2529775"/>
            <a:ext cx="2881818" cy="1397063"/>
            <a:chOff x="3735006" y="4762023"/>
            <a:chExt cx="2881818" cy="1397063"/>
          </a:xfrm>
        </p:grpSpPr>
        <p:sp>
          <p:nvSpPr>
            <p:cNvPr id="45" name="직사각형 44"/>
            <p:cNvSpPr/>
            <p:nvPr/>
          </p:nvSpPr>
          <p:spPr>
            <a:xfrm>
              <a:off x="3736824" y="4762023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3735006" y="5799086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736825" y="5006964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신청서 등록이 완료되었습니다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8" name="직사각형 47"/>
          <p:cNvSpPr/>
          <p:nvPr/>
        </p:nvSpPr>
        <p:spPr>
          <a:xfrm>
            <a:off x="637459" y="2257414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확인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856184" y="2533747"/>
            <a:ext cx="2881818" cy="1400103"/>
            <a:chOff x="618540" y="4765995"/>
            <a:chExt cx="2881818" cy="1400103"/>
          </a:xfrm>
        </p:grpSpPr>
        <p:sp>
          <p:nvSpPr>
            <p:cNvPr id="50" name="직사각형 49"/>
            <p:cNvSpPr/>
            <p:nvPr/>
          </p:nvSpPr>
          <p:spPr>
            <a:xfrm>
              <a:off x="620358" y="4765995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18540" y="5803058"/>
              <a:ext cx="1441818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620359" y="5010936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신청서를 등록하시겠습니까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?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2053459" y="5806098"/>
              <a:ext cx="1441818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</p:grpSp>
      <p:sp>
        <p:nvSpPr>
          <p:cNvPr id="54" name="직사각형 53"/>
          <p:cNvSpPr/>
          <p:nvPr/>
        </p:nvSpPr>
        <p:spPr>
          <a:xfrm>
            <a:off x="4262180" y="2263371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완료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7141002" y="2528168"/>
            <a:ext cx="2881818" cy="1397063"/>
            <a:chOff x="6903358" y="4760416"/>
            <a:chExt cx="2881818" cy="1397063"/>
          </a:xfrm>
        </p:grpSpPr>
        <p:sp>
          <p:nvSpPr>
            <p:cNvPr id="56" name="직사각형 55"/>
            <p:cNvSpPr/>
            <p:nvPr/>
          </p:nvSpPr>
          <p:spPr>
            <a:xfrm>
              <a:off x="6905176" y="4760416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6903358" y="5797479"/>
              <a:ext cx="2881818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6905177" y="5005357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신청서 등록이 실패하였습니다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algn="ctr">
                <a:spcBef>
                  <a:spcPct val="50000"/>
                </a:spcBef>
              </a:pPr>
              <a:r>
                <a:rPr lang="ko-KR" altLang="en-US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다시 시도해 주세요</a:t>
              </a:r>
              <a:r>
                <a:rPr lang="en-US" altLang="ko-KR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7430532" y="2261764"/>
            <a:ext cx="259228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실패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0" name="눈물 방울 59"/>
          <p:cNvSpPr/>
          <p:nvPr/>
        </p:nvSpPr>
        <p:spPr>
          <a:xfrm rot="5400000">
            <a:off x="359595" y="2285133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856184" y="1246133"/>
            <a:ext cx="900000" cy="288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작성 완료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967712" y="1246133"/>
            <a:ext cx="90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작성 완료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640160" y="909514"/>
            <a:ext cx="3744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화면 내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 항목이 모두 입력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선택되면 버튼 활성화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4" name="눈물 방울 63"/>
          <p:cNvSpPr/>
          <p:nvPr/>
        </p:nvSpPr>
        <p:spPr>
          <a:xfrm rot="5400000">
            <a:off x="356894" y="925963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73136" y="621483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버튼 활성화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173136" y="1917626"/>
            <a:ext cx="3707384" cy="267126"/>
          </a:xfrm>
          <a:prstGeom prst="rect">
            <a:avLst/>
          </a:prstGeom>
          <a:solidFill>
            <a:srgbClr val="FF0000">
              <a:alpha val="40000"/>
            </a:srgbClr>
          </a:solidFill>
          <a:ln w="6350" algn="ctr">
            <a:noFill/>
            <a:miter lim="800000"/>
            <a:headEnd/>
            <a:tailEnd/>
          </a:ln>
        </p:spPr>
        <p:txBody>
          <a:bodyPr wrap="square" tIns="90000" bIns="9000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b="1" dirty="0">
                <a:latin typeface="+mn-ea"/>
                <a:ea typeface="+mn-ea"/>
              </a:rPr>
              <a:t>메시지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566654" y="4553011"/>
            <a:ext cx="2881818" cy="1397063"/>
            <a:chOff x="5875124" y="3832891"/>
            <a:chExt cx="2881818" cy="1397063"/>
          </a:xfrm>
        </p:grpSpPr>
        <p:sp>
          <p:nvSpPr>
            <p:cNvPr id="30" name="직사각형 29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입력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선택해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3" name="직사각형 32"/>
          <p:cNvSpPr/>
          <p:nvPr/>
        </p:nvSpPr>
        <p:spPr>
          <a:xfrm>
            <a:off x="620665" y="4258157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필수값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미입력시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5" name="눈물 방울 34"/>
          <p:cNvSpPr/>
          <p:nvPr/>
        </p:nvSpPr>
        <p:spPr>
          <a:xfrm rot="5400000">
            <a:off x="363821" y="4229349"/>
            <a:ext cx="203791" cy="213322"/>
          </a:xfrm>
          <a:prstGeom prst="teardrop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A1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736504" y="4553011"/>
            <a:ext cx="2881818" cy="1397063"/>
            <a:chOff x="5875124" y="3832891"/>
            <a:chExt cx="2881818" cy="1397063"/>
          </a:xfrm>
        </p:grpSpPr>
        <p:sp>
          <p:nvSpPr>
            <p:cNvPr id="37" name="직사각형 36"/>
            <p:cNvSpPr/>
            <p:nvPr/>
          </p:nvSpPr>
          <p:spPr>
            <a:xfrm>
              <a:off x="5876942" y="3832891"/>
              <a:ext cx="2880000" cy="1217063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endParaRPr lang="ko-KR" altLang="en-US" sz="1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875124" y="4869954"/>
              <a:ext cx="2880000" cy="36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확인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76943" y="4077832"/>
              <a:ext cx="2878182" cy="720114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XXX 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인증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체크해 주세요</a:t>
              </a:r>
              <a:r>
                <a:rPr lang="en-US" altLang="ko-KR" sz="9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0" name="직사각형 39"/>
          <p:cNvSpPr/>
          <p:nvPr/>
        </p:nvSpPr>
        <p:spPr>
          <a:xfrm>
            <a:off x="3790515" y="4258157"/>
            <a:ext cx="27243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#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필수 인증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체크 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  <a:ea typeface="+mn-ea"/>
                <a:cs typeface="Segoe UI" panose="020B0502040204020203" pitchFamily="34" charset="0"/>
              </a:rPr>
              <a:t>미완료시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0880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962696" y="981522"/>
            <a:ext cx="9468000" cy="550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S104030101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– </a:t>
            </a:r>
            <a:r>
              <a:rPr lang="ko-KR" altLang="en-US" sz="1000" dirty="0">
                <a:latin typeface="+mn-ea"/>
                <a:ea typeface="+mn-ea"/>
              </a:rPr>
              <a:t>동의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aphicFrame>
        <p:nvGraphicFramePr>
          <p:cNvPr id="94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639466"/>
              </p:ext>
            </p:extLst>
          </p:nvPr>
        </p:nvGraphicFramePr>
        <p:xfrm>
          <a:off x="10505256" y="788950"/>
          <a:ext cx="2130330" cy="1510133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안내 사항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모두 필수 체크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확인 서명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확인 팝업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97" name="그룹 96"/>
          <p:cNvGrpSpPr/>
          <p:nvPr/>
        </p:nvGrpSpPr>
        <p:grpSpPr>
          <a:xfrm>
            <a:off x="1072208" y="1180138"/>
            <a:ext cx="9252000" cy="246221"/>
            <a:chOff x="1072208" y="1117425"/>
            <a:chExt cx="9252000" cy="246221"/>
          </a:xfrm>
        </p:grpSpPr>
        <p:sp>
          <p:nvSpPr>
            <p:cNvPr id="98" name="TextBox 97"/>
            <p:cNvSpPr txBox="1"/>
            <p:nvPr/>
          </p:nvSpPr>
          <p:spPr>
            <a:xfrm>
              <a:off x="1072208" y="1117425"/>
              <a:ext cx="1043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고객 안내 사항</a:t>
              </a:r>
            </a:p>
          </p:txBody>
        </p:sp>
        <p:cxnSp>
          <p:nvCxnSpPr>
            <p:cNvPr id="99" name="직선 연결선 98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1216224" y="1485577"/>
            <a:ext cx="9001000" cy="15121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180000" tIns="180000" rIns="180000" bIns="180000" rtlCol="0">
            <a:no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혜택 소멸사항 동의</a:t>
            </a:r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고객님께 제공되었던 평생할인 및 각종 결합할인 등이 모두 소멸되어 다양한 혜택을 제공받을 수 없게 됩니다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해지 시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 DB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단체보험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제주항공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티머니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등 </a:t>
            </a:r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케이티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엠모바일의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제휴서비스가 제공되지 않습니다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본인은 위 혜택에 대한 설명을 듣고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케이티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엠모바일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900" b="1" dirty="0" err="1">
                <a:latin typeface="맑은 고딕" pitchFamily="50" charset="-127"/>
                <a:ea typeface="맑은 고딕" pitchFamily="50" charset="-127"/>
              </a:rPr>
              <a:t>해지시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 혜택 소멸되는 사항에 대해 동의합니다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900" b="1" dirty="0"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9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1" name="그룹 100"/>
          <p:cNvGrpSpPr/>
          <p:nvPr/>
        </p:nvGrpSpPr>
        <p:grpSpPr>
          <a:xfrm>
            <a:off x="1072208" y="3171341"/>
            <a:ext cx="9252000" cy="246221"/>
            <a:chOff x="1072208" y="1117425"/>
            <a:chExt cx="9252000" cy="246221"/>
          </a:xfrm>
        </p:grpSpPr>
        <p:sp>
          <p:nvSpPr>
            <p:cNvPr id="102" name="TextBox 101"/>
            <p:cNvSpPr txBox="1"/>
            <p:nvPr/>
          </p:nvSpPr>
          <p:spPr>
            <a:xfrm>
              <a:off x="1072208" y="1117425"/>
              <a:ext cx="8707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>
                  <a:latin typeface="맑은 고딕" pitchFamily="50" charset="-127"/>
                  <a:ea typeface="맑은 고딕" pitchFamily="50" charset="-127"/>
                </a:rPr>
                <a:t>신청서 확인</a:t>
              </a:r>
            </a:p>
          </p:txBody>
        </p:sp>
        <p:cxnSp>
          <p:nvCxnSpPr>
            <p:cNvPr id="103" name="직선 연결선 102"/>
            <p:cNvCxnSpPr/>
            <p:nvPr/>
          </p:nvCxnSpPr>
          <p:spPr>
            <a:xfrm>
              <a:off x="1072208" y="1363646"/>
              <a:ext cx="9252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눈물 방울 104"/>
          <p:cNvSpPr/>
          <p:nvPr/>
        </p:nvSpPr>
        <p:spPr>
          <a:xfrm rot="5400000">
            <a:off x="932958" y="1061554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6" name="눈물 방울 105"/>
          <p:cNvSpPr/>
          <p:nvPr/>
        </p:nvSpPr>
        <p:spPr>
          <a:xfrm rot="5400000">
            <a:off x="932958" y="3136997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9" name="눈물 방울 108"/>
          <p:cNvSpPr/>
          <p:nvPr/>
        </p:nvSpPr>
        <p:spPr>
          <a:xfrm rot="5400000">
            <a:off x="4661477" y="4323023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1406370" y="2637706"/>
            <a:ext cx="144000" cy="14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endParaRPr lang="en-US" altLang="ko-KR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996424" y="4293890"/>
            <a:ext cx="108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신청서 확인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9AA3FC9-D30E-63A8-95DA-3BEF89513B20}"/>
              </a:ext>
            </a:extLst>
          </p:cNvPr>
          <p:cNvSpPr txBox="1"/>
          <p:nvPr/>
        </p:nvSpPr>
        <p:spPr>
          <a:xfrm>
            <a:off x="1216224" y="3501802"/>
            <a:ext cx="9001000" cy="6684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180000" rIns="180000" bIns="180000" rtlCol="0">
            <a:noAutofit/>
          </a:bodyPr>
          <a:lstStyle/>
          <a:p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신청서 확인을 눌러서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신청서 작성 내용을 확인하신 후 가입자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대리인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900" b="1" dirty="0">
                <a:latin typeface="맑은 고딕" pitchFamily="50" charset="-127"/>
                <a:ea typeface="맑은 고딕" pitchFamily="50" charset="-127"/>
              </a:rPr>
              <a:t>서명을 등록해 주세요</a:t>
            </a:r>
            <a:r>
              <a:rPr lang="en-US" altLang="ko-KR" sz="900" b="1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7756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80665"/>
              </p:ext>
            </p:extLst>
          </p:nvPr>
        </p:nvGraphicFramePr>
        <p:xfrm>
          <a:off x="10505256" y="788950"/>
          <a:ext cx="2130330" cy="3776651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양식에 신청서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작성 내용 조회하여 화면에 출력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아이프레임으로 신청서 솔루션 양식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양식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로딩시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신분증 파일을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BASE64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전달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이미징 처리시 솔루션 내에서 신분증 합본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연동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서비스해지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폼 연동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작성 확인 완료로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내부적으로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이후 팝업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Close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서식지 작성 화면으로 이동하여 작성 내용 화면에 출력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서명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서명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판매자 서명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가입자 서명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-&gt;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솔루션 양식 내에서 서명 팝업 표시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S104030103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동의 </a:t>
            </a:r>
            <a:r>
              <a:rPr lang="en-US" altLang="ko-KR" sz="1000" dirty="0">
                <a:latin typeface="+mn-ea"/>
                <a:ea typeface="+mn-ea"/>
              </a:rPr>
              <a:t>&gt; </a:t>
            </a:r>
            <a:r>
              <a:rPr lang="ko-KR" altLang="en-US" sz="1000" dirty="0">
                <a:latin typeface="+mn-ea"/>
                <a:ea typeface="+mn-ea"/>
              </a:rPr>
              <a:t>신청서 확인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31086" y="1070782"/>
            <a:ext cx="10202162" cy="5585258"/>
          </a:xfrm>
          <a:prstGeom prst="rect">
            <a:avLst/>
          </a:prstGeom>
          <a:solidFill>
            <a:schemeClr val="tx1">
              <a:lumMod val="65000"/>
              <a:lumOff val="35000"/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755355" y="1181185"/>
            <a:ext cx="7524925" cy="5344953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 rot="2700000">
            <a:off x="8949487" y="1301598"/>
            <a:ext cx="214699" cy="216000"/>
            <a:chOff x="6609184" y="2719104"/>
            <a:chExt cx="1008112" cy="1008112"/>
          </a:xfrm>
        </p:grpSpPr>
        <p:cxnSp>
          <p:nvCxnSpPr>
            <p:cNvPr id="39" name="직선 연결선 38"/>
            <p:cNvCxnSpPr/>
            <p:nvPr/>
          </p:nvCxnSpPr>
          <p:spPr>
            <a:xfrm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 rot="5400000">
              <a:off x="6609184" y="3223160"/>
              <a:ext cx="100811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1947922" y="1267675"/>
            <a:ext cx="2883555" cy="357523"/>
          </a:xfrm>
          <a:prstGeom prst="rect">
            <a:avLst/>
          </a:prstGeom>
          <a:noFill/>
        </p:spPr>
        <p:txBody>
          <a:bodyPr wrap="square" lIns="107241" tIns="53620" rIns="107241" bIns="536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 dirty="0">
                <a:solidFill>
                  <a:prstClr val="black"/>
                </a:solidFill>
                <a:latin typeface="+mn-ea"/>
                <a:ea typeface="+mn-ea"/>
              </a:rPr>
              <a:t>신청서 확인</a:t>
            </a:r>
            <a:endParaRPr lang="en-US" altLang="ko-KR" sz="1400" b="1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" name="눈물 방울 1">
            <a:extLst>
              <a:ext uri="{FF2B5EF4-FFF2-40B4-BE49-F238E27FC236}">
                <a16:creationId xmlns:a16="http://schemas.microsoft.com/office/drawing/2014/main" xmlns="" id="{447E72D8-BA52-EFAA-F3C1-D7398D762C52}"/>
              </a:ext>
            </a:extLst>
          </p:cNvPr>
          <p:cNvSpPr/>
          <p:nvPr/>
        </p:nvSpPr>
        <p:spPr>
          <a:xfrm rot="5400000">
            <a:off x="6120235" y="605942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눈물 방울 2">
            <a:extLst>
              <a:ext uri="{FF2B5EF4-FFF2-40B4-BE49-F238E27FC236}">
                <a16:creationId xmlns:a16="http://schemas.microsoft.com/office/drawing/2014/main" xmlns="" id="{DE546BC4-89B7-5004-A16D-97F1687FA674}"/>
              </a:ext>
            </a:extLst>
          </p:cNvPr>
          <p:cNvSpPr/>
          <p:nvPr/>
        </p:nvSpPr>
        <p:spPr>
          <a:xfrm rot="5400000">
            <a:off x="4173318" y="6059421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D1C18D07-3BF6-60E2-7505-5866C32F91F0}"/>
              </a:ext>
            </a:extLst>
          </p:cNvPr>
          <p:cNvSpPr/>
          <p:nvPr/>
        </p:nvSpPr>
        <p:spPr>
          <a:xfrm>
            <a:off x="5316013" y="6022082"/>
            <a:ext cx="720000" cy="288000"/>
          </a:xfrm>
          <a:prstGeom prst="rect">
            <a:avLst/>
          </a:prstGeom>
          <a:solidFill>
            <a:schemeClr val="tx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확인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2F9A0C0-1758-FEAF-D009-2B3B26498001}"/>
              </a:ext>
            </a:extLst>
          </p:cNvPr>
          <p:cNvSpPr/>
          <p:nvPr/>
        </p:nvSpPr>
        <p:spPr>
          <a:xfrm>
            <a:off x="4456584" y="6030336"/>
            <a:ext cx="720000" cy="288000"/>
          </a:xfrm>
          <a:prstGeom prst="rect">
            <a:avLst/>
          </a:prstGeom>
          <a:solidFill>
            <a:srgbClr val="008080"/>
          </a:solidFill>
          <a:ln w="6350" algn="ctr">
            <a:solidFill>
              <a:srgbClr val="008080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E4067B6-1D55-2F59-6ED8-7CE376E304F5}"/>
              </a:ext>
            </a:extLst>
          </p:cNvPr>
          <p:cNvSpPr/>
          <p:nvPr/>
        </p:nvSpPr>
        <p:spPr>
          <a:xfrm>
            <a:off x="2056334" y="2016933"/>
            <a:ext cx="6840000" cy="393314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t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눈물 방울 9">
            <a:extLst>
              <a:ext uri="{FF2B5EF4-FFF2-40B4-BE49-F238E27FC236}">
                <a16:creationId xmlns:a16="http://schemas.microsoft.com/office/drawing/2014/main" xmlns="" id="{E315E114-DE47-5EC1-BC68-53D57B5E579C}"/>
              </a:ext>
            </a:extLst>
          </p:cNvPr>
          <p:cNvSpPr/>
          <p:nvPr/>
        </p:nvSpPr>
        <p:spPr>
          <a:xfrm rot="5400000">
            <a:off x="1799755" y="1910271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BC7FD8A2-7693-7336-0CFB-4021833EDC37}"/>
              </a:ext>
            </a:extLst>
          </p:cNvPr>
          <p:cNvSpPr/>
          <p:nvPr/>
        </p:nvSpPr>
        <p:spPr>
          <a:xfrm>
            <a:off x="2036093" y="1773610"/>
            <a:ext cx="3515281" cy="25202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신청서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xmlns="" id="{15CE520F-CF56-21AE-5FE4-2407777321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76" b="18258"/>
          <a:stretch>
            <a:fillRect/>
          </a:stretch>
        </p:blipFill>
        <p:spPr bwMode="auto">
          <a:xfrm>
            <a:off x="2080320" y="2052390"/>
            <a:ext cx="6816014" cy="3881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0081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1689" y="331038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서식지 </a:t>
            </a:r>
            <a:r>
              <a:rPr lang="en-US" altLang="ko-KR" sz="1000" dirty="0">
                <a:latin typeface="+mn-ea"/>
                <a:ea typeface="+mn-ea"/>
              </a:rPr>
              <a:t>App &gt; </a:t>
            </a:r>
            <a:r>
              <a:rPr lang="ko-KR" altLang="en-US" sz="1000" dirty="0" err="1">
                <a:latin typeface="+mn-ea"/>
                <a:ea typeface="+mn-ea"/>
              </a:rPr>
              <a:t>서비스해지</a:t>
            </a:r>
            <a:r>
              <a:rPr lang="ko-KR" altLang="en-US" sz="1000" dirty="0">
                <a:latin typeface="+mn-ea"/>
                <a:ea typeface="+mn-ea"/>
              </a:rPr>
              <a:t> 신청서 </a:t>
            </a:r>
            <a:r>
              <a:rPr lang="en-US" altLang="ko-KR" sz="1000" dirty="0">
                <a:latin typeface="+mn-ea"/>
                <a:ea typeface="+mn-ea"/>
              </a:rPr>
              <a:t>- </a:t>
            </a:r>
            <a:r>
              <a:rPr lang="ko-KR" altLang="en-US" sz="1000" dirty="0">
                <a:latin typeface="+mn-ea"/>
                <a:ea typeface="+mn-ea"/>
              </a:rPr>
              <a:t>신청완료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0297" y="109543"/>
            <a:ext cx="6898794" cy="201600"/>
          </a:xfrm>
          <a:prstGeom prst="rect">
            <a:avLst/>
          </a:prstGeom>
          <a:noFill/>
        </p:spPr>
        <p:txBody>
          <a:bodyPr wrap="square" lIns="107241" tIns="53620" rIns="107241" bIns="53620" rtlCol="0" anchor="ctr" anchorCtr="0">
            <a:no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맑은 고딕"/>
              </a:rPr>
              <a:t>S104040101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318037FF-0F51-44A5-946A-86CB13C3F553}"/>
              </a:ext>
            </a:extLst>
          </p:cNvPr>
          <p:cNvSpPr/>
          <p:nvPr/>
        </p:nvSpPr>
        <p:spPr>
          <a:xfrm>
            <a:off x="166014" y="812837"/>
            <a:ext cx="10296000" cy="583399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endParaRPr lang="ko-KR" alt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06106" y="845620"/>
            <a:ext cx="10224000" cy="1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241" tIns="53620" rIns="107241" bIns="5362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상단 공통 영역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208192" y="1062869"/>
            <a:ext cx="720000" cy="3237481"/>
            <a:chOff x="395258" y="1812433"/>
            <a:chExt cx="720000" cy="3237481"/>
          </a:xfrm>
        </p:grpSpPr>
        <p:sp>
          <p:nvSpPr>
            <p:cNvPr id="20" name="직사각형 19"/>
            <p:cNvSpPr/>
            <p:nvPr/>
          </p:nvSpPr>
          <p:spPr>
            <a:xfrm>
              <a:off x="395258" y="1812433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95258" y="2351929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변경</a:t>
              </a: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95258" y="2891425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명의변경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95258" y="3430921"/>
              <a:ext cx="720000" cy="540000"/>
            </a:xfrm>
            <a:prstGeom prst="rect">
              <a:avLst/>
            </a:prstGeom>
            <a:solidFill>
              <a:srgbClr val="1BA6C7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서비스</a:t>
              </a:r>
              <a:endParaRPr lang="en-US" altLang="ko-KR" sz="11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해지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395258" y="3970417"/>
              <a:ext cx="720000" cy="540000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3CC4E4"/>
              </a:solidFill>
              <a:miter lim="800000"/>
              <a:headEnd/>
              <a:tailEnd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1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rPr>
                <a:t>부가기능</a:t>
              </a: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95258" y="4509914"/>
              <a:ext cx="720000" cy="540000"/>
              <a:chOff x="395258" y="4509914"/>
              <a:chExt cx="720000" cy="54000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395258" y="4509914"/>
                <a:ext cx="720000" cy="540000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3CC4E4"/>
                </a:solidFill>
                <a:miter lim="800000"/>
                <a:headEnd/>
                <a:tailEnd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ko-KR" altLang="en-US" sz="1200" b="1" dirty="0">
                  <a:solidFill>
                    <a:srgbClr val="1BA6C7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29" name="Picture 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441" y="4587842"/>
                <a:ext cx="409575" cy="3905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42" name="직사각형 41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62696" y="1062156"/>
            <a:ext cx="9468000" cy="5544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endParaRPr lang="ko-KR" altLang="en-US" sz="800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5" name="Group 175">
            <a:extLst>
              <a:ext uri="{FF2B5EF4-FFF2-40B4-BE49-F238E27FC236}">
                <a16:creationId xmlns:a16="http://schemas.microsoft.com/office/drawing/2014/main" xmlns="" id="{C0A6EDB3-1F77-439F-8818-B2201F638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38478"/>
              </p:ext>
            </p:extLst>
          </p:nvPr>
        </p:nvGraphicFramePr>
        <p:xfrm>
          <a:off x="10505256" y="788950"/>
          <a:ext cx="2130330" cy="6093160"/>
        </p:xfrm>
        <a:graphic>
          <a:graphicData uri="http://schemas.openxmlformats.org/drawingml/2006/table">
            <a:tbl>
              <a:tblPr/>
              <a:tblGrid>
                <a:gridCol w="2590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12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93965">
                <a:tc gridSpan="2"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신규</a:t>
                      </a:r>
                      <a:r>
                        <a:rPr lang="en-US" altLang="ko-KR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1" kern="1200" dirty="0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  <a:cs typeface="+mn-cs"/>
                        </a:rPr>
                        <a:t>변경 신청서 와 동일</a:t>
                      </a:r>
                      <a:endParaRPr lang="en-US" altLang="ko-KR" sz="800" b="1" kern="1200" dirty="0" smtClean="0">
                        <a:solidFill>
                          <a:srgbClr val="0070C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신청서 작성 고객명 화면에 출력</a:t>
                      </a: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B1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열람 팝업 화면 표시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B2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 번호 자동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교부 휴대폰번호 자동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해지 후 연락처 번호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가입자 연락처 휴대폰 번호로도 강제 발송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입력된 휴대폰번호 유효성 체크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입력된 휴대폰번호로 톡 발송 처리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SMS/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카톡 내에 열람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URL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솔루션사 화면 표시 후 해당 화면에서 패스워드 입력 후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이미징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열람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솔루션 제공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 발송 처리</a:t>
                      </a:r>
                      <a:endParaRPr lang="en-US" altLang="ko-KR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포시에스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신청서 교부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API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B3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버튼 활성화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 모두 입력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버튼 활성화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휴대폰번호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다운로드 안내 발송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kt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M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모바일에서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제공하는 서비스를 </a:t>
                      </a:r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이용할수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있습니다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신규가입에서 부가서비스의 신청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실시간 사용량 조회까지 다양한 서비스를 이용하실 수 있습니다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hlinkClick r:id="rId3"/>
                        </a:rPr>
                        <a:t>https://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hlinkClick r:id="rId3"/>
                        </a:rPr>
                        <a:t>play.google.com/store/apps/details?id=kt.co.ktmmobile&amp;hl=ko</a:t>
                      </a: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8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M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모바일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SMS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 모듈 호출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44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Remarks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9" marR="91419" marT="45734" marB="45734" anchor="ctr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9396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523" marR="46523" marT="36008" marB="36008" horzOverflow="overflow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46" name="직사각형 45"/>
          <p:cNvSpPr/>
          <p:nvPr/>
        </p:nvSpPr>
        <p:spPr>
          <a:xfrm>
            <a:off x="1432248" y="1341562"/>
            <a:ext cx="8280920" cy="309634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rPr>
              <a:t>홍길</a:t>
            </a:r>
            <a:r>
              <a:rPr lang="en-US" altLang="ko-KR" sz="1600" b="1" dirty="0">
                <a:solidFill>
                  <a:srgbClr val="1BA6C7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님이 작성하신 신청서가 작성 완료되었습니다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고객님께 </a:t>
            </a:r>
            <a:r>
              <a:rPr lang="ko-KR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신청서를 </a:t>
            </a:r>
            <a:r>
              <a:rPr lang="ko-KR" altLang="en-US" sz="16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발송해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주세요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spcBef>
                <a:spcPct val="50000"/>
              </a:spcBef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58326" y="2919200"/>
            <a:ext cx="1656184" cy="101465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신청서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726418" y="3472428"/>
            <a:ext cx="720000" cy="2520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열람</a:t>
            </a:r>
          </a:p>
        </p:txBody>
      </p:sp>
      <p:sp>
        <p:nvSpPr>
          <p:cNvPr id="68" name="눈물 방울 67"/>
          <p:cNvSpPr/>
          <p:nvPr/>
        </p:nvSpPr>
        <p:spPr>
          <a:xfrm rot="5400000">
            <a:off x="4505275" y="3454176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0" name="눈물 방울 69"/>
          <p:cNvSpPr/>
          <p:nvPr/>
        </p:nvSpPr>
        <p:spPr>
          <a:xfrm rot="5400000">
            <a:off x="2879875" y="1408805"/>
            <a:ext cx="203791" cy="213322"/>
          </a:xfrm>
          <a:prstGeom prst="teardrop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1432248" y="4486596"/>
            <a:ext cx="8280920" cy="196753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>
              <a:spcBef>
                <a:spcPct val="50000"/>
              </a:spcBef>
            </a:pP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2" name="Picture 3" descr="D:\1_Working\2025년_엠모바일_스마트서식지\kt엠모바일 스마트서식지 프로젝트 관련_하현숙_추후삭제\App등록\앱스토어등록 이미지_0222\AOS\ktMmobile_android_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72" y="4570627"/>
            <a:ext cx="1002722" cy="178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직사각형 72"/>
          <p:cNvSpPr/>
          <p:nvPr/>
        </p:nvSpPr>
        <p:spPr>
          <a:xfrm>
            <a:off x="2890456" y="4624042"/>
            <a:ext cx="6552728" cy="965992"/>
          </a:xfrm>
          <a:prstGeom prst="rect">
            <a:avLst/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kt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M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모바일에서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제공하는 서비스를 </a:t>
            </a:r>
            <a:r>
              <a:rPr lang="ko-KR" alt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이용할수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있도록 고객에게 안내 발송해 주세요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신규가입에서 부가서비스의 신청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변경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실시간 사용량 조회까지 다양한 서비스를 이용하실 수 있습니다</a:t>
            </a:r>
            <a:r>
              <a:rPr lang="en-US" altLang="ko-KR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088432" y="5392042"/>
            <a:ext cx="1800200" cy="25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휴대폰번호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‘-’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없이 입력</a:t>
            </a:r>
          </a:p>
        </p:txBody>
      </p:sp>
      <p:sp>
        <p:nvSpPr>
          <p:cNvPr id="75" name="눈물 방울 74"/>
          <p:cNvSpPr/>
          <p:nvPr/>
        </p:nvSpPr>
        <p:spPr>
          <a:xfrm rot="5400000">
            <a:off x="5729924" y="538415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B3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943468" y="5392790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</a:t>
            </a: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088536"/>
              </p:ext>
            </p:extLst>
          </p:nvPr>
        </p:nvGraphicFramePr>
        <p:xfrm>
          <a:off x="12914755" y="109568"/>
          <a:ext cx="3443089" cy="121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5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611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marL="46523" marR="46523" marT="36008" marB="36008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26-03-10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1.0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B2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발송 번호 자동 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lang="en-US" altLang="ko-KR" sz="8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사항 추가 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신청서 교부</a:t>
                      </a:r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발송시</a:t>
                      </a:r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가입자 연락처 발송 처리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39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800" dirty="0">
                        <a:latin typeface="+mn-ea"/>
                        <a:cs typeface="Segoe UI" panose="020B0502040204020203" pitchFamily="34" charset="0"/>
                      </a:endParaRPr>
                    </a:p>
                  </a:txBody>
                  <a:tcPr marL="46523" marR="46523" marT="36008" marB="36008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5058526" y="2919200"/>
            <a:ext cx="2928342" cy="101465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180000" tIns="180000" rIns="180000" bIns="180000" rtlCol="0" anchor="t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32448" y="3996566"/>
            <a:ext cx="602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개통한 전화번호와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가입자 연락처 휴대폰번호로 동시에 발송됩니다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</a:p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고객님께서 신청서 출력을 원하실 경우 관리자 사이트에서 출력하여 제공해 주시기 바랍니다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9" name="눈물 방울 38"/>
          <p:cNvSpPr/>
          <p:nvPr/>
        </p:nvSpPr>
        <p:spPr>
          <a:xfrm rot="5400000">
            <a:off x="7848427" y="3458022"/>
            <a:ext cx="203791" cy="213322"/>
          </a:xfrm>
          <a:prstGeom prst="teardrop">
            <a:avLst/>
          </a:prstGeom>
          <a:solidFill>
            <a:srgbClr val="B7DEE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B2</a:t>
            </a:r>
            <a:endParaRPr lang="ko-KR" altLang="en-US" sz="800" b="1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224766" y="3457875"/>
            <a:ext cx="18002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</p:spPr>
        <p:txBody>
          <a:bodyPr wrap="square" lIns="72000" tIns="0" rIns="0" bIns="0" rtlCol="0" anchor="ctr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010-1111-2222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074830" y="3450589"/>
            <a:ext cx="720000" cy="252000"/>
          </a:xfrm>
          <a:prstGeom prst="rect">
            <a:avLst/>
          </a:prstGeom>
          <a:solidFill>
            <a:srgbClr val="E8E8E8"/>
          </a:solidFill>
          <a:ln w="6350" algn="ctr">
            <a:solidFill>
              <a:srgbClr val="E8E8E8"/>
            </a:solidFill>
            <a:miter lim="800000"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발송</a:t>
            </a:r>
          </a:p>
        </p:txBody>
      </p:sp>
    </p:spTree>
    <p:extLst>
      <p:ext uri="{BB962C8B-B14F-4D97-AF65-F5344CB8AC3E}">
        <p14:creationId xmlns:p14="http://schemas.microsoft.com/office/powerpoint/2010/main" val="1557252817"/>
      </p:ext>
    </p:extLst>
  </p:cSld>
  <p:clrMapOvr>
    <a:masterClrMapping/>
  </p:clrMapOvr>
</p:sld>
</file>

<file path=ppt/theme/theme1.xml><?xml version="1.0" encoding="utf-8"?>
<a:theme xmlns:a="http://schemas.openxmlformats.org/drawingml/2006/main" name="설명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5000"/>
            <a:lumOff val="35000"/>
            <a:alpha val="75000"/>
          </a:schemeClr>
        </a:solidFill>
        <a:ln w="6350" algn="ctr">
          <a:noFill/>
          <a:miter lim="800000"/>
          <a:headEnd/>
          <a:tailEnd/>
        </a:ln>
      </a:spPr>
      <a:bodyPr wrap="square" rtlCol="0" anchor="ctr">
        <a:spAutoFit/>
      </a:bodyPr>
      <a:lstStyle>
        <a:defPPr algn="ctr">
          <a:spcBef>
            <a:spcPct val="50000"/>
          </a:spcBef>
          <a:defRPr sz="800" b="1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8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화면설계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5000"/>
            <a:lumOff val="35000"/>
            <a:alpha val="75000"/>
          </a:schemeClr>
        </a:solidFill>
        <a:ln w="6350" algn="ctr">
          <a:noFill/>
          <a:miter lim="800000"/>
          <a:headEnd/>
          <a:tailEnd/>
        </a:ln>
      </a:spPr>
      <a:bodyPr wrap="square" rtlCol="0" anchor="ctr">
        <a:spAutoFit/>
      </a:bodyPr>
      <a:lstStyle>
        <a:defPPr algn="ctr">
          <a:spcBef>
            <a:spcPct val="50000"/>
          </a:spcBef>
          <a:defRPr sz="800" b="1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80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1_화면설계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5000"/>
            <a:lumOff val="35000"/>
            <a:alpha val="75000"/>
          </a:schemeClr>
        </a:solidFill>
        <a:ln w="6350" algn="ctr">
          <a:noFill/>
          <a:miter lim="800000"/>
          <a:headEnd/>
          <a:tailEnd/>
        </a:ln>
      </a:spPr>
      <a:bodyPr wrap="square" rtlCol="0" anchor="ctr">
        <a:spAutoFit/>
      </a:bodyPr>
      <a:lstStyle>
        <a:defPPr algn="ctr">
          <a:spcBef>
            <a:spcPct val="50000"/>
          </a:spcBef>
          <a:defRPr sz="800" b="1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sz="80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LongProperties xmlns="http://schemas.microsoft.com/office/2006/metadata/longProperties"/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DC77A828EE2C4D81AF024F460569B5" ma:contentTypeVersion="1" ma:contentTypeDescription="새 문서를 만듭니다." ma:contentTypeScope="" ma:versionID="cc9d5630a70d8196d048ee69f0fc4281">
  <xsd:schema xmlns:xsd="http://www.w3.org/2001/XMLSchema" xmlns:xs="http://www.w3.org/2001/XMLSchema" xmlns:p="http://schemas.microsoft.com/office/2006/metadata/properties" xmlns:ns2="38401c30-03ba-420f-896f-36299c68a925" targetNamespace="http://schemas.microsoft.com/office/2006/metadata/properties" ma:root="true" ma:fieldsID="f52a3d49948d89f7fa0004adad49ab67" ns2:_="">
    <xsd:import namespace="38401c30-03ba-420f-896f-36299c68a92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01c30-03ba-420f-896f-36299c68a92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문서 ID 값" ma:description="이 항목에 할당된 문서 ID 값입니다." ma:internalName="_dlc_DocId" ma:readOnly="true">
      <xsd:simpleType>
        <xsd:restriction base="dms:Text"/>
      </xsd:simpleType>
    </xsd:element>
    <xsd:element name="_dlc_DocIdUrl" ma:index="9" nillable="true" ma:displayName="문서 ID" ma:description="이 문서에 대한 영구 링크입니다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영구 ID" ma:description="추가 시 ID를 유지합니다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4891BC-C640-43D5-8175-33BC594307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7F5794-410F-4B53-A605-F79AEA507B76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F5DA953D-B00F-4D53-B01B-5A1C523FA2C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80D073E-B96D-419D-A08A-BEEB1D2141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401c30-03ba-420f-896f-36299c68a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D3A49A56-48DF-45A9-B7BA-B180B664DF62}">
  <ds:schemaRefs>
    <ds:schemaRef ds:uri="http://purl.org/dc/terms/"/>
    <ds:schemaRef ds:uri="http://schemas.openxmlformats.org/package/2006/metadata/core-properties"/>
    <ds:schemaRef ds:uri="http://purl.org/dc/dcmitype/"/>
    <ds:schemaRef ds:uri="38401c30-03ba-420f-896f-36299c68a925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29773</TotalTime>
  <Words>3582</Words>
  <Application>Microsoft Office PowerPoint</Application>
  <PresentationFormat>사용자 지정</PresentationFormat>
  <Paragraphs>1114</Paragraphs>
  <Slides>27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설명</vt:lpstr>
      <vt:lpstr>2_화면설계서</vt:lpstr>
      <vt:lpstr>1_화면설계서</vt:lpstr>
      <vt:lpstr>Office 테마</vt:lpstr>
      <vt:lpstr>UI 설계서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hsha</cp:lastModifiedBy>
  <cp:revision>4794</cp:revision>
  <dcterms:created xsi:type="dcterms:W3CDTF">2011-01-04T12:32:05Z</dcterms:created>
  <dcterms:modified xsi:type="dcterms:W3CDTF">2026-03-11T08:40:16Z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FCNHZ7S6XMZC-6-2714</vt:lpwstr>
  </property>
  <property fmtid="{D5CDD505-2E9C-101B-9397-08002B2CF9AE}" pid="3" name="_dlc_DocIdItemGuid">
    <vt:lpwstr>ab86fa6f-0ef5-4b90-9ff9-987649a96697</vt:lpwstr>
  </property>
  <property fmtid="{D5CDD505-2E9C-101B-9397-08002B2CF9AE}" pid="4" name="_dlc_DocIdUrl">
    <vt:lpwstr>https://ecm.ktds.co.kr/sites/ECM/_layouts/DocIdRedir.aspx?ID=FCNHZ7S6XMZC-6-2714, FCNHZ7S6XMZC-6-2714</vt:lpwstr>
  </property>
</Properties>
</file>