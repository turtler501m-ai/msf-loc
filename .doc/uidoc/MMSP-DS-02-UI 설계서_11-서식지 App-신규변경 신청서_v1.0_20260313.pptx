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3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4719" r:id="rId6"/>
    <p:sldMasterId id="2147484712" r:id="rId7"/>
    <p:sldMasterId id="2147484714" r:id="rId8"/>
    <p:sldMasterId id="2147483648" r:id="rId9"/>
  </p:sldMasterIdLst>
  <p:notesMasterIdLst>
    <p:notesMasterId r:id="rId96"/>
  </p:notesMasterIdLst>
  <p:handoutMasterIdLst>
    <p:handoutMasterId r:id="rId97"/>
  </p:handoutMasterIdLst>
  <p:sldIdLst>
    <p:sldId id="260" r:id="rId10"/>
    <p:sldId id="312" r:id="rId11"/>
    <p:sldId id="314" r:id="rId12"/>
    <p:sldId id="758" r:id="rId13"/>
    <p:sldId id="927" r:id="rId14"/>
    <p:sldId id="936" r:id="rId15"/>
    <p:sldId id="931" r:id="rId16"/>
    <p:sldId id="932" r:id="rId17"/>
    <p:sldId id="943" r:id="rId18"/>
    <p:sldId id="944" r:id="rId19"/>
    <p:sldId id="955" r:id="rId20"/>
    <p:sldId id="940" r:id="rId21"/>
    <p:sldId id="941" r:id="rId22"/>
    <p:sldId id="942" r:id="rId23"/>
    <p:sldId id="896" r:id="rId24"/>
    <p:sldId id="954" r:id="rId25"/>
    <p:sldId id="957" r:id="rId26"/>
    <p:sldId id="846" r:id="rId27"/>
    <p:sldId id="911" r:id="rId28"/>
    <p:sldId id="847" r:id="rId29"/>
    <p:sldId id="920" r:id="rId30"/>
    <p:sldId id="921" r:id="rId31"/>
    <p:sldId id="919" r:id="rId32"/>
    <p:sldId id="910" r:id="rId33"/>
    <p:sldId id="945" r:id="rId34"/>
    <p:sldId id="951" r:id="rId35"/>
    <p:sldId id="938" r:id="rId36"/>
    <p:sldId id="939" r:id="rId37"/>
    <p:sldId id="950" r:id="rId38"/>
    <p:sldId id="946" r:id="rId39"/>
    <p:sldId id="958" r:id="rId40"/>
    <p:sldId id="960" r:id="rId41"/>
    <p:sldId id="959" r:id="rId42"/>
    <p:sldId id="930" r:id="rId43"/>
    <p:sldId id="947" r:id="rId44"/>
    <p:sldId id="887" r:id="rId45"/>
    <p:sldId id="929" r:id="rId46"/>
    <p:sldId id="858" r:id="rId47"/>
    <p:sldId id="949" r:id="rId48"/>
    <p:sldId id="956" r:id="rId49"/>
    <p:sldId id="908" r:id="rId50"/>
    <p:sldId id="853" r:id="rId51"/>
    <p:sldId id="893" r:id="rId52"/>
    <p:sldId id="845" r:id="rId53"/>
    <p:sldId id="850" r:id="rId54"/>
    <p:sldId id="953" r:id="rId55"/>
    <p:sldId id="897" r:id="rId56"/>
    <p:sldId id="852" r:id="rId57"/>
    <p:sldId id="862" r:id="rId58"/>
    <p:sldId id="952" r:id="rId59"/>
    <p:sldId id="909" r:id="rId60"/>
    <p:sldId id="855" r:id="rId61"/>
    <p:sldId id="859" r:id="rId62"/>
    <p:sldId id="923" r:id="rId63"/>
    <p:sldId id="860" r:id="rId64"/>
    <p:sldId id="861" r:id="rId65"/>
    <p:sldId id="925" r:id="rId66"/>
    <p:sldId id="875" r:id="rId67"/>
    <p:sldId id="876" r:id="rId68"/>
    <p:sldId id="864" r:id="rId69"/>
    <p:sldId id="922" r:id="rId70"/>
    <p:sldId id="906" r:id="rId71"/>
    <p:sldId id="914" r:id="rId72"/>
    <p:sldId id="863" r:id="rId73"/>
    <p:sldId id="854" r:id="rId74"/>
    <p:sldId id="891" r:id="rId75"/>
    <p:sldId id="870" r:id="rId76"/>
    <p:sldId id="874" r:id="rId77"/>
    <p:sldId id="898" r:id="rId78"/>
    <p:sldId id="899" r:id="rId79"/>
    <p:sldId id="865" r:id="rId80"/>
    <p:sldId id="810" r:id="rId81"/>
    <p:sldId id="937" r:id="rId82"/>
    <p:sldId id="814" r:id="rId83"/>
    <p:sldId id="880" r:id="rId84"/>
    <p:sldId id="881" r:id="rId85"/>
    <p:sldId id="882" r:id="rId86"/>
    <p:sldId id="866" r:id="rId87"/>
    <p:sldId id="883" r:id="rId88"/>
    <p:sldId id="901" r:id="rId89"/>
    <p:sldId id="779" r:id="rId90"/>
    <p:sldId id="884" r:id="rId91"/>
    <p:sldId id="915" r:id="rId92"/>
    <p:sldId id="916" r:id="rId93"/>
    <p:sldId id="917" r:id="rId94"/>
    <p:sldId id="918" r:id="rId95"/>
  </p:sldIdLst>
  <p:sldSz cx="12801600" cy="6859588"/>
  <p:notesSz cx="6858000" cy="91440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536204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1072408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608612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2144817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681021" algn="l" defTabSz="1072408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6pPr>
    <a:lvl7pPr marL="3217225" algn="l" defTabSz="1072408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7pPr>
    <a:lvl8pPr marL="3753429" algn="l" defTabSz="1072408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8pPr>
    <a:lvl9pPr marL="4289633" algn="l" defTabSz="1072408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22F286AD-7015-4EE0-ADF9-893C2BCEA316}">
          <p14:sldIdLst>
            <p14:sldId id="260"/>
            <p14:sldId id="312"/>
            <p14:sldId id="314"/>
          </p14:sldIdLst>
        </p14:section>
        <p14:section name="UI 목록" id="{36677794-674C-4CFE-B5A6-679D9AE47730}">
          <p14:sldIdLst>
            <p14:sldId id="758"/>
            <p14:sldId id="927"/>
          </p14:sldIdLst>
        </p14:section>
        <p14:section name="신규/변경 신청서 작성 절차 및 프로세스" id="{394F3153-00B7-4D90-84BB-34FBEB9DADEC}">
          <p14:sldIdLst>
            <p14:sldId id="936"/>
            <p14:sldId id="931"/>
            <p14:sldId id="932"/>
          </p14:sldIdLst>
        </p14:section>
        <p14:section name="신규/변경 신청서" id="{AB7034BF-89AB-4A6C-960D-D80F18600982}">
          <p14:sldIdLst>
            <p14:sldId id="943"/>
            <p14:sldId id="944"/>
            <p14:sldId id="955"/>
            <p14:sldId id="940"/>
            <p14:sldId id="941"/>
            <p14:sldId id="942"/>
          </p14:sldIdLst>
        </p14:section>
        <p14:section name="신규/변경 신청서 - 고객" id="{CA70D17B-28DF-4731-AD51-768261616227}">
          <p14:sldIdLst>
            <p14:sldId id="896"/>
            <p14:sldId id="954"/>
            <p14:sldId id="957"/>
            <p14:sldId id="846"/>
            <p14:sldId id="911"/>
            <p14:sldId id="847"/>
            <p14:sldId id="920"/>
            <p14:sldId id="921"/>
            <p14:sldId id="919"/>
            <p14:sldId id="910"/>
            <p14:sldId id="945"/>
            <p14:sldId id="951"/>
            <p14:sldId id="938"/>
            <p14:sldId id="939"/>
            <p14:sldId id="950"/>
            <p14:sldId id="946"/>
            <p14:sldId id="958"/>
            <p14:sldId id="960"/>
            <p14:sldId id="959"/>
            <p14:sldId id="930"/>
            <p14:sldId id="947"/>
            <p14:sldId id="887"/>
            <p14:sldId id="929"/>
            <p14:sldId id="858"/>
            <p14:sldId id="949"/>
            <p14:sldId id="956"/>
            <p14:sldId id="908"/>
            <p14:sldId id="853"/>
            <p14:sldId id="893"/>
            <p14:sldId id="845"/>
            <p14:sldId id="850"/>
            <p14:sldId id="953"/>
          </p14:sldIdLst>
        </p14:section>
        <p14:section name="신규/변경 신청서 - 상품" id="{39C5C203-35BF-4611-96B6-7867DE663C82}">
          <p14:sldIdLst>
            <p14:sldId id="897"/>
            <p14:sldId id="852"/>
            <p14:sldId id="862"/>
            <p14:sldId id="952"/>
            <p14:sldId id="909"/>
            <p14:sldId id="855"/>
            <p14:sldId id="859"/>
            <p14:sldId id="923"/>
            <p14:sldId id="860"/>
            <p14:sldId id="861"/>
            <p14:sldId id="925"/>
            <p14:sldId id="875"/>
            <p14:sldId id="876"/>
            <p14:sldId id="864"/>
            <p14:sldId id="922"/>
            <p14:sldId id="906"/>
            <p14:sldId id="914"/>
            <p14:sldId id="863"/>
            <p14:sldId id="854"/>
            <p14:sldId id="891"/>
            <p14:sldId id="870"/>
            <p14:sldId id="874"/>
          </p14:sldIdLst>
        </p14:section>
        <p14:section name="신규/변경 신청서 - 동의" id="{66A8D7C0-4593-4659-BB66-A766C08F638A}">
          <p14:sldIdLst>
            <p14:sldId id="898"/>
            <p14:sldId id="899"/>
            <p14:sldId id="865"/>
            <p14:sldId id="810"/>
            <p14:sldId id="937"/>
            <p14:sldId id="814"/>
            <p14:sldId id="880"/>
            <p14:sldId id="881"/>
            <p14:sldId id="882"/>
          </p14:sldIdLst>
        </p14:section>
        <p14:section name="신규/변경 신청서 - 신청완료" id="{C2891932-B0D5-4EF5-B194-0B6186CF0D52}">
          <p14:sldIdLst>
            <p14:sldId id="866"/>
            <p14:sldId id="883"/>
            <p14:sldId id="901"/>
            <p14:sldId id="779"/>
            <p14:sldId id="884"/>
          </p14:sldIdLst>
        </p14:section>
        <p14:section name="입력 제한" id="{7CFDB954-8E16-4451-A98A-68F9D0DB4921}">
          <p14:sldIdLst>
            <p14:sldId id="915"/>
            <p14:sldId id="916"/>
            <p14:sldId id="917"/>
            <p14:sldId id="918"/>
          </p14:sldIdLst>
        </p14:section>
      </p14:sectionLst>
    </p:ext>
    <p:ext uri="{EFAFB233-063F-42B5-8137-9DF3F51BA10A}">
      <p15:sldGuideLst xmlns="" xmlns:p15="http://schemas.microsoft.com/office/powerpoint/2012/main">
        <p15:guide id="1" orient="horz" pos="2205">
          <p15:clr>
            <a:srgbClr val="A4A3A4"/>
          </p15:clr>
        </p15:guide>
        <p15:guide id="2" orient="horz" pos="527">
          <p15:clr>
            <a:srgbClr val="A4A3A4"/>
          </p15:clr>
        </p15:guide>
        <p15:guide id="3" pos="3120">
          <p15:clr>
            <a:srgbClr val="A4A3A4"/>
          </p15:clr>
        </p15:guide>
        <p15:guide id="4" pos="353">
          <p15:clr>
            <a:srgbClr val="A4A3A4"/>
          </p15:clr>
        </p15:guide>
        <p15:guide id="5" orient="horz" pos="2206">
          <p15:clr>
            <a:srgbClr val="A4A3A4"/>
          </p15:clr>
        </p15:guide>
        <p15:guide id="6" pos="4032">
          <p15:clr>
            <a:srgbClr val="A4A3A4"/>
          </p15:clr>
        </p15:guide>
        <p15:guide id="7" pos="456">
          <p15:clr>
            <a:srgbClr val="A4A3A4"/>
          </p15:clr>
        </p15:guide>
      </p15:sldGuideLst>
    </p:ext>
    <p:ext uri="{2D200454-40CA-4A62-9FC3-DE9A4176ACB9}">
      <p15:notesGuideLst xmlns=""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soffice463" initials="m" lastIdx="5" clrIdx="0">
    <p:extLst>
      <p:ext uri="{19B8F6BF-5375-455C-9EA6-DF929625EA0E}">
        <p15:presenceInfo xmlns="" xmlns:p15="http://schemas.microsoft.com/office/powerpoint/2012/main" userId="S::msoffice463@unsja.onmicrosoft.com::98a27196-cbe2-46a8-a975-4b2fdc4eb4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FF0000"/>
    <a:srgbClr val="FFFFFF"/>
    <a:srgbClr val="595959"/>
    <a:srgbClr val="1BA6C7"/>
    <a:srgbClr val="E8F8FC"/>
    <a:srgbClr val="3CC4E4"/>
    <a:srgbClr val="FF3300"/>
    <a:srgbClr val="FFC000"/>
    <a:srgbClr val="B7D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75" autoAdjust="0"/>
    <p:restoredTop sz="94717" autoAdjust="0"/>
  </p:normalViewPr>
  <p:slideViewPr>
    <p:cSldViewPr>
      <p:cViewPr>
        <p:scale>
          <a:sx n="100" d="100"/>
          <a:sy n="100" d="100"/>
        </p:scale>
        <p:origin x="-2827" y="-1498"/>
      </p:cViewPr>
      <p:guideLst>
        <p:guide orient="horz" pos="2205"/>
        <p:guide orient="horz" pos="527"/>
        <p:guide orient="horz" pos="2206"/>
        <p:guide pos="3120"/>
        <p:guide pos="353"/>
        <p:guide pos="4032"/>
        <p:guide pos="456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9" d="100"/>
          <a:sy n="89" d="100"/>
        </p:scale>
        <p:origin x="-3846" y="-9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7.xml"/><Relationship Id="rId21" Type="http://schemas.openxmlformats.org/officeDocument/2006/relationships/slide" Target="slides/slide12.xml"/><Relationship Id="rId34" Type="http://schemas.openxmlformats.org/officeDocument/2006/relationships/slide" Target="slides/slide25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63" Type="http://schemas.openxmlformats.org/officeDocument/2006/relationships/slide" Target="slides/slide54.xml"/><Relationship Id="rId68" Type="http://schemas.openxmlformats.org/officeDocument/2006/relationships/slide" Target="slides/slide59.xml"/><Relationship Id="rId76" Type="http://schemas.openxmlformats.org/officeDocument/2006/relationships/slide" Target="slides/slide67.xml"/><Relationship Id="rId84" Type="http://schemas.openxmlformats.org/officeDocument/2006/relationships/slide" Target="slides/slide75.xml"/><Relationship Id="rId89" Type="http://schemas.openxmlformats.org/officeDocument/2006/relationships/slide" Target="slides/slide80.xml"/><Relationship Id="rId97" Type="http://schemas.openxmlformats.org/officeDocument/2006/relationships/handoutMaster" Target="handoutMasters/handoutMaster1.xml"/><Relationship Id="rId7" Type="http://schemas.openxmlformats.org/officeDocument/2006/relationships/slideMaster" Target="slideMasters/slideMaster2.xml"/><Relationship Id="rId71" Type="http://schemas.openxmlformats.org/officeDocument/2006/relationships/slide" Target="slides/slide62.xml"/><Relationship Id="rId92" Type="http://schemas.openxmlformats.org/officeDocument/2006/relationships/slide" Target="slides/slide83.xml"/><Relationship Id="rId2" Type="http://schemas.openxmlformats.org/officeDocument/2006/relationships/customXml" Target="../customXml/item2.xml"/><Relationship Id="rId16" Type="http://schemas.openxmlformats.org/officeDocument/2006/relationships/slide" Target="slides/slide7.xml"/><Relationship Id="rId29" Type="http://schemas.openxmlformats.org/officeDocument/2006/relationships/slide" Target="slides/slide20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slide" Target="slides/slide49.xml"/><Relationship Id="rId66" Type="http://schemas.openxmlformats.org/officeDocument/2006/relationships/slide" Target="slides/slide57.xml"/><Relationship Id="rId74" Type="http://schemas.openxmlformats.org/officeDocument/2006/relationships/slide" Target="slides/slide65.xml"/><Relationship Id="rId79" Type="http://schemas.openxmlformats.org/officeDocument/2006/relationships/slide" Target="slides/slide70.xml"/><Relationship Id="rId87" Type="http://schemas.openxmlformats.org/officeDocument/2006/relationships/slide" Target="slides/slide78.xml"/><Relationship Id="rId102" Type="http://schemas.openxmlformats.org/officeDocument/2006/relationships/tableStyles" Target="tableStyles.xml"/><Relationship Id="rId5" Type="http://schemas.openxmlformats.org/officeDocument/2006/relationships/customXml" Target="../customXml/item5.xml"/><Relationship Id="rId61" Type="http://schemas.openxmlformats.org/officeDocument/2006/relationships/slide" Target="slides/slide52.xml"/><Relationship Id="rId82" Type="http://schemas.openxmlformats.org/officeDocument/2006/relationships/slide" Target="slides/slide73.xml"/><Relationship Id="rId90" Type="http://schemas.openxmlformats.org/officeDocument/2006/relationships/slide" Target="slides/slide81.xml"/><Relationship Id="rId95" Type="http://schemas.openxmlformats.org/officeDocument/2006/relationships/slide" Target="slides/slide86.xml"/><Relationship Id="rId19" Type="http://schemas.openxmlformats.org/officeDocument/2006/relationships/slide" Target="slides/slide10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slide" Target="slides/slide47.xml"/><Relationship Id="rId64" Type="http://schemas.openxmlformats.org/officeDocument/2006/relationships/slide" Target="slides/slide55.xml"/><Relationship Id="rId69" Type="http://schemas.openxmlformats.org/officeDocument/2006/relationships/slide" Target="slides/slide60.xml"/><Relationship Id="rId77" Type="http://schemas.openxmlformats.org/officeDocument/2006/relationships/slide" Target="slides/slide68.xml"/><Relationship Id="rId100" Type="http://schemas.openxmlformats.org/officeDocument/2006/relationships/viewProps" Target="viewProps.xml"/><Relationship Id="rId8" Type="http://schemas.openxmlformats.org/officeDocument/2006/relationships/slideMaster" Target="slideMasters/slideMaster3.xml"/><Relationship Id="rId51" Type="http://schemas.openxmlformats.org/officeDocument/2006/relationships/slide" Target="slides/slide42.xml"/><Relationship Id="rId72" Type="http://schemas.openxmlformats.org/officeDocument/2006/relationships/slide" Target="slides/slide63.xml"/><Relationship Id="rId80" Type="http://schemas.openxmlformats.org/officeDocument/2006/relationships/slide" Target="slides/slide71.xml"/><Relationship Id="rId85" Type="http://schemas.openxmlformats.org/officeDocument/2006/relationships/slide" Target="slides/slide76.xml"/><Relationship Id="rId93" Type="http://schemas.openxmlformats.org/officeDocument/2006/relationships/slide" Target="slides/slide84.xml"/><Relationship Id="rId9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slide" Target="slides/slide50.xml"/><Relationship Id="rId67" Type="http://schemas.openxmlformats.org/officeDocument/2006/relationships/slide" Target="slides/slide58.xml"/><Relationship Id="rId20" Type="http://schemas.openxmlformats.org/officeDocument/2006/relationships/slide" Target="slides/slide11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slide" Target="slides/slide53.xml"/><Relationship Id="rId70" Type="http://schemas.openxmlformats.org/officeDocument/2006/relationships/slide" Target="slides/slide61.xml"/><Relationship Id="rId75" Type="http://schemas.openxmlformats.org/officeDocument/2006/relationships/slide" Target="slides/slide66.xml"/><Relationship Id="rId83" Type="http://schemas.openxmlformats.org/officeDocument/2006/relationships/slide" Target="slides/slide74.xml"/><Relationship Id="rId88" Type="http://schemas.openxmlformats.org/officeDocument/2006/relationships/slide" Target="slides/slide79.xml"/><Relationship Id="rId91" Type="http://schemas.openxmlformats.org/officeDocument/2006/relationships/slide" Target="slides/slide82.xml"/><Relationship Id="rId96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slide" Target="slides/slide48.xml"/><Relationship Id="rId10" Type="http://schemas.openxmlformats.org/officeDocument/2006/relationships/slide" Target="slides/slide1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slide" Target="slides/slide51.xml"/><Relationship Id="rId65" Type="http://schemas.openxmlformats.org/officeDocument/2006/relationships/slide" Target="slides/slide56.xml"/><Relationship Id="rId73" Type="http://schemas.openxmlformats.org/officeDocument/2006/relationships/slide" Target="slides/slide64.xml"/><Relationship Id="rId78" Type="http://schemas.openxmlformats.org/officeDocument/2006/relationships/slide" Target="slides/slide69.xml"/><Relationship Id="rId81" Type="http://schemas.openxmlformats.org/officeDocument/2006/relationships/slide" Target="slides/slide72.xml"/><Relationship Id="rId86" Type="http://schemas.openxmlformats.org/officeDocument/2006/relationships/slide" Target="slides/slide77.xml"/><Relationship Id="rId94" Type="http://schemas.openxmlformats.org/officeDocument/2006/relationships/slide" Target="slides/slide85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slideMaster" Target="slideMasters/slideMaster4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39" Type="http://schemas.openxmlformats.org/officeDocument/2006/relationships/slide" Target="slides/slide3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18A3FC-922A-4EA6-8220-C7D31A08AE20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C60E98-F2DF-4BA5-9CEA-C7A72CA67F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73515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B9C0FC0A-8EC4-45F8-BAE3-5FBDF274FF84}" type="datetimeFigureOut">
              <a:rPr lang="ko-KR" altLang="en-US"/>
              <a:pPr>
                <a:defRPr/>
              </a:pPr>
              <a:t>2026-03-13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0188" y="685800"/>
            <a:ext cx="63976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B8A35F2-6331-49D4-8813-E163F37982F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5047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536204"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1072408"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608612"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2144817"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681021" algn="l" defTabSz="1072408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217225" algn="l" defTabSz="1072408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753429" algn="l" defTabSz="1072408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289633" algn="l" defTabSz="1072408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230188" y="685800"/>
            <a:ext cx="6397625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5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 sz="300" dirty="0"/>
          </a:p>
        </p:txBody>
      </p:sp>
      <p:sp>
        <p:nvSpPr>
          <p:cNvPr id="23556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/>
            <a:fld id="{9897F6F4-9267-44EB-B43D-D3AB4AFE9860}" type="slidenum">
              <a:rPr lang="ko-KR" altLang="en-US" smtClean="0"/>
              <a:pPr eaLnBrk="1" hangingPunct="1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7058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B8A35F2-6331-49D4-8813-E163F37982F4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43042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B8A35F2-6331-49D4-8813-E163F37982F4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4304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C_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2640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C_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25840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C_3.계속 이어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7"/>
          <p:cNvSpPr/>
          <p:nvPr userDrawn="1"/>
        </p:nvSpPr>
        <p:spPr bwMode="auto">
          <a:xfrm>
            <a:off x="178642" y="6479107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324312" y="1648"/>
                </a:lnTo>
                <a:lnTo>
                  <a:pt x="523917" y="1648"/>
                </a:lnTo>
                <a:lnTo>
                  <a:pt x="527547" y="0"/>
                </a:lnTo>
                <a:lnTo>
                  <a:pt x="531177" y="1648"/>
                </a:lnTo>
                <a:lnTo>
                  <a:pt x="729804" y="1648"/>
                </a:lnTo>
                <a:lnTo>
                  <a:pt x="733434" y="0"/>
                </a:lnTo>
                <a:lnTo>
                  <a:pt x="737064" y="1648"/>
                </a:lnTo>
                <a:lnTo>
                  <a:pt x="935691" y="1648"/>
                </a:lnTo>
                <a:lnTo>
                  <a:pt x="939321" y="0"/>
                </a:lnTo>
                <a:lnTo>
                  <a:pt x="942951" y="1648"/>
                </a:lnTo>
                <a:lnTo>
                  <a:pt x="1141578" y="1648"/>
                </a:lnTo>
                <a:lnTo>
                  <a:pt x="1145208" y="0"/>
                </a:lnTo>
                <a:lnTo>
                  <a:pt x="1148839" y="1648"/>
                </a:lnTo>
                <a:lnTo>
                  <a:pt x="1347465" y="1648"/>
                </a:lnTo>
                <a:lnTo>
                  <a:pt x="1351095" y="0"/>
                </a:lnTo>
                <a:lnTo>
                  <a:pt x="1354726" y="1648"/>
                </a:lnTo>
                <a:lnTo>
                  <a:pt x="1553352" y="1648"/>
                </a:lnTo>
                <a:lnTo>
                  <a:pt x="1556982" y="0"/>
                </a:lnTo>
                <a:lnTo>
                  <a:pt x="1560613" y="1648"/>
                </a:lnTo>
                <a:lnTo>
                  <a:pt x="1759239" y="1648"/>
                </a:lnTo>
                <a:lnTo>
                  <a:pt x="1762869" y="0"/>
                </a:lnTo>
                <a:lnTo>
                  <a:pt x="1766500" y="1648"/>
                </a:lnTo>
                <a:lnTo>
                  <a:pt x="1965126" y="1648"/>
                </a:lnTo>
                <a:lnTo>
                  <a:pt x="1968756" y="0"/>
                </a:lnTo>
                <a:lnTo>
                  <a:pt x="1972387" y="1648"/>
                </a:lnTo>
                <a:lnTo>
                  <a:pt x="2171013" y="1648"/>
                </a:lnTo>
                <a:lnTo>
                  <a:pt x="2174643" y="0"/>
                </a:lnTo>
                <a:lnTo>
                  <a:pt x="2178274" y="1648"/>
                </a:lnTo>
                <a:lnTo>
                  <a:pt x="2376900" y="1648"/>
                </a:lnTo>
                <a:lnTo>
                  <a:pt x="2380530" y="0"/>
                </a:lnTo>
                <a:lnTo>
                  <a:pt x="2384161" y="1648"/>
                </a:lnTo>
                <a:lnTo>
                  <a:pt x="2492847" y="1648"/>
                </a:lnTo>
                <a:lnTo>
                  <a:pt x="2492847" y="46952"/>
                </a:lnTo>
                <a:lnTo>
                  <a:pt x="2492847" y="85846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2380530" y="121444"/>
                </a:lnTo>
                <a:lnTo>
                  <a:pt x="2277586" y="168174"/>
                </a:lnTo>
                <a:lnTo>
                  <a:pt x="2174643" y="121444"/>
                </a:lnTo>
                <a:lnTo>
                  <a:pt x="2071699" y="168174"/>
                </a:lnTo>
                <a:lnTo>
                  <a:pt x="1968756" y="121444"/>
                </a:lnTo>
                <a:lnTo>
                  <a:pt x="1865812" y="168174"/>
                </a:lnTo>
                <a:lnTo>
                  <a:pt x="1762869" y="121444"/>
                </a:lnTo>
                <a:lnTo>
                  <a:pt x="1659925" y="168174"/>
                </a:lnTo>
                <a:lnTo>
                  <a:pt x="1556982" y="121444"/>
                </a:lnTo>
                <a:lnTo>
                  <a:pt x="1454038" y="168174"/>
                </a:lnTo>
                <a:lnTo>
                  <a:pt x="1351095" y="121444"/>
                </a:lnTo>
                <a:lnTo>
                  <a:pt x="1248151" y="168174"/>
                </a:lnTo>
                <a:lnTo>
                  <a:pt x="1145208" y="121444"/>
                </a:lnTo>
                <a:lnTo>
                  <a:pt x="1042264" y="168174"/>
                </a:lnTo>
                <a:lnTo>
                  <a:pt x="939321" y="121444"/>
                </a:lnTo>
                <a:lnTo>
                  <a:pt x="836377" y="168174"/>
                </a:lnTo>
                <a:lnTo>
                  <a:pt x="733434" y="121444"/>
                </a:lnTo>
                <a:lnTo>
                  <a:pt x="630490" y="168174"/>
                </a:lnTo>
                <a:lnTo>
                  <a:pt x="527547" y="121444"/>
                </a:lnTo>
                <a:lnTo>
                  <a:pt x="424114" y="168396"/>
                </a:lnTo>
                <a:lnTo>
                  <a:pt x="320682" y="121444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13817" y="122178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5846"/>
                </a:lnTo>
                <a:lnTo>
                  <a:pt x="0" y="46952"/>
                </a:lnTo>
                <a:lnTo>
                  <a:pt x="0" y="1648"/>
                </a:lnTo>
                <a:lnTo>
                  <a:pt x="111804" y="1648"/>
                </a:lnTo>
                <a:lnTo>
                  <a:pt x="113817" y="734"/>
                </a:lnTo>
                <a:lnTo>
                  <a:pt x="115831" y="1648"/>
                </a:lnTo>
                <a:lnTo>
                  <a:pt x="317052" y="164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다음 페이지 이어서 계속됨</a:t>
            </a:r>
          </a:p>
        </p:txBody>
      </p:sp>
      <p:sp>
        <p:nvSpPr>
          <p:cNvPr id="5" name="직사각형 7"/>
          <p:cNvSpPr/>
          <p:nvPr userDrawn="1"/>
        </p:nvSpPr>
        <p:spPr bwMode="auto">
          <a:xfrm>
            <a:off x="180322" y="831870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424114" y="46952"/>
                </a:lnTo>
                <a:lnTo>
                  <a:pt x="527547" y="0"/>
                </a:lnTo>
                <a:lnTo>
                  <a:pt x="630490" y="46730"/>
                </a:lnTo>
                <a:lnTo>
                  <a:pt x="733434" y="0"/>
                </a:lnTo>
                <a:lnTo>
                  <a:pt x="836377" y="46730"/>
                </a:lnTo>
                <a:lnTo>
                  <a:pt x="939321" y="0"/>
                </a:lnTo>
                <a:lnTo>
                  <a:pt x="1042264" y="46730"/>
                </a:lnTo>
                <a:lnTo>
                  <a:pt x="1145208" y="0"/>
                </a:lnTo>
                <a:lnTo>
                  <a:pt x="1248151" y="46730"/>
                </a:lnTo>
                <a:lnTo>
                  <a:pt x="1351095" y="0"/>
                </a:lnTo>
                <a:lnTo>
                  <a:pt x="1454038" y="46730"/>
                </a:lnTo>
                <a:lnTo>
                  <a:pt x="1556982" y="0"/>
                </a:lnTo>
                <a:lnTo>
                  <a:pt x="1659925" y="46730"/>
                </a:lnTo>
                <a:lnTo>
                  <a:pt x="1762869" y="0"/>
                </a:lnTo>
                <a:lnTo>
                  <a:pt x="1865812" y="46730"/>
                </a:lnTo>
                <a:lnTo>
                  <a:pt x="1968756" y="0"/>
                </a:lnTo>
                <a:lnTo>
                  <a:pt x="2071699" y="46730"/>
                </a:lnTo>
                <a:lnTo>
                  <a:pt x="2174643" y="0"/>
                </a:lnTo>
                <a:lnTo>
                  <a:pt x="2277586" y="46730"/>
                </a:lnTo>
                <a:lnTo>
                  <a:pt x="2380530" y="0"/>
                </a:lnTo>
                <a:lnTo>
                  <a:pt x="2483962" y="46952"/>
                </a:lnTo>
                <a:lnTo>
                  <a:pt x="2492847" y="46952"/>
                </a:lnTo>
                <a:lnTo>
                  <a:pt x="2492847" y="84198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424114" y="168396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4198"/>
                </a:lnTo>
                <a:lnTo>
                  <a:pt x="0" y="46952"/>
                </a:lnTo>
                <a:lnTo>
                  <a:pt x="12001" y="46952"/>
                </a:lnTo>
                <a:lnTo>
                  <a:pt x="113817" y="734"/>
                </a:lnTo>
                <a:lnTo>
                  <a:pt x="215632" y="46952"/>
                </a:lnTo>
                <a:lnTo>
                  <a:pt x="217249" y="46952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이전 내용에 이어짐</a:t>
            </a:r>
          </a:p>
        </p:txBody>
      </p:sp>
    </p:spTree>
    <p:extLst>
      <p:ext uri="{BB962C8B-B14F-4D97-AF65-F5344CB8AC3E}">
        <p14:creationId xmlns:p14="http://schemas.microsoft.com/office/powerpoint/2010/main" val="2629826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C_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7151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C_3.계속 이어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7"/>
          <p:cNvSpPr/>
          <p:nvPr userDrawn="1"/>
        </p:nvSpPr>
        <p:spPr bwMode="auto">
          <a:xfrm>
            <a:off x="178642" y="6479107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324312" y="1648"/>
                </a:lnTo>
                <a:lnTo>
                  <a:pt x="523917" y="1648"/>
                </a:lnTo>
                <a:lnTo>
                  <a:pt x="527547" y="0"/>
                </a:lnTo>
                <a:lnTo>
                  <a:pt x="531177" y="1648"/>
                </a:lnTo>
                <a:lnTo>
                  <a:pt x="729804" y="1648"/>
                </a:lnTo>
                <a:lnTo>
                  <a:pt x="733434" y="0"/>
                </a:lnTo>
                <a:lnTo>
                  <a:pt x="737064" y="1648"/>
                </a:lnTo>
                <a:lnTo>
                  <a:pt x="935691" y="1648"/>
                </a:lnTo>
                <a:lnTo>
                  <a:pt x="939321" y="0"/>
                </a:lnTo>
                <a:lnTo>
                  <a:pt x="942951" y="1648"/>
                </a:lnTo>
                <a:lnTo>
                  <a:pt x="1141578" y="1648"/>
                </a:lnTo>
                <a:lnTo>
                  <a:pt x="1145208" y="0"/>
                </a:lnTo>
                <a:lnTo>
                  <a:pt x="1148839" y="1648"/>
                </a:lnTo>
                <a:lnTo>
                  <a:pt x="1347465" y="1648"/>
                </a:lnTo>
                <a:lnTo>
                  <a:pt x="1351095" y="0"/>
                </a:lnTo>
                <a:lnTo>
                  <a:pt x="1354726" y="1648"/>
                </a:lnTo>
                <a:lnTo>
                  <a:pt x="1553352" y="1648"/>
                </a:lnTo>
                <a:lnTo>
                  <a:pt x="1556982" y="0"/>
                </a:lnTo>
                <a:lnTo>
                  <a:pt x="1560613" y="1648"/>
                </a:lnTo>
                <a:lnTo>
                  <a:pt x="1759239" y="1648"/>
                </a:lnTo>
                <a:lnTo>
                  <a:pt x="1762869" y="0"/>
                </a:lnTo>
                <a:lnTo>
                  <a:pt x="1766500" y="1648"/>
                </a:lnTo>
                <a:lnTo>
                  <a:pt x="1965126" y="1648"/>
                </a:lnTo>
                <a:lnTo>
                  <a:pt x="1968756" y="0"/>
                </a:lnTo>
                <a:lnTo>
                  <a:pt x="1972387" y="1648"/>
                </a:lnTo>
                <a:lnTo>
                  <a:pt x="2171013" y="1648"/>
                </a:lnTo>
                <a:lnTo>
                  <a:pt x="2174643" y="0"/>
                </a:lnTo>
                <a:lnTo>
                  <a:pt x="2178274" y="1648"/>
                </a:lnTo>
                <a:lnTo>
                  <a:pt x="2376900" y="1648"/>
                </a:lnTo>
                <a:lnTo>
                  <a:pt x="2380530" y="0"/>
                </a:lnTo>
                <a:lnTo>
                  <a:pt x="2384161" y="1648"/>
                </a:lnTo>
                <a:lnTo>
                  <a:pt x="2492847" y="1648"/>
                </a:lnTo>
                <a:lnTo>
                  <a:pt x="2492847" y="46952"/>
                </a:lnTo>
                <a:lnTo>
                  <a:pt x="2492847" y="85846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2380530" y="121444"/>
                </a:lnTo>
                <a:lnTo>
                  <a:pt x="2277586" y="168174"/>
                </a:lnTo>
                <a:lnTo>
                  <a:pt x="2174643" y="121444"/>
                </a:lnTo>
                <a:lnTo>
                  <a:pt x="2071699" y="168174"/>
                </a:lnTo>
                <a:lnTo>
                  <a:pt x="1968756" y="121444"/>
                </a:lnTo>
                <a:lnTo>
                  <a:pt x="1865812" y="168174"/>
                </a:lnTo>
                <a:lnTo>
                  <a:pt x="1762869" y="121444"/>
                </a:lnTo>
                <a:lnTo>
                  <a:pt x="1659925" y="168174"/>
                </a:lnTo>
                <a:lnTo>
                  <a:pt x="1556982" y="121444"/>
                </a:lnTo>
                <a:lnTo>
                  <a:pt x="1454038" y="168174"/>
                </a:lnTo>
                <a:lnTo>
                  <a:pt x="1351095" y="121444"/>
                </a:lnTo>
                <a:lnTo>
                  <a:pt x="1248151" y="168174"/>
                </a:lnTo>
                <a:lnTo>
                  <a:pt x="1145208" y="121444"/>
                </a:lnTo>
                <a:lnTo>
                  <a:pt x="1042264" y="168174"/>
                </a:lnTo>
                <a:lnTo>
                  <a:pt x="939321" y="121444"/>
                </a:lnTo>
                <a:lnTo>
                  <a:pt x="836377" y="168174"/>
                </a:lnTo>
                <a:lnTo>
                  <a:pt x="733434" y="121444"/>
                </a:lnTo>
                <a:lnTo>
                  <a:pt x="630490" y="168174"/>
                </a:lnTo>
                <a:lnTo>
                  <a:pt x="527547" y="121444"/>
                </a:lnTo>
                <a:lnTo>
                  <a:pt x="424114" y="168396"/>
                </a:lnTo>
                <a:lnTo>
                  <a:pt x="320682" y="121444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13817" y="122178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5846"/>
                </a:lnTo>
                <a:lnTo>
                  <a:pt x="0" y="46952"/>
                </a:lnTo>
                <a:lnTo>
                  <a:pt x="0" y="1648"/>
                </a:lnTo>
                <a:lnTo>
                  <a:pt x="111804" y="1648"/>
                </a:lnTo>
                <a:lnTo>
                  <a:pt x="113817" y="734"/>
                </a:lnTo>
                <a:lnTo>
                  <a:pt x="115831" y="1648"/>
                </a:lnTo>
                <a:lnTo>
                  <a:pt x="317052" y="164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다음 페이지 이어서 계속됨</a:t>
            </a:r>
          </a:p>
        </p:txBody>
      </p:sp>
      <p:sp>
        <p:nvSpPr>
          <p:cNvPr id="5" name="직사각형 7"/>
          <p:cNvSpPr/>
          <p:nvPr userDrawn="1"/>
        </p:nvSpPr>
        <p:spPr bwMode="auto">
          <a:xfrm>
            <a:off x="180322" y="831870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424114" y="46952"/>
                </a:lnTo>
                <a:lnTo>
                  <a:pt x="527547" y="0"/>
                </a:lnTo>
                <a:lnTo>
                  <a:pt x="630490" y="46730"/>
                </a:lnTo>
                <a:lnTo>
                  <a:pt x="733434" y="0"/>
                </a:lnTo>
                <a:lnTo>
                  <a:pt x="836377" y="46730"/>
                </a:lnTo>
                <a:lnTo>
                  <a:pt x="939321" y="0"/>
                </a:lnTo>
                <a:lnTo>
                  <a:pt x="1042264" y="46730"/>
                </a:lnTo>
                <a:lnTo>
                  <a:pt x="1145208" y="0"/>
                </a:lnTo>
                <a:lnTo>
                  <a:pt x="1248151" y="46730"/>
                </a:lnTo>
                <a:lnTo>
                  <a:pt x="1351095" y="0"/>
                </a:lnTo>
                <a:lnTo>
                  <a:pt x="1454038" y="46730"/>
                </a:lnTo>
                <a:lnTo>
                  <a:pt x="1556982" y="0"/>
                </a:lnTo>
                <a:lnTo>
                  <a:pt x="1659925" y="46730"/>
                </a:lnTo>
                <a:lnTo>
                  <a:pt x="1762869" y="0"/>
                </a:lnTo>
                <a:lnTo>
                  <a:pt x="1865812" y="46730"/>
                </a:lnTo>
                <a:lnTo>
                  <a:pt x="1968756" y="0"/>
                </a:lnTo>
                <a:lnTo>
                  <a:pt x="2071699" y="46730"/>
                </a:lnTo>
                <a:lnTo>
                  <a:pt x="2174643" y="0"/>
                </a:lnTo>
                <a:lnTo>
                  <a:pt x="2277586" y="46730"/>
                </a:lnTo>
                <a:lnTo>
                  <a:pt x="2380530" y="0"/>
                </a:lnTo>
                <a:lnTo>
                  <a:pt x="2483962" y="46952"/>
                </a:lnTo>
                <a:lnTo>
                  <a:pt x="2492847" y="46952"/>
                </a:lnTo>
                <a:lnTo>
                  <a:pt x="2492847" y="84198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424114" y="168396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4198"/>
                </a:lnTo>
                <a:lnTo>
                  <a:pt x="0" y="46952"/>
                </a:lnTo>
                <a:lnTo>
                  <a:pt x="12001" y="46952"/>
                </a:lnTo>
                <a:lnTo>
                  <a:pt x="113817" y="734"/>
                </a:lnTo>
                <a:lnTo>
                  <a:pt x="215632" y="46952"/>
                </a:lnTo>
                <a:lnTo>
                  <a:pt x="217249" y="46952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이전 내용에 이어짐</a:t>
            </a:r>
          </a:p>
        </p:txBody>
      </p:sp>
    </p:spTree>
    <p:extLst>
      <p:ext uri="{BB962C8B-B14F-4D97-AF65-F5344CB8AC3E}">
        <p14:creationId xmlns:p14="http://schemas.microsoft.com/office/powerpoint/2010/main" val="2230738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C_3.계속 이어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 bwMode="auto">
          <a:xfrm>
            <a:off x="178642" y="6479107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324312" y="1648"/>
                </a:lnTo>
                <a:lnTo>
                  <a:pt x="523917" y="1648"/>
                </a:lnTo>
                <a:lnTo>
                  <a:pt x="527547" y="0"/>
                </a:lnTo>
                <a:lnTo>
                  <a:pt x="531177" y="1648"/>
                </a:lnTo>
                <a:lnTo>
                  <a:pt x="729804" y="1648"/>
                </a:lnTo>
                <a:lnTo>
                  <a:pt x="733434" y="0"/>
                </a:lnTo>
                <a:lnTo>
                  <a:pt x="737064" y="1648"/>
                </a:lnTo>
                <a:lnTo>
                  <a:pt x="935691" y="1648"/>
                </a:lnTo>
                <a:lnTo>
                  <a:pt x="939321" y="0"/>
                </a:lnTo>
                <a:lnTo>
                  <a:pt x="942951" y="1648"/>
                </a:lnTo>
                <a:lnTo>
                  <a:pt x="1141578" y="1648"/>
                </a:lnTo>
                <a:lnTo>
                  <a:pt x="1145208" y="0"/>
                </a:lnTo>
                <a:lnTo>
                  <a:pt x="1148839" y="1648"/>
                </a:lnTo>
                <a:lnTo>
                  <a:pt x="1347465" y="1648"/>
                </a:lnTo>
                <a:lnTo>
                  <a:pt x="1351095" y="0"/>
                </a:lnTo>
                <a:lnTo>
                  <a:pt x="1354726" y="1648"/>
                </a:lnTo>
                <a:lnTo>
                  <a:pt x="1553352" y="1648"/>
                </a:lnTo>
                <a:lnTo>
                  <a:pt x="1556982" y="0"/>
                </a:lnTo>
                <a:lnTo>
                  <a:pt x="1560613" y="1648"/>
                </a:lnTo>
                <a:lnTo>
                  <a:pt x="1759239" y="1648"/>
                </a:lnTo>
                <a:lnTo>
                  <a:pt x="1762869" y="0"/>
                </a:lnTo>
                <a:lnTo>
                  <a:pt x="1766500" y="1648"/>
                </a:lnTo>
                <a:lnTo>
                  <a:pt x="1965126" y="1648"/>
                </a:lnTo>
                <a:lnTo>
                  <a:pt x="1968756" y="0"/>
                </a:lnTo>
                <a:lnTo>
                  <a:pt x="1972387" y="1648"/>
                </a:lnTo>
                <a:lnTo>
                  <a:pt x="2171013" y="1648"/>
                </a:lnTo>
                <a:lnTo>
                  <a:pt x="2174643" y="0"/>
                </a:lnTo>
                <a:lnTo>
                  <a:pt x="2178274" y="1648"/>
                </a:lnTo>
                <a:lnTo>
                  <a:pt x="2376900" y="1648"/>
                </a:lnTo>
                <a:lnTo>
                  <a:pt x="2380530" y="0"/>
                </a:lnTo>
                <a:lnTo>
                  <a:pt x="2384161" y="1648"/>
                </a:lnTo>
                <a:lnTo>
                  <a:pt x="2492847" y="1648"/>
                </a:lnTo>
                <a:lnTo>
                  <a:pt x="2492847" y="46952"/>
                </a:lnTo>
                <a:lnTo>
                  <a:pt x="2492847" y="85846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2380530" y="121444"/>
                </a:lnTo>
                <a:lnTo>
                  <a:pt x="2277586" y="168174"/>
                </a:lnTo>
                <a:lnTo>
                  <a:pt x="2174643" y="121444"/>
                </a:lnTo>
                <a:lnTo>
                  <a:pt x="2071699" y="168174"/>
                </a:lnTo>
                <a:lnTo>
                  <a:pt x="1968756" y="121444"/>
                </a:lnTo>
                <a:lnTo>
                  <a:pt x="1865812" y="168174"/>
                </a:lnTo>
                <a:lnTo>
                  <a:pt x="1762869" y="121444"/>
                </a:lnTo>
                <a:lnTo>
                  <a:pt x="1659925" y="168174"/>
                </a:lnTo>
                <a:lnTo>
                  <a:pt x="1556982" y="121444"/>
                </a:lnTo>
                <a:lnTo>
                  <a:pt x="1454038" y="168174"/>
                </a:lnTo>
                <a:lnTo>
                  <a:pt x="1351095" y="121444"/>
                </a:lnTo>
                <a:lnTo>
                  <a:pt x="1248151" y="168174"/>
                </a:lnTo>
                <a:lnTo>
                  <a:pt x="1145208" y="121444"/>
                </a:lnTo>
                <a:lnTo>
                  <a:pt x="1042264" y="168174"/>
                </a:lnTo>
                <a:lnTo>
                  <a:pt x="939321" y="121444"/>
                </a:lnTo>
                <a:lnTo>
                  <a:pt x="836377" y="168174"/>
                </a:lnTo>
                <a:lnTo>
                  <a:pt x="733434" y="121444"/>
                </a:lnTo>
                <a:lnTo>
                  <a:pt x="630490" y="168174"/>
                </a:lnTo>
                <a:lnTo>
                  <a:pt x="527547" y="121444"/>
                </a:lnTo>
                <a:lnTo>
                  <a:pt x="424114" y="168396"/>
                </a:lnTo>
                <a:lnTo>
                  <a:pt x="320682" y="121444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13817" y="122178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5846"/>
                </a:lnTo>
                <a:lnTo>
                  <a:pt x="0" y="46952"/>
                </a:lnTo>
                <a:lnTo>
                  <a:pt x="0" y="1648"/>
                </a:lnTo>
                <a:lnTo>
                  <a:pt x="111804" y="1648"/>
                </a:lnTo>
                <a:lnTo>
                  <a:pt x="113817" y="734"/>
                </a:lnTo>
                <a:lnTo>
                  <a:pt x="115831" y="1648"/>
                </a:lnTo>
                <a:lnTo>
                  <a:pt x="317052" y="164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다음 페이지 이어서 계속됨</a:t>
            </a:r>
          </a:p>
        </p:txBody>
      </p:sp>
    </p:spTree>
    <p:extLst>
      <p:ext uri="{BB962C8B-B14F-4D97-AF65-F5344CB8AC3E}">
        <p14:creationId xmlns:p14="http://schemas.microsoft.com/office/powerpoint/2010/main" val="3119802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C_3.계속 이어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7"/>
          <p:cNvSpPr/>
          <p:nvPr userDrawn="1"/>
        </p:nvSpPr>
        <p:spPr bwMode="auto">
          <a:xfrm>
            <a:off x="180322" y="831870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424114" y="46952"/>
                </a:lnTo>
                <a:lnTo>
                  <a:pt x="527547" y="0"/>
                </a:lnTo>
                <a:lnTo>
                  <a:pt x="630490" y="46730"/>
                </a:lnTo>
                <a:lnTo>
                  <a:pt x="733434" y="0"/>
                </a:lnTo>
                <a:lnTo>
                  <a:pt x="836377" y="46730"/>
                </a:lnTo>
                <a:lnTo>
                  <a:pt x="939321" y="0"/>
                </a:lnTo>
                <a:lnTo>
                  <a:pt x="1042264" y="46730"/>
                </a:lnTo>
                <a:lnTo>
                  <a:pt x="1145208" y="0"/>
                </a:lnTo>
                <a:lnTo>
                  <a:pt x="1248151" y="46730"/>
                </a:lnTo>
                <a:lnTo>
                  <a:pt x="1351095" y="0"/>
                </a:lnTo>
                <a:lnTo>
                  <a:pt x="1454038" y="46730"/>
                </a:lnTo>
                <a:lnTo>
                  <a:pt x="1556982" y="0"/>
                </a:lnTo>
                <a:lnTo>
                  <a:pt x="1659925" y="46730"/>
                </a:lnTo>
                <a:lnTo>
                  <a:pt x="1762869" y="0"/>
                </a:lnTo>
                <a:lnTo>
                  <a:pt x="1865812" y="46730"/>
                </a:lnTo>
                <a:lnTo>
                  <a:pt x="1968756" y="0"/>
                </a:lnTo>
                <a:lnTo>
                  <a:pt x="2071699" y="46730"/>
                </a:lnTo>
                <a:lnTo>
                  <a:pt x="2174643" y="0"/>
                </a:lnTo>
                <a:lnTo>
                  <a:pt x="2277586" y="46730"/>
                </a:lnTo>
                <a:lnTo>
                  <a:pt x="2380530" y="0"/>
                </a:lnTo>
                <a:lnTo>
                  <a:pt x="2483962" y="46952"/>
                </a:lnTo>
                <a:lnTo>
                  <a:pt x="2492847" y="46952"/>
                </a:lnTo>
                <a:lnTo>
                  <a:pt x="2492847" y="84198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424114" y="168396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4198"/>
                </a:lnTo>
                <a:lnTo>
                  <a:pt x="0" y="46952"/>
                </a:lnTo>
                <a:lnTo>
                  <a:pt x="12001" y="46952"/>
                </a:lnTo>
                <a:lnTo>
                  <a:pt x="113817" y="734"/>
                </a:lnTo>
                <a:lnTo>
                  <a:pt x="215632" y="46952"/>
                </a:lnTo>
                <a:lnTo>
                  <a:pt x="217249" y="46952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이전 내용에 이어짐</a:t>
            </a:r>
          </a:p>
        </p:txBody>
      </p:sp>
    </p:spTree>
    <p:extLst>
      <p:ext uri="{BB962C8B-B14F-4D97-AF65-F5344CB8AC3E}">
        <p14:creationId xmlns:p14="http://schemas.microsoft.com/office/powerpoint/2010/main" val="2085361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801600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55374" y="2139101"/>
            <a:ext cx="8972196" cy="470609"/>
          </a:xfr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marR="0" indent="0" algn="l" defTabSz="1072408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lang="ko-KR" altLang="en-US" sz="2800" b="1" kern="1200" baseline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altLang="ko-KR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755373" y="2656577"/>
            <a:ext cx="8961120" cy="312512"/>
          </a:xfr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 marL="0" marR="0" indent="0" algn="l" defTabSz="1072408" rtl="0" eaLnBrk="1" fontAlgn="base" latinLnBrk="1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 lang="ko-KR" altLang="en-US" sz="1900" kern="1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5362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724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086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448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810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17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534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896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  <a:endParaRPr lang="en-US" altLang="ko-KR" dirty="0"/>
          </a:p>
        </p:txBody>
      </p:sp>
      <p:pic>
        <p:nvPicPr>
          <p:cNvPr id="6" name="그림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5766" y="490538"/>
            <a:ext cx="1009650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58250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4788" y="144498"/>
            <a:ext cx="11665055" cy="331864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9" name="텍스트 개체 틀 8"/>
          <p:cNvSpPr>
            <a:spLocks noGrp="1"/>
          </p:cNvSpPr>
          <p:nvPr>
            <p:ph type="body" sz="quarter" idx="13"/>
          </p:nvPr>
        </p:nvSpPr>
        <p:spPr>
          <a:xfrm>
            <a:off x="524789" y="550387"/>
            <a:ext cx="11794808" cy="5617901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4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A22CB5-4570-49ED-BF13-73F7A1F5852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8543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6473A1B-AE72-474E-9878-8491C498EE0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1179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011239" y="4407922"/>
            <a:ext cx="10881360" cy="1362390"/>
          </a:xfrm>
        </p:spPr>
        <p:txBody>
          <a:bodyPr anchor="t"/>
          <a:lstStyle>
            <a:lvl1pPr algn="l">
              <a:defRPr sz="47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011239" y="2907387"/>
            <a:ext cx="10881360" cy="1500534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36204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72408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3pPr>
            <a:lvl4pPr marL="16086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448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8102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2172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7534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8963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5FD5D6-1A0E-4427-8817-CABD5E39BE5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96166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40080" y="1600572"/>
            <a:ext cx="5654040" cy="4527011"/>
          </a:xfrm>
        </p:spPr>
        <p:txBody>
          <a:bodyPr/>
          <a:lstStyle>
            <a:lvl1pPr>
              <a:defRPr sz="33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07480" y="1600572"/>
            <a:ext cx="5654040" cy="4527011"/>
          </a:xfrm>
        </p:spPr>
        <p:txBody>
          <a:bodyPr/>
          <a:lstStyle>
            <a:lvl1pPr>
              <a:defRPr sz="33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C8E112-7C0F-4B78-ADFC-4081E505FD0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7658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40080" y="1535469"/>
            <a:ext cx="5656263" cy="639910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36204" indent="0">
              <a:buNone/>
              <a:defRPr sz="2300" b="1"/>
            </a:lvl2pPr>
            <a:lvl3pPr marL="1072408" indent="0">
              <a:buNone/>
              <a:defRPr sz="2100" b="1"/>
            </a:lvl3pPr>
            <a:lvl4pPr marL="1608612" indent="0">
              <a:buNone/>
              <a:defRPr sz="1900" b="1"/>
            </a:lvl4pPr>
            <a:lvl5pPr marL="2144817" indent="0">
              <a:buNone/>
              <a:defRPr sz="1900" b="1"/>
            </a:lvl5pPr>
            <a:lvl6pPr marL="2681021" indent="0">
              <a:buNone/>
              <a:defRPr sz="1900" b="1"/>
            </a:lvl6pPr>
            <a:lvl7pPr marL="3217225" indent="0">
              <a:buNone/>
              <a:defRPr sz="1900" b="1"/>
            </a:lvl7pPr>
            <a:lvl8pPr marL="3753429" indent="0">
              <a:buNone/>
              <a:defRPr sz="1900" b="1"/>
            </a:lvl8pPr>
            <a:lvl9pPr marL="4289633" indent="0">
              <a:buNone/>
              <a:defRPr sz="19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40080" y="2175379"/>
            <a:ext cx="5656263" cy="3952203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03036" y="1535469"/>
            <a:ext cx="5658486" cy="639910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36204" indent="0">
              <a:buNone/>
              <a:defRPr sz="2300" b="1"/>
            </a:lvl2pPr>
            <a:lvl3pPr marL="1072408" indent="0">
              <a:buNone/>
              <a:defRPr sz="2100" b="1"/>
            </a:lvl3pPr>
            <a:lvl4pPr marL="1608612" indent="0">
              <a:buNone/>
              <a:defRPr sz="1900" b="1"/>
            </a:lvl4pPr>
            <a:lvl5pPr marL="2144817" indent="0">
              <a:buNone/>
              <a:defRPr sz="1900" b="1"/>
            </a:lvl5pPr>
            <a:lvl6pPr marL="2681021" indent="0">
              <a:buNone/>
              <a:defRPr sz="1900" b="1"/>
            </a:lvl6pPr>
            <a:lvl7pPr marL="3217225" indent="0">
              <a:buNone/>
              <a:defRPr sz="1900" b="1"/>
            </a:lvl7pPr>
            <a:lvl8pPr marL="3753429" indent="0">
              <a:buNone/>
              <a:defRPr sz="1900" b="1"/>
            </a:lvl8pPr>
            <a:lvl9pPr marL="4289633" indent="0">
              <a:buNone/>
              <a:defRPr sz="19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03036" y="2175379"/>
            <a:ext cx="5658486" cy="3952203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15CE30-F600-48EA-B808-A26FFA49E5B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46279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9732DF-286B-459C-A7AD-1B7BB8E11A1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7761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1F8E713-7CC6-4756-A129-44C94FB5DAB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35153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40080" y="273113"/>
            <a:ext cx="4211639" cy="1162319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005071" y="273115"/>
            <a:ext cx="7156450" cy="5854468"/>
          </a:xfrm>
        </p:spPr>
        <p:txBody>
          <a:bodyPr/>
          <a:lstStyle>
            <a:lvl1pPr>
              <a:defRPr sz="3800"/>
            </a:lvl1pPr>
            <a:lvl2pPr>
              <a:defRPr sz="33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40080" y="1435434"/>
            <a:ext cx="4211639" cy="4692149"/>
          </a:xfrm>
        </p:spPr>
        <p:txBody>
          <a:bodyPr/>
          <a:lstStyle>
            <a:lvl1pPr marL="0" indent="0">
              <a:buNone/>
              <a:defRPr sz="1600"/>
            </a:lvl1pPr>
            <a:lvl2pPr marL="536204" indent="0">
              <a:buNone/>
              <a:defRPr sz="1400"/>
            </a:lvl2pPr>
            <a:lvl3pPr marL="1072408" indent="0">
              <a:buNone/>
              <a:defRPr sz="1200"/>
            </a:lvl3pPr>
            <a:lvl4pPr marL="1608612" indent="0">
              <a:buNone/>
              <a:defRPr sz="1100"/>
            </a:lvl4pPr>
            <a:lvl5pPr marL="2144817" indent="0">
              <a:buNone/>
              <a:defRPr sz="1100"/>
            </a:lvl5pPr>
            <a:lvl6pPr marL="2681021" indent="0">
              <a:buNone/>
              <a:defRPr sz="1100"/>
            </a:lvl6pPr>
            <a:lvl7pPr marL="3217225" indent="0">
              <a:buNone/>
              <a:defRPr sz="1100"/>
            </a:lvl7pPr>
            <a:lvl8pPr marL="3753429" indent="0">
              <a:buNone/>
              <a:defRPr sz="1100"/>
            </a:lvl8pPr>
            <a:lvl9pPr marL="4289633" indent="0">
              <a:buNone/>
              <a:defRPr sz="11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D28358-77FE-4D01-9706-2E344B9F5AF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9896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509203" y="4801712"/>
            <a:ext cx="7680960" cy="566869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509203" y="612917"/>
            <a:ext cx="7680960" cy="4115753"/>
          </a:xfrm>
        </p:spPr>
        <p:txBody>
          <a:bodyPr rtlCol="0">
            <a:normAutofit/>
          </a:bodyPr>
          <a:lstStyle>
            <a:lvl1pPr marL="0" indent="0">
              <a:buNone/>
              <a:defRPr sz="3800"/>
            </a:lvl1pPr>
            <a:lvl2pPr marL="536204" indent="0">
              <a:buNone/>
              <a:defRPr sz="3300"/>
            </a:lvl2pPr>
            <a:lvl3pPr marL="1072408" indent="0">
              <a:buNone/>
              <a:defRPr sz="2800"/>
            </a:lvl3pPr>
            <a:lvl4pPr marL="1608612" indent="0">
              <a:buNone/>
              <a:defRPr sz="2300"/>
            </a:lvl4pPr>
            <a:lvl5pPr marL="2144817" indent="0">
              <a:buNone/>
              <a:defRPr sz="2300"/>
            </a:lvl5pPr>
            <a:lvl6pPr marL="2681021" indent="0">
              <a:buNone/>
              <a:defRPr sz="2300"/>
            </a:lvl6pPr>
            <a:lvl7pPr marL="3217225" indent="0">
              <a:buNone/>
              <a:defRPr sz="2300"/>
            </a:lvl7pPr>
            <a:lvl8pPr marL="3753429" indent="0">
              <a:buNone/>
              <a:defRPr sz="2300"/>
            </a:lvl8pPr>
            <a:lvl9pPr marL="4289633" indent="0">
              <a:buNone/>
              <a:defRPr sz="23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509203" y="5368581"/>
            <a:ext cx="7680960" cy="805048"/>
          </a:xfrm>
        </p:spPr>
        <p:txBody>
          <a:bodyPr/>
          <a:lstStyle>
            <a:lvl1pPr marL="0" indent="0">
              <a:buNone/>
              <a:defRPr sz="1600"/>
            </a:lvl1pPr>
            <a:lvl2pPr marL="536204" indent="0">
              <a:buNone/>
              <a:defRPr sz="1400"/>
            </a:lvl2pPr>
            <a:lvl3pPr marL="1072408" indent="0">
              <a:buNone/>
              <a:defRPr sz="1200"/>
            </a:lvl3pPr>
            <a:lvl4pPr marL="1608612" indent="0">
              <a:buNone/>
              <a:defRPr sz="1100"/>
            </a:lvl4pPr>
            <a:lvl5pPr marL="2144817" indent="0">
              <a:buNone/>
              <a:defRPr sz="1100"/>
            </a:lvl5pPr>
            <a:lvl6pPr marL="2681021" indent="0">
              <a:buNone/>
              <a:defRPr sz="1100"/>
            </a:lvl6pPr>
            <a:lvl7pPr marL="3217225" indent="0">
              <a:buNone/>
              <a:defRPr sz="1100"/>
            </a:lvl7pPr>
            <a:lvl8pPr marL="3753429" indent="0">
              <a:buNone/>
              <a:defRPr sz="1100"/>
            </a:lvl8pPr>
            <a:lvl9pPr marL="4289633" indent="0">
              <a:buNone/>
              <a:defRPr sz="11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3D9FD95-7B77-4D3C-B958-516623C4AD4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21757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527781-B685-41BD-8677-26451031560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3793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9281160" y="274703"/>
            <a:ext cx="2880360" cy="585288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40080" y="274703"/>
            <a:ext cx="8427720" cy="585288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7D20DC-F672-4E85-9B00-BE397DEE9E1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1216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/>
          <p:cNvCxnSpPr/>
          <p:nvPr userDrawn="1"/>
        </p:nvCxnSpPr>
        <p:spPr bwMode="auto">
          <a:xfrm>
            <a:off x="493396" y="527172"/>
            <a:ext cx="11814811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1377747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C_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7634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7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5" Type="http://schemas.openxmlformats.org/officeDocument/2006/relationships/theme" Target="../theme/theme4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바닥글 개체 틀 3"/>
          <p:cNvSpPr txBox="1">
            <a:spLocks/>
          </p:cNvSpPr>
          <p:nvPr userDrawn="1"/>
        </p:nvSpPr>
        <p:spPr bwMode="auto">
          <a:xfrm>
            <a:off x="9791962" y="6638994"/>
            <a:ext cx="2843624" cy="2062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467" tIns="46233" rIns="92467" bIns="46233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algn="r" eaLnBrk="1" hangingPunct="1">
              <a:defRPr/>
            </a:pPr>
            <a:fld id="{D88DE2CC-46C9-4BB4-BD10-F21D4DE0FDA2}" type="slidenum">
              <a:rPr kumimoji="0" lang="ko-KR" altLang="en-US" sz="1200" b="1" smtClean="0">
                <a:solidFill>
                  <a:srgbClr val="595959"/>
                </a:solidFill>
                <a:latin typeface="맑은 고딕" pitchFamily="50" charset="-127"/>
                <a:ea typeface="맑은 고딕" pitchFamily="50" charset="-127"/>
              </a:rPr>
              <a:t>‹#›</a:t>
            </a:fld>
            <a:endParaRPr kumimoji="0" lang="ko-KR" altLang="en-US" sz="1200" b="1" dirty="0">
              <a:solidFill>
                <a:srgbClr val="595959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" name="직사각형 4"/>
          <p:cNvSpPr/>
          <p:nvPr userDrawn="1"/>
        </p:nvSpPr>
        <p:spPr>
          <a:xfrm>
            <a:off x="166015" y="116659"/>
            <a:ext cx="12469570" cy="360123"/>
          </a:xfrm>
          <a:prstGeom prst="rect">
            <a:avLst/>
          </a:prstGeom>
          <a:solidFill>
            <a:schemeClr val="bg2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l"/>
            <a:endParaRPr lang="ko-KR" altLang="en-US" sz="1200" b="1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58958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20" r:id="rId1"/>
  </p:sldLayoutIdLst>
  <p:txStyles>
    <p:titleStyle>
      <a:lvl1pPr algn="ctr" defTabSz="924804" rtl="0" eaLnBrk="1" latinLnBrk="1" hangingPunct="1">
        <a:spcBef>
          <a:spcPct val="0"/>
        </a:spcBef>
        <a:buNone/>
        <a:defRPr sz="4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6802" indent="-346802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1pPr>
      <a:lvl2pPr marL="751402" indent="-289003" algn="l" defTabSz="924804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56006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3pPr>
      <a:lvl4pPr marL="1618408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80810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43209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05611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68014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30416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62401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24804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87204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49608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312009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74411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36813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99213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Group 8"/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964059975"/>
              </p:ext>
            </p:extLst>
          </p:nvPr>
        </p:nvGraphicFramePr>
        <p:xfrm>
          <a:off x="128775" y="108621"/>
          <a:ext cx="12513236" cy="428620"/>
        </p:xfrm>
        <a:graphic>
          <a:graphicData uri="http://schemas.openxmlformats.org/drawingml/2006/table">
            <a:tbl>
              <a:tblPr/>
              <a:tblGrid>
                <a:gridCol w="1412857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881960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416675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2143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 </a:t>
                      </a:r>
                      <a:r>
                        <a:rPr kumimoji="1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ID</a:t>
                      </a: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작성자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하현숙</a:t>
                      </a: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143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화면명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작성일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2026-02-09</a:t>
                      </a:r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바닥글 개체 틀 3"/>
          <p:cNvSpPr txBox="1">
            <a:spLocks/>
          </p:cNvSpPr>
          <p:nvPr userDrawn="1"/>
        </p:nvSpPr>
        <p:spPr bwMode="auto">
          <a:xfrm>
            <a:off x="9791962" y="6638994"/>
            <a:ext cx="2843624" cy="2062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467" tIns="46233" rIns="92467" bIns="46233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algn="r" eaLnBrk="1" hangingPunct="1">
              <a:defRPr/>
            </a:pPr>
            <a:fld id="{D88DE2CC-46C9-4BB4-BD10-F21D4DE0FDA2}" type="slidenum">
              <a:rPr kumimoji="0" lang="ko-KR" altLang="en-US" sz="1200" b="1" smtClean="0">
                <a:solidFill>
                  <a:srgbClr val="595959"/>
                </a:solidFill>
                <a:latin typeface="맑은 고딕" pitchFamily="50" charset="-127"/>
                <a:ea typeface="맑은 고딕" pitchFamily="50" charset="-127"/>
              </a:rPr>
              <a:t>‹#›</a:t>
            </a:fld>
            <a:endParaRPr kumimoji="0" lang="ko-KR" altLang="en-US" sz="1200" b="1" dirty="0">
              <a:solidFill>
                <a:srgbClr val="595959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147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13" r:id="rId1"/>
    <p:sldLayoutId id="2147484721" r:id="rId2"/>
  </p:sldLayoutIdLst>
  <p:txStyles>
    <p:titleStyle>
      <a:lvl1pPr algn="ctr" defTabSz="924804" rtl="0" eaLnBrk="1" latinLnBrk="1" hangingPunct="1">
        <a:spcBef>
          <a:spcPct val="0"/>
        </a:spcBef>
        <a:buNone/>
        <a:defRPr sz="4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6802" indent="-346802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1pPr>
      <a:lvl2pPr marL="751402" indent="-289003" algn="l" defTabSz="924804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56006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3pPr>
      <a:lvl4pPr marL="1618408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80810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43209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05611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68014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30416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62401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24804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87204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49608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312009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74411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36813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99213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바닥글 개체 틀 3"/>
          <p:cNvSpPr txBox="1">
            <a:spLocks/>
          </p:cNvSpPr>
          <p:nvPr userDrawn="1"/>
        </p:nvSpPr>
        <p:spPr bwMode="auto">
          <a:xfrm>
            <a:off x="9791962" y="6638994"/>
            <a:ext cx="2843624" cy="2062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467" tIns="46233" rIns="92467" bIns="46233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algn="r" eaLnBrk="1" hangingPunct="1">
              <a:defRPr/>
            </a:pPr>
            <a:fld id="{D88DE2CC-46C9-4BB4-BD10-F21D4DE0FDA2}" type="slidenum">
              <a:rPr kumimoji="0" lang="ko-KR" altLang="en-US" sz="1200" b="1" smtClean="0">
                <a:solidFill>
                  <a:srgbClr val="595959"/>
                </a:solidFill>
                <a:latin typeface="맑은 고딕" pitchFamily="50" charset="-127"/>
                <a:ea typeface="맑은 고딕" pitchFamily="50" charset="-127"/>
              </a:rPr>
              <a:t>‹#›</a:t>
            </a:fld>
            <a:endParaRPr kumimoji="0" lang="ko-KR" altLang="en-US" sz="1200" b="1" dirty="0">
              <a:solidFill>
                <a:srgbClr val="595959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7" name="표 1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47396342"/>
              </p:ext>
            </p:extLst>
          </p:nvPr>
        </p:nvGraphicFramePr>
        <p:xfrm>
          <a:off x="128775" y="569694"/>
          <a:ext cx="12513234" cy="6101211"/>
        </p:xfrm>
        <a:graphic>
          <a:graphicData uri="http://schemas.openxmlformats.org/drawingml/2006/table">
            <a:tbl>
              <a:tblPr/>
              <a:tblGrid>
                <a:gridCol w="103764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136753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21479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1177" marB="3117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Description</a:t>
                      </a:r>
                    </a:p>
                  </a:txBody>
                  <a:tcPr marL="108351" marR="108351" marT="31177" marB="3117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588642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1177" marB="3117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1177" marB="3117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Group 8"/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4098016488"/>
              </p:ext>
            </p:extLst>
          </p:nvPr>
        </p:nvGraphicFramePr>
        <p:xfrm>
          <a:off x="128775" y="108621"/>
          <a:ext cx="12513236" cy="428620"/>
        </p:xfrm>
        <a:graphic>
          <a:graphicData uri="http://schemas.openxmlformats.org/drawingml/2006/table">
            <a:tbl>
              <a:tblPr/>
              <a:tblGrid>
                <a:gridCol w="1412857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881960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416675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2143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 </a:t>
                      </a:r>
                      <a:r>
                        <a:rPr kumimoji="1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ID</a:t>
                      </a: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작성자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하현숙</a:t>
                      </a: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143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화면명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작성일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2026-02-09</a:t>
                      </a:r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0154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15" r:id="rId1"/>
    <p:sldLayoutId id="2147484716" r:id="rId2"/>
    <p:sldLayoutId id="2147484717" r:id="rId3"/>
    <p:sldLayoutId id="2147484718" r:id="rId4"/>
  </p:sldLayoutIdLst>
  <p:txStyles>
    <p:titleStyle>
      <a:lvl1pPr algn="ctr" defTabSz="924734" rtl="0" eaLnBrk="1" latinLnBrk="1" hangingPunct="1">
        <a:spcBef>
          <a:spcPct val="0"/>
        </a:spcBef>
        <a:buNone/>
        <a:defRPr sz="4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6775" indent="-346775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1pPr>
      <a:lvl2pPr marL="751344" indent="-288980" algn="l" defTabSz="924734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55918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3pPr>
      <a:lvl4pPr marL="1618283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80649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43013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05380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67747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30114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62366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24734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87098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49466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311832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74197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36563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98929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525194" y="144497"/>
            <a:ext cx="11665048" cy="331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07241" tIns="53620" rIns="107241" bIns="536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큰 제목 </a:t>
            </a:r>
            <a:r>
              <a:rPr lang="en-US" altLang="ko-KR"/>
              <a:t>[</a:t>
            </a:r>
            <a:r>
              <a:rPr lang="ko-KR" altLang="en-US"/>
              <a:t>맑은 고딕 </a:t>
            </a:r>
            <a:r>
              <a:rPr lang="en-US" altLang="ko-KR"/>
              <a:t>bold, 14pt]</a:t>
            </a:r>
            <a:endParaRPr lang="ko-KR" altLang="en-US"/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656493" y="549402"/>
            <a:ext cx="11476306" cy="5506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07241" tIns="53620" rIns="107241" bIns="536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기본 문자열 </a:t>
            </a:r>
            <a:r>
              <a:rPr lang="en-US" altLang="ko-KR"/>
              <a:t>[</a:t>
            </a:r>
            <a:r>
              <a:rPr lang="ko-KR" altLang="en-US"/>
              <a:t>맑은 고딕 </a:t>
            </a:r>
            <a:r>
              <a:rPr lang="en-US" altLang="ko-KR"/>
              <a:t>bold, 14pt]</a:t>
            </a:r>
            <a:endParaRPr lang="ko-KR" altLang="en-US"/>
          </a:p>
          <a:p>
            <a:pPr lvl="1"/>
            <a:r>
              <a:rPr lang="ko-KR" altLang="en-US"/>
              <a:t>기본 문자열 </a:t>
            </a:r>
            <a:r>
              <a:rPr lang="en-US" altLang="ko-KR"/>
              <a:t>[</a:t>
            </a:r>
            <a:r>
              <a:rPr lang="ko-KR" altLang="en-US"/>
              <a:t>맑은 고딕</a:t>
            </a:r>
            <a:r>
              <a:rPr lang="en-US" altLang="ko-KR"/>
              <a:t>, 12pt]</a:t>
            </a:r>
            <a:endParaRPr lang="ko-KR" altLang="en-US"/>
          </a:p>
          <a:p>
            <a:pPr lvl="2"/>
            <a:r>
              <a:rPr lang="ko-KR" altLang="en-US"/>
              <a:t>기본 문자열 </a:t>
            </a:r>
            <a:r>
              <a:rPr lang="en-US" altLang="ko-KR"/>
              <a:t>[</a:t>
            </a:r>
            <a:r>
              <a:rPr lang="ko-KR" altLang="en-US"/>
              <a:t>맑은 고딕</a:t>
            </a:r>
            <a:r>
              <a:rPr lang="en-US" altLang="ko-KR"/>
              <a:t>, 12pt]</a:t>
            </a:r>
          </a:p>
          <a:p>
            <a:pPr lvl="3"/>
            <a:r>
              <a:rPr lang="ko-KR" altLang="en-US"/>
              <a:t>기본 문자열 </a:t>
            </a:r>
            <a:r>
              <a:rPr lang="en-US" altLang="ko-KR"/>
              <a:t>[</a:t>
            </a:r>
            <a:r>
              <a:rPr lang="ko-KR" altLang="en-US"/>
              <a:t>맑은 고딕</a:t>
            </a:r>
            <a:r>
              <a:rPr lang="en-US" altLang="ko-KR"/>
              <a:t>, 12pt]</a:t>
            </a:r>
          </a:p>
          <a:p>
            <a:pPr lvl="4"/>
            <a:endParaRPr lang="en-US" altLang="ko-KR"/>
          </a:p>
          <a:p>
            <a:pPr lvl="4"/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373880" y="6357822"/>
            <a:ext cx="4053840" cy="365210"/>
          </a:xfrm>
          <a:prstGeom prst="rect">
            <a:avLst/>
          </a:prstGeom>
        </p:spPr>
        <p:txBody>
          <a:bodyPr vert="horz" lIns="107241" tIns="53620" rIns="107241" bIns="536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74480" y="6494379"/>
            <a:ext cx="2987040" cy="365210"/>
          </a:xfrm>
          <a:prstGeom prst="rect">
            <a:avLst/>
          </a:prstGeom>
        </p:spPr>
        <p:txBody>
          <a:bodyPr vert="horz" lIns="107241" tIns="53620" rIns="107241" bIns="536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1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9B6A1E78-535E-4C4C-9FBF-3AAF332AFC10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cxnSp>
        <p:nvCxnSpPr>
          <p:cNvPr id="11" name="직선 연결선 10"/>
          <p:cNvCxnSpPr/>
          <p:nvPr/>
        </p:nvCxnSpPr>
        <p:spPr bwMode="auto">
          <a:xfrm>
            <a:off x="494422" y="527172"/>
            <a:ext cx="11814809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4462" r:id="rId1"/>
    <p:sldLayoutId id="2147484463" r:id="rId2"/>
    <p:sldLayoutId id="2147484464" r:id="rId3"/>
    <p:sldLayoutId id="2147484465" r:id="rId4"/>
    <p:sldLayoutId id="2147484466" r:id="rId5"/>
    <p:sldLayoutId id="2147484467" r:id="rId6"/>
    <p:sldLayoutId id="2147484468" r:id="rId7"/>
    <p:sldLayoutId id="2147484469" r:id="rId8"/>
    <p:sldLayoutId id="2147484470" r:id="rId9"/>
    <p:sldLayoutId id="2147484471" r:id="rId10"/>
    <p:sldLayoutId id="2147484472" r:id="rId11"/>
    <p:sldLayoutId id="2147484473" r:id="rId12"/>
    <p:sldLayoutId id="2147484474" r:id="rId13"/>
    <p:sldLayoutId id="2147484722" r:id="rId14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lang="ko-KR" altLang="en-US" sz="1600" b="1" kern="1200" dirty="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536204" algn="l" rtl="0" fontAlgn="base" latinLnBrk="1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1072408" algn="l" rtl="0" fontAlgn="base" latinLnBrk="1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608612" algn="l" rtl="0" fontAlgn="base" latinLnBrk="1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2144817" algn="l" rtl="0" fontAlgn="base" latinLnBrk="1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266241" indent="-266241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Wingdings" pitchFamily="2" charset="2"/>
        <a:buChar char=""/>
        <a:defRPr sz="1600" b="1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491520" indent="-215971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Wingdings" pitchFamily="2" charset="2"/>
        <a:buChar char="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688873" indent="-147084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맑은 고딕" pitchFamily="50" charset="-127"/>
        <a:buChar char="-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895536" indent="-167564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Wingdings" pitchFamily="2" charset="2"/>
        <a:buChar char="§"/>
        <a:tabLst>
          <a:tab pos="845266" algn="l"/>
        </a:tabLst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1396365" indent="-137775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Arial" pitchFamily="34" charset="0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949123" indent="-268102" algn="l" defTabSz="1072408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85327" indent="-268102" algn="l" defTabSz="1072408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21531" indent="-268102" algn="l" defTabSz="1072408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57735" indent="-268102" algn="l" defTabSz="1072408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6204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72408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08612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44817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81021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17225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53429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89633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lay.google.com/store/apps/details?id=kt.co.ktmmobile&amp;hl=ko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>
            <a:spLocks noGrp="1"/>
          </p:cNvSpPr>
          <p:nvPr>
            <p:ph type="ctrTitle"/>
          </p:nvPr>
        </p:nvSpPr>
        <p:spPr>
          <a:xfrm>
            <a:off x="6400800" y="1587978"/>
            <a:ext cx="5883851" cy="471596"/>
          </a:xfrm>
          <a:ln/>
        </p:spPr>
        <p:txBody>
          <a:bodyPr/>
          <a:lstStyle/>
          <a:p>
            <a:pPr algn="r"/>
            <a:r>
              <a:rPr lang="en-US" altLang="ko-KR" dirty="0"/>
              <a:t>UI </a:t>
            </a:r>
            <a:r>
              <a:rPr lang="ko-KR" altLang="en-US" dirty="0"/>
              <a:t>설계서</a:t>
            </a:r>
          </a:p>
        </p:txBody>
      </p:sp>
      <p:sp>
        <p:nvSpPr>
          <p:cNvPr id="9" name="부제목 2"/>
          <p:cNvSpPr>
            <a:spLocks noGrp="1"/>
          </p:cNvSpPr>
          <p:nvPr>
            <p:ph type="subTitle" idx="1"/>
          </p:nvPr>
        </p:nvSpPr>
        <p:spPr>
          <a:xfrm>
            <a:off x="7517478" y="1197030"/>
            <a:ext cx="4735656" cy="312809"/>
          </a:xfrm>
          <a:ln/>
        </p:spPr>
        <p:txBody>
          <a:bodyPr/>
          <a:lstStyle/>
          <a:p>
            <a:pPr algn="r"/>
            <a:r>
              <a:rPr lang="en-US" altLang="ko-KR" sz="1600" dirty="0"/>
              <a:t>[</a:t>
            </a:r>
            <a:r>
              <a:rPr lang="ko-KR" altLang="en-US" sz="1600" dirty="0"/>
              <a:t>스마트서식지</a:t>
            </a:r>
            <a:r>
              <a:rPr lang="en-US" altLang="ko-KR" sz="1600" dirty="0"/>
              <a:t>]</a:t>
            </a:r>
            <a:endParaRPr sz="1600" dirty="0"/>
          </a:p>
        </p:txBody>
      </p:sp>
      <p:graphicFrame>
        <p:nvGraphicFramePr>
          <p:cNvPr id="10" name="표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7441458"/>
              </p:ext>
            </p:extLst>
          </p:nvPr>
        </p:nvGraphicFramePr>
        <p:xfrm>
          <a:off x="7475351" y="4294090"/>
          <a:ext cx="4694952" cy="1368468"/>
        </p:xfrm>
        <a:graphic>
          <a:graphicData uri="http://schemas.openxmlformats.org/drawingml/2006/table">
            <a:tbl>
              <a:tblPr/>
              <a:tblGrid>
                <a:gridCol w="174691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948041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342117">
                <a:tc>
                  <a:txBody>
                    <a:bodyPr/>
                    <a:lstStyle/>
                    <a:p>
                      <a:pPr algn="dist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문 서 번 호</a:t>
                      </a:r>
                      <a:endParaRPr lang="ko-KR" sz="1000" kern="100" dirty="0">
                        <a:effectLst/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auto" latinLnBrk="0"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b="1" kern="100" dirty="0">
                          <a:effectLst/>
                          <a:latin typeface="+mn-ea"/>
                          <a:ea typeface="+mn-ea"/>
                        </a:rPr>
                        <a:t>스마트서식지</a:t>
                      </a:r>
                      <a:r>
                        <a:rPr lang="en-US" altLang="ko-KR" sz="1000" b="1" kern="100" dirty="0">
                          <a:effectLst/>
                          <a:latin typeface="+mn-ea"/>
                          <a:ea typeface="+mn-ea"/>
                        </a:rPr>
                        <a:t>-DS-02</a:t>
                      </a:r>
                      <a:r>
                        <a:rPr lang="en-US" sz="1000" b="1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endParaRPr lang="ko-KR" sz="1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42117">
                <a:tc>
                  <a:txBody>
                    <a:bodyPr/>
                    <a:lstStyle/>
                    <a:p>
                      <a:pPr algn="dist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문 서 </a:t>
                      </a:r>
                      <a:r>
                        <a:rPr lang="ko-KR" sz="1000" b="1" kern="100" dirty="0" err="1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버</a:t>
                      </a: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 전</a:t>
                      </a:r>
                      <a:endParaRPr lang="ko-KR" sz="1000" kern="100" dirty="0">
                        <a:effectLst/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auto" latinLnBrk="0"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en-US" sz="1000" b="1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r>
                        <a:rPr lang="en-US" sz="1000" b="1" kern="100" dirty="0" smtClean="0">
                          <a:effectLst/>
                          <a:latin typeface="+mn-ea"/>
                          <a:ea typeface="+mn-ea"/>
                        </a:rPr>
                        <a:t>v1.0</a:t>
                      </a:r>
                      <a:endParaRPr lang="ko-KR" sz="1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42117">
                <a:tc>
                  <a:txBody>
                    <a:bodyPr/>
                    <a:lstStyle/>
                    <a:p>
                      <a:pPr algn="dist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작 성 일 자</a:t>
                      </a:r>
                      <a:endParaRPr lang="ko-KR" sz="1000" kern="100" dirty="0">
                        <a:effectLst/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auto" latinLnBrk="0"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b="1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r>
                        <a:rPr lang="en-US" altLang="ko-KR" sz="1000" b="1" kern="100" dirty="0" smtClean="0">
                          <a:effectLst/>
                          <a:latin typeface="+mn-ea"/>
                          <a:ea typeface="+mn-ea"/>
                        </a:rPr>
                        <a:t>2026.03.13</a:t>
                      </a:r>
                      <a:endParaRPr lang="ko-KR" sz="1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42117">
                <a:tc>
                  <a:txBody>
                    <a:bodyPr/>
                    <a:lstStyle/>
                    <a:p>
                      <a:pPr algn="dist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작성자</a:t>
                      </a:r>
                      <a:endParaRPr lang="ko-KR" sz="1000" kern="100" dirty="0">
                        <a:effectLst/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auto" latinLnBrk="0"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en-US" sz="1000" b="1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r>
                        <a:rPr lang="ko-KR" altLang="en-US" sz="1000" b="1" kern="100" dirty="0">
                          <a:effectLst/>
                          <a:latin typeface="+mn-ea"/>
                          <a:ea typeface="+mn-ea"/>
                        </a:rPr>
                        <a:t>하현숙</a:t>
                      </a:r>
                      <a:endParaRPr lang="ko-KR" sz="1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1" name="직선 연결선 10"/>
          <p:cNvCxnSpPr/>
          <p:nvPr/>
        </p:nvCxnSpPr>
        <p:spPr>
          <a:xfrm>
            <a:off x="6400800" y="2061325"/>
            <a:ext cx="5768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D:\1_Working\2025년_엠모바일_스마트서식지\산출물\202509241717380629SkAXV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118" y="299910"/>
            <a:ext cx="2304000" cy="702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제목 1"/>
          <p:cNvSpPr txBox="1">
            <a:spLocks/>
          </p:cNvSpPr>
          <p:nvPr/>
        </p:nvSpPr>
        <p:spPr bwMode="auto">
          <a:xfrm>
            <a:off x="466725" y="182607"/>
            <a:ext cx="8261033" cy="327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07241" tIns="53620" rIns="107241" bIns="53620"/>
          <a:lstStyle>
            <a:lvl1pPr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fontAlgn="b" hangingPunct="1">
              <a:spcBef>
                <a:spcPct val="50000"/>
              </a:spcBef>
            </a:pPr>
            <a:r>
              <a:rPr lang="ko-KR" altLang="en-US" sz="1600" b="1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승인이력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0623467"/>
              </p:ext>
            </p:extLst>
          </p:nvPr>
        </p:nvGraphicFramePr>
        <p:xfrm>
          <a:off x="509994" y="837591"/>
          <a:ext cx="11844371" cy="2219715"/>
        </p:xfrm>
        <a:graphic>
          <a:graphicData uri="http://schemas.openxmlformats.org/drawingml/2006/table">
            <a:tbl>
              <a:tblPr firstRow="1" firstCol="1" bandRow="1"/>
              <a:tblGrid>
                <a:gridCol w="324881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71859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718595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050185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388295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719886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</a:tblGrid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수행 역할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소속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이름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승인일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서명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비고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작성자</a:t>
                      </a: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kt</a:t>
                      </a: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 ds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+mn-lt"/>
                          <a:ea typeface="+mn-ea"/>
                          <a:cs typeface="Times New Roman"/>
                        </a:rPr>
                        <a:t>하현숙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>
                          <a:effectLst/>
                          <a:latin typeface="+mn-ea"/>
                          <a:ea typeface="+mn-ea"/>
                        </a:rPr>
                        <a:t> 2026.02.09</a:t>
                      </a:r>
                      <a:endParaRPr lang="ko-KR" altLang="ko-KR" sz="1400" b="0" dirty="0">
                        <a:effectLst/>
                        <a:latin typeface="+mn-lt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하현숙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검토자</a:t>
                      </a: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(PL)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kt ds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김남용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2026.02.27</a:t>
                      </a:r>
                      <a:endParaRPr lang="ko-KR" altLang="ko-KR" sz="1400" b="0" dirty="0">
                        <a:effectLst/>
                        <a:latin typeface="+mn-lt"/>
                        <a:ea typeface="+mn-ea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+mn-lt"/>
                          <a:ea typeface="+mn-ea"/>
                          <a:cs typeface="Times New Roman"/>
                        </a:rPr>
                        <a:t>김남용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프로젝트관리자</a:t>
                      </a: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(PM)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kt</a:t>
                      </a: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 ds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  <a:latin typeface="+mn-lt"/>
                          <a:ea typeface="+mn-ea"/>
                          <a:cs typeface="Times New Roman"/>
                        </a:rPr>
                        <a:t>민천홍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 2026.02.27</a:t>
                      </a:r>
                      <a:endParaRPr lang="ko-KR" sz="1400" b="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민천홍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사업총괄 </a:t>
                      </a: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PM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고객사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민경원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2026.03.03</a:t>
                      </a:r>
                      <a:endParaRPr lang="ko-KR" sz="1400" b="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민경원</a:t>
                      </a:r>
                      <a:r>
                        <a:rPr lang="en-US" altLang="ko-KR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/</a:t>
                      </a:r>
                      <a:r>
                        <a:rPr lang="ko-KR" altLang="en-US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강성룡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8043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18" name="제목 1"/>
          <p:cNvSpPr txBox="1">
            <a:spLocks/>
          </p:cNvSpPr>
          <p:nvPr/>
        </p:nvSpPr>
        <p:spPr bwMode="auto">
          <a:xfrm>
            <a:off x="466725" y="182607"/>
            <a:ext cx="8261033" cy="327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07241" tIns="53620" rIns="107241" bIns="53620"/>
          <a:lstStyle>
            <a:lvl1pPr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fontAlgn="b" hangingPunct="1">
              <a:spcBef>
                <a:spcPct val="50000"/>
              </a:spcBef>
            </a:pPr>
            <a:r>
              <a:rPr lang="ko-KR" altLang="en-US" sz="1600" b="1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개정이력</a:t>
            </a:r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412808"/>
              </p:ext>
            </p:extLst>
          </p:nvPr>
        </p:nvGraphicFramePr>
        <p:xfrm>
          <a:off x="497554" y="836906"/>
          <a:ext cx="11829299" cy="3157952"/>
        </p:xfrm>
        <a:graphic>
          <a:graphicData uri="http://schemas.openxmlformats.org/drawingml/2006/table">
            <a:tbl>
              <a:tblPr firstRow="1" firstCol="1" bandRow="1"/>
              <a:tblGrid>
                <a:gridCol w="196897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26668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6431376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16226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362669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날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짜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버전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변경내용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작성자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dirty="0">
                          <a:effectLst/>
                          <a:latin typeface="+mn-ea"/>
                          <a:ea typeface="+mn-ea"/>
                        </a:rPr>
                        <a:t>2026.02.09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0.6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최초 작성</a:t>
                      </a: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하현숙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smtClean="0">
                          <a:effectLst/>
                          <a:latin typeface="+mn-ea"/>
                          <a:ea typeface="+mn-ea"/>
                        </a:rPr>
                        <a:t>2026.02.27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0.7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+mn-lt"/>
                          <a:ea typeface="+mn-ea"/>
                          <a:cs typeface="Times New Roman"/>
                        </a:rPr>
                        <a:t>내부 동료검토</a:t>
                      </a: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김남용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smtClean="0">
                          <a:effectLst/>
                          <a:latin typeface="+mn-ea"/>
                          <a:ea typeface="+mn-ea"/>
                        </a:rPr>
                        <a:t>2026.02.27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0.8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QA</a:t>
                      </a:r>
                      <a:r>
                        <a:rPr lang="ko-KR" altLang="en-US" sz="1100" baseline="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검토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  <a:latin typeface="+mn-lt"/>
                          <a:ea typeface="+mn-ea"/>
                          <a:cs typeface="Times New Roman"/>
                        </a:rPr>
                        <a:t>민천홍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2026.02.27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0.9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PM</a:t>
                      </a: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검토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민천홍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2026.03.03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1.0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고객검토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민경원</a:t>
                      </a:r>
                      <a:r>
                        <a:rPr lang="en-US" altLang="ko-KR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/</a:t>
                      </a:r>
                      <a:r>
                        <a:rPr lang="ko-KR" altLang="en-US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강성룡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2026.03.10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1.0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화면설계서 </a:t>
                      </a:r>
                      <a:r>
                        <a:rPr lang="ko-KR" altLang="en-US" sz="1100" dirty="0" err="1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리뷰시</a:t>
                      </a: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 수정사항 반영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하현숙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2026.03.13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1.0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화면설계서 보완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하현숙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383699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18" name="제목 1"/>
          <p:cNvSpPr txBox="1">
            <a:spLocks/>
          </p:cNvSpPr>
          <p:nvPr/>
        </p:nvSpPr>
        <p:spPr bwMode="auto">
          <a:xfrm>
            <a:off x="466724" y="182608"/>
            <a:ext cx="8261033" cy="327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fontAlgn="b" hangingPunct="1">
              <a:spcBef>
                <a:spcPct val="50000"/>
              </a:spcBef>
            </a:pPr>
            <a:r>
              <a:rPr lang="en-US" altLang="ko-KR" sz="1400" b="1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1. UI </a:t>
            </a:r>
            <a:r>
              <a:rPr lang="ko-KR" altLang="en-US" sz="1400" b="1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목록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0105" y="109568"/>
            <a:ext cx="6897938" cy="20164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1068688"/>
              </p:ext>
            </p:extLst>
          </p:nvPr>
        </p:nvGraphicFramePr>
        <p:xfrm>
          <a:off x="497555" y="622138"/>
          <a:ext cx="11829299" cy="5904000"/>
        </p:xfrm>
        <a:graphic>
          <a:graphicData uri="http://schemas.openxmlformats.org/drawingml/2006/table">
            <a:tbl>
              <a:tblPr firstRow="1" firstCol="1" bandRow="1"/>
              <a:tblGrid>
                <a:gridCol w="57531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07945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37626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3744416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808312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245534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1" baseline="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No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 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ID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 명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메뉴 경로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설명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 구분</a:t>
                      </a:r>
                      <a:endParaRPr lang="en-US" alt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(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신규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, 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변경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, 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유지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)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1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S101010101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메인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신규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/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변경 </a:t>
                      </a:r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신청서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메인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2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S101010102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예상 납부금액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예상 납부금액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3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S101020101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고객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신규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/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변경 신청서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&gt;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고객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고객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4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S101020109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신분증 목록 조회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1072408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신분증 목록 조회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smtClean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5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S101020102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신분증</a:t>
                      </a:r>
                      <a:r>
                        <a:rPr lang="en-US" altLang="ko-KR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</a:t>
                      </a:r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서류 스캔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신분증 스캔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smtClean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6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S101020103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모바일신분증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 조회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모바일신분증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 조회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smtClean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7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S101020104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안면인증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안면인증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smtClean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8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S101020110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구비서류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구비서류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smtClean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9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S101020105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사진 촬영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사진 촬영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smtClean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10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S101020106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우편번호 찾기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우편번호 찾기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smtClean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11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S101020107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약관 상세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약관 상세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smtClean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12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S101020108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안내동의 상세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안내동의 상세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smtClean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13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S101030101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신규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/</a:t>
                      </a: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변경 신청서 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&gt; </a:t>
                      </a: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 smtClean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14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S101030102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USIM</a:t>
                      </a:r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스캔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USIM</a:t>
                      </a:r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스캔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15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S101030103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eSIM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스캔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eSIM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스캔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16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S101030104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번호이동 사전동의 실패 안내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번호이동 사전동의 실패 안내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17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S101030105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신규번호 검색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신규번호 검색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18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S101030106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부가서비스 추가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/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삭제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부가서비스 추가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/</a:t>
                      </a: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삭제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19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S101040101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동의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신규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/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변경 신청서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&gt;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동의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동의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20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S101040104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신청정보 확인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신청정보 확인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3800566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 smtClean="0">
                          <a:effectLst/>
                          <a:latin typeface="+mn-ea"/>
                          <a:ea typeface="+mn-ea"/>
                          <a:cs typeface="Times New Roman"/>
                        </a:rPr>
                        <a:t>21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S101040102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판매자 서명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판매자 서명 </a:t>
                      </a:r>
                      <a:r>
                        <a:rPr lang="en-US" altLang="ko-KR" sz="1000" b="1" i="0" u="none" strike="noStrike" dirty="0">
                          <a:solidFill>
                            <a:schemeClr val="accent5"/>
                          </a:solidFill>
                          <a:effectLst/>
                          <a:latin typeface="맑은 고딕"/>
                        </a:rPr>
                        <a:t>* </a:t>
                      </a:r>
                      <a:r>
                        <a:rPr lang="ko-KR" altLang="en-US" sz="1000" b="1" i="0" u="none" strike="noStrike" dirty="0">
                          <a:solidFill>
                            <a:schemeClr val="accent5"/>
                          </a:solidFill>
                          <a:effectLst/>
                          <a:latin typeface="맑은 고딕"/>
                        </a:rPr>
                        <a:t>솔루션 내에서 실행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2771027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 smtClean="0">
                          <a:effectLst/>
                          <a:latin typeface="+mn-ea"/>
                          <a:ea typeface="+mn-ea"/>
                          <a:cs typeface="Times New Roman"/>
                        </a:rPr>
                        <a:t>22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S101040103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가입자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대리인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 </a:t>
                      </a: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서명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가입자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대리인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서명 </a:t>
                      </a:r>
                      <a:r>
                        <a:rPr lang="en-US" altLang="ko-KR" sz="1000" b="1" i="0" u="none" strike="noStrike" dirty="0">
                          <a:solidFill>
                            <a:schemeClr val="accent5"/>
                          </a:solidFill>
                          <a:effectLst/>
                          <a:latin typeface="+mn-lt"/>
                        </a:rPr>
                        <a:t>* </a:t>
                      </a:r>
                      <a:r>
                        <a:rPr lang="ko-KR" altLang="en-US" sz="1000" b="1" i="0" u="none" strike="noStrike" dirty="0">
                          <a:solidFill>
                            <a:schemeClr val="accent5"/>
                          </a:solidFill>
                          <a:effectLst/>
                          <a:latin typeface="+mn-lt"/>
                        </a:rPr>
                        <a:t>솔루션 내에서 실행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4216084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18" name="제목 1"/>
          <p:cNvSpPr txBox="1">
            <a:spLocks/>
          </p:cNvSpPr>
          <p:nvPr/>
        </p:nvSpPr>
        <p:spPr bwMode="auto">
          <a:xfrm>
            <a:off x="466724" y="182608"/>
            <a:ext cx="8261033" cy="327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fontAlgn="b" hangingPunct="1">
              <a:spcBef>
                <a:spcPct val="50000"/>
              </a:spcBef>
            </a:pPr>
            <a:r>
              <a:rPr lang="en-US" altLang="ko-KR" sz="1400" b="1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1. UI </a:t>
            </a:r>
            <a:r>
              <a:rPr lang="ko-KR" altLang="en-US" sz="1400" b="1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목록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0105" y="109568"/>
            <a:ext cx="6897938" cy="20164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1802780"/>
              </p:ext>
            </p:extLst>
          </p:nvPr>
        </p:nvGraphicFramePr>
        <p:xfrm>
          <a:off x="497555" y="622138"/>
          <a:ext cx="11829299" cy="1116000"/>
        </p:xfrm>
        <a:graphic>
          <a:graphicData uri="http://schemas.openxmlformats.org/drawingml/2006/table">
            <a:tbl>
              <a:tblPr firstRow="1" firstCol="1" bandRow="1"/>
              <a:tblGrid>
                <a:gridCol w="57531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07945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37626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3744416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808312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245534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1" baseline="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No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 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ID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 명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메뉴 경로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설명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 구분</a:t>
                      </a:r>
                      <a:endParaRPr lang="en-US" alt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(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신규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, 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변경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, 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유지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)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22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S101050101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신청완료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신규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/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변경 신청서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&gt;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신청완료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신청완료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23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S101050102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신청서 열람 비밀번호 입력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신청서 열람 비밀번호 입력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24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S101050103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신청서 열람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신청서 열람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2392628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352408" y="189434"/>
            <a:ext cx="2520000" cy="288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latin typeface="+mn-ea"/>
                <a:ea typeface="+mn-ea"/>
              </a:rPr>
              <a:t>신규</a:t>
            </a:r>
            <a:r>
              <a:rPr lang="en-US" altLang="ko-KR" sz="1000" b="1" dirty="0">
                <a:latin typeface="+mn-ea"/>
                <a:ea typeface="+mn-ea"/>
              </a:rPr>
              <a:t>/</a:t>
            </a:r>
            <a:r>
              <a:rPr lang="ko-KR" altLang="en-US" sz="1000" b="1" dirty="0">
                <a:latin typeface="+mn-ea"/>
                <a:ea typeface="+mn-ea"/>
              </a:rPr>
              <a:t>변경 신청서 프로세스</a:t>
            </a:r>
          </a:p>
        </p:txBody>
      </p:sp>
      <p:sp>
        <p:nvSpPr>
          <p:cNvPr id="4" name="타원 3"/>
          <p:cNvSpPr/>
          <p:nvPr/>
        </p:nvSpPr>
        <p:spPr>
          <a:xfrm>
            <a:off x="443224" y="571367"/>
            <a:ext cx="1080000" cy="360000"/>
          </a:xfrm>
          <a:prstGeom prst="ellipse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solidFill>
                  <a:schemeClr val="tx1"/>
                </a:solidFill>
                <a:latin typeface="+mn-ea"/>
                <a:ea typeface="+mn-ea"/>
              </a:rPr>
              <a:t>시작</a:t>
            </a:r>
          </a:p>
        </p:txBody>
      </p:sp>
      <p:cxnSp>
        <p:nvCxnSpPr>
          <p:cNvPr id="88" name="꺾인 연결선 87"/>
          <p:cNvCxnSpPr>
            <a:stCxn id="4" idx="6"/>
            <a:endCxn id="172" idx="1"/>
          </p:cNvCxnSpPr>
          <p:nvPr/>
        </p:nvCxnSpPr>
        <p:spPr>
          <a:xfrm>
            <a:off x="1523224" y="751367"/>
            <a:ext cx="557096" cy="40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직사각형 127"/>
          <p:cNvSpPr/>
          <p:nvPr/>
        </p:nvSpPr>
        <p:spPr>
          <a:xfrm>
            <a:off x="2741713" y="5107871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휴대폰 사양 선택</a:t>
            </a:r>
            <a:endParaRPr lang="en-US" altLang="ko-KR" sz="900" b="1" dirty="0">
              <a:latin typeface="+mn-ea"/>
              <a:ea typeface="+mn-ea"/>
            </a:endParaRPr>
          </a:p>
          <a:p>
            <a:pPr algn="ctr">
              <a:spcBef>
                <a:spcPct val="50000"/>
              </a:spcBef>
            </a:pPr>
            <a:r>
              <a:rPr lang="en-US" altLang="ko-KR" sz="900" b="1" dirty="0">
                <a:latin typeface="+mn-ea"/>
                <a:ea typeface="+mn-ea"/>
              </a:rPr>
              <a:t>- </a:t>
            </a:r>
            <a:r>
              <a:rPr lang="ko-KR" altLang="en-US" sz="900" b="1" dirty="0">
                <a:latin typeface="+mn-ea"/>
                <a:ea typeface="+mn-ea"/>
              </a:rPr>
              <a:t>모델</a:t>
            </a:r>
            <a:r>
              <a:rPr lang="en-US" altLang="ko-KR" sz="900" b="1" dirty="0">
                <a:latin typeface="+mn-ea"/>
                <a:ea typeface="+mn-ea"/>
              </a:rPr>
              <a:t>, </a:t>
            </a:r>
            <a:r>
              <a:rPr lang="ko-KR" altLang="en-US" sz="900" b="1" dirty="0">
                <a:latin typeface="+mn-ea"/>
                <a:ea typeface="+mn-ea"/>
              </a:rPr>
              <a:t>용량</a:t>
            </a:r>
            <a:r>
              <a:rPr lang="en-US" altLang="ko-KR" sz="900" b="1" dirty="0">
                <a:latin typeface="+mn-ea"/>
                <a:ea typeface="+mn-ea"/>
              </a:rPr>
              <a:t>, </a:t>
            </a:r>
            <a:r>
              <a:rPr lang="ko-KR" altLang="en-US" sz="900" b="1" dirty="0">
                <a:latin typeface="+mn-ea"/>
                <a:ea typeface="+mn-ea"/>
              </a:rPr>
              <a:t>색상</a:t>
            </a:r>
          </a:p>
        </p:txBody>
      </p:sp>
      <p:sp>
        <p:nvSpPr>
          <p:cNvPr id="135" name="직사각형 134"/>
          <p:cNvSpPr/>
          <p:nvPr/>
        </p:nvSpPr>
        <p:spPr>
          <a:xfrm>
            <a:off x="4316351" y="4747831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약정 및 할부기간 선택</a:t>
            </a:r>
          </a:p>
        </p:txBody>
      </p:sp>
      <p:cxnSp>
        <p:nvCxnSpPr>
          <p:cNvPr id="136" name="꺾인 연결선 135"/>
          <p:cNvCxnSpPr>
            <a:stCxn id="128" idx="3"/>
            <a:endCxn id="135" idx="1"/>
          </p:cNvCxnSpPr>
          <p:nvPr/>
        </p:nvCxnSpPr>
        <p:spPr>
          <a:xfrm flipV="1">
            <a:off x="4001713" y="4927831"/>
            <a:ext cx="314638" cy="360040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직사각형 144"/>
          <p:cNvSpPr/>
          <p:nvPr/>
        </p:nvSpPr>
        <p:spPr>
          <a:xfrm>
            <a:off x="2725245" y="5611967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요금제 선택</a:t>
            </a:r>
          </a:p>
        </p:txBody>
      </p:sp>
      <p:cxnSp>
        <p:nvCxnSpPr>
          <p:cNvPr id="146" name="꺾인 연결선 145"/>
          <p:cNvCxnSpPr>
            <a:stCxn id="135" idx="2"/>
            <a:endCxn id="145" idx="3"/>
          </p:cNvCxnSpPr>
          <p:nvPr/>
        </p:nvCxnSpPr>
        <p:spPr>
          <a:xfrm rot="5400000">
            <a:off x="4123730" y="4969346"/>
            <a:ext cx="684136" cy="961106"/>
          </a:xfrm>
          <a:prstGeom prst="bent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직사각형 171"/>
          <p:cNvSpPr/>
          <p:nvPr/>
        </p:nvSpPr>
        <p:spPr>
          <a:xfrm>
            <a:off x="2080320" y="571407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상품 선택</a:t>
            </a:r>
          </a:p>
        </p:txBody>
      </p:sp>
      <p:sp>
        <p:nvSpPr>
          <p:cNvPr id="173" name="직사각형 172"/>
          <p:cNvSpPr/>
          <p:nvPr/>
        </p:nvSpPr>
        <p:spPr>
          <a:xfrm>
            <a:off x="4312568" y="1298791"/>
            <a:ext cx="180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가입유형 선택</a:t>
            </a:r>
            <a:endParaRPr lang="en-US" altLang="ko-KR" sz="900" b="1" dirty="0">
              <a:latin typeface="+mn-ea"/>
              <a:ea typeface="+mn-ea"/>
            </a:endParaRPr>
          </a:p>
          <a:p>
            <a:pPr algn="ctr">
              <a:spcBef>
                <a:spcPct val="50000"/>
              </a:spcBef>
            </a:pPr>
            <a:r>
              <a:rPr lang="en-US" altLang="ko-KR" sz="900" b="1" dirty="0">
                <a:latin typeface="+mn-ea"/>
                <a:ea typeface="+mn-ea"/>
              </a:rPr>
              <a:t>- </a:t>
            </a:r>
            <a:r>
              <a:rPr lang="ko-KR" altLang="en-US" sz="900" b="1" dirty="0">
                <a:latin typeface="+mn-ea"/>
                <a:ea typeface="+mn-ea"/>
              </a:rPr>
              <a:t>번호이동</a:t>
            </a:r>
            <a:r>
              <a:rPr lang="en-US" altLang="ko-KR" sz="900" b="1" dirty="0">
                <a:latin typeface="+mn-ea"/>
                <a:ea typeface="+mn-ea"/>
              </a:rPr>
              <a:t>, </a:t>
            </a:r>
            <a:r>
              <a:rPr lang="ko-KR" altLang="en-US" sz="900" b="1" dirty="0">
                <a:latin typeface="+mn-ea"/>
                <a:ea typeface="+mn-ea"/>
              </a:rPr>
              <a:t>신규가입</a:t>
            </a:r>
            <a:r>
              <a:rPr lang="en-US" altLang="ko-KR" sz="900" b="1" dirty="0">
                <a:latin typeface="+mn-ea"/>
                <a:ea typeface="+mn-ea"/>
              </a:rPr>
              <a:t>, </a:t>
            </a:r>
            <a:r>
              <a:rPr lang="ko-KR" altLang="en-US" sz="900" b="1" dirty="0">
                <a:latin typeface="+mn-ea"/>
                <a:ea typeface="+mn-ea"/>
              </a:rPr>
              <a:t>기기변경</a:t>
            </a:r>
          </a:p>
        </p:txBody>
      </p:sp>
      <p:cxnSp>
        <p:nvCxnSpPr>
          <p:cNvPr id="174" name="꺾인 연결선 173"/>
          <p:cNvCxnSpPr>
            <a:stCxn id="176" idx="3"/>
            <a:endCxn id="173" idx="1"/>
          </p:cNvCxnSpPr>
          <p:nvPr/>
        </p:nvCxnSpPr>
        <p:spPr>
          <a:xfrm>
            <a:off x="4060352" y="1360231"/>
            <a:ext cx="252216" cy="118560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3736504" y="1075423"/>
            <a:ext cx="78899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>
                <a:latin typeface="+mn-ea"/>
                <a:ea typeface="+mn-ea"/>
              </a:rPr>
              <a:t>YES(</a:t>
            </a:r>
            <a:r>
              <a:rPr lang="ko-KR" altLang="en-US" sz="900" dirty="0">
                <a:latin typeface="+mn-ea"/>
                <a:ea typeface="+mn-ea"/>
              </a:rPr>
              <a:t>휴대폰</a:t>
            </a:r>
            <a:r>
              <a:rPr lang="en-US" altLang="ko-KR" sz="900" dirty="0">
                <a:latin typeface="+mn-ea"/>
                <a:ea typeface="+mn-ea"/>
              </a:rPr>
              <a:t>)</a:t>
            </a:r>
            <a:endParaRPr lang="ko-KR" altLang="en-US" sz="900" dirty="0">
              <a:latin typeface="+mn-ea"/>
              <a:ea typeface="+mn-ea"/>
            </a:endParaRPr>
          </a:p>
        </p:txBody>
      </p:sp>
      <p:sp>
        <p:nvSpPr>
          <p:cNvPr id="176" name="다이아몬드 175"/>
          <p:cNvSpPr/>
          <p:nvPr/>
        </p:nvSpPr>
        <p:spPr>
          <a:xfrm>
            <a:off x="2368352" y="1090231"/>
            <a:ext cx="1692000" cy="540000"/>
          </a:xfrm>
          <a:prstGeom prst="diamond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solidFill>
                  <a:schemeClr val="tx1"/>
                </a:solidFill>
                <a:latin typeface="+mn-ea"/>
                <a:ea typeface="+mn-ea"/>
              </a:rPr>
              <a:t>상품</a:t>
            </a:r>
            <a:r>
              <a:rPr lang="en-US" altLang="ko-KR" sz="900" b="1" dirty="0">
                <a:solidFill>
                  <a:schemeClr val="tx1"/>
                </a:solidFill>
                <a:latin typeface="+mn-ea"/>
                <a:ea typeface="+mn-ea"/>
              </a:rPr>
              <a:t>=‘</a:t>
            </a:r>
            <a:r>
              <a:rPr lang="ko-KR" altLang="en-US" sz="900" b="1" dirty="0">
                <a:solidFill>
                  <a:schemeClr val="tx1"/>
                </a:solidFill>
                <a:latin typeface="+mn-ea"/>
                <a:ea typeface="+mn-ea"/>
              </a:rPr>
              <a:t>휴대폰</a:t>
            </a:r>
            <a:r>
              <a:rPr lang="en-US" altLang="ko-KR" sz="900" b="1" dirty="0">
                <a:solidFill>
                  <a:schemeClr val="tx1"/>
                </a:solidFill>
                <a:latin typeface="+mn-ea"/>
                <a:ea typeface="+mn-ea"/>
              </a:rPr>
              <a:t>’</a:t>
            </a:r>
            <a:endParaRPr lang="ko-KR" altLang="en-US" sz="900" b="1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177" name="직사각형 176"/>
          <p:cNvSpPr/>
          <p:nvPr/>
        </p:nvSpPr>
        <p:spPr>
          <a:xfrm>
            <a:off x="424136" y="1219479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가입유형 선택</a:t>
            </a:r>
          </a:p>
          <a:p>
            <a:pPr algn="ctr">
              <a:spcBef>
                <a:spcPct val="50000"/>
              </a:spcBef>
            </a:pPr>
            <a:r>
              <a:rPr lang="en-US" altLang="ko-KR" sz="900" b="1" dirty="0">
                <a:latin typeface="+mn-ea"/>
                <a:ea typeface="+mn-ea"/>
              </a:rPr>
              <a:t>- </a:t>
            </a:r>
            <a:r>
              <a:rPr lang="ko-KR" altLang="en-US" sz="900" b="1" dirty="0">
                <a:latin typeface="+mn-ea"/>
                <a:ea typeface="+mn-ea"/>
              </a:rPr>
              <a:t>번호이동</a:t>
            </a:r>
            <a:r>
              <a:rPr lang="en-US" altLang="ko-KR" sz="900" b="1" dirty="0">
                <a:latin typeface="+mn-ea"/>
                <a:ea typeface="+mn-ea"/>
              </a:rPr>
              <a:t>, </a:t>
            </a:r>
            <a:r>
              <a:rPr lang="ko-KR" altLang="en-US" sz="900" b="1" dirty="0">
                <a:latin typeface="+mn-ea"/>
                <a:ea typeface="+mn-ea"/>
              </a:rPr>
              <a:t>신규가입</a:t>
            </a:r>
          </a:p>
        </p:txBody>
      </p:sp>
      <p:cxnSp>
        <p:nvCxnSpPr>
          <p:cNvPr id="178" name="꺾인 연결선 177"/>
          <p:cNvCxnSpPr>
            <a:stCxn id="176" idx="1"/>
            <a:endCxn id="177" idx="3"/>
          </p:cNvCxnSpPr>
          <p:nvPr/>
        </p:nvCxnSpPr>
        <p:spPr>
          <a:xfrm rot="10800000" flipV="1">
            <a:off x="1684136" y="1360231"/>
            <a:ext cx="684216" cy="3924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/>
          <p:cNvSpPr txBox="1"/>
          <p:nvPr/>
        </p:nvSpPr>
        <p:spPr>
          <a:xfrm>
            <a:off x="1720280" y="1107102"/>
            <a:ext cx="71365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 smtClean="0">
                <a:latin typeface="+mn-ea"/>
                <a:ea typeface="+mn-ea"/>
              </a:rPr>
              <a:t>NO(USIM)</a:t>
            </a:r>
            <a:endParaRPr lang="ko-KR" altLang="en-US" sz="900" dirty="0">
              <a:latin typeface="+mn-ea"/>
              <a:ea typeface="+mn-ea"/>
            </a:endParaRPr>
          </a:p>
        </p:txBody>
      </p:sp>
      <p:cxnSp>
        <p:nvCxnSpPr>
          <p:cNvPr id="180" name="꺾인 연결선 179"/>
          <p:cNvCxnSpPr>
            <a:stCxn id="172" idx="2"/>
            <a:endCxn id="176" idx="0"/>
          </p:cNvCxnSpPr>
          <p:nvPr/>
        </p:nvCxnSpPr>
        <p:spPr>
          <a:xfrm rot="16200000" flipH="1">
            <a:off x="2882924" y="758803"/>
            <a:ext cx="158824" cy="504032"/>
          </a:xfrm>
          <a:prstGeom prst="bentConnector3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직사각형 217"/>
          <p:cNvSpPr/>
          <p:nvPr/>
        </p:nvSpPr>
        <p:spPr>
          <a:xfrm>
            <a:off x="4342162" y="2659599"/>
            <a:ext cx="1260000" cy="6339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고객정보 입력</a:t>
            </a:r>
            <a:endParaRPr lang="en-US" altLang="ko-KR" sz="900" b="1" dirty="0">
              <a:latin typeface="+mn-ea"/>
              <a:ea typeface="+mn-ea"/>
            </a:endParaRPr>
          </a:p>
          <a:p>
            <a:pPr algn="ctr">
              <a:spcBef>
                <a:spcPct val="50000"/>
              </a:spcBef>
            </a:pPr>
            <a:r>
              <a:rPr lang="en-US" altLang="ko-KR" sz="900" b="1" dirty="0">
                <a:latin typeface="+mn-ea"/>
                <a:ea typeface="+mn-ea"/>
              </a:rPr>
              <a:t>- </a:t>
            </a:r>
            <a:r>
              <a:rPr lang="ko-KR" altLang="en-US" sz="900" b="1" dirty="0">
                <a:latin typeface="+mn-ea"/>
                <a:ea typeface="+mn-ea"/>
              </a:rPr>
              <a:t>가입자</a:t>
            </a:r>
            <a:r>
              <a:rPr lang="en-US" altLang="ko-KR" sz="900" b="1" dirty="0">
                <a:latin typeface="+mn-ea"/>
                <a:ea typeface="+mn-ea"/>
              </a:rPr>
              <a:t>, </a:t>
            </a:r>
            <a:r>
              <a:rPr lang="ko-KR" altLang="en-US" sz="900" b="1" dirty="0" smtClean="0">
                <a:latin typeface="+mn-ea"/>
                <a:ea typeface="+mn-ea"/>
              </a:rPr>
              <a:t>법정대리인</a:t>
            </a:r>
            <a:r>
              <a:rPr lang="en-US" altLang="ko-KR" sz="900" b="1" dirty="0" smtClean="0">
                <a:latin typeface="+mn-ea"/>
                <a:ea typeface="+mn-ea"/>
              </a:rPr>
              <a:t>, </a:t>
            </a:r>
            <a:r>
              <a:rPr lang="ko-KR" altLang="en-US" sz="900" b="1" dirty="0" smtClean="0">
                <a:latin typeface="+mn-ea"/>
                <a:ea typeface="+mn-ea"/>
              </a:rPr>
              <a:t>구비서류</a:t>
            </a:r>
            <a:endParaRPr lang="ko-KR" altLang="en-US" sz="900" b="1" dirty="0">
              <a:latin typeface="+mn-ea"/>
              <a:ea typeface="+mn-ea"/>
            </a:endParaRPr>
          </a:p>
        </p:txBody>
      </p:sp>
      <p:cxnSp>
        <p:nvCxnSpPr>
          <p:cNvPr id="219" name="꺾인 연결선 218"/>
          <p:cNvCxnSpPr>
            <a:stCxn id="221" idx="2"/>
            <a:endCxn id="218" idx="1"/>
          </p:cNvCxnSpPr>
          <p:nvPr/>
        </p:nvCxnSpPr>
        <p:spPr>
          <a:xfrm rot="16200000" flipH="1">
            <a:off x="3745766" y="2380153"/>
            <a:ext cx="64982" cy="1127810"/>
          </a:xfrm>
          <a:prstGeom prst="bent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" name="TextBox 219"/>
          <p:cNvSpPr txBox="1"/>
          <p:nvPr/>
        </p:nvSpPr>
        <p:spPr>
          <a:xfrm>
            <a:off x="3448472" y="2951481"/>
            <a:ext cx="6463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미성년자</a:t>
            </a:r>
          </a:p>
        </p:txBody>
      </p:sp>
      <p:sp>
        <p:nvSpPr>
          <p:cNvPr id="221" name="다이아몬드 220"/>
          <p:cNvSpPr/>
          <p:nvPr/>
        </p:nvSpPr>
        <p:spPr>
          <a:xfrm>
            <a:off x="2368352" y="2371567"/>
            <a:ext cx="1692000" cy="540000"/>
          </a:xfrm>
          <a:prstGeom prst="diamond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고객유형</a:t>
            </a:r>
            <a:endParaRPr lang="en-US" altLang="ko-KR" sz="900" b="1" dirty="0">
              <a:latin typeface="+mn-ea"/>
              <a:ea typeface="+mn-ea"/>
            </a:endParaRPr>
          </a:p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선택</a:t>
            </a:r>
            <a:endParaRPr lang="ko-KR" altLang="en-US" sz="900" b="1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22" name="직사각형 221"/>
          <p:cNvSpPr/>
          <p:nvPr/>
        </p:nvSpPr>
        <p:spPr>
          <a:xfrm>
            <a:off x="424136" y="2155503"/>
            <a:ext cx="1260000" cy="648112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고객정보 입력</a:t>
            </a:r>
          </a:p>
          <a:p>
            <a:pPr algn="ctr">
              <a:spcBef>
                <a:spcPct val="50000"/>
              </a:spcBef>
            </a:pPr>
            <a:r>
              <a:rPr lang="en-US" altLang="ko-KR" sz="900" b="1" dirty="0">
                <a:latin typeface="+mn-ea"/>
                <a:ea typeface="+mn-ea"/>
              </a:rPr>
              <a:t>- </a:t>
            </a:r>
            <a:r>
              <a:rPr lang="ko-KR" altLang="en-US" sz="900" b="1" dirty="0">
                <a:latin typeface="+mn-ea"/>
                <a:ea typeface="+mn-ea"/>
              </a:rPr>
              <a:t>가입자</a:t>
            </a:r>
            <a:r>
              <a:rPr lang="en-US" altLang="ko-KR" sz="900" b="1" dirty="0">
                <a:latin typeface="+mn-ea"/>
                <a:ea typeface="+mn-ea"/>
              </a:rPr>
              <a:t>, </a:t>
            </a:r>
            <a:r>
              <a:rPr lang="ko-KR" altLang="en-US" sz="900" b="1" dirty="0" smtClean="0">
                <a:latin typeface="+mn-ea"/>
                <a:ea typeface="+mn-ea"/>
              </a:rPr>
              <a:t>실사용자</a:t>
            </a:r>
            <a:r>
              <a:rPr lang="en-US" altLang="ko-KR" sz="900" b="1" dirty="0" smtClean="0">
                <a:latin typeface="+mn-ea"/>
                <a:ea typeface="+mn-ea"/>
              </a:rPr>
              <a:t>, </a:t>
            </a:r>
            <a:r>
              <a:rPr lang="ko-KR" altLang="en-US" sz="900" b="1" dirty="0" smtClean="0">
                <a:latin typeface="+mn-ea"/>
                <a:ea typeface="+mn-ea"/>
              </a:rPr>
              <a:t>대리인 위임</a:t>
            </a:r>
            <a:r>
              <a:rPr lang="en-US" altLang="ko-KR" sz="900" b="1" dirty="0" smtClean="0">
                <a:latin typeface="+mn-ea"/>
                <a:ea typeface="+mn-ea"/>
              </a:rPr>
              <a:t>, </a:t>
            </a:r>
            <a:r>
              <a:rPr lang="ko-KR" altLang="en-US" sz="900" b="1" dirty="0" smtClean="0">
                <a:latin typeface="+mn-ea"/>
                <a:ea typeface="+mn-ea"/>
              </a:rPr>
              <a:t>구비서류</a:t>
            </a:r>
            <a:endParaRPr lang="ko-KR" altLang="en-US" sz="900" b="1" dirty="0">
              <a:latin typeface="+mn-ea"/>
              <a:ea typeface="+mn-ea"/>
            </a:endParaRPr>
          </a:p>
        </p:txBody>
      </p:sp>
      <p:cxnSp>
        <p:nvCxnSpPr>
          <p:cNvPr id="223" name="꺾인 연결선 222"/>
          <p:cNvCxnSpPr>
            <a:stCxn id="221" idx="1"/>
            <a:endCxn id="222" idx="3"/>
          </p:cNvCxnSpPr>
          <p:nvPr/>
        </p:nvCxnSpPr>
        <p:spPr>
          <a:xfrm rot="10800000">
            <a:off x="1684136" y="2479559"/>
            <a:ext cx="684216" cy="16200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TextBox 223"/>
          <p:cNvSpPr txBox="1"/>
          <p:nvPr/>
        </p:nvSpPr>
        <p:spPr>
          <a:xfrm>
            <a:off x="1720280" y="2443575"/>
            <a:ext cx="9236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법인</a:t>
            </a:r>
            <a:r>
              <a:rPr lang="en-US" altLang="ko-KR" sz="900" dirty="0">
                <a:latin typeface="+mn-ea"/>
                <a:ea typeface="+mn-ea"/>
              </a:rPr>
              <a:t>/</a:t>
            </a:r>
            <a:r>
              <a:rPr lang="ko-KR" altLang="en-US" sz="900" dirty="0">
                <a:latin typeface="+mn-ea"/>
                <a:ea typeface="+mn-ea"/>
              </a:rPr>
              <a:t>공공기관</a:t>
            </a:r>
          </a:p>
        </p:txBody>
      </p:sp>
      <p:cxnSp>
        <p:nvCxnSpPr>
          <p:cNvPr id="225" name="꺾인 연결선 224"/>
          <p:cNvCxnSpPr>
            <a:stCxn id="145" idx="2"/>
            <a:endCxn id="258" idx="0"/>
          </p:cNvCxnSpPr>
          <p:nvPr/>
        </p:nvCxnSpPr>
        <p:spPr>
          <a:xfrm rot="5400000">
            <a:off x="2323128" y="5083906"/>
            <a:ext cx="144056" cy="1920179"/>
          </a:xfrm>
          <a:prstGeom prst="bentConnector3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꺾인 연결선 225"/>
          <p:cNvCxnSpPr>
            <a:stCxn id="222" idx="2"/>
            <a:endCxn id="262" idx="0"/>
          </p:cNvCxnSpPr>
          <p:nvPr/>
        </p:nvCxnSpPr>
        <p:spPr>
          <a:xfrm rot="16200000" flipH="1">
            <a:off x="1666192" y="2191559"/>
            <a:ext cx="720080" cy="1944192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꺾인 연결선 228"/>
          <p:cNvCxnSpPr>
            <a:stCxn id="218" idx="2"/>
            <a:endCxn id="262" idx="0"/>
          </p:cNvCxnSpPr>
          <p:nvPr/>
        </p:nvCxnSpPr>
        <p:spPr>
          <a:xfrm rot="5400000">
            <a:off x="3870147" y="2421680"/>
            <a:ext cx="230196" cy="1973834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직사각형 234"/>
          <p:cNvSpPr/>
          <p:nvPr/>
        </p:nvSpPr>
        <p:spPr>
          <a:xfrm>
            <a:off x="4348712" y="2227551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고객정보 입력</a:t>
            </a:r>
            <a:endParaRPr lang="en-US" altLang="ko-KR" sz="900" b="1" dirty="0">
              <a:latin typeface="+mn-ea"/>
              <a:ea typeface="+mn-ea"/>
            </a:endParaRPr>
          </a:p>
          <a:p>
            <a:pPr algn="ctr">
              <a:spcBef>
                <a:spcPct val="50000"/>
              </a:spcBef>
            </a:pPr>
            <a:r>
              <a:rPr lang="en-US" altLang="ko-KR" sz="900" b="1" dirty="0">
                <a:latin typeface="+mn-ea"/>
                <a:ea typeface="+mn-ea"/>
              </a:rPr>
              <a:t>- </a:t>
            </a:r>
            <a:r>
              <a:rPr lang="ko-KR" altLang="en-US" sz="900" b="1" dirty="0" smtClean="0">
                <a:latin typeface="+mn-ea"/>
                <a:ea typeface="+mn-ea"/>
              </a:rPr>
              <a:t>가입자</a:t>
            </a:r>
            <a:r>
              <a:rPr lang="en-US" altLang="ko-KR" sz="900" b="1" dirty="0" smtClean="0">
                <a:latin typeface="+mn-ea"/>
                <a:ea typeface="+mn-ea"/>
              </a:rPr>
              <a:t>, </a:t>
            </a:r>
            <a:r>
              <a:rPr lang="ko-KR" altLang="en-US" sz="900" b="1" dirty="0" smtClean="0">
                <a:latin typeface="+mn-ea"/>
                <a:ea typeface="+mn-ea"/>
              </a:rPr>
              <a:t>구비서류</a:t>
            </a:r>
            <a:endParaRPr lang="ko-KR" altLang="en-US" sz="900" b="1" dirty="0">
              <a:latin typeface="+mn-ea"/>
              <a:ea typeface="+mn-ea"/>
            </a:endParaRPr>
          </a:p>
        </p:txBody>
      </p:sp>
      <p:cxnSp>
        <p:nvCxnSpPr>
          <p:cNvPr id="236" name="꺾인 연결선 235"/>
          <p:cNvCxnSpPr>
            <a:stCxn id="221" idx="3"/>
            <a:endCxn id="235" idx="1"/>
          </p:cNvCxnSpPr>
          <p:nvPr/>
        </p:nvCxnSpPr>
        <p:spPr>
          <a:xfrm flipV="1">
            <a:off x="4060352" y="2407551"/>
            <a:ext cx="288360" cy="234016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3969078" y="2371567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성인</a:t>
            </a:r>
          </a:p>
        </p:txBody>
      </p:sp>
      <p:cxnSp>
        <p:nvCxnSpPr>
          <p:cNvPr id="244" name="꺾인 연결선 243"/>
          <p:cNvCxnSpPr>
            <a:stCxn id="235" idx="3"/>
            <a:endCxn id="262" idx="0"/>
          </p:cNvCxnSpPr>
          <p:nvPr/>
        </p:nvCxnSpPr>
        <p:spPr>
          <a:xfrm flipH="1">
            <a:off x="2998328" y="2407551"/>
            <a:ext cx="2610384" cy="1116144"/>
          </a:xfrm>
          <a:prstGeom prst="bentConnector4">
            <a:avLst>
              <a:gd name="adj1" fmla="val -8757"/>
              <a:gd name="adj2" fmla="val 9015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직사각형 252"/>
          <p:cNvSpPr/>
          <p:nvPr/>
        </p:nvSpPr>
        <p:spPr>
          <a:xfrm>
            <a:off x="4312568" y="4027751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연락처 정보 입력</a:t>
            </a:r>
          </a:p>
        </p:txBody>
      </p:sp>
      <p:sp>
        <p:nvSpPr>
          <p:cNvPr id="258" name="직사각형 257"/>
          <p:cNvSpPr/>
          <p:nvPr/>
        </p:nvSpPr>
        <p:spPr>
          <a:xfrm>
            <a:off x="805066" y="6116023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약관 동의 선택</a:t>
            </a:r>
          </a:p>
        </p:txBody>
      </p:sp>
      <p:cxnSp>
        <p:nvCxnSpPr>
          <p:cNvPr id="260" name="꺾인 연결선 259"/>
          <p:cNvCxnSpPr>
            <a:stCxn id="262" idx="2"/>
            <a:endCxn id="279" idx="0"/>
          </p:cNvCxnSpPr>
          <p:nvPr/>
        </p:nvCxnSpPr>
        <p:spPr>
          <a:xfrm rot="5400000">
            <a:off x="2872304" y="4189719"/>
            <a:ext cx="252048" cy="12700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TextBox 260"/>
          <p:cNvSpPr txBox="1"/>
          <p:nvPr/>
        </p:nvSpPr>
        <p:spPr>
          <a:xfrm flipH="1">
            <a:off x="2152328" y="4099759"/>
            <a:ext cx="105217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latin typeface="+mn-ea"/>
                <a:ea typeface="+mn-ea"/>
              </a:rPr>
              <a:t>YES(</a:t>
            </a:r>
            <a:r>
              <a:rPr lang="ko-KR" altLang="en-US" sz="900" dirty="0">
                <a:latin typeface="+mn-ea"/>
                <a:ea typeface="+mn-ea"/>
              </a:rPr>
              <a:t>기기변경</a:t>
            </a:r>
            <a:r>
              <a:rPr lang="en-US" altLang="ko-KR" sz="900" dirty="0">
                <a:latin typeface="+mn-ea"/>
                <a:ea typeface="+mn-ea"/>
              </a:rPr>
              <a:t>)</a:t>
            </a:r>
            <a:endParaRPr lang="ko-KR" altLang="en-US" sz="900" dirty="0">
              <a:latin typeface="+mn-ea"/>
              <a:ea typeface="+mn-ea"/>
            </a:endParaRPr>
          </a:p>
        </p:txBody>
      </p:sp>
      <p:sp>
        <p:nvSpPr>
          <p:cNvPr id="262" name="다이아몬드 261"/>
          <p:cNvSpPr/>
          <p:nvPr/>
        </p:nvSpPr>
        <p:spPr>
          <a:xfrm>
            <a:off x="2152328" y="3523695"/>
            <a:ext cx="1692000" cy="540000"/>
          </a:xfrm>
          <a:prstGeom prst="diamond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solidFill>
                  <a:schemeClr val="tx1"/>
                </a:solidFill>
                <a:latin typeface="+mn-ea"/>
                <a:ea typeface="+mn-ea"/>
              </a:rPr>
              <a:t>가입유형</a:t>
            </a:r>
            <a:r>
              <a:rPr lang="en-US" altLang="ko-KR" sz="900" b="1" dirty="0">
                <a:solidFill>
                  <a:schemeClr val="tx1"/>
                </a:solidFill>
                <a:latin typeface="+mn-ea"/>
                <a:ea typeface="+mn-ea"/>
              </a:rPr>
              <a:t>=‘</a:t>
            </a:r>
            <a:r>
              <a:rPr lang="ko-KR" altLang="en-US" sz="900" b="1" dirty="0">
                <a:solidFill>
                  <a:schemeClr val="tx1"/>
                </a:solidFill>
                <a:latin typeface="+mn-ea"/>
                <a:ea typeface="+mn-ea"/>
              </a:rPr>
              <a:t>기기변경</a:t>
            </a:r>
            <a:r>
              <a:rPr lang="en-US" altLang="ko-KR" sz="900" b="1" dirty="0">
                <a:solidFill>
                  <a:schemeClr val="tx1"/>
                </a:solidFill>
                <a:latin typeface="+mn-ea"/>
                <a:ea typeface="+mn-ea"/>
              </a:rPr>
              <a:t>’</a:t>
            </a:r>
            <a:endParaRPr lang="ko-KR" altLang="en-US" sz="900" b="1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cxnSp>
        <p:nvCxnSpPr>
          <p:cNvPr id="263" name="꺾인 연결선 262"/>
          <p:cNvCxnSpPr>
            <a:stCxn id="262" idx="3"/>
            <a:endCxn id="253" idx="0"/>
          </p:cNvCxnSpPr>
          <p:nvPr/>
        </p:nvCxnSpPr>
        <p:spPr>
          <a:xfrm>
            <a:off x="3844328" y="3793695"/>
            <a:ext cx="1098240" cy="234056"/>
          </a:xfrm>
          <a:prstGeom prst="bent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다이아몬드 278"/>
          <p:cNvSpPr/>
          <p:nvPr/>
        </p:nvSpPr>
        <p:spPr>
          <a:xfrm>
            <a:off x="2152328" y="4315743"/>
            <a:ext cx="1692000" cy="540000"/>
          </a:xfrm>
          <a:prstGeom prst="diamond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휴대폰번호 체크</a:t>
            </a:r>
          </a:p>
        </p:txBody>
      </p:sp>
      <p:sp>
        <p:nvSpPr>
          <p:cNvPr id="282" name="TextBox 281"/>
          <p:cNvSpPr txBox="1"/>
          <p:nvPr/>
        </p:nvSpPr>
        <p:spPr>
          <a:xfrm flipH="1">
            <a:off x="1792288" y="4308359"/>
            <a:ext cx="54555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불일치</a:t>
            </a:r>
          </a:p>
        </p:txBody>
      </p:sp>
      <p:cxnSp>
        <p:nvCxnSpPr>
          <p:cNvPr id="283" name="꺾인 연결선 282"/>
          <p:cNvCxnSpPr>
            <a:stCxn id="279" idx="3"/>
            <a:endCxn id="253" idx="1"/>
          </p:cNvCxnSpPr>
          <p:nvPr/>
        </p:nvCxnSpPr>
        <p:spPr>
          <a:xfrm flipV="1">
            <a:off x="3844328" y="4207751"/>
            <a:ext cx="468240" cy="377992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TextBox 283"/>
          <p:cNvSpPr txBox="1"/>
          <p:nvPr/>
        </p:nvSpPr>
        <p:spPr>
          <a:xfrm>
            <a:off x="3736504" y="4372943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정상</a:t>
            </a:r>
          </a:p>
        </p:txBody>
      </p:sp>
      <p:cxnSp>
        <p:nvCxnSpPr>
          <p:cNvPr id="326" name="꺾인 연결선 325"/>
          <p:cNvCxnSpPr>
            <a:stCxn id="341" idx="3"/>
            <a:endCxn id="370" idx="1"/>
          </p:cNvCxnSpPr>
          <p:nvPr/>
        </p:nvCxnSpPr>
        <p:spPr>
          <a:xfrm flipV="1">
            <a:off x="6391998" y="3541727"/>
            <a:ext cx="1053106" cy="2628232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7" name="TextBox 326"/>
          <p:cNvSpPr txBox="1"/>
          <p:nvPr/>
        </p:nvSpPr>
        <p:spPr>
          <a:xfrm flipH="1">
            <a:off x="3465023" y="6583338"/>
            <a:ext cx="115212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latin typeface="+mn-ea"/>
                <a:ea typeface="+mn-ea"/>
              </a:rPr>
              <a:t>NO(</a:t>
            </a:r>
            <a:r>
              <a:rPr lang="ko-KR" altLang="en-US" sz="900" dirty="0">
                <a:latin typeface="+mn-ea"/>
                <a:ea typeface="+mn-ea"/>
              </a:rPr>
              <a:t>휴대폰</a:t>
            </a:r>
            <a:r>
              <a:rPr lang="en-US" altLang="ko-KR" sz="900" dirty="0">
                <a:latin typeface="+mn-ea"/>
                <a:ea typeface="+mn-ea"/>
              </a:rPr>
              <a:t>, </a:t>
            </a:r>
            <a:r>
              <a:rPr lang="en-US" altLang="ko-KR" sz="900" dirty="0" smtClean="0">
                <a:latin typeface="+mn-ea"/>
                <a:ea typeface="+mn-ea"/>
              </a:rPr>
              <a:t>USIM)</a:t>
            </a:r>
            <a:endParaRPr lang="ko-KR" altLang="en-US" sz="900" dirty="0">
              <a:latin typeface="+mn-ea"/>
              <a:ea typeface="+mn-ea"/>
            </a:endParaRPr>
          </a:p>
        </p:txBody>
      </p:sp>
      <p:sp>
        <p:nvSpPr>
          <p:cNvPr id="328" name="다이아몬드 327"/>
          <p:cNvSpPr/>
          <p:nvPr/>
        </p:nvSpPr>
        <p:spPr>
          <a:xfrm>
            <a:off x="2467750" y="6045033"/>
            <a:ext cx="1692000" cy="540000"/>
          </a:xfrm>
          <a:prstGeom prst="diamond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상품</a:t>
            </a:r>
            <a:r>
              <a:rPr lang="en-US" altLang="ko-KR" sz="900" b="1" dirty="0">
                <a:latin typeface="+mn-ea"/>
                <a:ea typeface="+mn-ea"/>
              </a:rPr>
              <a:t>=‘</a:t>
            </a:r>
            <a:r>
              <a:rPr lang="en-US" altLang="ko-KR" sz="900" b="1" dirty="0" err="1">
                <a:latin typeface="+mn-ea"/>
                <a:ea typeface="+mn-ea"/>
              </a:rPr>
              <a:t>eSIM</a:t>
            </a:r>
            <a:r>
              <a:rPr lang="ko-KR" altLang="en-US" sz="900" b="1" dirty="0">
                <a:latin typeface="+mn-ea"/>
                <a:ea typeface="+mn-ea"/>
              </a:rPr>
              <a:t>’</a:t>
            </a:r>
          </a:p>
        </p:txBody>
      </p:sp>
      <p:sp>
        <p:nvSpPr>
          <p:cNvPr id="331" name="다이아몬드 330"/>
          <p:cNvSpPr/>
          <p:nvPr/>
        </p:nvSpPr>
        <p:spPr>
          <a:xfrm>
            <a:off x="7517112" y="5829009"/>
            <a:ext cx="1692000" cy="540000"/>
          </a:xfrm>
          <a:prstGeom prst="diamond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900" b="1" dirty="0" smtClean="0">
                <a:latin typeface="+mn-ea"/>
                <a:ea typeface="+mn-ea"/>
              </a:rPr>
              <a:t>USIM</a:t>
            </a:r>
            <a:r>
              <a:rPr lang="ko-KR" altLang="en-US" sz="900" b="1" dirty="0" smtClean="0">
                <a:latin typeface="+mn-ea"/>
                <a:ea typeface="+mn-ea"/>
              </a:rPr>
              <a:t> </a:t>
            </a:r>
            <a:r>
              <a:rPr lang="ko-KR" altLang="en-US" sz="900" b="1" dirty="0">
                <a:latin typeface="+mn-ea"/>
                <a:ea typeface="+mn-ea"/>
              </a:rPr>
              <a:t>유효성 체크</a:t>
            </a:r>
          </a:p>
        </p:txBody>
      </p:sp>
      <p:cxnSp>
        <p:nvCxnSpPr>
          <p:cNvPr id="332" name="꺾인 연결선 331"/>
          <p:cNvCxnSpPr>
            <a:stCxn id="331" idx="0"/>
            <a:endCxn id="348" idx="2"/>
          </p:cNvCxnSpPr>
          <p:nvPr/>
        </p:nvCxnSpPr>
        <p:spPr>
          <a:xfrm rot="16200000" flipV="1">
            <a:off x="8218567" y="5684463"/>
            <a:ext cx="289090" cy="1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3" name="TextBox 332"/>
          <p:cNvSpPr txBox="1"/>
          <p:nvPr/>
        </p:nvSpPr>
        <p:spPr>
          <a:xfrm>
            <a:off x="8037718" y="5597119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정상</a:t>
            </a:r>
          </a:p>
        </p:txBody>
      </p:sp>
      <p:cxnSp>
        <p:nvCxnSpPr>
          <p:cNvPr id="337" name="꺾인 연결선 336"/>
          <p:cNvCxnSpPr>
            <a:stCxn id="331" idx="3"/>
            <a:endCxn id="586" idx="2"/>
          </p:cNvCxnSpPr>
          <p:nvPr/>
        </p:nvCxnSpPr>
        <p:spPr>
          <a:xfrm>
            <a:off x="9209112" y="6099009"/>
            <a:ext cx="612455" cy="12700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8" name="TextBox 337"/>
          <p:cNvSpPr txBox="1"/>
          <p:nvPr/>
        </p:nvSpPr>
        <p:spPr>
          <a:xfrm flipH="1">
            <a:off x="9245304" y="5880152"/>
            <a:ext cx="54555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불일치</a:t>
            </a:r>
          </a:p>
        </p:txBody>
      </p:sp>
      <p:sp>
        <p:nvSpPr>
          <p:cNvPr id="341" name="다이아몬드 340"/>
          <p:cNvSpPr/>
          <p:nvPr/>
        </p:nvSpPr>
        <p:spPr>
          <a:xfrm>
            <a:off x="4699998" y="5899959"/>
            <a:ext cx="1692000" cy="540000"/>
          </a:xfrm>
          <a:prstGeom prst="diamond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900" b="1" dirty="0" err="1">
                <a:latin typeface="+mn-ea"/>
                <a:ea typeface="+mn-ea"/>
              </a:rPr>
              <a:t>eSIM</a:t>
            </a:r>
            <a:r>
              <a:rPr lang="en-US" altLang="ko-KR" sz="900" b="1" dirty="0">
                <a:latin typeface="+mn-ea"/>
                <a:ea typeface="+mn-ea"/>
              </a:rPr>
              <a:t> </a:t>
            </a:r>
            <a:r>
              <a:rPr lang="ko-KR" altLang="en-US" sz="900" b="1" dirty="0">
                <a:latin typeface="+mn-ea"/>
                <a:ea typeface="+mn-ea"/>
              </a:rPr>
              <a:t>휴대폰 정보 체크</a:t>
            </a:r>
            <a:endParaRPr lang="en-US" altLang="ko-KR" sz="900" b="1" dirty="0">
              <a:latin typeface="+mn-ea"/>
              <a:ea typeface="+mn-ea"/>
            </a:endParaRPr>
          </a:p>
        </p:txBody>
      </p:sp>
      <p:sp>
        <p:nvSpPr>
          <p:cNvPr id="345" name="다이아몬드 344"/>
          <p:cNvSpPr/>
          <p:nvPr/>
        </p:nvSpPr>
        <p:spPr>
          <a:xfrm>
            <a:off x="7517110" y="4207831"/>
            <a:ext cx="1692000" cy="540000"/>
          </a:xfrm>
          <a:prstGeom prst="diamond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휴대폰 모델 정보 체크</a:t>
            </a:r>
            <a:endParaRPr lang="en-US" altLang="ko-KR" sz="900" b="1" dirty="0">
              <a:latin typeface="+mn-ea"/>
              <a:ea typeface="+mn-ea"/>
            </a:endParaRPr>
          </a:p>
        </p:txBody>
      </p:sp>
      <p:sp>
        <p:nvSpPr>
          <p:cNvPr id="348" name="다이아몬드 347"/>
          <p:cNvSpPr/>
          <p:nvPr/>
        </p:nvSpPr>
        <p:spPr>
          <a:xfrm>
            <a:off x="7517111" y="4999919"/>
            <a:ext cx="1692000" cy="540000"/>
          </a:xfrm>
          <a:prstGeom prst="diamond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상품</a:t>
            </a:r>
            <a:r>
              <a:rPr lang="en-US" altLang="ko-KR" sz="900" b="1" dirty="0">
                <a:latin typeface="+mn-ea"/>
                <a:ea typeface="+mn-ea"/>
              </a:rPr>
              <a:t>=‘</a:t>
            </a:r>
            <a:r>
              <a:rPr lang="ko-KR" altLang="en-US" sz="900" b="1" dirty="0">
                <a:latin typeface="+mn-ea"/>
                <a:ea typeface="+mn-ea"/>
              </a:rPr>
              <a:t>휴대폰</a:t>
            </a:r>
            <a:r>
              <a:rPr lang="en-US" altLang="ko-KR" sz="900" b="1" dirty="0">
                <a:latin typeface="+mn-ea"/>
                <a:ea typeface="+mn-ea"/>
              </a:rPr>
              <a:t>’</a:t>
            </a:r>
          </a:p>
        </p:txBody>
      </p:sp>
      <p:cxnSp>
        <p:nvCxnSpPr>
          <p:cNvPr id="349" name="꺾인 연결선 348"/>
          <p:cNvCxnSpPr>
            <a:stCxn id="348" idx="0"/>
            <a:endCxn id="345" idx="2"/>
          </p:cNvCxnSpPr>
          <p:nvPr/>
        </p:nvCxnSpPr>
        <p:spPr>
          <a:xfrm rot="16200000" flipV="1">
            <a:off x="8237067" y="4873874"/>
            <a:ext cx="252088" cy="1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TextBox 351"/>
          <p:cNvSpPr txBox="1"/>
          <p:nvPr/>
        </p:nvSpPr>
        <p:spPr>
          <a:xfrm>
            <a:off x="7589120" y="4747831"/>
            <a:ext cx="78899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>
                <a:latin typeface="+mn-ea"/>
                <a:ea typeface="+mn-ea"/>
              </a:rPr>
              <a:t>YES(</a:t>
            </a:r>
            <a:r>
              <a:rPr lang="ko-KR" altLang="en-US" sz="900" dirty="0">
                <a:latin typeface="+mn-ea"/>
                <a:ea typeface="+mn-ea"/>
              </a:rPr>
              <a:t>휴대폰</a:t>
            </a:r>
            <a:r>
              <a:rPr lang="en-US" altLang="ko-KR" sz="900" dirty="0">
                <a:latin typeface="+mn-ea"/>
                <a:ea typeface="+mn-ea"/>
              </a:rPr>
              <a:t>)</a:t>
            </a:r>
            <a:endParaRPr lang="ko-KR" altLang="en-US" sz="900" dirty="0">
              <a:latin typeface="+mn-ea"/>
              <a:ea typeface="+mn-ea"/>
            </a:endParaRPr>
          </a:p>
        </p:txBody>
      </p:sp>
      <p:cxnSp>
        <p:nvCxnSpPr>
          <p:cNvPr id="353" name="꺾인 연결선 352"/>
          <p:cNvCxnSpPr>
            <a:stCxn id="345" idx="3"/>
            <a:endCxn id="586" idx="0"/>
          </p:cNvCxnSpPr>
          <p:nvPr/>
        </p:nvCxnSpPr>
        <p:spPr>
          <a:xfrm>
            <a:off x="9209110" y="4477831"/>
            <a:ext cx="882457" cy="1441178"/>
          </a:xfrm>
          <a:prstGeom prst="bent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TextBox 358"/>
          <p:cNvSpPr txBox="1"/>
          <p:nvPr/>
        </p:nvSpPr>
        <p:spPr>
          <a:xfrm>
            <a:off x="8041845" y="4006633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정상</a:t>
            </a:r>
          </a:p>
        </p:txBody>
      </p:sp>
      <p:cxnSp>
        <p:nvCxnSpPr>
          <p:cNvPr id="360" name="꺾인 연결선 359"/>
          <p:cNvCxnSpPr>
            <a:stCxn id="345" idx="0"/>
            <a:endCxn id="370" idx="2"/>
          </p:cNvCxnSpPr>
          <p:nvPr/>
        </p:nvCxnSpPr>
        <p:spPr>
          <a:xfrm rot="16200000" flipV="1">
            <a:off x="8129055" y="3973776"/>
            <a:ext cx="396104" cy="72006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/>
          <p:cNvSpPr txBox="1"/>
          <p:nvPr/>
        </p:nvSpPr>
        <p:spPr>
          <a:xfrm>
            <a:off x="6417350" y="5987681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정상</a:t>
            </a:r>
          </a:p>
        </p:txBody>
      </p:sp>
      <p:sp>
        <p:nvSpPr>
          <p:cNvPr id="363" name="TextBox 362"/>
          <p:cNvSpPr txBox="1"/>
          <p:nvPr/>
        </p:nvSpPr>
        <p:spPr>
          <a:xfrm flipH="1">
            <a:off x="5841286" y="6332007"/>
            <a:ext cx="54555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불일치</a:t>
            </a:r>
          </a:p>
        </p:txBody>
      </p:sp>
      <p:sp>
        <p:nvSpPr>
          <p:cNvPr id="370" name="다이아몬드 369"/>
          <p:cNvSpPr/>
          <p:nvPr/>
        </p:nvSpPr>
        <p:spPr>
          <a:xfrm>
            <a:off x="7445104" y="3271727"/>
            <a:ext cx="1692000" cy="540000"/>
          </a:xfrm>
          <a:prstGeom prst="diamond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가입유형</a:t>
            </a:r>
            <a:endParaRPr lang="en-US" altLang="ko-KR" sz="900" b="1" dirty="0">
              <a:latin typeface="+mn-ea"/>
              <a:ea typeface="+mn-ea"/>
            </a:endParaRPr>
          </a:p>
        </p:txBody>
      </p:sp>
      <p:cxnSp>
        <p:nvCxnSpPr>
          <p:cNvPr id="375" name="꺾인 연결선 374"/>
          <p:cNvCxnSpPr>
            <a:stCxn id="370" idx="0"/>
            <a:endCxn id="378" idx="2"/>
          </p:cNvCxnSpPr>
          <p:nvPr/>
        </p:nvCxnSpPr>
        <p:spPr>
          <a:xfrm rot="16200000" flipV="1">
            <a:off x="8146140" y="3126762"/>
            <a:ext cx="252088" cy="37841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6" name="TextBox 375"/>
          <p:cNvSpPr txBox="1"/>
          <p:nvPr/>
        </p:nvSpPr>
        <p:spPr>
          <a:xfrm>
            <a:off x="7839112" y="3091647"/>
            <a:ext cx="6463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번호이동</a:t>
            </a:r>
          </a:p>
        </p:txBody>
      </p:sp>
      <p:sp>
        <p:nvSpPr>
          <p:cNvPr id="378" name="다이아몬드 377"/>
          <p:cNvSpPr/>
          <p:nvPr/>
        </p:nvSpPr>
        <p:spPr>
          <a:xfrm>
            <a:off x="7407263" y="2479639"/>
            <a:ext cx="1692000" cy="540000"/>
          </a:xfrm>
          <a:prstGeom prst="diamond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번호이동 인증</a:t>
            </a:r>
            <a:endParaRPr lang="en-US" altLang="ko-KR" sz="900" b="1" dirty="0">
              <a:latin typeface="+mn-ea"/>
              <a:ea typeface="+mn-ea"/>
            </a:endParaRPr>
          </a:p>
        </p:txBody>
      </p:sp>
      <p:cxnSp>
        <p:nvCxnSpPr>
          <p:cNvPr id="380" name="꺾인 연결선 379"/>
          <p:cNvCxnSpPr>
            <a:stCxn id="378" idx="0"/>
            <a:endCxn id="437" idx="2"/>
          </p:cNvCxnSpPr>
          <p:nvPr/>
        </p:nvCxnSpPr>
        <p:spPr>
          <a:xfrm rot="16200000" flipV="1">
            <a:off x="7911108" y="2137483"/>
            <a:ext cx="396104" cy="288207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1" name="TextBox 380"/>
          <p:cNvSpPr txBox="1"/>
          <p:nvPr/>
        </p:nvSpPr>
        <p:spPr>
          <a:xfrm>
            <a:off x="7911120" y="2284751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성공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9388219" y="3435225"/>
            <a:ext cx="6463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신규가입</a:t>
            </a:r>
          </a:p>
        </p:txBody>
      </p:sp>
      <p:sp>
        <p:nvSpPr>
          <p:cNvPr id="389" name="다이아몬드 388"/>
          <p:cNvSpPr/>
          <p:nvPr/>
        </p:nvSpPr>
        <p:spPr>
          <a:xfrm>
            <a:off x="10109400" y="3289556"/>
            <a:ext cx="1692000" cy="540000"/>
          </a:xfrm>
          <a:prstGeom prst="diamond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신규 번호 예약</a:t>
            </a:r>
            <a:endParaRPr lang="en-US" altLang="ko-KR" sz="900" b="1" dirty="0">
              <a:latin typeface="+mn-ea"/>
              <a:ea typeface="+mn-ea"/>
            </a:endParaRPr>
          </a:p>
        </p:txBody>
      </p:sp>
      <p:cxnSp>
        <p:nvCxnSpPr>
          <p:cNvPr id="390" name="꺾인 연결선 389"/>
          <p:cNvCxnSpPr>
            <a:stCxn id="370" idx="3"/>
            <a:endCxn id="389" idx="1"/>
          </p:cNvCxnSpPr>
          <p:nvPr/>
        </p:nvCxnSpPr>
        <p:spPr>
          <a:xfrm>
            <a:off x="9137104" y="3541727"/>
            <a:ext cx="972296" cy="17829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10559488" y="3028635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성공</a:t>
            </a:r>
          </a:p>
        </p:txBody>
      </p:sp>
      <p:sp>
        <p:nvSpPr>
          <p:cNvPr id="393" name="TextBox 392"/>
          <p:cNvSpPr txBox="1"/>
          <p:nvPr/>
        </p:nvSpPr>
        <p:spPr>
          <a:xfrm flipH="1">
            <a:off x="10319739" y="3883735"/>
            <a:ext cx="68957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횟수초과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6904856" y="5269919"/>
            <a:ext cx="71365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 smtClean="0">
                <a:latin typeface="+mn-ea"/>
                <a:ea typeface="+mn-ea"/>
              </a:rPr>
              <a:t>NO(USIM)</a:t>
            </a:r>
            <a:endParaRPr lang="ko-KR" altLang="en-US" sz="900" dirty="0">
              <a:latin typeface="+mn-ea"/>
              <a:ea typeface="+mn-ea"/>
            </a:endParaRPr>
          </a:p>
        </p:txBody>
      </p:sp>
      <p:sp>
        <p:nvSpPr>
          <p:cNvPr id="437" name="직사각형 436"/>
          <p:cNvSpPr/>
          <p:nvPr/>
        </p:nvSpPr>
        <p:spPr>
          <a:xfrm>
            <a:off x="7335056" y="1723535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부가서비스 선택</a:t>
            </a:r>
          </a:p>
        </p:txBody>
      </p:sp>
      <p:sp>
        <p:nvSpPr>
          <p:cNvPr id="446" name="TextBox 445"/>
          <p:cNvSpPr txBox="1"/>
          <p:nvPr/>
        </p:nvSpPr>
        <p:spPr>
          <a:xfrm flipH="1">
            <a:off x="9276010" y="4237465"/>
            <a:ext cx="54555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불일치</a:t>
            </a:r>
          </a:p>
        </p:txBody>
      </p:sp>
      <p:cxnSp>
        <p:nvCxnSpPr>
          <p:cNvPr id="483" name="꺾인 연결선 482"/>
          <p:cNvCxnSpPr>
            <a:stCxn id="328" idx="2"/>
            <a:endCxn id="331" idx="2"/>
          </p:cNvCxnSpPr>
          <p:nvPr/>
        </p:nvCxnSpPr>
        <p:spPr>
          <a:xfrm rot="5400000" flipH="1" flipV="1">
            <a:off x="5730419" y="3952340"/>
            <a:ext cx="216024" cy="5049362"/>
          </a:xfrm>
          <a:prstGeom prst="bentConnector3">
            <a:avLst>
              <a:gd name="adj1" fmla="val -105822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1" name="타원 490"/>
          <p:cNvSpPr/>
          <p:nvPr/>
        </p:nvSpPr>
        <p:spPr>
          <a:xfrm>
            <a:off x="7012928" y="6332047"/>
            <a:ext cx="540000" cy="360000"/>
          </a:xfrm>
          <a:prstGeom prst="ellipse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solidFill>
                  <a:schemeClr val="tx1"/>
                </a:solidFill>
                <a:latin typeface="+mn-ea"/>
                <a:ea typeface="+mn-ea"/>
              </a:rPr>
              <a:t>종료</a:t>
            </a:r>
          </a:p>
        </p:txBody>
      </p:sp>
      <p:cxnSp>
        <p:nvCxnSpPr>
          <p:cNvPr id="495" name="꺾인 연결선 494"/>
          <p:cNvCxnSpPr>
            <a:stCxn id="279" idx="1"/>
            <a:endCxn id="496" idx="6"/>
          </p:cNvCxnSpPr>
          <p:nvPr/>
        </p:nvCxnSpPr>
        <p:spPr>
          <a:xfrm rot="10800000">
            <a:off x="1488664" y="4423775"/>
            <a:ext cx="663664" cy="16196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6" name="타원 495"/>
          <p:cNvSpPr/>
          <p:nvPr/>
        </p:nvSpPr>
        <p:spPr>
          <a:xfrm>
            <a:off x="948664" y="4243775"/>
            <a:ext cx="540000" cy="360000"/>
          </a:xfrm>
          <a:prstGeom prst="ellipse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solidFill>
                  <a:schemeClr val="tx1"/>
                </a:solidFill>
                <a:latin typeface="+mn-ea"/>
                <a:ea typeface="+mn-ea"/>
              </a:rPr>
              <a:t>종료</a:t>
            </a:r>
          </a:p>
        </p:txBody>
      </p:sp>
      <p:sp>
        <p:nvSpPr>
          <p:cNvPr id="543" name="TextBox 542"/>
          <p:cNvSpPr txBox="1"/>
          <p:nvPr/>
        </p:nvSpPr>
        <p:spPr>
          <a:xfrm flipH="1">
            <a:off x="3736504" y="3551764"/>
            <a:ext cx="150099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latin typeface="+mn-ea"/>
                <a:ea typeface="+mn-ea"/>
              </a:rPr>
              <a:t>NO(</a:t>
            </a:r>
            <a:r>
              <a:rPr lang="ko-KR" altLang="en-US" sz="900" dirty="0">
                <a:latin typeface="+mn-ea"/>
                <a:ea typeface="+mn-ea"/>
              </a:rPr>
              <a:t>번호이동</a:t>
            </a:r>
            <a:r>
              <a:rPr lang="en-US" altLang="ko-KR" sz="900" dirty="0">
                <a:latin typeface="+mn-ea"/>
                <a:ea typeface="+mn-ea"/>
              </a:rPr>
              <a:t>, </a:t>
            </a:r>
            <a:r>
              <a:rPr lang="ko-KR" altLang="en-US" sz="900" dirty="0">
                <a:latin typeface="+mn-ea"/>
                <a:ea typeface="+mn-ea"/>
              </a:rPr>
              <a:t>신규가입</a:t>
            </a:r>
            <a:r>
              <a:rPr lang="en-US" altLang="ko-KR" sz="900" dirty="0">
                <a:latin typeface="+mn-ea"/>
                <a:ea typeface="+mn-ea"/>
              </a:rPr>
              <a:t>)</a:t>
            </a:r>
            <a:endParaRPr lang="ko-KR" altLang="en-US" sz="900" dirty="0">
              <a:latin typeface="+mn-ea"/>
              <a:ea typeface="+mn-ea"/>
            </a:endParaRPr>
          </a:p>
        </p:txBody>
      </p:sp>
      <p:cxnSp>
        <p:nvCxnSpPr>
          <p:cNvPr id="581" name="꺾인 연결선 580"/>
          <p:cNvCxnSpPr>
            <a:stCxn id="258" idx="3"/>
            <a:endCxn id="328" idx="1"/>
          </p:cNvCxnSpPr>
          <p:nvPr/>
        </p:nvCxnSpPr>
        <p:spPr>
          <a:xfrm>
            <a:off x="2065066" y="6296023"/>
            <a:ext cx="402684" cy="19010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타원 585"/>
          <p:cNvSpPr/>
          <p:nvPr/>
        </p:nvSpPr>
        <p:spPr>
          <a:xfrm>
            <a:off x="9821567" y="5919009"/>
            <a:ext cx="540000" cy="360000"/>
          </a:xfrm>
          <a:prstGeom prst="ellipse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solidFill>
                  <a:schemeClr val="tx1"/>
                </a:solidFill>
                <a:latin typeface="+mn-ea"/>
                <a:ea typeface="+mn-ea"/>
              </a:rPr>
              <a:t>종료</a:t>
            </a:r>
          </a:p>
        </p:txBody>
      </p:sp>
      <p:sp>
        <p:nvSpPr>
          <p:cNvPr id="589" name="TextBox 588"/>
          <p:cNvSpPr txBox="1"/>
          <p:nvPr/>
        </p:nvSpPr>
        <p:spPr>
          <a:xfrm flipH="1">
            <a:off x="3969078" y="5971967"/>
            <a:ext cx="115212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latin typeface="+mn-ea"/>
                <a:ea typeface="+mn-ea"/>
              </a:rPr>
              <a:t>YES(</a:t>
            </a:r>
            <a:r>
              <a:rPr lang="en-US" altLang="ko-KR" sz="900" dirty="0" err="1">
                <a:latin typeface="+mn-ea"/>
                <a:ea typeface="+mn-ea"/>
              </a:rPr>
              <a:t>eSIM</a:t>
            </a:r>
            <a:r>
              <a:rPr lang="en-US" altLang="ko-KR" sz="900" dirty="0">
                <a:latin typeface="+mn-ea"/>
                <a:ea typeface="+mn-ea"/>
              </a:rPr>
              <a:t>)</a:t>
            </a:r>
            <a:endParaRPr lang="ko-KR" altLang="en-US" sz="900" dirty="0">
              <a:latin typeface="+mn-ea"/>
              <a:ea typeface="+mn-ea"/>
            </a:endParaRPr>
          </a:p>
        </p:txBody>
      </p:sp>
      <p:cxnSp>
        <p:nvCxnSpPr>
          <p:cNvPr id="591" name="꺾인 연결선 590"/>
          <p:cNvCxnSpPr>
            <a:stCxn id="328" idx="3"/>
            <a:endCxn id="341" idx="1"/>
          </p:cNvCxnSpPr>
          <p:nvPr/>
        </p:nvCxnSpPr>
        <p:spPr>
          <a:xfrm flipV="1">
            <a:off x="4159750" y="6169959"/>
            <a:ext cx="540248" cy="145074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꺾인 연결선 595"/>
          <p:cNvCxnSpPr>
            <a:stCxn id="341" idx="2"/>
            <a:endCxn id="491" idx="2"/>
          </p:cNvCxnSpPr>
          <p:nvPr/>
        </p:nvCxnSpPr>
        <p:spPr>
          <a:xfrm rot="16200000" flipH="1">
            <a:off x="6243419" y="5742538"/>
            <a:ext cx="72088" cy="1466930"/>
          </a:xfrm>
          <a:prstGeom prst="bent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0" name="꺾인 연결선 599"/>
          <p:cNvCxnSpPr>
            <a:stCxn id="348" idx="1"/>
            <a:endCxn id="370" idx="1"/>
          </p:cNvCxnSpPr>
          <p:nvPr/>
        </p:nvCxnSpPr>
        <p:spPr>
          <a:xfrm rot="10800000">
            <a:off x="7445105" y="3541727"/>
            <a:ext cx="72007" cy="1728192"/>
          </a:xfrm>
          <a:prstGeom prst="bentConnector3">
            <a:avLst>
              <a:gd name="adj1" fmla="val 417469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꺾인 연결선 607"/>
          <p:cNvCxnSpPr>
            <a:stCxn id="389" idx="2"/>
            <a:endCxn id="586" idx="0"/>
          </p:cNvCxnSpPr>
          <p:nvPr/>
        </p:nvCxnSpPr>
        <p:spPr>
          <a:xfrm rot="5400000">
            <a:off x="9478758" y="4442366"/>
            <a:ext cx="2089453" cy="863833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꺾인 연결선 610"/>
          <p:cNvCxnSpPr>
            <a:stCxn id="389" idx="0"/>
            <a:endCxn id="437" idx="3"/>
          </p:cNvCxnSpPr>
          <p:nvPr/>
        </p:nvCxnSpPr>
        <p:spPr>
          <a:xfrm rot="16200000" flipV="1">
            <a:off x="9082218" y="1416374"/>
            <a:ext cx="1386021" cy="2360344"/>
          </a:xfrm>
          <a:prstGeom prst="bent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" name="평행 사변형 572"/>
          <p:cNvSpPr/>
          <p:nvPr/>
        </p:nvSpPr>
        <p:spPr>
          <a:xfrm>
            <a:off x="8741248" y="2155543"/>
            <a:ext cx="1260000" cy="360000"/>
          </a:xfrm>
          <a:prstGeom prst="parallelogram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잔여 단말대금 출력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9005652" y="2932823"/>
            <a:ext cx="6463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+mn-ea"/>
                <a:ea typeface="+mn-ea"/>
              </a:rPr>
              <a:t>기기변경</a:t>
            </a:r>
          </a:p>
        </p:txBody>
      </p:sp>
      <p:cxnSp>
        <p:nvCxnSpPr>
          <p:cNvPr id="617" name="꺾인 연결선 616"/>
          <p:cNvCxnSpPr>
            <a:stCxn id="370" idx="3"/>
            <a:endCxn id="573" idx="3"/>
          </p:cNvCxnSpPr>
          <p:nvPr/>
        </p:nvCxnSpPr>
        <p:spPr>
          <a:xfrm flipV="1">
            <a:off x="9137104" y="2515543"/>
            <a:ext cx="189144" cy="1026184"/>
          </a:xfrm>
          <a:prstGeom prst="bent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꺾인 연결선 622"/>
          <p:cNvCxnSpPr>
            <a:stCxn id="573" idx="1"/>
            <a:endCxn id="437" idx="3"/>
          </p:cNvCxnSpPr>
          <p:nvPr/>
        </p:nvCxnSpPr>
        <p:spPr>
          <a:xfrm rot="16200000" flipV="1">
            <a:off x="8879648" y="1618943"/>
            <a:ext cx="252008" cy="821192"/>
          </a:xfrm>
          <a:prstGeom prst="bent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6" name="직사각형 625"/>
          <p:cNvSpPr/>
          <p:nvPr/>
        </p:nvSpPr>
        <p:spPr>
          <a:xfrm>
            <a:off x="7335056" y="1147431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안심보험 선택</a:t>
            </a:r>
          </a:p>
        </p:txBody>
      </p:sp>
      <p:cxnSp>
        <p:nvCxnSpPr>
          <p:cNvPr id="627" name="꺾인 연결선 626"/>
          <p:cNvCxnSpPr>
            <a:stCxn id="437" idx="0"/>
            <a:endCxn id="626" idx="2"/>
          </p:cNvCxnSpPr>
          <p:nvPr/>
        </p:nvCxnSpPr>
        <p:spPr>
          <a:xfrm rot="5400000" flipH="1" flipV="1">
            <a:off x="7857004" y="1615483"/>
            <a:ext cx="216104" cy="12700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0" name="직사각형 629"/>
          <p:cNvSpPr/>
          <p:nvPr/>
        </p:nvSpPr>
        <p:spPr>
          <a:xfrm>
            <a:off x="6290752" y="571367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명세서 정보 선택</a:t>
            </a:r>
          </a:p>
        </p:txBody>
      </p:sp>
      <p:cxnSp>
        <p:nvCxnSpPr>
          <p:cNvPr id="631" name="꺾인 연결선 630"/>
          <p:cNvCxnSpPr>
            <a:stCxn id="626" idx="0"/>
            <a:endCxn id="630" idx="2"/>
          </p:cNvCxnSpPr>
          <p:nvPr/>
        </p:nvCxnSpPr>
        <p:spPr>
          <a:xfrm rot="16200000" flipV="1">
            <a:off x="7334872" y="517247"/>
            <a:ext cx="216064" cy="1044304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직사각형 633"/>
          <p:cNvSpPr/>
          <p:nvPr/>
        </p:nvSpPr>
        <p:spPr>
          <a:xfrm>
            <a:off x="8037080" y="571367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납부 정보 선택</a:t>
            </a:r>
          </a:p>
        </p:txBody>
      </p:sp>
      <p:cxnSp>
        <p:nvCxnSpPr>
          <p:cNvPr id="635" name="꺾인 연결선 634"/>
          <p:cNvCxnSpPr>
            <a:stCxn id="630" idx="3"/>
            <a:endCxn id="634" idx="1"/>
          </p:cNvCxnSpPr>
          <p:nvPr/>
        </p:nvCxnSpPr>
        <p:spPr>
          <a:xfrm>
            <a:off x="7550752" y="751367"/>
            <a:ext cx="486328" cy="12700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7" name="평행 사변형 636"/>
          <p:cNvSpPr/>
          <p:nvPr/>
        </p:nvSpPr>
        <p:spPr>
          <a:xfrm>
            <a:off x="9569152" y="571407"/>
            <a:ext cx="1260000" cy="360000"/>
          </a:xfrm>
          <a:prstGeom prst="parallelogram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메모 입력</a:t>
            </a:r>
          </a:p>
        </p:txBody>
      </p:sp>
      <p:cxnSp>
        <p:nvCxnSpPr>
          <p:cNvPr id="639" name="꺾인 연결선 638"/>
          <p:cNvCxnSpPr>
            <a:stCxn id="637" idx="2"/>
            <a:endCxn id="643" idx="1"/>
          </p:cNvCxnSpPr>
          <p:nvPr/>
        </p:nvCxnSpPr>
        <p:spPr>
          <a:xfrm flipV="1">
            <a:off x="10784152" y="751367"/>
            <a:ext cx="323170" cy="40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3" name="직사각형 642"/>
          <p:cNvSpPr/>
          <p:nvPr/>
        </p:nvSpPr>
        <p:spPr>
          <a:xfrm>
            <a:off x="11107322" y="571367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>
                <a:latin typeface="+mn-ea"/>
                <a:ea typeface="+mn-ea"/>
              </a:rPr>
              <a:t>고객 안내 사항 확인</a:t>
            </a:r>
            <a:endParaRPr lang="ko-KR" altLang="en-US" sz="900" b="1" dirty="0">
              <a:latin typeface="+mn-ea"/>
              <a:ea typeface="+mn-ea"/>
            </a:endParaRPr>
          </a:p>
        </p:txBody>
      </p:sp>
      <p:sp>
        <p:nvSpPr>
          <p:cNvPr id="644" name="직사각형 643"/>
          <p:cNvSpPr/>
          <p:nvPr/>
        </p:nvSpPr>
        <p:spPr>
          <a:xfrm>
            <a:off x="11081320" y="1219439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신청서 확인</a:t>
            </a:r>
            <a:r>
              <a:rPr lang="en-US" altLang="ko-KR" sz="900" b="1" dirty="0">
                <a:latin typeface="+mn-ea"/>
                <a:ea typeface="+mn-ea"/>
              </a:rPr>
              <a:t>, </a:t>
            </a:r>
            <a:r>
              <a:rPr lang="ko-KR" altLang="en-US" sz="900" b="1" dirty="0">
                <a:latin typeface="+mn-ea"/>
                <a:ea typeface="+mn-ea"/>
              </a:rPr>
              <a:t>녹취</a:t>
            </a:r>
            <a:r>
              <a:rPr lang="en-US" altLang="ko-KR" sz="900" b="1" dirty="0">
                <a:latin typeface="+mn-ea"/>
                <a:ea typeface="+mn-ea"/>
              </a:rPr>
              <a:t>, </a:t>
            </a:r>
            <a:r>
              <a:rPr lang="ko-KR" altLang="en-US" sz="900" b="1" dirty="0">
                <a:latin typeface="+mn-ea"/>
                <a:ea typeface="+mn-ea"/>
              </a:rPr>
              <a:t>서명</a:t>
            </a:r>
          </a:p>
        </p:txBody>
      </p:sp>
      <p:sp>
        <p:nvSpPr>
          <p:cNvPr id="646" name="직사각형 645"/>
          <p:cNvSpPr/>
          <p:nvPr/>
        </p:nvSpPr>
        <p:spPr>
          <a:xfrm>
            <a:off x="11107322" y="1867511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신청서 등록 처리</a:t>
            </a:r>
          </a:p>
        </p:txBody>
      </p:sp>
      <p:cxnSp>
        <p:nvCxnSpPr>
          <p:cNvPr id="656" name="꺾인 연결선 655"/>
          <p:cNvCxnSpPr>
            <a:stCxn id="634" idx="3"/>
            <a:endCxn id="637" idx="5"/>
          </p:cNvCxnSpPr>
          <p:nvPr/>
        </p:nvCxnSpPr>
        <p:spPr>
          <a:xfrm>
            <a:off x="9297080" y="751367"/>
            <a:ext cx="317072" cy="40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꺾인 연결선 661"/>
          <p:cNvCxnSpPr>
            <a:stCxn id="643" idx="2"/>
            <a:endCxn id="644" idx="0"/>
          </p:cNvCxnSpPr>
          <p:nvPr/>
        </p:nvCxnSpPr>
        <p:spPr>
          <a:xfrm rot="5400000">
            <a:off x="11580285" y="1062402"/>
            <a:ext cx="288072" cy="26002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꺾인 연결선 667"/>
          <p:cNvCxnSpPr>
            <a:cxnSpLocks/>
            <a:stCxn id="644" idx="2"/>
            <a:endCxn id="646" idx="0"/>
          </p:cNvCxnSpPr>
          <p:nvPr/>
        </p:nvCxnSpPr>
        <p:spPr>
          <a:xfrm rot="16200000" flipH="1">
            <a:off x="11580285" y="1710474"/>
            <a:ext cx="288072" cy="26002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꺾인 연결선 670"/>
          <p:cNvCxnSpPr>
            <a:stCxn id="646" idx="2"/>
            <a:endCxn id="672" idx="0"/>
          </p:cNvCxnSpPr>
          <p:nvPr/>
        </p:nvCxnSpPr>
        <p:spPr>
          <a:xfrm rot="16200000" flipH="1">
            <a:off x="11617106" y="2347727"/>
            <a:ext cx="270569" cy="30136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타원 671"/>
          <p:cNvSpPr/>
          <p:nvPr/>
        </p:nvSpPr>
        <p:spPr>
          <a:xfrm>
            <a:off x="11497458" y="2498080"/>
            <a:ext cx="540000" cy="360000"/>
          </a:xfrm>
          <a:prstGeom prst="ellipse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solidFill>
                  <a:schemeClr val="tx1"/>
                </a:solidFill>
                <a:latin typeface="+mn-ea"/>
                <a:ea typeface="+mn-ea"/>
              </a:rPr>
              <a:t>완료</a:t>
            </a:r>
          </a:p>
        </p:txBody>
      </p:sp>
      <p:cxnSp>
        <p:nvCxnSpPr>
          <p:cNvPr id="123" name="꺾인 연결선 122"/>
          <p:cNvCxnSpPr>
            <a:stCxn id="176" idx="2"/>
            <a:endCxn id="126" idx="0"/>
          </p:cNvCxnSpPr>
          <p:nvPr/>
        </p:nvCxnSpPr>
        <p:spPr>
          <a:xfrm rot="16200000" flipH="1">
            <a:off x="3131716" y="1712866"/>
            <a:ext cx="165272" cy="1"/>
          </a:xfrm>
          <a:prstGeom prst="bentConnector3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직사각형 125"/>
          <p:cNvSpPr/>
          <p:nvPr/>
        </p:nvSpPr>
        <p:spPr>
          <a:xfrm>
            <a:off x="2584353" y="1795503"/>
            <a:ext cx="1260000" cy="3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신분증 확인</a:t>
            </a:r>
          </a:p>
        </p:txBody>
      </p:sp>
      <p:cxnSp>
        <p:nvCxnSpPr>
          <p:cNvPr id="129" name="꺾인 연결선 128"/>
          <p:cNvCxnSpPr>
            <a:stCxn id="126" idx="2"/>
            <a:endCxn id="221" idx="0"/>
          </p:cNvCxnSpPr>
          <p:nvPr/>
        </p:nvCxnSpPr>
        <p:spPr>
          <a:xfrm rot="5400000">
            <a:off x="3106321" y="2263535"/>
            <a:ext cx="216064" cy="1"/>
          </a:xfrm>
          <a:prstGeom prst="bentConnector3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꺾인 연결선 147"/>
          <p:cNvCxnSpPr>
            <a:stCxn id="150" idx="3"/>
            <a:endCxn id="128" idx="1"/>
          </p:cNvCxnSpPr>
          <p:nvPr/>
        </p:nvCxnSpPr>
        <p:spPr>
          <a:xfrm flipV="1">
            <a:off x="2273673" y="5287871"/>
            <a:ext cx="468040" cy="32800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/>
          <p:cNvSpPr txBox="1"/>
          <p:nvPr/>
        </p:nvSpPr>
        <p:spPr>
          <a:xfrm>
            <a:off x="1949825" y="5035863"/>
            <a:ext cx="78899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>
                <a:latin typeface="+mn-ea"/>
                <a:ea typeface="+mn-ea"/>
              </a:rPr>
              <a:t>YES(</a:t>
            </a:r>
            <a:r>
              <a:rPr lang="ko-KR" altLang="en-US" sz="900" dirty="0">
                <a:latin typeface="+mn-ea"/>
                <a:ea typeface="+mn-ea"/>
              </a:rPr>
              <a:t>휴대폰</a:t>
            </a:r>
            <a:r>
              <a:rPr lang="en-US" altLang="ko-KR" sz="900" dirty="0">
                <a:latin typeface="+mn-ea"/>
                <a:ea typeface="+mn-ea"/>
              </a:rPr>
              <a:t>)</a:t>
            </a:r>
            <a:endParaRPr lang="ko-KR" altLang="en-US" sz="900" dirty="0">
              <a:latin typeface="+mn-ea"/>
              <a:ea typeface="+mn-ea"/>
            </a:endParaRPr>
          </a:p>
        </p:txBody>
      </p:sp>
      <p:sp>
        <p:nvSpPr>
          <p:cNvPr id="150" name="다이아몬드 149"/>
          <p:cNvSpPr/>
          <p:nvPr/>
        </p:nvSpPr>
        <p:spPr>
          <a:xfrm>
            <a:off x="581673" y="5050671"/>
            <a:ext cx="1692000" cy="540000"/>
          </a:xfrm>
          <a:prstGeom prst="diamond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solidFill>
                  <a:schemeClr val="tx1"/>
                </a:solidFill>
                <a:latin typeface="+mn-ea"/>
                <a:ea typeface="+mn-ea"/>
              </a:rPr>
              <a:t>상품</a:t>
            </a:r>
            <a:r>
              <a:rPr lang="en-US" altLang="ko-KR" sz="900" b="1" dirty="0">
                <a:solidFill>
                  <a:schemeClr val="tx1"/>
                </a:solidFill>
                <a:latin typeface="+mn-ea"/>
                <a:ea typeface="+mn-ea"/>
              </a:rPr>
              <a:t>=‘</a:t>
            </a:r>
            <a:r>
              <a:rPr lang="ko-KR" altLang="en-US" sz="900" b="1" dirty="0">
                <a:solidFill>
                  <a:schemeClr val="tx1"/>
                </a:solidFill>
                <a:latin typeface="+mn-ea"/>
                <a:ea typeface="+mn-ea"/>
              </a:rPr>
              <a:t>휴대폰</a:t>
            </a:r>
            <a:r>
              <a:rPr lang="en-US" altLang="ko-KR" sz="900" b="1" dirty="0">
                <a:solidFill>
                  <a:schemeClr val="tx1"/>
                </a:solidFill>
                <a:latin typeface="+mn-ea"/>
                <a:ea typeface="+mn-ea"/>
              </a:rPr>
              <a:t>’</a:t>
            </a:r>
            <a:endParaRPr lang="ko-KR" altLang="en-US" sz="900" b="1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cxnSp>
        <p:nvCxnSpPr>
          <p:cNvPr id="152" name="꺾인 연결선 151"/>
          <p:cNvCxnSpPr>
            <a:stCxn id="150" idx="2"/>
            <a:endCxn id="145" idx="1"/>
          </p:cNvCxnSpPr>
          <p:nvPr/>
        </p:nvCxnSpPr>
        <p:spPr>
          <a:xfrm rot="16200000" flipH="1">
            <a:off x="1975811" y="5042533"/>
            <a:ext cx="201296" cy="1297572"/>
          </a:xfrm>
          <a:prstGeom prst="bent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52128" y="5539919"/>
            <a:ext cx="10214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 smtClean="0">
                <a:latin typeface="+mn-ea"/>
                <a:ea typeface="+mn-ea"/>
              </a:rPr>
              <a:t>NO(USIM/</a:t>
            </a:r>
            <a:r>
              <a:rPr lang="en-US" altLang="ko-KR" sz="900" dirty="0" err="1" smtClean="0">
                <a:latin typeface="+mn-ea"/>
                <a:ea typeface="+mn-ea"/>
              </a:rPr>
              <a:t>eSIM</a:t>
            </a:r>
            <a:r>
              <a:rPr lang="en-US" altLang="ko-KR" sz="900" dirty="0" smtClean="0">
                <a:latin typeface="+mn-ea"/>
                <a:ea typeface="+mn-ea"/>
              </a:rPr>
              <a:t>)</a:t>
            </a:r>
            <a:endParaRPr lang="ko-KR" altLang="en-US" sz="900" dirty="0">
              <a:latin typeface="+mn-ea"/>
              <a:ea typeface="+mn-ea"/>
            </a:endParaRPr>
          </a:p>
        </p:txBody>
      </p:sp>
      <p:cxnSp>
        <p:nvCxnSpPr>
          <p:cNvPr id="154" name="꺾인 연결선 153"/>
          <p:cNvCxnSpPr>
            <a:stCxn id="279" idx="2"/>
            <a:endCxn id="150" idx="0"/>
          </p:cNvCxnSpPr>
          <p:nvPr/>
        </p:nvCxnSpPr>
        <p:spPr>
          <a:xfrm rot="5400000">
            <a:off x="2115537" y="4167880"/>
            <a:ext cx="194928" cy="1570655"/>
          </a:xfrm>
          <a:prstGeom prst="bentConnector3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798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280400" y="189434"/>
            <a:ext cx="2520000" cy="288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latin typeface="+mn-ea"/>
                <a:ea typeface="+mn-ea"/>
              </a:rPr>
              <a:t>신규</a:t>
            </a:r>
            <a:r>
              <a:rPr lang="en-US" altLang="ko-KR" sz="1000" b="1" dirty="0">
                <a:latin typeface="+mn-ea"/>
                <a:ea typeface="+mn-ea"/>
              </a:rPr>
              <a:t>/</a:t>
            </a:r>
            <a:r>
              <a:rPr lang="ko-KR" altLang="en-US" sz="1000" b="1" dirty="0">
                <a:latin typeface="+mn-ea"/>
                <a:ea typeface="+mn-ea"/>
              </a:rPr>
              <a:t>변경 신청서 작성 </a:t>
            </a:r>
            <a:r>
              <a:rPr lang="en-US" altLang="ko-KR" sz="1000" b="1" dirty="0">
                <a:latin typeface="+mn-ea"/>
                <a:ea typeface="+mn-ea"/>
              </a:rPr>
              <a:t>(1/2)</a:t>
            </a:r>
            <a:endParaRPr lang="ko-KR" altLang="en-US" sz="1000" b="1" dirty="0">
              <a:latin typeface="+mn-ea"/>
              <a:ea typeface="+mn-ea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80400" y="1331464"/>
            <a:ext cx="900000" cy="50506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고객</a:t>
            </a:r>
          </a:p>
        </p:txBody>
      </p:sp>
      <p:sp>
        <p:nvSpPr>
          <p:cNvPr id="76" name="직사각형 75"/>
          <p:cNvSpPr/>
          <p:nvPr/>
        </p:nvSpPr>
        <p:spPr>
          <a:xfrm>
            <a:off x="1333202" y="4942090"/>
            <a:ext cx="3765352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휴대폰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모델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용량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색상</a:t>
            </a:r>
          </a:p>
        </p:txBody>
      </p:sp>
      <p:sp>
        <p:nvSpPr>
          <p:cNvPr id="57" name="직사각형 56"/>
          <p:cNvSpPr/>
          <p:nvPr/>
        </p:nvSpPr>
        <p:spPr>
          <a:xfrm>
            <a:off x="1333202" y="549474"/>
            <a:ext cx="3765352" cy="28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휴대폰</a:t>
            </a:r>
          </a:p>
        </p:txBody>
      </p:sp>
      <p:sp>
        <p:nvSpPr>
          <p:cNvPr id="58" name="직사각형 57"/>
          <p:cNvSpPr/>
          <p:nvPr/>
        </p:nvSpPr>
        <p:spPr>
          <a:xfrm>
            <a:off x="5199230" y="549474"/>
            <a:ext cx="2476676" cy="28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900" b="1" dirty="0" smtClean="0">
                <a:latin typeface="+mn-ea"/>
                <a:ea typeface="+mn-ea"/>
              </a:rPr>
              <a:t>USIM</a:t>
            </a:r>
            <a:endParaRPr lang="ko-KR" altLang="en-US" sz="900" b="1" dirty="0">
              <a:latin typeface="+mn-ea"/>
              <a:ea typeface="+mn-ea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7776582" y="549474"/>
            <a:ext cx="2476674" cy="28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900" b="1" dirty="0" err="1">
                <a:latin typeface="+mn-ea"/>
                <a:ea typeface="+mn-ea"/>
              </a:rPr>
              <a:t>eSIM</a:t>
            </a:r>
            <a:endParaRPr lang="ko-KR" altLang="en-US" sz="900" b="1" dirty="0">
              <a:latin typeface="+mn-ea"/>
              <a:ea typeface="+mn-ea"/>
            </a:endParaRPr>
          </a:p>
        </p:txBody>
      </p:sp>
      <p:sp>
        <p:nvSpPr>
          <p:cNvPr id="68" name="직사각형 67"/>
          <p:cNvSpPr/>
          <p:nvPr/>
        </p:nvSpPr>
        <p:spPr>
          <a:xfrm>
            <a:off x="1333202" y="909546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번호이동</a:t>
            </a:r>
          </a:p>
        </p:txBody>
      </p:sp>
      <p:sp>
        <p:nvSpPr>
          <p:cNvPr id="75" name="직사각형 74"/>
          <p:cNvSpPr/>
          <p:nvPr/>
        </p:nvSpPr>
        <p:spPr>
          <a:xfrm>
            <a:off x="2621878" y="909505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신규가입</a:t>
            </a:r>
          </a:p>
        </p:txBody>
      </p:sp>
      <p:sp>
        <p:nvSpPr>
          <p:cNvPr id="78" name="직사각형 77"/>
          <p:cNvSpPr/>
          <p:nvPr/>
        </p:nvSpPr>
        <p:spPr>
          <a:xfrm>
            <a:off x="3910554" y="909466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기기변경</a:t>
            </a:r>
          </a:p>
        </p:txBody>
      </p:sp>
      <p:sp>
        <p:nvSpPr>
          <p:cNvPr id="79" name="직사각형 78"/>
          <p:cNvSpPr/>
          <p:nvPr/>
        </p:nvSpPr>
        <p:spPr>
          <a:xfrm>
            <a:off x="5199230" y="909531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번호이동</a:t>
            </a:r>
          </a:p>
        </p:txBody>
      </p:sp>
      <p:sp>
        <p:nvSpPr>
          <p:cNvPr id="80" name="직사각형 79"/>
          <p:cNvSpPr/>
          <p:nvPr/>
        </p:nvSpPr>
        <p:spPr>
          <a:xfrm>
            <a:off x="6487906" y="909492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신규가입</a:t>
            </a:r>
          </a:p>
        </p:txBody>
      </p:sp>
      <p:sp>
        <p:nvSpPr>
          <p:cNvPr id="81" name="직사각형 80"/>
          <p:cNvSpPr/>
          <p:nvPr/>
        </p:nvSpPr>
        <p:spPr>
          <a:xfrm>
            <a:off x="7776582" y="909518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번호이동</a:t>
            </a:r>
          </a:p>
        </p:txBody>
      </p:sp>
      <p:sp>
        <p:nvSpPr>
          <p:cNvPr id="86" name="직사각형 85"/>
          <p:cNvSpPr/>
          <p:nvPr/>
        </p:nvSpPr>
        <p:spPr>
          <a:xfrm>
            <a:off x="9065256" y="909479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신규가입</a:t>
            </a:r>
          </a:p>
        </p:txBody>
      </p:sp>
      <p:sp>
        <p:nvSpPr>
          <p:cNvPr id="116" name="직사각형 115"/>
          <p:cNvSpPr/>
          <p:nvPr/>
        </p:nvSpPr>
        <p:spPr>
          <a:xfrm>
            <a:off x="1333202" y="5302058"/>
            <a:ext cx="3765352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약정 및 할부기간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약정기간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단말기 할부기간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할인유형</a:t>
            </a:r>
          </a:p>
        </p:txBody>
      </p:sp>
      <p:sp>
        <p:nvSpPr>
          <p:cNvPr id="117" name="직사각형 116"/>
          <p:cNvSpPr/>
          <p:nvPr/>
        </p:nvSpPr>
        <p:spPr>
          <a:xfrm>
            <a:off x="1333202" y="566207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요금제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휴대폰</a:t>
            </a:r>
            <a:r>
              <a:rPr lang="en-US" altLang="ko-KR" sz="800" dirty="0">
                <a:latin typeface="+mn-ea"/>
                <a:ea typeface="+mn-ea"/>
              </a:rPr>
              <a:t>/USIM </a:t>
            </a:r>
            <a:r>
              <a:rPr lang="ko-KR" altLang="en-US" sz="800" dirty="0">
                <a:latin typeface="+mn-ea"/>
                <a:ea typeface="+mn-ea"/>
              </a:rPr>
              <a:t>요금제 </a:t>
            </a:r>
            <a:r>
              <a:rPr lang="en-US" altLang="ko-KR" sz="800" dirty="0">
                <a:latin typeface="+mn-ea"/>
                <a:ea typeface="+mn-ea"/>
              </a:rPr>
              <a:t>-&gt; </a:t>
            </a:r>
            <a:r>
              <a:rPr lang="ko-KR" altLang="en-US" sz="800" dirty="0">
                <a:latin typeface="+mn-ea"/>
                <a:ea typeface="+mn-ea"/>
              </a:rPr>
              <a:t>카테고리에서 선택</a:t>
            </a:r>
          </a:p>
        </p:txBody>
      </p:sp>
      <p:sp>
        <p:nvSpPr>
          <p:cNvPr id="120" name="직사각형 119"/>
          <p:cNvSpPr/>
          <p:nvPr/>
        </p:nvSpPr>
        <p:spPr>
          <a:xfrm>
            <a:off x="1333202" y="133150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고객유형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내국인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미성년자</a:t>
            </a:r>
            <a:r>
              <a:rPr lang="en-US" altLang="ko-KR" sz="800" dirty="0">
                <a:latin typeface="+mn-ea"/>
                <a:ea typeface="+mn-ea"/>
              </a:rPr>
              <a:t>(19</a:t>
            </a:r>
            <a:r>
              <a:rPr lang="ko-KR" altLang="en-US" sz="800" dirty="0">
                <a:latin typeface="+mn-ea"/>
                <a:ea typeface="+mn-ea"/>
              </a:rPr>
              <a:t>세 미만</a:t>
            </a:r>
            <a:r>
              <a:rPr lang="en-US" altLang="ko-KR" sz="800" dirty="0">
                <a:latin typeface="+mn-ea"/>
                <a:ea typeface="+mn-ea"/>
              </a:rPr>
              <a:t>)/</a:t>
            </a:r>
            <a:r>
              <a:rPr lang="ko-KR" altLang="en-US" sz="800" dirty="0">
                <a:latin typeface="+mn-ea"/>
                <a:ea typeface="+mn-ea"/>
              </a:rPr>
              <a:t>외국인</a:t>
            </a:r>
            <a:r>
              <a:rPr lang="en-US" altLang="ko-KR" sz="800" dirty="0">
                <a:latin typeface="+mn-ea"/>
                <a:ea typeface="+mn-ea"/>
              </a:rPr>
              <a:t>(Foreigner)/</a:t>
            </a:r>
            <a:r>
              <a:rPr lang="ko-KR" altLang="en-US" sz="800" dirty="0">
                <a:latin typeface="+mn-ea"/>
                <a:ea typeface="+mn-ea"/>
              </a:rPr>
              <a:t>외국인</a:t>
            </a:r>
            <a:r>
              <a:rPr lang="en-US" altLang="ko-KR" sz="800" dirty="0">
                <a:latin typeface="+mn-ea"/>
                <a:ea typeface="+mn-ea"/>
              </a:rPr>
              <a:t>(Foreigner) </a:t>
            </a:r>
            <a:r>
              <a:rPr lang="ko-KR" altLang="en-US" sz="800" dirty="0">
                <a:latin typeface="+mn-ea"/>
                <a:ea typeface="+mn-ea"/>
              </a:rPr>
              <a:t>미성년자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법인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공공기관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21" name="직사각형 120"/>
          <p:cNvSpPr/>
          <p:nvPr/>
        </p:nvSpPr>
        <p:spPr>
          <a:xfrm>
            <a:off x="1333202" y="170163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방문고객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본인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대리인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22" name="직사각형 121"/>
          <p:cNvSpPr/>
          <p:nvPr/>
        </p:nvSpPr>
        <p:spPr>
          <a:xfrm>
            <a:off x="1333202" y="2421682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가입자 정보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이름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주민등록번호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외국인등록번호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법인등록번호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23" name="직사각형 122"/>
          <p:cNvSpPr/>
          <p:nvPr/>
        </p:nvSpPr>
        <p:spPr>
          <a:xfrm>
            <a:off x="1333202" y="2061642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신분증 확인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주민등록증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운전면허증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 err="1">
                <a:latin typeface="+mn-ea"/>
                <a:ea typeface="+mn-ea"/>
              </a:rPr>
              <a:t>모바일신분증</a:t>
            </a:r>
            <a:r>
              <a:rPr lang="en-US" altLang="ko-KR" sz="800" dirty="0" smtClean="0">
                <a:latin typeface="+mn-ea"/>
                <a:ea typeface="+mn-ea"/>
              </a:rPr>
              <a:t>/</a:t>
            </a:r>
            <a:r>
              <a:rPr lang="ko-KR" altLang="en-US" sz="800" dirty="0" smtClean="0">
                <a:latin typeface="+mn-ea"/>
                <a:ea typeface="+mn-ea"/>
              </a:rPr>
              <a:t>안면인증</a:t>
            </a:r>
            <a:r>
              <a:rPr lang="en-US" altLang="ko-KR" sz="800" dirty="0" smtClean="0">
                <a:latin typeface="+mn-ea"/>
                <a:ea typeface="+mn-ea"/>
              </a:rPr>
              <a:t>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인증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  <a:r>
              <a:rPr lang="en-US" altLang="ko-KR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solidFill>
                  <a:srgbClr val="0070C0"/>
                </a:solidFill>
                <a:latin typeface="+mn-ea"/>
                <a:ea typeface="+mn-ea"/>
              </a:rPr>
              <a:t>*** </a:t>
            </a:r>
            <a:r>
              <a:rPr lang="ko-KR" altLang="en-US" sz="800" dirty="0">
                <a:solidFill>
                  <a:srgbClr val="0070C0"/>
                </a:solidFill>
                <a:latin typeface="+mn-ea"/>
                <a:ea typeface="+mn-ea"/>
              </a:rPr>
              <a:t>별도 작성</a:t>
            </a:r>
            <a:endParaRPr lang="en-US" altLang="ko-KR" sz="800" dirty="0">
              <a:solidFill>
                <a:srgbClr val="0070C0"/>
              </a:solidFill>
              <a:latin typeface="+mn-ea"/>
              <a:ea typeface="+mn-ea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1333202" y="4582002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연락처 정보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연락처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 err="1">
                <a:latin typeface="+mn-ea"/>
                <a:ea typeface="+mn-ea"/>
              </a:rPr>
              <a:t>이메일주소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주소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국가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체류기간</a:t>
            </a:r>
            <a:r>
              <a:rPr lang="en-US" altLang="ko-KR" sz="800" dirty="0" smtClean="0">
                <a:latin typeface="+mn-ea"/>
                <a:ea typeface="+mn-ea"/>
              </a:rPr>
              <a:t>/</a:t>
            </a:r>
            <a:r>
              <a:rPr lang="ko-KR" altLang="en-US" sz="800" dirty="0" smtClean="0">
                <a:latin typeface="+mn-ea"/>
                <a:ea typeface="+mn-ea"/>
              </a:rPr>
              <a:t>비</a:t>
            </a:r>
            <a:r>
              <a:rPr lang="ko-KR" altLang="en-US" sz="800" dirty="0">
                <a:latin typeface="+mn-ea"/>
                <a:ea typeface="+mn-ea"/>
              </a:rPr>
              <a:t>자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3910554" y="2781722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기기변경 휴대폰번호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1333202" y="3861842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대리인 위임 정보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이름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생년월일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신청인과 관계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연락처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52" name="직사각형 151"/>
          <p:cNvSpPr/>
          <p:nvPr/>
        </p:nvSpPr>
        <p:spPr>
          <a:xfrm>
            <a:off x="10350454" y="3861842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방문고객이 </a:t>
            </a:r>
            <a:r>
              <a:rPr lang="en-US" altLang="ko-KR" sz="800" dirty="0">
                <a:latin typeface="+mn-ea"/>
                <a:ea typeface="+mn-ea"/>
              </a:rPr>
              <a:t>‘</a:t>
            </a:r>
            <a:r>
              <a:rPr lang="ko-KR" altLang="en-US" sz="800" dirty="0">
                <a:latin typeface="+mn-ea"/>
                <a:ea typeface="+mn-ea"/>
              </a:rPr>
              <a:t>대리인</a:t>
            </a:r>
            <a:r>
              <a:rPr lang="en-US" altLang="ko-KR" sz="800" dirty="0">
                <a:latin typeface="+mn-ea"/>
                <a:ea typeface="+mn-ea"/>
              </a:rPr>
              <a:t>’</a:t>
            </a:r>
            <a:r>
              <a:rPr lang="ko-KR" altLang="en-US" sz="800" dirty="0">
                <a:latin typeface="+mn-ea"/>
                <a:ea typeface="+mn-ea"/>
              </a:rPr>
              <a:t>인 경우만 해당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53" name="직사각형 152"/>
          <p:cNvSpPr/>
          <p:nvPr/>
        </p:nvSpPr>
        <p:spPr>
          <a:xfrm>
            <a:off x="10352614" y="2061642"/>
            <a:ext cx="2447490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신분증 스캔 정보 </a:t>
            </a:r>
            <a:r>
              <a:rPr lang="en-US" altLang="ko-KR" sz="800" dirty="0">
                <a:latin typeface="+mn-ea"/>
                <a:ea typeface="+mn-ea"/>
              </a:rPr>
              <a:t>K-NOTE </a:t>
            </a:r>
            <a:r>
              <a:rPr lang="ko-KR" altLang="en-US" sz="800" dirty="0">
                <a:latin typeface="+mn-ea"/>
                <a:ea typeface="+mn-ea"/>
              </a:rPr>
              <a:t>전송</a:t>
            </a:r>
            <a:endParaRPr lang="en-US" altLang="ko-KR" sz="800" dirty="0"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ko-KR" altLang="en-US" sz="800" b="1" dirty="0">
                <a:solidFill>
                  <a:srgbClr val="C00000"/>
                </a:solidFill>
                <a:latin typeface="+mn-ea"/>
                <a:ea typeface="+mn-ea"/>
              </a:rPr>
              <a:t>신분증 진위여부에 대한 확인은 </a:t>
            </a:r>
            <a:r>
              <a:rPr lang="en-US" altLang="ko-KR" sz="800" b="1" dirty="0">
                <a:solidFill>
                  <a:srgbClr val="C00000"/>
                </a:solidFill>
                <a:latin typeface="+mn-ea"/>
                <a:ea typeface="+mn-ea"/>
              </a:rPr>
              <a:t>K-NOTE</a:t>
            </a:r>
            <a:r>
              <a:rPr lang="ko-KR" altLang="en-US" sz="800" b="1" dirty="0">
                <a:solidFill>
                  <a:srgbClr val="C00000"/>
                </a:solidFill>
                <a:latin typeface="+mn-ea"/>
                <a:ea typeface="+mn-ea"/>
              </a:rPr>
              <a:t>와 별도 확인 예정</a:t>
            </a:r>
            <a:endParaRPr lang="en-US" altLang="ko-KR" sz="800" b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154" name="직사각형 153"/>
          <p:cNvSpPr/>
          <p:nvPr/>
        </p:nvSpPr>
        <p:spPr>
          <a:xfrm>
            <a:off x="1333202" y="3141794"/>
            <a:ext cx="892984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법정대리인 정보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이름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신청인과 관계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주민등록번호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휴대폰번호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안내 및 동의 사항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55" name="직사각형 154"/>
          <p:cNvSpPr/>
          <p:nvPr/>
        </p:nvSpPr>
        <p:spPr>
          <a:xfrm>
            <a:off x="10361240" y="3141762"/>
            <a:ext cx="2440360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고객유형 </a:t>
            </a:r>
            <a:r>
              <a:rPr lang="en-US" altLang="ko-KR" sz="800" dirty="0">
                <a:latin typeface="+mn-ea"/>
                <a:ea typeface="+mn-ea"/>
              </a:rPr>
              <a:t>‘</a:t>
            </a:r>
            <a:r>
              <a:rPr lang="ko-KR" altLang="en-US" sz="800" dirty="0">
                <a:latin typeface="+mn-ea"/>
                <a:ea typeface="+mn-ea"/>
              </a:rPr>
              <a:t>미성년자</a:t>
            </a:r>
            <a:r>
              <a:rPr lang="en-US" altLang="ko-KR" sz="800" dirty="0">
                <a:latin typeface="+mn-ea"/>
                <a:ea typeface="+mn-ea"/>
              </a:rPr>
              <a:t>’ </a:t>
            </a:r>
            <a:r>
              <a:rPr lang="ko-KR" altLang="en-US" sz="800" dirty="0">
                <a:latin typeface="+mn-ea"/>
                <a:ea typeface="+mn-ea"/>
              </a:rPr>
              <a:t>인 경우만 </a:t>
            </a:r>
            <a:r>
              <a:rPr lang="ko-KR" altLang="en-US" sz="800" dirty="0" smtClean="0">
                <a:latin typeface="+mn-ea"/>
                <a:ea typeface="+mn-ea"/>
              </a:rPr>
              <a:t>해당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56" name="직사각형 155"/>
          <p:cNvSpPr/>
          <p:nvPr/>
        </p:nvSpPr>
        <p:spPr>
          <a:xfrm>
            <a:off x="10361240" y="4581922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국가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체류기간</a:t>
            </a:r>
            <a:r>
              <a:rPr lang="en-US" altLang="ko-KR" sz="800" dirty="0" smtClean="0">
                <a:latin typeface="+mn-ea"/>
                <a:ea typeface="+mn-ea"/>
              </a:rPr>
              <a:t>/</a:t>
            </a:r>
            <a:r>
              <a:rPr lang="ko-KR" altLang="en-US" sz="800" dirty="0" smtClean="0">
                <a:latin typeface="+mn-ea"/>
                <a:ea typeface="+mn-ea"/>
              </a:rPr>
              <a:t>비</a:t>
            </a:r>
            <a:r>
              <a:rPr lang="ko-KR" altLang="en-US" sz="800" dirty="0">
                <a:latin typeface="+mn-ea"/>
                <a:ea typeface="+mn-ea"/>
              </a:rPr>
              <a:t>자</a:t>
            </a:r>
            <a:r>
              <a:rPr lang="ko-KR" altLang="en-US" sz="800" dirty="0" smtClean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-&gt; </a:t>
            </a:r>
            <a:r>
              <a:rPr lang="ko-KR" altLang="en-US" sz="800" dirty="0">
                <a:latin typeface="+mn-ea"/>
                <a:ea typeface="+mn-ea"/>
              </a:rPr>
              <a:t>외국인만 </a:t>
            </a:r>
            <a:r>
              <a:rPr lang="ko-KR" altLang="en-US" sz="800" dirty="0" smtClean="0">
                <a:latin typeface="+mn-ea"/>
                <a:ea typeface="+mn-ea"/>
              </a:rPr>
              <a:t>해당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57" name="직사각형 156"/>
          <p:cNvSpPr/>
          <p:nvPr/>
        </p:nvSpPr>
        <p:spPr>
          <a:xfrm>
            <a:off x="1333202" y="6094122"/>
            <a:ext cx="892984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약관 동의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필수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선택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58" name="직사각형 157"/>
          <p:cNvSpPr/>
          <p:nvPr/>
        </p:nvSpPr>
        <p:spPr>
          <a:xfrm>
            <a:off x="10360240" y="6094122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고객유형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가입유형에 따라 해당하는 약관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0361240" y="5662074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서비스유형</a:t>
            </a:r>
            <a:r>
              <a:rPr lang="en-US" altLang="ko-KR" sz="800" dirty="0">
                <a:latin typeface="+mn-ea"/>
                <a:ea typeface="+mn-ea"/>
              </a:rPr>
              <a:t>(5G/LTE) </a:t>
            </a:r>
            <a:r>
              <a:rPr lang="ko-KR" altLang="en-US" sz="800" dirty="0">
                <a:latin typeface="+mn-ea"/>
                <a:ea typeface="+mn-ea"/>
              </a:rPr>
              <a:t>은 선택된 요금제 선택에 따라 내부적으로 자동 </a:t>
            </a:r>
            <a:r>
              <a:rPr lang="ko-KR" altLang="en-US" sz="800" dirty="0" err="1">
                <a:latin typeface="+mn-ea"/>
                <a:ea typeface="+mn-ea"/>
              </a:rPr>
              <a:t>세팅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10369191" y="1727480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법인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공공기관만 선택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성인 </a:t>
            </a:r>
            <a:r>
              <a:rPr lang="en-US" altLang="ko-KR" sz="800" dirty="0">
                <a:latin typeface="+mn-ea"/>
                <a:ea typeface="+mn-ea"/>
              </a:rPr>
              <a:t>: ‘</a:t>
            </a:r>
            <a:r>
              <a:rPr lang="ko-KR" altLang="en-US" sz="800" dirty="0">
                <a:latin typeface="+mn-ea"/>
                <a:ea typeface="+mn-ea"/>
              </a:rPr>
              <a:t>본인</a:t>
            </a:r>
            <a:r>
              <a:rPr lang="en-US" altLang="ko-KR" sz="800" dirty="0">
                <a:latin typeface="+mn-ea"/>
                <a:ea typeface="+mn-ea"/>
              </a:rPr>
              <a:t>’</a:t>
            </a:r>
            <a:r>
              <a:rPr lang="ko-KR" altLang="en-US" sz="800" dirty="0">
                <a:latin typeface="+mn-ea"/>
                <a:ea typeface="+mn-ea"/>
              </a:rPr>
              <a:t> 고정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미성년자 </a:t>
            </a:r>
            <a:r>
              <a:rPr lang="en-US" altLang="ko-KR" sz="800" dirty="0">
                <a:latin typeface="+mn-ea"/>
                <a:ea typeface="+mn-ea"/>
              </a:rPr>
              <a:t>: ‘</a:t>
            </a:r>
            <a:r>
              <a:rPr lang="ko-KR" altLang="en-US" sz="800" dirty="0">
                <a:latin typeface="+mn-ea"/>
                <a:ea typeface="+mn-ea"/>
              </a:rPr>
              <a:t>대리인</a:t>
            </a:r>
            <a:r>
              <a:rPr lang="en-US" altLang="ko-KR" sz="800" dirty="0">
                <a:latin typeface="+mn-ea"/>
                <a:ea typeface="+mn-ea"/>
              </a:rPr>
              <a:t>’</a:t>
            </a:r>
            <a:r>
              <a:rPr lang="ko-KR" altLang="en-US" sz="800" dirty="0">
                <a:latin typeface="+mn-ea"/>
                <a:ea typeface="+mn-ea"/>
              </a:rPr>
              <a:t> 고정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1341114" y="3501834"/>
            <a:ext cx="892984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 smtClean="0">
                <a:latin typeface="+mn-ea"/>
                <a:ea typeface="+mn-ea"/>
              </a:rPr>
              <a:t>실사용자 정보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이름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 smtClean="0">
                <a:latin typeface="+mn-ea"/>
                <a:ea typeface="+mn-ea"/>
              </a:rPr>
              <a:t>생년월일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10369152" y="3501802"/>
            <a:ext cx="2440360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고객유형 </a:t>
            </a:r>
            <a:r>
              <a:rPr lang="en-US" altLang="ko-KR" sz="800" dirty="0" smtClean="0">
                <a:latin typeface="+mn-ea"/>
                <a:ea typeface="+mn-ea"/>
              </a:rPr>
              <a:t>‘</a:t>
            </a:r>
            <a:r>
              <a:rPr lang="ko-KR" altLang="en-US" sz="800" dirty="0" smtClean="0">
                <a:latin typeface="+mn-ea"/>
                <a:ea typeface="+mn-ea"/>
              </a:rPr>
              <a:t>법인</a:t>
            </a:r>
            <a:r>
              <a:rPr lang="en-US" altLang="ko-KR" sz="800" dirty="0" smtClean="0">
                <a:latin typeface="+mn-ea"/>
                <a:ea typeface="+mn-ea"/>
              </a:rPr>
              <a:t>’/’</a:t>
            </a:r>
            <a:r>
              <a:rPr lang="ko-KR" altLang="en-US" sz="800" dirty="0" smtClean="0">
                <a:latin typeface="+mn-ea"/>
                <a:ea typeface="+mn-ea"/>
              </a:rPr>
              <a:t>공공기관</a:t>
            </a:r>
            <a:r>
              <a:rPr lang="en-US" altLang="ko-KR" sz="800" dirty="0" smtClean="0">
                <a:latin typeface="+mn-ea"/>
                <a:ea typeface="+mn-ea"/>
              </a:rPr>
              <a:t>’ </a:t>
            </a:r>
            <a:r>
              <a:rPr lang="ko-KR" altLang="en-US" sz="800" dirty="0">
                <a:latin typeface="+mn-ea"/>
                <a:ea typeface="+mn-ea"/>
              </a:rPr>
              <a:t>인 경우만 </a:t>
            </a:r>
            <a:r>
              <a:rPr lang="ko-KR" altLang="en-US" sz="800" dirty="0" smtClean="0">
                <a:latin typeface="+mn-ea"/>
                <a:ea typeface="+mn-ea"/>
              </a:rPr>
              <a:t>해당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1333202" y="4221882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 smtClean="0">
                <a:latin typeface="+mn-ea"/>
                <a:ea typeface="+mn-ea"/>
              </a:rPr>
              <a:t>구비서류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10350454" y="4221882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 smtClean="0">
                <a:latin typeface="+mn-ea"/>
                <a:ea typeface="+mn-ea"/>
              </a:rPr>
              <a:t>미성년자</a:t>
            </a:r>
            <a:r>
              <a:rPr lang="en-US" altLang="ko-KR" sz="800" dirty="0" smtClean="0">
                <a:latin typeface="+mn-ea"/>
                <a:ea typeface="+mn-ea"/>
              </a:rPr>
              <a:t>, </a:t>
            </a:r>
            <a:r>
              <a:rPr lang="ko-KR" altLang="en-US" sz="800" dirty="0" smtClean="0">
                <a:latin typeface="+mn-ea"/>
                <a:ea typeface="+mn-ea"/>
              </a:rPr>
              <a:t>외국인</a:t>
            </a:r>
            <a:r>
              <a:rPr lang="en-US" altLang="ko-KR" sz="800" dirty="0" smtClean="0">
                <a:latin typeface="+mn-ea"/>
                <a:ea typeface="+mn-ea"/>
              </a:rPr>
              <a:t>, </a:t>
            </a:r>
            <a:r>
              <a:rPr lang="ko-KR" altLang="en-US" sz="800" dirty="0" smtClean="0">
                <a:latin typeface="+mn-ea"/>
                <a:ea typeface="+mn-ea"/>
              </a:rPr>
              <a:t>법인</a:t>
            </a:r>
            <a:r>
              <a:rPr lang="en-US" altLang="ko-KR" sz="800" dirty="0" smtClean="0">
                <a:latin typeface="+mn-ea"/>
                <a:ea typeface="+mn-ea"/>
              </a:rPr>
              <a:t>, </a:t>
            </a:r>
            <a:r>
              <a:rPr lang="ko-KR" altLang="en-US" sz="800" dirty="0" smtClean="0">
                <a:latin typeface="+mn-ea"/>
                <a:ea typeface="+mn-ea"/>
              </a:rPr>
              <a:t>공공기관만 해당</a:t>
            </a:r>
            <a:endParaRPr lang="en-US" altLang="ko-KR" sz="8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53567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280400" y="189434"/>
            <a:ext cx="2520000" cy="288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latin typeface="+mn-ea"/>
                <a:ea typeface="+mn-ea"/>
              </a:rPr>
              <a:t>신규</a:t>
            </a:r>
            <a:r>
              <a:rPr lang="en-US" altLang="ko-KR" sz="1000" b="1" dirty="0">
                <a:latin typeface="+mn-ea"/>
                <a:ea typeface="+mn-ea"/>
              </a:rPr>
              <a:t>/</a:t>
            </a:r>
            <a:r>
              <a:rPr lang="ko-KR" altLang="en-US" sz="1000" b="1" dirty="0">
                <a:latin typeface="+mn-ea"/>
                <a:ea typeface="+mn-ea"/>
              </a:rPr>
              <a:t>변경 신청서 작성 </a:t>
            </a:r>
            <a:r>
              <a:rPr lang="en-US" altLang="ko-KR" sz="1000" b="1" dirty="0">
                <a:latin typeface="+mn-ea"/>
                <a:ea typeface="+mn-ea"/>
              </a:rPr>
              <a:t>(2/2)</a:t>
            </a:r>
            <a:endParaRPr lang="ko-KR" altLang="en-US" sz="1000" b="1" dirty="0">
              <a:latin typeface="+mn-ea"/>
              <a:ea typeface="+mn-ea"/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1333202" y="549474"/>
            <a:ext cx="3765352" cy="28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휴대폰</a:t>
            </a:r>
          </a:p>
        </p:txBody>
      </p:sp>
      <p:sp>
        <p:nvSpPr>
          <p:cNvPr id="58" name="직사각형 57"/>
          <p:cNvSpPr/>
          <p:nvPr/>
        </p:nvSpPr>
        <p:spPr>
          <a:xfrm>
            <a:off x="5199230" y="549474"/>
            <a:ext cx="2476676" cy="28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900" b="1" dirty="0" smtClean="0">
                <a:latin typeface="+mn-ea"/>
                <a:ea typeface="+mn-ea"/>
              </a:rPr>
              <a:t>USIM</a:t>
            </a:r>
            <a:endParaRPr lang="ko-KR" altLang="en-US" sz="900" b="1" dirty="0">
              <a:latin typeface="+mn-ea"/>
              <a:ea typeface="+mn-ea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7776582" y="549474"/>
            <a:ext cx="2476674" cy="28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900" b="1" dirty="0" err="1">
                <a:latin typeface="+mn-ea"/>
                <a:ea typeface="+mn-ea"/>
              </a:rPr>
              <a:t>eSIM</a:t>
            </a:r>
            <a:endParaRPr lang="ko-KR" altLang="en-US" sz="900" b="1" dirty="0">
              <a:latin typeface="+mn-ea"/>
              <a:ea typeface="+mn-ea"/>
            </a:endParaRPr>
          </a:p>
        </p:txBody>
      </p:sp>
      <p:sp>
        <p:nvSpPr>
          <p:cNvPr id="68" name="직사각형 67"/>
          <p:cNvSpPr/>
          <p:nvPr/>
        </p:nvSpPr>
        <p:spPr>
          <a:xfrm>
            <a:off x="1333202" y="909546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번호이동</a:t>
            </a:r>
          </a:p>
        </p:txBody>
      </p:sp>
      <p:sp>
        <p:nvSpPr>
          <p:cNvPr id="75" name="직사각형 74"/>
          <p:cNvSpPr/>
          <p:nvPr/>
        </p:nvSpPr>
        <p:spPr>
          <a:xfrm>
            <a:off x="2621878" y="909505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신규가입</a:t>
            </a:r>
          </a:p>
        </p:txBody>
      </p:sp>
      <p:sp>
        <p:nvSpPr>
          <p:cNvPr id="78" name="직사각형 77"/>
          <p:cNvSpPr/>
          <p:nvPr/>
        </p:nvSpPr>
        <p:spPr>
          <a:xfrm>
            <a:off x="3910554" y="909466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기기변경</a:t>
            </a:r>
          </a:p>
        </p:txBody>
      </p:sp>
      <p:sp>
        <p:nvSpPr>
          <p:cNvPr id="79" name="직사각형 78"/>
          <p:cNvSpPr/>
          <p:nvPr/>
        </p:nvSpPr>
        <p:spPr>
          <a:xfrm>
            <a:off x="5199230" y="909531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번호이동</a:t>
            </a:r>
          </a:p>
        </p:txBody>
      </p:sp>
      <p:sp>
        <p:nvSpPr>
          <p:cNvPr id="80" name="직사각형 79"/>
          <p:cNvSpPr/>
          <p:nvPr/>
        </p:nvSpPr>
        <p:spPr>
          <a:xfrm>
            <a:off x="6487906" y="909492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신규가입</a:t>
            </a:r>
          </a:p>
        </p:txBody>
      </p:sp>
      <p:sp>
        <p:nvSpPr>
          <p:cNvPr id="81" name="직사각형 80"/>
          <p:cNvSpPr/>
          <p:nvPr/>
        </p:nvSpPr>
        <p:spPr>
          <a:xfrm>
            <a:off x="7776582" y="909518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번호이동</a:t>
            </a:r>
          </a:p>
        </p:txBody>
      </p:sp>
      <p:sp>
        <p:nvSpPr>
          <p:cNvPr id="86" name="직사각형 85"/>
          <p:cNvSpPr/>
          <p:nvPr/>
        </p:nvSpPr>
        <p:spPr>
          <a:xfrm>
            <a:off x="9065256" y="909479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신규가입</a:t>
            </a:r>
          </a:p>
        </p:txBody>
      </p:sp>
      <p:sp>
        <p:nvSpPr>
          <p:cNvPr id="60" name="직사각형 59"/>
          <p:cNvSpPr/>
          <p:nvPr/>
        </p:nvSpPr>
        <p:spPr>
          <a:xfrm>
            <a:off x="297652" y="1269554"/>
            <a:ext cx="900000" cy="37802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61" name="직사각형 60"/>
          <p:cNvSpPr/>
          <p:nvPr/>
        </p:nvSpPr>
        <p:spPr>
          <a:xfrm>
            <a:off x="297652" y="5157858"/>
            <a:ext cx="900000" cy="100820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동의</a:t>
            </a:r>
          </a:p>
        </p:txBody>
      </p:sp>
      <p:sp>
        <p:nvSpPr>
          <p:cNvPr id="62" name="직사각형 61"/>
          <p:cNvSpPr/>
          <p:nvPr/>
        </p:nvSpPr>
        <p:spPr>
          <a:xfrm>
            <a:off x="297652" y="6238106"/>
            <a:ext cx="900000" cy="28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완료</a:t>
            </a:r>
          </a:p>
        </p:txBody>
      </p:sp>
      <p:sp>
        <p:nvSpPr>
          <p:cNvPr id="63" name="직사각형 62"/>
          <p:cNvSpPr/>
          <p:nvPr/>
        </p:nvSpPr>
        <p:spPr>
          <a:xfrm>
            <a:off x="1333202" y="1269554"/>
            <a:ext cx="634270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800" b="1" dirty="0" smtClean="0">
                <a:latin typeface="+mn-ea"/>
                <a:ea typeface="+mn-ea"/>
              </a:rPr>
              <a:t>USIM</a:t>
            </a:r>
            <a:r>
              <a:rPr lang="ko-KR" altLang="en-US" sz="800" b="1" dirty="0" smtClean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정보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</a:p>
        </p:txBody>
      </p:sp>
      <p:sp>
        <p:nvSpPr>
          <p:cNvPr id="64" name="직사각형 63"/>
          <p:cNvSpPr/>
          <p:nvPr/>
        </p:nvSpPr>
        <p:spPr>
          <a:xfrm>
            <a:off x="1333202" y="1629434"/>
            <a:ext cx="3765352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휴대폰 모델 정보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</a:p>
        </p:txBody>
      </p:sp>
      <p:sp>
        <p:nvSpPr>
          <p:cNvPr id="65" name="직사각형 64"/>
          <p:cNvSpPr/>
          <p:nvPr/>
        </p:nvSpPr>
        <p:spPr>
          <a:xfrm>
            <a:off x="7776582" y="1269586"/>
            <a:ext cx="247667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800" b="1" dirty="0" err="1">
                <a:latin typeface="+mn-ea"/>
                <a:ea typeface="+mn-ea"/>
              </a:rPr>
              <a:t>eSIM</a:t>
            </a:r>
            <a:r>
              <a:rPr lang="en-US" altLang="ko-KR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휴대폰 정보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</a:p>
        </p:txBody>
      </p:sp>
      <p:sp>
        <p:nvSpPr>
          <p:cNvPr id="66" name="직사각형 65"/>
          <p:cNvSpPr/>
          <p:nvPr/>
        </p:nvSpPr>
        <p:spPr>
          <a:xfrm>
            <a:off x="1360240" y="2313594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번호이동 인증 및       </a:t>
            </a:r>
            <a:r>
              <a:rPr lang="ko-KR" altLang="en-US" sz="800" b="1" dirty="0" err="1">
                <a:latin typeface="+mn-ea"/>
                <a:ea typeface="+mn-ea"/>
              </a:rPr>
              <a:t>이동전</a:t>
            </a:r>
            <a:r>
              <a:rPr lang="ko-KR" altLang="en-US" sz="800" b="1" dirty="0">
                <a:latin typeface="+mn-ea"/>
                <a:ea typeface="+mn-ea"/>
              </a:rPr>
              <a:t> 통신사 요금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인증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226268" y="2313554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번호이동 인증 및       </a:t>
            </a:r>
            <a:r>
              <a:rPr lang="ko-KR" altLang="en-US" sz="800" b="1" dirty="0" err="1">
                <a:latin typeface="+mn-ea"/>
                <a:ea typeface="+mn-ea"/>
              </a:rPr>
              <a:t>이동전</a:t>
            </a:r>
            <a:r>
              <a:rPr lang="ko-KR" altLang="en-US" sz="800" b="1" dirty="0">
                <a:latin typeface="+mn-ea"/>
                <a:ea typeface="+mn-ea"/>
              </a:rPr>
              <a:t> 통신사 요금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인증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69" name="직사각형 68"/>
          <p:cNvSpPr/>
          <p:nvPr/>
        </p:nvSpPr>
        <p:spPr>
          <a:xfrm>
            <a:off x="7776582" y="2313514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번호이동 인증 및       </a:t>
            </a:r>
            <a:r>
              <a:rPr lang="ko-KR" altLang="en-US" sz="800" b="1" dirty="0" err="1">
                <a:latin typeface="+mn-ea"/>
                <a:ea typeface="+mn-ea"/>
              </a:rPr>
              <a:t>이동전</a:t>
            </a:r>
            <a:r>
              <a:rPr lang="ko-KR" altLang="en-US" sz="800" b="1" dirty="0">
                <a:latin typeface="+mn-ea"/>
                <a:ea typeface="+mn-ea"/>
              </a:rPr>
              <a:t> 통신사 요금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인증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70" name="직사각형 69"/>
          <p:cNvSpPr/>
          <p:nvPr/>
        </p:nvSpPr>
        <p:spPr>
          <a:xfrm>
            <a:off x="2621878" y="2673634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신규 번호 예약</a:t>
            </a:r>
          </a:p>
        </p:txBody>
      </p:sp>
      <p:sp>
        <p:nvSpPr>
          <p:cNvPr id="71" name="직사각형 70"/>
          <p:cNvSpPr/>
          <p:nvPr/>
        </p:nvSpPr>
        <p:spPr>
          <a:xfrm>
            <a:off x="6487906" y="2673594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신규 번호 예약</a:t>
            </a:r>
          </a:p>
        </p:txBody>
      </p:sp>
      <p:sp>
        <p:nvSpPr>
          <p:cNvPr id="72" name="직사각형 71"/>
          <p:cNvSpPr/>
          <p:nvPr/>
        </p:nvSpPr>
        <p:spPr>
          <a:xfrm>
            <a:off x="9065256" y="2673554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신규 번호 예약</a:t>
            </a:r>
          </a:p>
        </p:txBody>
      </p:sp>
      <p:sp>
        <p:nvSpPr>
          <p:cNvPr id="74" name="직사각형 73"/>
          <p:cNvSpPr/>
          <p:nvPr/>
        </p:nvSpPr>
        <p:spPr>
          <a:xfrm>
            <a:off x="1333202" y="3681666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안심보험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휴대폰</a:t>
            </a:r>
            <a:r>
              <a:rPr lang="en-US" altLang="ko-KR" sz="800" dirty="0" smtClean="0">
                <a:latin typeface="+mn-ea"/>
                <a:ea typeface="+mn-ea"/>
              </a:rPr>
              <a:t>/USIM</a:t>
            </a:r>
            <a:r>
              <a:rPr lang="ko-KR" altLang="en-US" sz="800" dirty="0" smtClean="0">
                <a:latin typeface="+mn-ea"/>
                <a:ea typeface="+mn-ea"/>
              </a:rPr>
              <a:t> </a:t>
            </a:r>
            <a:r>
              <a:rPr lang="ko-KR" altLang="en-US" sz="800" dirty="0">
                <a:latin typeface="+mn-ea"/>
                <a:ea typeface="+mn-ea"/>
              </a:rPr>
              <a:t>안심보험 </a:t>
            </a:r>
            <a:r>
              <a:rPr lang="en-US" altLang="ko-KR" sz="800" dirty="0">
                <a:latin typeface="+mn-ea"/>
                <a:ea typeface="+mn-ea"/>
              </a:rPr>
              <a:t>-&gt; </a:t>
            </a:r>
            <a:r>
              <a:rPr lang="ko-KR" altLang="en-US" sz="800" dirty="0">
                <a:latin typeface="+mn-ea"/>
                <a:ea typeface="+mn-ea"/>
              </a:rPr>
              <a:t>카테고리에서 선택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1333202" y="4401746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납부 정보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자동이체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신용카드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통합청구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본인납부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타인납부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</a:p>
        </p:txBody>
      </p:sp>
      <p:sp>
        <p:nvSpPr>
          <p:cNvPr id="82" name="직사각형 81"/>
          <p:cNvSpPr/>
          <p:nvPr/>
        </p:nvSpPr>
        <p:spPr>
          <a:xfrm>
            <a:off x="1333202" y="4041706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명세서 정보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 err="1">
                <a:latin typeface="+mn-ea"/>
                <a:ea typeface="+mn-ea"/>
              </a:rPr>
              <a:t>모바일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 err="1">
                <a:latin typeface="+mn-ea"/>
                <a:ea typeface="+mn-ea"/>
              </a:rPr>
              <a:t>이메일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우편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83" name="직사각형 82"/>
          <p:cNvSpPr/>
          <p:nvPr/>
        </p:nvSpPr>
        <p:spPr>
          <a:xfrm>
            <a:off x="1333202" y="5157898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고객 안내 사항</a:t>
            </a:r>
            <a:endParaRPr lang="en-US" altLang="ko-KR" sz="800" b="1" dirty="0">
              <a:latin typeface="+mn-ea"/>
              <a:ea typeface="+mn-ea"/>
            </a:endParaRPr>
          </a:p>
        </p:txBody>
      </p:sp>
      <p:sp>
        <p:nvSpPr>
          <p:cNvPr id="85" name="직사각형 84"/>
          <p:cNvSpPr/>
          <p:nvPr/>
        </p:nvSpPr>
        <p:spPr>
          <a:xfrm>
            <a:off x="1333202" y="5518026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 확인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 err="1">
                <a:latin typeface="+mn-ea"/>
                <a:ea typeface="+mn-ea"/>
              </a:rPr>
              <a:t>녹취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가입정보 확인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서명</a:t>
            </a:r>
            <a:r>
              <a:rPr lang="en-US" altLang="ko-KR" sz="800" dirty="0">
                <a:latin typeface="+mn-ea"/>
                <a:ea typeface="+mn-ea"/>
              </a:rPr>
              <a:t>(</a:t>
            </a:r>
            <a:r>
              <a:rPr lang="ko-KR" altLang="en-US" sz="800" dirty="0">
                <a:latin typeface="+mn-ea"/>
                <a:ea typeface="+mn-ea"/>
              </a:rPr>
              <a:t>판매자 서명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가입자</a:t>
            </a:r>
            <a:r>
              <a:rPr lang="en-US" altLang="ko-KR" sz="800" dirty="0">
                <a:latin typeface="+mn-ea"/>
                <a:ea typeface="+mn-ea"/>
              </a:rPr>
              <a:t>(</a:t>
            </a:r>
            <a:r>
              <a:rPr lang="ko-KR" altLang="en-US" sz="800" dirty="0">
                <a:latin typeface="+mn-ea"/>
                <a:ea typeface="+mn-ea"/>
              </a:rPr>
              <a:t>대리인</a:t>
            </a:r>
            <a:r>
              <a:rPr lang="en-US" altLang="ko-KR" sz="800" dirty="0">
                <a:latin typeface="+mn-ea"/>
                <a:ea typeface="+mn-ea"/>
              </a:rPr>
              <a:t>) </a:t>
            </a:r>
            <a:r>
              <a:rPr lang="ko-KR" altLang="en-US" sz="800" dirty="0">
                <a:latin typeface="+mn-ea"/>
                <a:ea typeface="+mn-ea"/>
              </a:rPr>
              <a:t>서명</a:t>
            </a:r>
            <a:r>
              <a:rPr lang="en-US" altLang="ko-KR" sz="800" dirty="0">
                <a:latin typeface="+mn-ea"/>
                <a:ea typeface="+mn-ea"/>
              </a:rPr>
              <a:t>)</a:t>
            </a:r>
          </a:p>
        </p:txBody>
      </p:sp>
      <p:sp>
        <p:nvSpPr>
          <p:cNvPr id="87" name="직사각형 86"/>
          <p:cNvSpPr/>
          <p:nvPr/>
        </p:nvSpPr>
        <p:spPr>
          <a:xfrm>
            <a:off x="1333202" y="623823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 교부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열람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발송 </a:t>
            </a:r>
            <a:r>
              <a:rPr lang="en-US" altLang="ko-KR" sz="800" dirty="0">
                <a:solidFill>
                  <a:srgbClr val="0070C0"/>
                </a:solidFill>
                <a:latin typeface="+mn-ea"/>
                <a:ea typeface="+mn-ea"/>
              </a:rPr>
              <a:t>*** </a:t>
            </a:r>
            <a:r>
              <a:rPr lang="ko-KR" altLang="en-US" sz="800" dirty="0">
                <a:solidFill>
                  <a:srgbClr val="0070C0"/>
                </a:solidFill>
                <a:latin typeface="+mn-ea"/>
                <a:ea typeface="+mn-ea"/>
              </a:rPr>
              <a:t>별도 작성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1333202" y="5878066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 처리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신청서 등록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리포트 </a:t>
            </a:r>
            <a:r>
              <a:rPr lang="ko-KR" altLang="en-US" sz="800" dirty="0" err="1">
                <a:latin typeface="+mn-ea"/>
                <a:ea typeface="+mn-ea"/>
              </a:rPr>
              <a:t>이미징</a:t>
            </a:r>
            <a:r>
              <a:rPr lang="ko-KR" altLang="en-US" sz="800" dirty="0">
                <a:latin typeface="+mn-ea"/>
                <a:ea typeface="+mn-ea"/>
              </a:rPr>
              <a:t> 처리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 err="1">
                <a:latin typeface="+mn-ea"/>
                <a:ea typeface="+mn-ea"/>
              </a:rPr>
              <a:t>이미징</a:t>
            </a:r>
            <a:r>
              <a:rPr lang="ko-KR" altLang="en-US" sz="800" dirty="0">
                <a:latin typeface="+mn-ea"/>
                <a:ea typeface="+mn-ea"/>
              </a:rPr>
              <a:t> 시스템 리포트 전송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신청서 정보 등록 요청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신청서 </a:t>
            </a:r>
            <a:r>
              <a:rPr lang="en-US" altLang="ko-KR" sz="800" dirty="0">
                <a:latin typeface="+mn-ea"/>
                <a:ea typeface="+mn-ea"/>
              </a:rPr>
              <a:t>K-NOTE </a:t>
            </a:r>
            <a:r>
              <a:rPr lang="ko-KR" altLang="en-US" sz="800" dirty="0">
                <a:latin typeface="+mn-ea"/>
                <a:ea typeface="+mn-ea"/>
              </a:rPr>
              <a:t>전송 </a:t>
            </a:r>
            <a:r>
              <a:rPr lang="en-US" altLang="ko-KR" sz="800" dirty="0">
                <a:solidFill>
                  <a:srgbClr val="0070C0"/>
                </a:solidFill>
                <a:latin typeface="+mn-ea"/>
                <a:ea typeface="+mn-ea"/>
              </a:rPr>
              <a:t>*** </a:t>
            </a:r>
            <a:r>
              <a:rPr lang="ko-KR" altLang="en-US" sz="800" dirty="0">
                <a:solidFill>
                  <a:srgbClr val="0070C0"/>
                </a:solidFill>
                <a:latin typeface="+mn-ea"/>
                <a:ea typeface="+mn-ea"/>
              </a:rPr>
              <a:t>별도 작성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3916656" y="2961586"/>
            <a:ext cx="118800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잔여 단말기대금       납부 확인</a:t>
            </a:r>
          </a:p>
        </p:txBody>
      </p:sp>
      <p:sp>
        <p:nvSpPr>
          <p:cNvPr id="92" name="직사각형 91"/>
          <p:cNvSpPr/>
          <p:nvPr/>
        </p:nvSpPr>
        <p:spPr>
          <a:xfrm>
            <a:off x="1333202" y="4761786"/>
            <a:ext cx="892984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메모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10361240" y="5518066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팝업 화면으로 최종 정보 확인 및 </a:t>
            </a:r>
            <a:r>
              <a:rPr lang="ko-KR" altLang="en-US" sz="800" dirty="0" err="1">
                <a:latin typeface="+mn-ea"/>
                <a:ea typeface="+mn-ea"/>
              </a:rPr>
              <a:t>녹취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00" name="직사각형 99"/>
          <p:cNvSpPr/>
          <p:nvPr/>
        </p:nvSpPr>
        <p:spPr>
          <a:xfrm>
            <a:off x="10350454" y="5878194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신청서 내용 전송 방식 </a:t>
            </a:r>
            <a:r>
              <a:rPr lang="ko-KR" altLang="en-US" sz="800" dirty="0" err="1" smtClean="0">
                <a:solidFill>
                  <a:srgbClr val="FF0000"/>
                </a:solidFill>
                <a:latin typeface="+mn-ea"/>
                <a:ea typeface="+mn-ea"/>
              </a:rPr>
              <a:t>검토중</a:t>
            </a:r>
            <a:endParaRPr lang="en-US" altLang="ko-KR" sz="8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1333202" y="332601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부가서비스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-&gt; </a:t>
            </a:r>
            <a:r>
              <a:rPr lang="ko-KR" altLang="en-US" sz="800" dirty="0">
                <a:latin typeface="+mn-ea"/>
                <a:ea typeface="+mn-ea"/>
              </a:rPr>
              <a:t>카테고리에서 선택</a:t>
            </a:r>
          </a:p>
        </p:txBody>
      </p:sp>
      <p:sp>
        <p:nvSpPr>
          <p:cNvPr id="43" name="직사각형 42"/>
          <p:cNvSpPr/>
          <p:nvPr/>
        </p:nvSpPr>
        <p:spPr>
          <a:xfrm>
            <a:off x="10361240" y="4437938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b="1" dirty="0">
                <a:solidFill>
                  <a:srgbClr val="C00000"/>
                </a:solidFill>
                <a:latin typeface="+mn-ea"/>
                <a:ea typeface="+mn-ea"/>
              </a:rPr>
              <a:t>통합청구 청구계정</a:t>
            </a:r>
            <a:r>
              <a:rPr lang="en-US" altLang="ko-KR" sz="800" b="1" dirty="0">
                <a:solidFill>
                  <a:srgbClr val="C00000"/>
                </a:solidFill>
                <a:latin typeface="+mn-ea"/>
                <a:ea typeface="+mn-ea"/>
              </a:rPr>
              <a:t>ID </a:t>
            </a:r>
            <a:r>
              <a:rPr lang="ko-KR" altLang="en-US" sz="800" b="1" dirty="0">
                <a:solidFill>
                  <a:srgbClr val="C00000"/>
                </a:solidFill>
                <a:latin typeface="+mn-ea"/>
                <a:ea typeface="+mn-ea"/>
              </a:rPr>
              <a:t>인증 </a:t>
            </a:r>
            <a:r>
              <a:rPr lang="en-US" altLang="ko-KR" sz="800" b="1" dirty="0">
                <a:solidFill>
                  <a:srgbClr val="C00000"/>
                </a:solidFill>
                <a:latin typeface="+mn-ea"/>
                <a:ea typeface="+mn-ea"/>
              </a:rPr>
              <a:t>API m</a:t>
            </a:r>
            <a:r>
              <a:rPr lang="ko-KR" altLang="en-US" sz="800" b="1" dirty="0">
                <a:solidFill>
                  <a:srgbClr val="C00000"/>
                </a:solidFill>
                <a:latin typeface="+mn-ea"/>
                <a:ea typeface="+mn-ea"/>
              </a:rPr>
              <a:t>플랫폼 확인</a:t>
            </a:r>
            <a:r>
              <a:rPr lang="en-US" altLang="ko-KR" sz="800" b="1" dirty="0">
                <a:solidFill>
                  <a:srgbClr val="C00000"/>
                </a:solidFill>
                <a:latin typeface="+mn-ea"/>
                <a:ea typeface="+mn-ea"/>
              </a:rPr>
              <a:t>(IT</a:t>
            </a:r>
            <a:r>
              <a:rPr lang="ko-KR" altLang="en-US" sz="800" b="1" dirty="0">
                <a:solidFill>
                  <a:srgbClr val="C00000"/>
                </a:solidFill>
                <a:latin typeface="+mn-ea"/>
                <a:ea typeface="+mn-ea"/>
              </a:rPr>
              <a:t>부서</a:t>
            </a:r>
            <a:r>
              <a:rPr lang="en-US" altLang="ko-KR" sz="800" b="1" dirty="0">
                <a:solidFill>
                  <a:srgbClr val="C00000"/>
                </a:solidFill>
                <a:latin typeface="+mn-ea"/>
                <a:ea typeface="+mn-ea"/>
              </a:rPr>
              <a:t>) -&gt; </a:t>
            </a:r>
            <a:r>
              <a:rPr lang="ko-KR" altLang="en-US" sz="800" b="1" dirty="0" err="1">
                <a:solidFill>
                  <a:srgbClr val="C00000"/>
                </a:solidFill>
                <a:latin typeface="+mn-ea"/>
                <a:ea typeface="+mn-ea"/>
              </a:rPr>
              <a:t>제공가능할</a:t>
            </a:r>
            <a:r>
              <a:rPr lang="ko-KR" altLang="en-US" sz="800" b="1" dirty="0">
                <a:solidFill>
                  <a:srgbClr val="C00000"/>
                </a:solidFill>
                <a:latin typeface="+mn-ea"/>
                <a:ea typeface="+mn-ea"/>
              </a:rPr>
              <a:t> 경우 기능 포함</a:t>
            </a:r>
            <a:endParaRPr lang="en-US" altLang="ko-KR" sz="800" b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31297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3836107"/>
              </p:ext>
            </p:extLst>
          </p:nvPr>
        </p:nvGraphicFramePr>
        <p:xfrm>
          <a:off x="10505256" y="788950"/>
          <a:ext cx="2130330" cy="8359707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좌측 메뉴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작성단계에 맞춰 활성화 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임시저장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 조회로 진입한 경우 디폴트 표시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임시저장 데이터로 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ko-KR" altLang="en-US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정보는 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세팅하지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않음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다시 인증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받아야함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작성한 단계까지만 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및 유효성 체크 버튼은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안한것으로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간주하여 화면에 버튼 활성화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등록된 요금제 정책에 해당하는 요금제 정보가 없는 경우 요금제 정보 초기화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선택한 휴대폰이 품절된 경우 휴대폰 정보 초기화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임시저장 데이터로 화면 진입한 경우 알림 메시지 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작성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중에 내용 수정인 경우는 알림 메시지 표시하지 않음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화면을 이탈 했다가 다시 진입한 경우만 알림 메시지 표시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완료 카피 데이터 조회로 진입한 경우 디폴트 표시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완료 카피한 데이터로 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ko-KR" altLang="en-US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정보는 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세팅하지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않음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다시 인증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받아야함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전체 작성 단계 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및 유효성 체크 버튼은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안한것으로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간주하여 화면에 버튼 활성화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등록된 요금제 정책에 해당하는 요금제 정보가 없는 경우 요금제 정보 초기화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선택한 휴대폰이 품절된 경우 휴대폰 정보 초기화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완료 카피 데이터 화면 진입한 경우 알림 메시지 표시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내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항목이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선택되면 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내용 임시 저장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 신청서 양식 펼침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확인 메시지 후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작성 내용 초기화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예상금액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참고</a:t>
                      </a:r>
                      <a:endParaRPr lang="en-US" altLang="ko-KR" sz="800" b="0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en-US" altLang="ko-KR" sz="800" b="0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https://www.ktmmobile.com/m/product/phone/phoneView.do?prodId=4992&amp;rateCd=PL21BN496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en-US" altLang="ko-KR" sz="800" b="0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https://www.ktmmobile.com/m/appForm/appFormDesignView.do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5" name="직사각형 34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S101010101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</a:t>
            </a:r>
            <a:r>
              <a:rPr lang="ko-KR" altLang="en-US" sz="1000" dirty="0" smtClean="0">
                <a:latin typeface="+mn-ea"/>
                <a:ea typeface="+mn-ea"/>
              </a:rPr>
              <a:t>신청서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60" name="그룹 59"/>
          <p:cNvGrpSpPr/>
          <p:nvPr/>
        </p:nvGrpSpPr>
        <p:grpSpPr>
          <a:xfrm>
            <a:off x="208192" y="1057862"/>
            <a:ext cx="720000" cy="4368542"/>
            <a:chOff x="1648352" y="1813993"/>
            <a:chExt cx="720000" cy="4368542"/>
          </a:xfrm>
        </p:grpSpPr>
        <p:sp>
          <p:nvSpPr>
            <p:cNvPr id="61" name="직사각형 60"/>
            <p:cNvSpPr/>
            <p:nvPr/>
          </p:nvSpPr>
          <p:spPr>
            <a:xfrm>
              <a:off x="1648352" y="1813993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1648352" y="3484550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63" name="직사각형 62"/>
            <p:cNvSpPr/>
            <p:nvPr/>
          </p:nvSpPr>
          <p:spPr>
            <a:xfrm>
              <a:off x="1648352" y="4024046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1648352" y="4563542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1648352" y="5103038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66" name="그룹 65"/>
            <p:cNvGrpSpPr/>
            <p:nvPr/>
          </p:nvGrpSpPr>
          <p:grpSpPr>
            <a:xfrm>
              <a:off x="1648352" y="5642535"/>
              <a:ext cx="720000" cy="540000"/>
              <a:chOff x="1648352" y="5642535"/>
              <a:chExt cx="720000" cy="540000"/>
            </a:xfrm>
          </p:grpSpPr>
          <p:sp>
            <p:nvSpPr>
              <p:cNvPr id="73" name="직사각형 72"/>
              <p:cNvSpPr/>
              <p:nvPr/>
            </p:nvSpPr>
            <p:spPr>
              <a:xfrm>
                <a:off x="1648352" y="5642535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74" name="Picture 5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03535" y="5720463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67" name="직사각형 66"/>
            <p:cNvSpPr/>
            <p:nvPr/>
          </p:nvSpPr>
          <p:spPr>
            <a:xfrm>
              <a:off x="1685856" y="2377112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고객</a:t>
              </a:r>
            </a:p>
          </p:txBody>
        </p:sp>
        <p:sp>
          <p:nvSpPr>
            <p:cNvPr id="68" name="타원 67"/>
            <p:cNvSpPr/>
            <p:nvPr/>
          </p:nvSpPr>
          <p:spPr>
            <a:xfrm>
              <a:off x="1717359" y="2440486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1685776" y="2735592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상품</a:t>
              </a:r>
            </a:p>
          </p:txBody>
        </p:sp>
        <p:sp>
          <p:nvSpPr>
            <p:cNvPr id="70" name="타원 69"/>
            <p:cNvSpPr/>
            <p:nvPr/>
          </p:nvSpPr>
          <p:spPr>
            <a:xfrm>
              <a:off x="1717359" y="2798966"/>
              <a:ext cx="216000" cy="216000"/>
            </a:xfrm>
            <a:prstGeom prst="ellipse">
              <a:avLst/>
            </a:prstGeom>
            <a:noFill/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endParaRPr lang="ko-KR" altLang="en-US" sz="8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1685776" y="3095632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동의</a:t>
              </a:r>
            </a:p>
          </p:txBody>
        </p:sp>
        <p:sp>
          <p:nvSpPr>
            <p:cNvPr id="72" name="타원 71"/>
            <p:cNvSpPr/>
            <p:nvPr/>
          </p:nvSpPr>
          <p:spPr>
            <a:xfrm>
              <a:off x="1717359" y="3159006"/>
              <a:ext cx="216000" cy="216000"/>
            </a:xfrm>
            <a:prstGeom prst="ellipse">
              <a:avLst/>
            </a:prstGeom>
            <a:noFill/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endParaRPr lang="ko-KR" altLang="en-US" sz="8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5" name="눈물 방울 94"/>
          <p:cNvSpPr/>
          <p:nvPr/>
        </p:nvSpPr>
        <p:spPr>
          <a:xfrm rot="5400000">
            <a:off x="1004966" y="10609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9641240" y="627452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2" name="눈물 방울 41"/>
          <p:cNvSpPr/>
          <p:nvPr/>
        </p:nvSpPr>
        <p:spPr>
          <a:xfrm rot="5400000">
            <a:off x="9390553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8633128" y="6284268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초기화</a:t>
            </a:r>
          </a:p>
        </p:txBody>
      </p:sp>
      <p:sp>
        <p:nvSpPr>
          <p:cNvPr id="44" name="직사각형 43"/>
          <p:cNvSpPr/>
          <p:nvPr/>
        </p:nvSpPr>
        <p:spPr>
          <a:xfrm>
            <a:off x="7336904" y="6292862"/>
            <a:ext cx="1008112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예상 납부금액</a:t>
            </a:r>
          </a:p>
        </p:txBody>
      </p:sp>
      <p:sp>
        <p:nvSpPr>
          <p:cNvPr id="45" name="눈물 방울 44"/>
          <p:cNvSpPr/>
          <p:nvPr/>
        </p:nvSpPr>
        <p:spPr>
          <a:xfrm rot="5400000">
            <a:off x="8421790" y="631758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6" name="눈물 방울 45"/>
          <p:cNvSpPr/>
          <p:nvPr/>
        </p:nvSpPr>
        <p:spPr>
          <a:xfrm rot="5400000">
            <a:off x="7053638" y="631758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0" name="눈물 방울 29"/>
          <p:cNvSpPr/>
          <p:nvPr/>
        </p:nvSpPr>
        <p:spPr>
          <a:xfrm rot="5400000">
            <a:off x="140870" y="97675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7205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눈물 방울 23"/>
          <p:cNvSpPr/>
          <p:nvPr/>
        </p:nvSpPr>
        <p:spPr>
          <a:xfrm rot="5400000">
            <a:off x="356894" y="220120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640160" y="2184752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확인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33" name="그룹 32"/>
          <p:cNvGrpSpPr/>
          <p:nvPr/>
        </p:nvGrpSpPr>
        <p:grpSpPr>
          <a:xfrm>
            <a:off x="856184" y="2480847"/>
            <a:ext cx="2881818" cy="1397063"/>
            <a:chOff x="618540" y="4765995"/>
            <a:chExt cx="2881818" cy="1397063"/>
          </a:xfrm>
        </p:grpSpPr>
        <p:sp>
          <p:nvSpPr>
            <p:cNvPr id="34" name="직사각형 33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618540" y="580305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취소</a:t>
              </a:r>
            </a:p>
          </p:txBody>
        </p:sp>
        <p:sp>
          <p:nvSpPr>
            <p:cNvPr id="36" name="직사각형 35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작성 내용을 초기화하시겠습니까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?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2053458" y="5797472"/>
              <a:ext cx="1446899" cy="365586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38" name="직사각형 37"/>
          <p:cNvSpPr/>
          <p:nvPr/>
        </p:nvSpPr>
        <p:spPr>
          <a:xfrm>
            <a:off x="856184" y="1269586"/>
            <a:ext cx="720000" cy="288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40160" y="909514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화면 내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 항목이 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1796662" y="1269586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</a:p>
        </p:txBody>
      </p:sp>
      <p:sp>
        <p:nvSpPr>
          <p:cNvPr id="41" name="눈물 방울 40"/>
          <p:cNvSpPr/>
          <p:nvPr/>
        </p:nvSpPr>
        <p:spPr>
          <a:xfrm rot="5400000">
            <a:off x="356894" y="925963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43" name="직사각형 42"/>
          <p:cNvSpPr/>
          <p:nvPr/>
        </p:nvSpPr>
        <p:spPr>
          <a:xfrm>
            <a:off x="173136" y="1917626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grpSp>
        <p:nvGrpSpPr>
          <p:cNvPr id="19" name="그룹 18"/>
          <p:cNvGrpSpPr/>
          <p:nvPr/>
        </p:nvGrpSpPr>
        <p:grpSpPr>
          <a:xfrm>
            <a:off x="566654" y="4553011"/>
            <a:ext cx="2881818" cy="1397063"/>
            <a:chOff x="5875124" y="3832891"/>
            <a:chExt cx="2881818" cy="1397063"/>
          </a:xfrm>
        </p:grpSpPr>
        <p:sp>
          <p:nvSpPr>
            <p:cNvPr id="20" name="직사각형 19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XXX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입력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선택해 주세요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3" name="직사각형 22"/>
          <p:cNvSpPr/>
          <p:nvPr/>
        </p:nvSpPr>
        <p:spPr>
          <a:xfrm>
            <a:off x="620665" y="4258157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필수값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미입력시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26" name="눈물 방울 25"/>
          <p:cNvSpPr/>
          <p:nvPr/>
        </p:nvSpPr>
        <p:spPr>
          <a:xfrm rot="5400000">
            <a:off x="363821" y="422934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3736504" y="4553011"/>
            <a:ext cx="2881818" cy="1397063"/>
            <a:chOff x="5875124" y="3832891"/>
            <a:chExt cx="2881818" cy="1397063"/>
          </a:xfrm>
        </p:grpSpPr>
        <p:sp>
          <p:nvSpPr>
            <p:cNvPr id="28" name="직사각형 27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9" name="직사각형 28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0" name="직사각형 29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XXX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체크해 주세요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1" name="직사각형 30"/>
          <p:cNvSpPr/>
          <p:nvPr/>
        </p:nvSpPr>
        <p:spPr>
          <a:xfrm>
            <a:off x="3790515" y="4258157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필수 인증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체크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미완료시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</a:t>
            </a:r>
            <a:r>
              <a:rPr lang="ko-KR" altLang="en-US" sz="1000" dirty="0" smtClean="0">
                <a:latin typeface="+mn-ea"/>
                <a:ea typeface="+mn-ea"/>
              </a:rPr>
              <a:t>신청서</a:t>
            </a:r>
            <a:endParaRPr lang="ko-KR" altLang="en-US" sz="10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62236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/>
          <p:cNvSpPr/>
          <p:nvPr/>
        </p:nvSpPr>
        <p:spPr>
          <a:xfrm>
            <a:off x="640160" y="909514"/>
            <a:ext cx="741682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임시저장 데이터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접수완료 카피 데이터로 화면 진입한 경우 알림 메시지 표시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566654" y="1269554"/>
            <a:ext cx="2881818" cy="1397063"/>
            <a:chOff x="5875124" y="3832891"/>
            <a:chExt cx="2881818" cy="1397063"/>
          </a:xfrm>
        </p:grpSpPr>
        <p:sp>
          <p:nvSpPr>
            <p:cNvPr id="20" name="직사각형 19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이전에 인증하신 신분증 인증 정보는 재사용이 불가하므로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신분증 인증을 다시 진행해 주세요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</a:t>
            </a:r>
            <a:r>
              <a:rPr lang="ko-KR" altLang="en-US" sz="1000" dirty="0" smtClean="0">
                <a:latin typeface="+mn-ea"/>
                <a:ea typeface="+mn-ea"/>
              </a:rPr>
              <a:t>신청서</a:t>
            </a:r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46" name="표 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247630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임시저장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접수완료 데이터로 화면 진입한 경우 알림 메시지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37880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8705934"/>
              </p:ext>
            </p:extLst>
          </p:nvPr>
        </p:nvGraphicFramePr>
        <p:xfrm>
          <a:off x="10505256" y="788950"/>
          <a:ext cx="2130330" cy="270716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작성된 내용 기준으로 예상 납부금액을 조회하여 화면에 출력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1.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휴대폰인 경우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월 단말요금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월 통신요금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기본할인 항목은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원이 아닌 경우만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요금할인 항목은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원이 아닌 경우만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기타요금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USIM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최초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원이 아닌 경우만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4)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월납부금액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5)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단말기 결제금액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S101010102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예상 납부요금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휴대폰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02" name="직사각형 101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3" name="직사각형 102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6153004" y="1152439"/>
            <a:ext cx="4208236" cy="4941651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 rot="2700000">
            <a:off x="9902109" y="1272852"/>
            <a:ext cx="214699" cy="216000"/>
            <a:chOff x="6609184" y="2719104"/>
            <a:chExt cx="1008112" cy="1008112"/>
          </a:xfrm>
        </p:grpSpPr>
        <p:cxnSp>
          <p:nvCxnSpPr>
            <p:cNvPr id="27" name="직선 연결선 26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연결선 27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/>
          <p:cNvSpPr txBox="1"/>
          <p:nvPr/>
        </p:nvSpPr>
        <p:spPr>
          <a:xfrm>
            <a:off x="6257781" y="1238929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예상 납부금액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6328791" y="5734050"/>
            <a:ext cx="3311370" cy="288032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가입비 및 </a:t>
            </a:r>
            <a:r>
              <a:rPr lang="en-US" altLang="ko-KR" sz="9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</a:t>
            </a:r>
            <a:r>
              <a:rPr lang="ko-KR" altLang="en-US" sz="9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비 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등 기타요금은 별도 청구됩니다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9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눈물 방울 35"/>
          <p:cNvSpPr/>
          <p:nvPr/>
        </p:nvSpPr>
        <p:spPr>
          <a:xfrm rot="5400000">
            <a:off x="5892791" y="114767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cxnSp>
        <p:nvCxnSpPr>
          <p:cNvPr id="3" name="구부러진 연결선 2"/>
          <p:cNvCxnSpPr>
            <a:endCxn id="25" idx="2"/>
          </p:cNvCxnSpPr>
          <p:nvPr/>
        </p:nvCxnSpPr>
        <p:spPr>
          <a:xfrm rot="5400000" flipH="1" flipV="1">
            <a:off x="7949655" y="5985395"/>
            <a:ext cx="198772" cy="416162"/>
          </a:xfrm>
          <a:prstGeom prst="curvedConnector3">
            <a:avLst/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2414" y="1629594"/>
            <a:ext cx="3816713" cy="2153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36" y="3798443"/>
            <a:ext cx="3856105" cy="17901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3" name="직사각형 32"/>
          <p:cNvSpPr/>
          <p:nvPr/>
        </p:nvSpPr>
        <p:spPr>
          <a:xfrm>
            <a:off x="9641240" y="627452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4" name="눈물 방울 33"/>
          <p:cNvSpPr/>
          <p:nvPr/>
        </p:nvSpPr>
        <p:spPr>
          <a:xfrm rot="5400000">
            <a:off x="9390553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8633128" y="6284268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초기화</a:t>
            </a:r>
          </a:p>
        </p:txBody>
      </p:sp>
      <p:sp>
        <p:nvSpPr>
          <p:cNvPr id="38" name="직사각형 37"/>
          <p:cNvSpPr/>
          <p:nvPr/>
        </p:nvSpPr>
        <p:spPr>
          <a:xfrm>
            <a:off x="7336904" y="6292862"/>
            <a:ext cx="1008112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예상 납부금액</a:t>
            </a:r>
          </a:p>
        </p:txBody>
      </p:sp>
      <p:sp>
        <p:nvSpPr>
          <p:cNvPr id="39" name="눈물 방울 38"/>
          <p:cNvSpPr/>
          <p:nvPr/>
        </p:nvSpPr>
        <p:spPr>
          <a:xfrm rot="5400000">
            <a:off x="8421790" y="631758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0" name="눈물 방울 39"/>
          <p:cNvSpPr/>
          <p:nvPr/>
        </p:nvSpPr>
        <p:spPr>
          <a:xfrm rot="5400000">
            <a:off x="7053638" y="631758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</p:spTree>
    <p:extLst>
      <p:ext uri="{BB962C8B-B14F-4D97-AF65-F5344CB8AC3E}">
        <p14:creationId xmlns:p14="http://schemas.microsoft.com/office/powerpoint/2010/main" val="26635019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305981"/>
              </p:ext>
            </p:extLst>
          </p:nvPr>
        </p:nvGraphicFramePr>
        <p:xfrm>
          <a:off x="10505256" y="788950"/>
          <a:ext cx="2130330" cy="319484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작성된 내용 기준으로 예상 납부금액을 조회하여 화면에 출력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2. USIM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 경우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월 통신 요금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기본할인 항목은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원이 아닌 경우만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요금할인 항목은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원이 아닌 경우만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가입비 및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별도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USIM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최초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원이 아닌 경우만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가입비 프로모션으로 등록된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요금제인 경우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면제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USIM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 프로모션으로 등록된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요금제인 경우 할인가격으로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3)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월납부금액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예상 납부요금 </a:t>
            </a:r>
            <a:r>
              <a:rPr lang="en-US" altLang="ko-KR" sz="1000" dirty="0">
                <a:latin typeface="+mn-ea"/>
                <a:ea typeface="+mn-ea"/>
              </a:rPr>
              <a:t>(USIM)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02" name="직사각형 101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3" name="직사각형 102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6153004" y="2493690"/>
            <a:ext cx="4208236" cy="36004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 rot="2700000">
            <a:off x="9902109" y="2609974"/>
            <a:ext cx="214699" cy="216000"/>
            <a:chOff x="6609184" y="2719104"/>
            <a:chExt cx="1008112" cy="1008112"/>
          </a:xfrm>
        </p:grpSpPr>
        <p:cxnSp>
          <p:nvCxnSpPr>
            <p:cNvPr id="27" name="직선 연결선 26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연결선 27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/>
          <p:cNvSpPr txBox="1"/>
          <p:nvPr/>
        </p:nvSpPr>
        <p:spPr>
          <a:xfrm>
            <a:off x="6257781" y="2576051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예상 납부금액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6328791" y="5734050"/>
            <a:ext cx="3311370" cy="288032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가입비 및 </a:t>
            </a:r>
            <a:r>
              <a:rPr lang="en-US" altLang="ko-KR" sz="9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</a:t>
            </a:r>
            <a:r>
              <a:rPr lang="ko-KR" altLang="en-US" sz="9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비 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등 기타요금은 별도 청구됩니다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9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눈물 방울 35"/>
          <p:cNvSpPr/>
          <p:nvPr/>
        </p:nvSpPr>
        <p:spPr>
          <a:xfrm rot="5400000">
            <a:off x="5921142" y="236749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cxnSp>
        <p:nvCxnSpPr>
          <p:cNvPr id="3" name="구부러진 연결선 2"/>
          <p:cNvCxnSpPr>
            <a:endCxn id="25" idx="2"/>
          </p:cNvCxnSpPr>
          <p:nvPr/>
        </p:nvCxnSpPr>
        <p:spPr>
          <a:xfrm rot="5400000" flipH="1" flipV="1">
            <a:off x="7949655" y="5985395"/>
            <a:ext cx="198772" cy="416162"/>
          </a:xfrm>
          <a:prstGeom prst="curvedConnector3">
            <a:avLst/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2763" y="3056009"/>
            <a:ext cx="3756576" cy="758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2793" y="3876810"/>
            <a:ext cx="3756546" cy="170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3" name="TextBox 3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S101010102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9641240" y="627452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7" name="눈물 방울 36"/>
          <p:cNvSpPr/>
          <p:nvPr/>
        </p:nvSpPr>
        <p:spPr>
          <a:xfrm rot="5400000">
            <a:off x="9390553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8633128" y="6284268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초기화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7336904" y="6292862"/>
            <a:ext cx="1008112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예상 납부금액</a:t>
            </a:r>
          </a:p>
        </p:txBody>
      </p:sp>
      <p:sp>
        <p:nvSpPr>
          <p:cNvPr id="40" name="눈물 방울 39"/>
          <p:cNvSpPr/>
          <p:nvPr/>
        </p:nvSpPr>
        <p:spPr>
          <a:xfrm rot="5400000">
            <a:off x="8421790" y="631758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1" name="눈물 방울 40"/>
          <p:cNvSpPr/>
          <p:nvPr/>
        </p:nvSpPr>
        <p:spPr>
          <a:xfrm rot="5400000">
            <a:off x="7053638" y="631758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58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417592"/>
              </p:ext>
            </p:extLst>
          </p:nvPr>
        </p:nvGraphicFramePr>
        <p:xfrm>
          <a:off x="10505256" y="788950"/>
          <a:ext cx="2130330" cy="282908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작성된 내용 기준으로 예상 납부금액을 조회하여 화면에 출력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3. </a:t>
                      </a:r>
                      <a:r>
                        <a:rPr lang="en-US" altLang="ko-KR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eSIM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 경우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월 통신 요금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기본할인 항목은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원이 아닌 경우만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요금할인 항목은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원이 아닌 경우만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가입비 및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별도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en-US" altLang="ko-KR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eSIM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(1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원이 아닌 경우만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가입비 프로모션으로 등록된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요금제인 경우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면제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3)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월납부금액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예상 납부요금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en-US" altLang="ko-KR" sz="1000" dirty="0" err="1">
                <a:latin typeface="+mn-ea"/>
                <a:ea typeface="+mn-ea"/>
              </a:rPr>
              <a:t>eSIM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02" name="직사각형 101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3" name="직사각형 102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6153004" y="1167348"/>
            <a:ext cx="4208236" cy="4926742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 rot="2700000">
            <a:off x="9902109" y="1313830"/>
            <a:ext cx="214699" cy="216000"/>
            <a:chOff x="6609184" y="2719104"/>
            <a:chExt cx="1008112" cy="1008112"/>
          </a:xfrm>
        </p:grpSpPr>
        <p:cxnSp>
          <p:nvCxnSpPr>
            <p:cNvPr id="27" name="직선 연결선 26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연결선 27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/>
          <p:cNvSpPr txBox="1"/>
          <p:nvPr/>
        </p:nvSpPr>
        <p:spPr>
          <a:xfrm>
            <a:off x="6257781" y="1279907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예상 납부금액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6328790" y="4437906"/>
            <a:ext cx="3604299" cy="288032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en-US" altLang="ko-KR" sz="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eSIM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비는 다운로드에 상관없이 최초 개통 시 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1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회 발생되며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, </a:t>
            </a:r>
          </a:p>
          <a:p>
            <a:pPr>
              <a:spcBef>
                <a:spcPct val="50000"/>
              </a:spcBef>
            </a:pP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   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프로파일 삭제 등으로 재 다운로드 시 추가 발생합니다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>
              <a:spcBef>
                <a:spcPct val="50000"/>
              </a:spcBef>
            </a:pP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월 납부금액은 부가서비스 등의 사용에 따라 추가금액이 합산되어 </a:t>
            </a:r>
            <a:endParaRPr lang="en-US" altLang="ko-KR" sz="9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>
              <a:spcBef>
                <a:spcPct val="50000"/>
              </a:spcBef>
            </a:pP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   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청구 될 수 있습니다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>
              <a:spcBef>
                <a:spcPct val="50000"/>
              </a:spcBef>
            </a:pP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월 납부금액은 부가세 포함 금액입니다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>
              <a:spcBef>
                <a:spcPct val="50000"/>
              </a:spcBef>
            </a:pP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타사향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(SK, LG U+ 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등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) 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단말은 일부 서비스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(MMS,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영상통화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, </a:t>
            </a:r>
          </a:p>
          <a:p>
            <a:pPr>
              <a:spcBef>
                <a:spcPct val="50000"/>
              </a:spcBef>
            </a:pP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  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교통카드 기능 등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) 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이용이 제한될 수 있습니다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</p:txBody>
      </p:sp>
      <p:sp>
        <p:nvSpPr>
          <p:cNvPr id="36" name="눈물 방울 35"/>
          <p:cNvSpPr/>
          <p:nvPr/>
        </p:nvSpPr>
        <p:spPr>
          <a:xfrm rot="5400000">
            <a:off x="5921142" y="236749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cxnSp>
        <p:nvCxnSpPr>
          <p:cNvPr id="3" name="구부러진 연결선 2"/>
          <p:cNvCxnSpPr>
            <a:endCxn id="25" idx="2"/>
          </p:cNvCxnSpPr>
          <p:nvPr/>
        </p:nvCxnSpPr>
        <p:spPr>
          <a:xfrm flipV="1">
            <a:off x="7840960" y="6094090"/>
            <a:ext cx="416162" cy="198772"/>
          </a:xfrm>
          <a:prstGeom prst="curvedConnector2">
            <a:avLst/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S101010102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9641240" y="627452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7" name="눈물 방울 36"/>
          <p:cNvSpPr/>
          <p:nvPr/>
        </p:nvSpPr>
        <p:spPr>
          <a:xfrm rot="5400000">
            <a:off x="9390553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8633128" y="6284268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초기화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7336904" y="6292862"/>
            <a:ext cx="1008112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예상 납부금액</a:t>
            </a:r>
          </a:p>
        </p:txBody>
      </p:sp>
      <p:sp>
        <p:nvSpPr>
          <p:cNvPr id="40" name="눈물 방울 39"/>
          <p:cNvSpPr/>
          <p:nvPr/>
        </p:nvSpPr>
        <p:spPr>
          <a:xfrm rot="5400000">
            <a:off x="8421790" y="631758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1" name="눈물 방울 40"/>
          <p:cNvSpPr/>
          <p:nvPr/>
        </p:nvSpPr>
        <p:spPr>
          <a:xfrm rot="5400000">
            <a:off x="7053638" y="631758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8791" y="1685459"/>
            <a:ext cx="3056996" cy="1310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8791" y="2925739"/>
            <a:ext cx="3056996" cy="1018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8792" y="3933850"/>
            <a:ext cx="3056995" cy="3629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6808546" y="2324628"/>
            <a:ext cx="288032" cy="369184"/>
          </a:xfrm>
          <a:prstGeom prst="rect">
            <a:avLst/>
          </a:prstGeom>
          <a:solidFill>
            <a:srgbClr val="FFFFFF"/>
          </a:solidFill>
          <a:ln w="6350" algn="ctr">
            <a:noFill/>
            <a:miter lim="800000"/>
            <a:headEnd/>
            <a:tailEnd/>
          </a:ln>
        </p:spPr>
        <p:txBody>
          <a:bodyPr wrap="square" rtlCol="0" anchor="ctr">
            <a:sp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2280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4078293"/>
              </p:ext>
            </p:extLst>
          </p:nvPr>
        </p:nvGraphicFramePr>
        <p:xfrm>
          <a:off x="10505256" y="788950"/>
          <a:ext cx="2130330" cy="504575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좌측 메뉴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작성단계에 맞춰 활성화 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고객유형에 따라 입력 항목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가입유형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가입자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기본 상품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동의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가입유형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번호이동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고객유형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내국인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첫번째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항목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용량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첫번째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항목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색상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첫번째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항목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서비스유형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5G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약정기간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24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단말기 할부기간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24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첫번째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항목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기기변경 휴대폰번호 유효성 인증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 유형과 요금제 선택 배타 유효성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약정기간이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무약정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 경우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단말기 할부기간이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일시납부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 아닌 경우 약정기간과 동일한 기간 선택했는지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약정기간이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무약정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 아닌 경우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단말 할부기간 모두 선택 가능한지 여부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선택한 요금제가 고객의 연령대에서 가입할 수 없는 요금제인 경우 가입 불가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안내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5" name="직사각형 34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</a:p>
        </p:txBody>
      </p:sp>
      <p:grpSp>
        <p:nvGrpSpPr>
          <p:cNvPr id="60" name="그룹 59"/>
          <p:cNvGrpSpPr/>
          <p:nvPr/>
        </p:nvGrpSpPr>
        <p:grpSpPr>
          <a:xfrm>
            <a:off x="208192" y="1057862"/>
            <a:ext cx="720000" cy="4368542"/>
            <a:chOff x="1648352" y="1813993"/>
            <a:chExt cx="720000" cy="4368542"/>
          </a:xfrm>
        </p:grpSpPr>
        <p:sp>
          <p:nvSpPr>
            <p:cNvPr id="61" name="직사각형 60"/>
            <p:cNvSpPr/>
            <p:nvPr/>
          </p:nvSpPr>
          <p:spPr>
            <a:xfrm>
              <a:off x="1648352" y="1813993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1648352" y="3484550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63" name="직사각형 62"/>
            <p:cNvSpPr/>
            <p:nvPr/>
          </p:nvSpPr>
          <p:spPr>
            <a:xfrm>
              <a:off x="1648352" y="4024046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1648352" y="4563542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1648352" y="5103038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66" name="그룹 65"/>
            <p:cNvGrpSpPr/>
            <p:nvPr/>
          </p:nvGrpSpPr>
          <p:grpSpPr>
            <a:xfrm>
              <a:off x="1648352" y="5642535"/>
              <a:ext cx="720000" cy="540000"/>
              <a:chOff x="1648352" y="5642535"/>
              <a:chExt cx="720000" cy="540000"/>
            </a:xfrm>
          </p:grpSpPr>
          <p:sp>
            <p:nvSpPr>
              <p:cNvPr id="73" name="직사각형 72"/>
              <p:cNvSpPr/>
              <p:nvPr/>
            </p:nvSpPr>
            <p:spPr>
              <a:xfrm>
                <a:off x="1648352" y="5642535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74" name="Picture 5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03535" y="5720463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67" name="직사각형 66"/>
            <p:cNvSpPr/>
            <p:nvPr/>
          </p:nvSpPr>
          <p:spPr>
            <a:xfrm>
              <a:off x="1685856" y="2377112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고객</a:t>
              </a:r>
            </a:p>
          </p:txBody>
        </p:sp>
        <p:sp>
          <p:nvSpPr>
            <p:cNvPr id="68" name="타원 67"/>
            <p:cNvSpPr/>
            <p:nvPr/>
          </p:nvSpPr>
          <p:spPr>
            <a:xfrm>
              <a:off x="1717359" y="2440486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1685776" y="2735592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상품</a:t>
              </a:r>
            </a:p>
          </p:txBody>
        </p:sp>
        <p:sp>
          <p:nvSpPr>
            <p:cNvPr id="70" name="타원 69"/>
            <p:cNvSpPr/>
            <p:nvPr/>
          </p:nvSpPr>
          <p:spPr>
            <a:xfrm>
              <a:off x="1717359" y="2798966"/>
              <a:ext cx="216000" cy="216000"/>
            </a:xfrm>
            <a:prstGeom prst="ellipse">
              <a:avLst/>
            </a:prstGeom>
            <a:noFill/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endParaRPr lang="ko-KR" altLang="en-US" sz="8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1685776" y="3095632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동의</a:t>
              </a:r>
            </a:p>
          </p:txBody>
        </p:sp>
        <p:sp>
          <p:nvSpPr>
            <p:cNvPr id="72" name="타원 71"/>
            <p:cNvSpPr/>
            <p:nvPr/>
          </p:nvSpPr>
          <p:spPr>
            <a:xfrm>
              <a:off x="1717359" y="3159006"/>
              <a:ext cx="216000" cy="216000"/>
            </a:xfrm>
            <a:prstGeom prst="ellipse">
              <a:avLst/>
            </a:prstGeom>
            <a:noFill/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endParaRPr lang="ko-KR" altLang="en-US" sz="8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5" name="눈물 방울 94"/>
          <p:cNvSpPr/>
          <p:nvPr/>
        </p:nvSpPr>
        <p:spPr>
          <a:xfrm rot="5400000">
            <a:off x="212878" y="8449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1072208" y="1125809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 smtClean="0">
                <a:latin typeface="+mn-ea"/>
                <a:ea typeface="+mn-ea"/>
              </a:rPr>
              <a:t>고객 </a:t>
            </a:r>
            <a:r>
              <a:rPr lang="ko-KR" altLang="en-US" sz="2000" b="1" dirty="0">
                <a:latin typeface="+mn-ea"/>
                <a:ea typeface="+mn-ea"/>
              </a:rPr>
              <a:t>영역</a:t>
            </a:r>
          </a:p>
        </p:txBody>
      </p:sp>
      <p:sp>
        <p:nvSpPr>
          <p:cNvPr id="198" name="눈물 방울 197"/>
          <p:cNvSpPr/>
          <p:nvPr/>
        </p:nvSpPr>
        <p:spPr>
          <a:xfrm rot="5400000">
            <a:off x="967461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9641240" y="627452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2" name="눈물 방울 41"/>
          <p:cNvSpPr/>
          <p:nvPr/>
        </p:nvSpPr>
        <p:spPr>
          <a:xfrm rot="5400000">
            <a:off x="9390553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8633128" y="6284268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초기화</a:t>
            </a:r>
          </a:p>
        </p:txBody>
      </p:sp>
      <p:sp>
        <p:nvSpPr>
          <p:cNvPr id="44" name="직사각형 43"/>
          <p:cNvSpPr/>
          <p:nvPr/>
        </p:nvSpPr>
        <p:spPr>
          <a:xfrm>
            <a:off x="7336904" y="6292862"/>
            <a:ext cx="1008112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예상 납부금액</a:t>
            </a:r>
          </a:p>
        </p:txBody>
      </p:sp>
      <p:sp>
        <p:nvSpPr>
          <p:cNvPr id="45" name="눈물 방울 44"/>
          <p:cNvSpPr/>
          <p:nvPr/>
        </p:nvSpPr>
        <p:spPr>
          <a:xfrm rot="5400000">
            <a:off x="8421790" y="631758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6" name="눈물 방울 45"/>
          <p:cNvSpPr/>
          <p:nvPr/>
        </p:nvSpPr>
        <p:spPr>
          <a:xfrm rot="5400000">
            <a:off x="7053638" y="631758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102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962696" y="981522"/>
            <a:ext cx="9468000" cy="6048672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1259380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설명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다음장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참조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내국인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30" name="그룹 29"/>
          <p:cNvGrpSpPr/>
          <p:nvPr/>
        </p:nvGrpSpPr>
        <p:grpSpPr>
          <a:xfrm>
            <a:off x="1072208" y="2320945"/>
            <a:ext cx="9252000" cy="246221"/>
            <a:chOff x="1072208" y="1117425"/>
            <a:chExt cx="9252000" cy="246221"/>
          </a:xfrm>
        </p:grpSpPr>
        <p:sp>
          <p:nvSpPr>
            <p:cNvPr id="31" name="TextBox 30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</a:p>
          </p:txBody>
        </p:sp>
        <p:cxnSp>
          <p:nvCxnSpPr>
            <p:cNvPr id="32" name="직선 연결선 31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6" name="눈물 방울 75"/>
          <p:cNvSpPr/>
          <p:nvPr/>
        </p:nvSpPr>
        <p:spPr>
          <a:xfrm rot="5400000">
            <a:off x="967461" y="227290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06" name="그룹 105"/>
          <p:cNvGrpSpPr/>
          <p:nvPr/>
        </p:nvGrpSpPr>
        <p:grpSpPr>
          <a:xfrm>
            <a:off x="1053932" y="2675206"/>
            <a:ext cx="7867068" cy="252000"/>
            <a:chOff x="640160" y="-566622"/>
            <a:chExt cx="7867068" cy="252000"/>
          </a:xfrm>
        </p:grpSpPr>
        <p:sp>
          <p:nvSpPr>
            <p:cNvPr id="107" name="직사각형 106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108" name="직사각형 107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9" name="직사각형 108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2" name="직사각형 91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778722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</a:p>
          </p:txBody>
        </p:sp>
      </p:grpSp>
      <p:grpSp>
        <p:nvGrpSpPr>
          <p:cNvPr id="163" name="그룹 162"/>
          <p:cNvGrpSpPr/>
          <p:nvPr/>
        </p:nvGrpSpPr>
        <p:grpSpPr>
          <a:xfrm>
            <a:off x="1072208" y="3141762"/>
            <a:ext cx="9252000" cy="246221"/>
            <a:chOff x="1072208" y="1117425"/>
            <a:chExt cx="9252000" cy="246221"/>
          </a:xfrm>
        </p:grpSpPr>
        <p:sp>
          <p:nvSpPr>
            <p:cNvPr id="164" name="TextBox 163"/>
            <p:cNvSpPr txBox="1"/>
            <p:nvPr/>
          </p:nvSpPr>
          <p:spPr>
            <a:xfrm>
              <a:off x="1072208" y="1117425"/>
              <a:ext cx="8707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신분증 확인</a:t>
              </a:r>
            </a:p>
          </p:txBody>
        </p:sp>
        <p:cxnSp>
          <p:nvCxnSpPr>
            <p:cNvPr id="165" name="직선 연결선 164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" name="그룹 169"/>
          <p:cNvGrpSpPr/>
          <p:nvPr/>
        </p:nvGrpSpPr>
        <p:grpSpPr>
          <a:xfrm>
            <a:off x="1054956" y="3501802"/>
            <a:ext cx="5345844" cy="252000"/>
            <a:chOff x="640160" y="-566622"/>
            <a:chExt cx="5345844" cy="252000"/>
          </a:xfrm>
        </p:grpSpPr>
        <p:sp>
          <p:nvSpPr>
            <p:cNvPr id="171" name="직사각형 170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4" name="TextBox 173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8" name="직사각형 187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100" name="직사각형 99"/>
            <p:cNvSpPr/>
            <p:nvPr/>
          </p:nvSpPr>
          <p:spPr>
            <a:xfrm>
              <a:off x="4401708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5247852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 예외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33" name="눈물 방울 232"/>
          <p:cNvSpPr/>
          <p:nvPr/>
        </p:nvSpPr>
        <p:spPr>
          <a:xfrm rot="5400000">
            <a:off x="932958" y="314922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4" name="눈물 방울 123"/>
          <p:cNvSpPr/>
          <p:nvPr/>
        </p:nvSpPr>
        <p:spPr>
          <a:xfrm rot="5400000">
            <a:off x="7440956" y="35092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472808" y="3501802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조회</a:t>
            </a:r>
            <a:r>
              <a:rPr lang="en-US" altLang="ko-KR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pSp>
        <p:nvGrpSpPr>
          <p:cNvPr id="94" name="그룹 93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96" name="TextBox 95"/>
            <p:cNvSpPr txBox="1"/>
            <p:nvPr/>
          </p:nvSpPr>
          <p:spPr>
            <a:xfrm>
              <a:off x="1072208" y="1117425"/>
              <a:ext cx="9989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가입유형 선택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97" name="직선 연결선 96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그룹 97"/>
          <p:cNvGrpSpPr/>
          <p:nvPr/>
        </p:nvGrpSpPr>
        <p:grpSpPr>
          <a:xfrm>
            <a:off x="1072208" y="1521610"/>
            <a:ext cx="3007164" cy="252000"/>
            <a:chOff x="1072208" y="-566622"/>
            <a:chExt cx="3007164" cy="252000"/>
          </a:xfrm>
        </p:grpSpPr>
        <p:sp>
          <p:nvSpPr>
            <p:cNvPr id="99" name="직사각형 98"/>
            <p:cNvSpPr/>
            <p:nvPr/>
          </p:nvSpPr>
          <p:spPr>
            <a:xfrm>
              <a:off x="254483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</a:p>
          </p:txBody>
        </p:sp>
        <p:sp>
          <p:nvSpPr>
            <p:cNvPr id="102" name="직사각형 101"/>
            <p:cNvSpPr/>
            <p:nvPr/>
          </p:nvSpPr>
          <p:spPr>
            <a:xfrm>
              <a:off x="3359372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1072208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상품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05" name="그룹 104"/>
          <p:cNvGrpSpPr/>
          <p:nvPr/>
        </p:nvGrpSpPr>
        <p:grpSpPr>
          <a:xfrm>
            <a:off x="1072208" y="1917654"/>
            <a:ext cx="3825050" cy="252000"/>
            <a:chOff x="1072208" y="-566622"/>
            <a:chExt cx="3825050" cy="252000"/>
          </a:xfrm>
        </p:grpSpPr>
        <p:sp>
          <p:nvSpPr>
            <p:cNvPr id="110" name="직사각형 109"/>
            <p:cNvSpPr/>
            <p:nvPr/>
          </p:nvSpPr>
          <p:spPr>
            <a:xfrm>
              <a:off x="2548176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번호이동</a:t>
              </a:r>
            </a:p>
          </p:txBody>
        </p:sp>
        <p:sp>
          <p:nvSpPr>
            <p:cNvPr id="111" name="직사각형 110"/>
            <p:cNvSpPr/>
            <p:nvPr/>
          </p:nvSpPr>
          <p:spPr>
            <a:xfrm>
              <a:off x="3362717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신규가입</a:t>
              </a:r>
            </a:p>
          </p:txBody>
        </p:sp>
        <p:sp>
          <p:nvSpPr>
            <p:cNvPr id="112" name="직사각형 111"/>
            <p:cNvSpPr/>
            <p:nvPr/>
          </p:nvSpPr>
          <p:spPr>
            <a:xfrm>
              <a:off x="417725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기기변경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1072208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가입유형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14" name="눈물 방울 113"/>
          <p:cNvSpPr/>
          <p:nvPr/>
        </p:nvSpPr>
        <p:spPr>
          <a:xfrm rot="5400000">
            <a:off x="967461" y="106818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1" name="눈물 방울 90"/>
          <p:cNvSpPr/>
          <p:nvPr/>
        </p:nvSpPr>
        <p:spPr>
          <a:xfrm rot="5400000">
            <a:off x="6072804" y="386930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4" name="직사각형 103"/>
          <p:cNvSpPr/>
          <p:nvPr/>
        </p:nvSpPr>
        <p:spPr>
          <a:xfrm>
            <a:off x="5104656" y="3861842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15" name="그룹 114"/>
          <p:cNvGrpSpPr/>
          <p:nvPr/>
        </p:nvGrpSpPr>
        <p:grpSpPr>
          <a:xfrm>
            <a:off x="1072208" y="3861842"/>
            <a:ext cx="3928878" cy="252000"/>
            <a:chOff x="-36790" y="4763928"/>
            <a:chExt cx="3928878" cy="252000"/>
          </a:xfrm>
        </p:grpSpPr>
        <p:sp>
          <p:nvSpPr>
            <p:cNvPr id="117" name="TextBox 116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22" name="그룹 121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46" name="직사각형 145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47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77" name="직사각형 76"/>
          <p:cNvSpPr/>
          <p:nvPr/>
        </p:nvSpPr>
        <p:spPr>
          <a:xfrm>
            <a:off x="12881520" y="1854489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(2026.03.10)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신분증 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인증 후에 정보가 조회되는 항목은 디폴트 </a:t>
            </a:r>
            <a:r>
              <a:rPr lang="ko-KR" altLang="en-US" sz="1000" b="1" dirty="0" err="1">
                <a:solidFill>
                  <a:srgbClr val="FF0000"/>
                </a:solidFill>
                <a:latin typeface="+mn-ea"/>
                <a:ea typeface="+mn-ea"/>
              </a:rPr>
              <a:t>세팅해주므로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 신분증 스캔은 필요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없음</a:t>
            </a:r>
            <a:endParaRPr lang="ko-KR" altLang="en-US" sz="10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스캔 기능 삭제 여부는 </a:t>
            </a:r>
            <a:r>
              <a:rPr lang="ko-KR" altLang="en-US" sz="1000" b="1" dirty="0" err="1">
                <a:solidFill>
                  <a:srgbClr val="FF0000"/>
                </a:solidFill>
                <a:latin typeface="+mn-ea"/>
                <a:ea typeface="+mn-ea"/>
              </a:rPr>
              <a:t>유통영업팀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 확인 후 피드백 예정</a:t>
            </a:r>
            <a:endParaRPr lang="ko-KR" altLang="en-US" sz="1000" b="1" dirty="0" smtClean="0">
              <a:solidFill>
                <a:srgbClr val="FF0000"/>
              </a:solidFill>
              <a:latin typeface="+mn-ea"/>
              <a:ea typeface="+mn-ea"/>
            </a:endParaRPr>
          </a:p>
        </p:txBody>
      </p:sp>
      <p:graphicFrame>
        <p:nvGraphicFramePr>
          <p:cNvPr id="55" name="표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564503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 예외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항목 추가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개인사업자 사업자 등록번호 항목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grpSp>
        <p:nvGrpSpPr>
          <p:cNvPr id="57" name="그룹 56"/>
          <p:cNvGrpSpPr/>
          <p:nvPr/>
        </p:nvGrpSpPr>
        <p:grpSpPr>
          <a:xfrm>
            <a:off x="1072208" y="4666024"/>
            <a:ext cx="6264696" cy="252000"/>
            <a:chOff x="640160" y="-566622"/>
            <a:chExt cx="6264696" cy="252000"/>
          </a:xfrm>
        </p:grpSpPr>
        <p:sp>
          <p:nvSpPr>
            <p:cNvPr id="58" name="TextBox 57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2112151" y="-566622"/>
              <a:ext cx="479270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</a:t>
              </a:r>
              <a:r>
                <a:rPr lang="ko-KR" altLang="en-US" sz="90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60" name="그룹 59"/>
          <p:cNvGrpSpPr/>
          <p:nvPr/>
        </p:nvGrpSpPr>
        <p:grpSpPr>
          <a:xfrm>
            <a:off x="1072208" y="5026064"/>
            <a:ext cx="4006570" cy="252000"/>
            <a:chOff x="640160" y="-566622"/>
            <a:chExt cx="4006570" cy="252000"/>
          </a:xfrm>
        </p:grpSpPr>
        <p:sp>
          <p:nvSpPr>
            <p:cNvPr id="61" name="TextBox 60"/>
            <p:cNvSpPr txBox="1"/>
            <p:nvPr/>
          </p:nvSpPr>
          <p:spPr>
            <a:xfrm>
              <a:off x="640160" y="-556038"/>
              <a:ext cx="9300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주민등록번호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3" name="직사각형 62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65" name="그룹 64"/>
          <p:cNvGrpSpPr/>
          <p:nvPr/>
        </p:nvGrpSpPr>
        <p:grpSpPr>
          <a:xfrm>
            <a:off x="1072208" y="4269952"/>
            <a:ext cx="9252000" cy="246221"/>
            <a:chOff x="1072208" y="1117425"/>
            <a:chExt cx="9252000" cy="246221"/>
          </a:xfrm>
        </p:grpSpPr>
        <p:sp>
          <p:nvSpPr>
            <p:cNvPr id="66" name="TextBox 65"/>
            <p:cNvSpPr txBox="1"/>
            <p:nvPr/>
          </p:nvSpPr>
          <p:spPr>
            <a:xfrm>
              <a:off x="1072208" y="1117425"/>
              <a:ext cx="8707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가입자 정보</a:t>
              </a:r>
            </a:p>
          </p:txBody>
        </p:sp>
        <p:cxnSp>
          <p:nvCxnSpPr>
            <p:cNvPr id="67" name="직선 연결선 66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눈물 방울 67"/>
          <p:cNvSpPr/>
          <p:nvPr/>
        </p:nvSpPr>
        <p:spPr>
          <a:xfrm rot="5400000">
            <a:off x="932957" y="421711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69" name="그룹 68"/>
          <p:cNvGrpSpPr/>
          <p:nvPr/>
        </p:nvGrpSpPr>
        <p:grpSpPr>
          <a:xfrm>
            <a:off x="1059141" y="5769770"/>
            <a:ext cx="5405041" cy="252000"/>
            <a:chOff x="424136" y="-566622"/>
            <a:chExt cx="5405041" cy="252000"/>
          </a:xfrm>
        </p:grpSpPr>
        <p:sp>
          <p:nvSpPr>
            <p:cNvPr id="70" name="TextBox 69"/>
            <p:cNvSpPr txBox="1"/>
            <p:nvPr/>
          </p:nvSpPr>
          <p:spPr>
            <a:xfrm>
              <a:off x="424136" y="-556038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기기변경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78" name="오른쪽 중괄호 77"/>
          <p:cNvSpPr/>
          <p:nvPr/>
        </p:nvSpPr>
        <p:spPr>
          <a:xfrm>
            <a:off x="7696904" y="5662042"/>
            <a:ext cx="313910" cy="503881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/>
          <p:cNvSpPr/>
          <p:nvPr/>
        </p:nvSpPr>
        <p:spPr>
          <a:xfrm>
            <a:off x="8027715" y="5811581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기기변경 인 경우만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80" name="눈물 방울 79"/>
          <p:cNvSpPr/>
          <p:nvPr/>
        </p:nvSpPr>
        <p:spPr>
          <a:xfrm rot="5400000">
            <a:off x="7344371" y="578094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6542922" y="5771728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grpSp>
        <p:nvGrpSpPr>
          <p:cNvPr id="82" name="그룹 81"/>
          <p:cNvGrpSpPr/>
          <p:nvPr/>
        </p:nvGrpSpPr>
        <p:grpSpPr>
          <a:xfrm>
            <a:off x="1072148" y="5410217"/>
            <a:ext cx="5400600" cy="252000"/>
            <a:chOff x="640160" y="-566622"/>
            <a:chExt cx="5400600" cy="252000"/>
          </a:xfrm>
        </p:grpSpPr>
        <p:sp>
          <p:nvSpPr>
            <p:cNvPr id="83" name="TextBox 82"/>
            <p:cNvSpPr txBox="1"/>
            <p:nvPr/>
          </p:nvSpPr>
          <p:spPr>
            <a:xfrm>
              <a:off x="640160" y="-556038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사업자등록번호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5" name="직사각형 84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7" name="직사각형 86"/>
            <p:cNvSpPr/>
            <p:nvPr/>
          </p:nvSpPr>
          <p:spPr>
            <a:xfrm>
              <a:off x="487137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5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465954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89" name="직사각형 88"/>
          <p:cNvSpPr/>
          <p:nvPr/>
        </p:nvSpPr>
        <p:spPr>
          <a:xfrm>
            <a:off x="6544816" y="5415821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※ </a:t>
            </a:r>
            <a:r>
              <a:rPr lang="ko-KR" altLang="en-US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개인사업자인 경우만 입력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grpSp>
        <p:nvGrpSpPr>
          <p:cNvPr id="90" name="그룹 89"/>
          <p:cNvGrpSpPr/>
          <p:nvPr/>
        </p:nvGrpSpPr>
        <p:grpSpPr>
          <a:xfrm>
            <a:off x="1072208" y="6310114"/>
            <a:ext cx="9252000" cy="246221"/>
            <a:chOff x="1072208" y="1117425"/>
            <a:chExt cx="9252000" cy="246221"/>
          </a:xfrm>
        </p:grpSpPr>
        <p:sp>
          <p:nvSpPr>
            <p:cNvPr id="119" name="TextBox 118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구비서류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20" name="직선 연결선 11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1" name="눈물 방울 120"/>
          <p:cNvSpPr/>
          <p:nvPr/>
        </p:nvSpPr>
        <p:spPr>
          <a:xfrm rot="5400000">
            <a:off x="932958" y="631758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8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1054956" y="6655346"/>
            <a:ext cx="69923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구비서류</a:t>
            </a:r>
            <a:r>
              <a:rPr lang="en-US" altLang="ko-KR" sz="900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7" name="눈물 방울 126"/>
          <p:cNvSpPr/>
          <p:nvPr/>
        </p:nvSpPr>
        <p:spPr>
          <a:xfrm rot="5400000">
            <a:off x="3527947" y="663999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2559799" y="663253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9" name="오른쪽 중괄호 128"/>
          <p:cNvSpPr/>
          <p:nvPr/>
        </p:nvSpPr>
        <p:spPr>
          <a:xfrm>
            <a:off x="7696944" y="6382122"/>
            <a:ext cx="313910" cy="503881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직사각형 129"/>
          <p:cNvSpPr/>
          <p:nvPr/>
        </p:nvSpPr>
        <p:spPr>
          <a:xfrm>
            <a:off x="8027755" y="6531661"/>
            <a:ext cx="204549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내국인인 경우 사업자등록번호가 입력된 경우만 영역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850263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내국인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4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8893594"/>
              </p:ext>
            </p:extLst>
          </p:nvPr>
        </p:nvGraphicFramePr>
        <p:xfrm>
          <a:off x="352128" y="765498"/>
          <a:ext cx="4968552" cy="567468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70952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가입유형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번호이동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고객유형 선택에 따라 입력 항목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방문고객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내국인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(Foreigner) :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미노출하고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‘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본인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으로 고정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(19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 미만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(Foreigner)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미노출하고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‘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대리인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으로 고정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공공기관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선택하도록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디폴트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본인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대표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예외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SKIP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스캔하기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유형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유형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정보를 디폴트로 화면에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인증 정보를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차로 먼저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세팅하고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신분증 인증 정보가 없는 경우 신분증 스캔 정보를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 아닌 경우는 고객명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외국인등록번호 생년월일 스캔 연동 값으로 화면에 고정 노출 처리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미성년자인 경우는 법정 대리인 정보에 고객명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외국인등록번호 생년월일 스캔 연동 값으로 화면에 고정 노출 처리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확인한 결과에 따라 가입자 정보 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전용스캐너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k-note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연동시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외국인등록번호 스캔 연동 값으로 화면에 고정 노출 처리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모바일신분증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안면인증 등으로 인증한 경우 고객정보 값을 조회해서 디폴트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연동 확정 후 확인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연동 결과값 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 아닌 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가입자정보에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대폴트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세팅하고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고정 노출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미성년자인 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법정 대리인 정보에 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세팅하고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고정 노출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법인인 경우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대표자 정보 디폴트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세팅하고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고정 노출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내국인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외국인인 경우 사업자등록번호가 입력된 경우는 고객유형을 개인사업자로 개통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가입유형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=‘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기기변경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 경우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기기변경 휴대폰 번호 입력 항목 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구비 서류 등록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내국인인 경우 사업자등록번호가 입력된 경우만 구비서류 등록 영역 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573241"/>
              </p:ext>
            </p:extLst>
          </p:nvPr>
        </p:nvGraphicFramePr>
        <p:xfrm>
          <a:off x="5752728" y="765498"/>
          <a:ext cx="4968552" cy="4192315"/>
        </p:xfrm>
        <a:graphic>
          <a:graphicData uri="http://schemas.openxmlformats.org/drawingml/2006/table">
            <a:tbl>
              <a:tblPr/>
              <a:tblGrid>
                <a:gridCol w="259032"/>
                <a:gridCol w="4709520"/>
              </a:tblGrid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신분증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조회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ko-KR" altLang="en-US" sz="800" b="0" kern="120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b="0" kern="1200" dirty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신분증 이미지 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구비서류로 제출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신청서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처리시 신청서 이미지와 병합 처리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신분증 인증 정보 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신청서 데이터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전송시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매핑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정보로 전송 처리</a:t>
                      </a:r>
                      <a:endParaRPr lang="en-US" altLang="ko-KR" sz="800" b="0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=&gt;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전송 방식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확인중</a:t>
                      </a:r>
                      <a:endParaRPr lang="en-US" altLang="ko-KR" sz="800" b="0" kern="1200" dirty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유효성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인증이 완료된 이후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호출하여 기존 가입정보 조회하여 화면에 가입정보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 정보 등의 정보를 디폴트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계약정보 유효성체크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(Y04)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가입정보조회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(X01)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가입중인 부가서비스 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(X97)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납부방법조회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NEW(Y08)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스캔 팝업 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 후 해당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Text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는 화면에 자동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B6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구비서류 등록 팝업 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7955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6264118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>
                <a:latin typeface="+mn-ea"/>
                <a:ea typeface="+mn-ea"/>
              </a:rPr>
              <a:t>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962696" y="981522"/>
            <a:ext cx="9468000" cy="547260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50" name="직사각형 149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pSp>
        <p:nvGrpSpPr>
          <p:cNvPr id="77" name="그룹 76"/>
          <p:cNvGrpSpPr/>
          <p:nvPr/>
        </p:nvGrpSpPr>
        <p:grpSpPr>
          <a:xfrm>
            <a:off x="1053932" y="2817754"/>
            <a:ext cx="7867148" cy="252000"/>
            <a:chOff x="640160" y="-566622"/>
            <a:chExt cx="7867148" cy="252000"/>
          </a:xfrm>
        </p:grpSpPr>
        <p:sp>
          <p:nvSpPr>
            <p:cNvPr id="80" name="직사각형 79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81" name="직사각형 80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2" name="직사각형 81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85" name="직사각형 84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778730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</a:p>
          </p:txBody>
        </p:sp>
      </p:grpSp>
      <p:grpSp>
        <p:nvGrpSpPr>
          <p:cNvPr id="86" name="그룹 85"/>
          <p:cNvGrpSpPr/>
          <p:nvPr/>
        </p:nvGrpSpPr>
        <p:grpSpPr>
          <a:xfrm>
            <a:off x="1072208" y="2463493"/>
            <a:ext cx="9252000" cy="246221"/>
            <a:chOff x="1072208" y="1117425"/>
            <a:chExt cx="9252000" cy="246221"/>
          </a:xfrm>
        </p:grpSpPr>
        <p:sp>
          <p:nvSpPr>
            <p:cNvPr id="87" name="TextBox 86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</a:p>
          </p:txBody>
        </p:sp>
        <p:cxnSp>
          <p:nvCxnSpPr>
            <p:cNvPr id="91" name="직선 연결선 9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눈물 방울 91"/>
          <p:cNvSpPr/>
          <p:nvPr/>
        </p:nvSpPr>
        <p:spPr>
          <a:xfrm rot="5400000">
            <a:off x="967461" y="241544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15" name="그룹 114"/>
          <p:cNvGrpSpPr/>
          <p:nvPr/>
        </p:nvGrpSpPr>
        <p:grpSpPr>
          <a:xfrm>
            <a:off x="1072208" y="3393754"/>
            <a:ext cx="9252000" cy="246221"/>
            <a:chOff x="1072208" y="1117425"/>
            <a:chExt cx="9252000" cy="246221"/>
          </a:xfrm>
        </p:grpSpPr>
        <p:sp>
          <p:nvSpPr>
            <p:cNvPr id="116" name="TextBox 115"/>
            <p:cNvSpPr txBox="1"/>
            <p:nvPr/>
          </p:nvSpPr>
          <p:spPr>
            <a:xfrm>
              <a:off x="1072208" y="1117425"/>
              <a:ext cx="164981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신분증 확인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법정대리인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17" name="직선 연결선 116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6" name="눈물 방울 125"/>
          <p:cNvSpPr/>
          <p:nvPr/>
        </p:nvSpPr>
        <p:spPr>
          <a:xfrm rot="5400000">
            <a:off x="932958" y="340122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30" name="그룹 129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139" name="TextBox 138"/>
            <p:cNvSpPr txBox="1"/>
            <p:nvPr/>
          </p:nvSpPr>
          <p:spPr>
            <a:xfrm>
              <a:off x="1072208" y="1117425"/>
              <a:ext cx="9989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가입유형 선택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40" name="직선 연결선 13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1" name="그룹 140"/>
          <p:cNvGrpSpPr/>
          <p:nvPr/>
        </p:nvGrpSpPr>
        <p:grpSpPr>
          <a:xfrm>
            <a:off x="1072208" y="1521610"/>
            <a:ext cx="3007164" cy="252000"/>
            <a:chOff x="1072208" y="-566622"/>
            <a:chExt cx="3007164" cy="252000"/>
          </a:xfrm>
        </p:grpSpPr>
        <p:sp>
          <p:nvSpPr>
            <p:cNvPr id="142" name="직사각형 141"/>
            <p:cNvSpPr/>
            <p:nvPr/>
          </p:nvSpPr>
          <p:spPr>
            <a:xfrm>
              <a:off x="254483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</a:p>
          </p:txBody>
        </p:sp>
        <p:sp>
          <p:nvSpPr>
            <p:cNvPr id="144" name="직사각형 143"/>
            <p:cNvSpPr/>
            <p:nvPr/>
          </p:nvSpPr>
          <p:spPr>
            <a:xfrm>
              <a:off x="3359372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5" name="TextBox 144"/>
            <p:cNvSpPr txBox="1"/>
            <p:nvPr/>
          </p:nvSpPr>
          <p:spPr>
            <a:xfrm>
              <a:off x="1072208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상품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46" name="그룹 145"/>
          <p:cNvGrpSpPr/>
          <p:nvPr/>
        </p:nvGrpSpPr>
        <p:grpSpPr>
          <a:xfrm>
            <a:off x="1072208" y="1917654"/>
            <a:ext cx="3825050" cy="252000"/>
            <a:chOff x="1072208" y="-566622"/>
            <a:chExt cx="3825050" cy="252000"/>
          </a:xfrm>
        </p:grpSpPr>
        <p:sp>
          <p:nvSpPr>
            <p:cNvPr id="147" name="직사각형 146"/>
            <p:cNvSpPr/>
            <p:nvPr/>
          </p:nvSpPr>
          <p:spPr>
            <a:xfrm>
              <a:off x="2548176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번호이동</a:t>
              </a:r>
            </a:p>
          </p:txBody>
        </p:sp>
        <p:sp>
          <p:nvSpPr>
            <p:cNvPr id="148" name="직사각형 147"/>
            <p:cNvSpPr/>
            <p:nvPr/>
          </p:nvSpPr>
          <p:spPr>
            <a:xfrm>
              <a:off x="3362717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신규가입</a:t>
              </a:r>
            </a:p>
          </p:txBody>
        </p:sp>
        <p:sp>
          <p:nvSpPr>
            <p:cNvPr id="149" name="직사각형 148"/>
            <p:cNvSpPr/>
            <p:nvPr/>
          </p:nvSpPr>
          <p:spPr>
            <a:xfrm>
              <a:off x="417725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기기변경</a:t>
              </a:r>
            </a:p>
          </p:txBody>
        </p:sp>
        <p:sp>
          <p:nvSpPr>
            <p:cNvPr id="151" name="TextBox 150"/>
            <p:cNvSpPr txBox="1"/>
            <p:nvPr/>
          </p:nvSpPr>
          <p:spPr>
            <a:xfrm>
              <a:off x="1072208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가입유형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52" name="눈물 방울 151"/>
          <p:cNvSpPr/>
          <p:nvPr/>
        </p:nvSpPr>
        <p:spPr>
          <a:xfrm rot="5400000">
            <a:off x="967461" y="106818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54" name="그룹 153"/>
          <p:cNvGrpSpPr/>
          <p:nvPr/>
        </p:nvGrpSpPr>
        <p:grpSpPr>
          <a:xfrm>
            <a:off x="1072208" y="5157905"/>
            <a:ext cx="6264696" cy="252000"/>
            <a:chOff x="640160" y="-566622"/>
            <a:chExt cx="6264696" cy="252000"/>
          </a:xfrm>
        </p:grpSpPr>
        <p:sp>
          <p:nvSpPr>
            <p:cNvPr id="155" name="TextBox 154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6" name="직사각형 155"/>
            <p:cNvSpPr/>
            <p:nvPr/>
          </p:nvSpPr>
          <p:spPr>
            <a:xfrm>
              <a:off x="2112151" y="-566622"/>
              <a:ext cx="479270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</a:t>
              </a:r>
              <a:r>
                <a:rPr lang="ko-KR" altLang="en-US" sz="90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57" name="그룹 156"/>
          <p:cNvGrpSpPr/>
          <p:nvPr/>
        </p:nvGrpSpPr>
        <p:grpSpPr>
          <a:xfrm>
            <a:off x="1072208" y="5517945"/>
            <a:ext cx="4006570" cy="252000"/>
            <a:chOff x="640160" y="-566622"/>
            <a:chExt cx="4006570" cy="252000"/>
          </a:xfrm>
        </p:grpSpPr>
        <p:sp>
          <p:nvSpPr>
            <p:cNvPr id="158" name="TextBox 157"/>
            <p:cNvSpPr txBox="1"/>
            <p:nvPr/>
          </p:nvSpPr>
          <p:spPr>
            <a:xfrm>
              <a:off x="640160" y="-556038"/>
              <a:ext cx="9300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주민등록번호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2" name="직사각형 171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3" name="직사각형 172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4" name="TextBox 173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75" name="그룹 174"/>
          <p:cNvGrpSpPr/>
          <p:nvPr/>
        </p:nvGrpSpPr>
        <p:grpSpPr>
          <a:xfrm>
            <a:off x="1072208" y="4761833"/>
            <a:ext cx="9252000" cy="246221"/>
            <a:chOff x="1072208" y="1117425"/>
            <a:chExt cx="9252000" cy="246221"/>
          </a:xfrm>
        </p:grpSpPr>
        <p:sp>
          <p:nvSpPr>
            <p:cNvPr id="176" name="TextBox 175"/>
            <p:cNvSpPr txBox="1"/>
            <p:nvPr/>
          </p:nvSpPr>
          <p:spPr>
            <a:xfrm>
              <a:off x="1072208" y="1117425"/>
              <a:ext cx="14766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가입자 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정보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77" name="직선 연결선 176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8" name="눈물 방울 177"/>
          <p:cNvSpPr/>
          <p:nvPr/>
        </p:nvSpPr>
        <p:spPr>
          <a:xfrm rot="5400000">
            <a:off x="932957" y="4708998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79" name="그룹 178"/>
          <p:cNvGrpSpPr/>
          <p:nvPr/>
        </p:nvGrpSpPr>
        <p:grpSpPr>
          <a:xfrm>
            <a:off x="1059141" y="5913961"/>
            <a:ext cx="5405041" cy="252000"/>
            <a:chOff x="424136" y="-566622"/>
            <a:chExt cx="5405041" cy="252000"/>
          </a:xfrm>
        </p:grpSpPr>
        <p:sp>
          <p:nvSpPr>
            <p:cNvPr id="180" name="TextBox 179"/>
            <p:cNvSpPr txBox="1"/>
            <p:nvPr/>
          </p:nvSpPr>
          <p:spPr>
            <a:xfrm>
              <a:off x="424136" y="-556038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기기변경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1" name="직사각형 180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3" name="TextBox 182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4" name="직사각형 183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5" name="TextBox 184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86" name="오른쪽 중괄호 185"/>
          <p:cNvSpPr/>
          <p:nvPr/>
        </p:nvSpPr>
        <p:spPr>
          <a:xfrm>
            <a:off x="7696904" y="5806233"/>
            <a:ext cx="313910" cy="503881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직사각형 186"/>
          <p:cNvSpPr/>
          <p:nvPr/>
        </p:nvSpPr>
        <p:spPr>
          <a:xfrm>
            <a:off x="8027715" y="5955772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기기변경 인 경우만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88" name="눈물 방울 187"/>
          <p:cNvSpPr/>
          <p:nvPr/>
        </p:nvSpPr>
        <p:spPr>
          <a:xfrm rot="5400000">
            <a:off x="7344371" y="592513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89" name="직사각형 188"/>
          <p:cNvSpPr/>
          <p:nvPr/>
        </p:nvSpPr>
        <p:spPr>
          <a:xfrm>
            <a:off x="6542922" y="5915919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sp>
        <p:nvSpPr>
          <p:cNvPr id="76" name="눈물 방울 75"/>
          <p:cNvSpPr/>
          <p:nvPr/>
        </p:nvSpPr>
        <p:spPr>
          <a:xfrm rot="5400000">
            <a:off x="6072804" y="415734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5104656" y="4149874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79" name="그룹 78"/>
          <p:cNvGrpSpPr/>
          <p:nvPr/>
        </p:nvGrpSpPr>
        <p:grpSpPr>
          <a:xfrm>
            <a:off x="1072208" y="4149874"/>
            <a:ext cx="3928878" cy="252000"/>
            <a:chOff x="-36790" y="4763928"/>
            <a:chExt cx="3928878" cy="252000"/>
          </a:xfrm>
        </p:grpSpPr>
        <p:sp>
          <p:nvSpPr>
            <p:cNvPr id="88" name="TextBox 87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89" name="그룹 88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93" name="직사각형 92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94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aphicFrame>
        <p:nvGraphicFramePr>
          <p:cNvPr id="95" name="표 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2272786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 예외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grpSp>
        <p:nvGrpSpPr>
          <p:cNvPr id="96" name="그룹 95"/>
          <p:cNvGrpSpPr/>
          <p:nvPr/>
        </p:nvGrpSpPr>
        <p:grpSpPr>
          <a:xfrm>
            <a:off x="1054956" y="3753858"/>
            <a:ext cx="5345844" cy="252000"/>
            <a:chOff x="640160" y="-566622"/>
            <a:chExt cx="5345844" cy="252000"/>
          </a:xfrm>
        </p:grpSpPr>
        <p:sp>
          <p:nvSpPr>
            <p:cNvPr id="97" name="직사각형 96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9" name="직사각형 98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100" name="직사각형 99"/>
            <p:cNvSpPr/>
            <p:nvPr/>
          </p:nvSpPr>
          <p:spPr>
            <a:xfrm>
              <a:off x="4401708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5247852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 예외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02" name="눈물 방울 101"/>
          <p:cNvSpPr/>
          <p:nvPr/>
        </p:nvSpPr>
        <p:spPr>
          <a:xfrm rot="5400000">
            <a:off x="7440956" y="376132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3" name="직사각형 102"/>
          <p:cNvSpPr/>
          <p:nvPr/>
        </p:nvSpPr>
        <p:spPr>
          <a:xfrm>
            <a:off x="6472808" y="3753858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조회</a:t>
            </a:r>
            <a:r>
              <a:rPr lang="en-US" altLang="ko-KR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4711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4824204"/>
              </p:ext>
            </p:extLst>
          </p:nvPr>
        </p:nvGraphicFramePr>
        <p:xfrm>
          <a:off x="10505256" y="788950"/>
          <a:ext cx="2130330" cy="4408421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 법정대리인 정보 입력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그 외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디폴트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없음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법정대리인 안내사항 확인 및 동의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사항 화면에 출력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구비 서류 등록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발송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전산 모듈 이용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B5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안내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 팝업 표시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B6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구비서류 사진 촬영 팝업 표시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6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>
                <a:latin typeface="+mn-ea"/>
                <a:ea typeface="+mn-ea"/>
              </a:rPr>
              <a:t>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60" name="직사각형 259"/>
          <p:cNvSpPr/>
          <p:nvPr/>
        </p:nvSpPr>
        <p:spPr>
          <a:xfrm>
            <a:off x="962696" y="981522"/>
            <a:ext cx="9468000" cy="547260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92" name="그룹 91"/>
          <p:cNvGrpSpPr/>
          <p:nvPr/>
        </p:nvGrpSpPr>
        <p:grpSpPr>
          <a:xfrm>
            <a:off x="1072209" y="1557586"/>
            <a:ext cx="6264695" cy="252000"/>
            <a:chOff x="640160" y="-566622"/>
            <a:chExt cx="6264695" cy="252000"/>
          </a:xfrm>
        </p:grpSpPr>
        <p:sp>
          <p:nvSpPr>
            <p:cNvPr id="93" name="TextBox 92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2112150" y="-566622"/>
              <a:ext cx="479270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95" name="그룹 94"/>
          <p:cNvGrpSpPr/>
          <p:nvPr/>
        </p:nvGrpSpPr>
        <p:grpSpPr>
          <a:xfrm>
            <a:off x="1072209" y="1917626"/>
            <a:ext cx="4006569" cy="252000"/>
            <a:chOff x="640160" y="-566622"/>
            <a:chExt cx="4006569" cy="252000"/>
          </a:xfrm>
        </p:grpSpPr>
        <p:sp>
          <p:nvSpPr>
            <p:cNvPr id="96" name="TextBox 95"/>
            <p:cNvSpPr txBox="1"/>
            <p:nvPr/>
          </p:nvSpPr>
          <p:spPr>
            <a:xfrm>
              <a:off x="640160" y="-556038"/>
              <a:ext cx="9300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주민등록번호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2109196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8" name="직사각형 97"/>
            <p:cNvSpPr/>
            <p:nvPr/>
          </p:nvSpPr>
          <p:spPr>
            <a:xfrm>
              <a:off x="3477348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3265510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00" name="그룹 99"/>
          <p:cNvGrpSpPr/>
          <p:nvPr/>
        </p:nvGrpSpPr>
        <p:grpSpPr>
          <a:xfrm>
            <a:off x="1072209" y="1173608"/>
            <a:ext cx="9252000" cy="246221"/>
            <a:chOff x="1072208" y="1117425"/>
            <a:chExt cx="9252000" cy="246221"/>
          </a:xfrm>
        </p:grpSpPr>
        <p:sp>
          <p:nvSpPr>
            <p:cNvPr id="101" name="TextBox 100"/>
            <p:cNvSpPr txBox="1"/>
            <p:nvPr/>
          </p:nvSpPr>
          <p:spPr>
            <a:xfrm>
              <a:off x="1072208" y="1117425"/>
              <a:ext cx="112723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법정대리인 정보</a:t>
              </a:r>
            </a:p>
          </p:txBody>
        </p:sp>
        <p:cxnSp>
          <p:nvCxnSpPr>
            <p:cNvPr id="102" name="직선 연결선 101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" name="눈물 방울 102"/>
          <p:cNvSpPr/>
          <p:nvPr/>
        </p:nvSpPr>
        <p:spPr>
          <a:xfrm rot="5400000">
            <a:off x="932958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04" name="그룹 103"/>
          <p:cNvGrpSpPr/>
          <p:nvPr/>
        </p:nvGrpSpPr>
        <p:grpSpPr>
          <a:xfrm>
            <a:off x="1072208" y="2265572"/>
            <a:ext cx="3087718" cy="252000"/>
            <a:chOff x="640160" y="-566622"/>
            <a:chExt cx="3087718" cy="252000"/>
          </a:xfrm>
        </p:grpSpPr>
        <p:sp>
          <p:nvSpPr>
            <p:cNvPr id="105" name="TextBox 104"/>
            <p:cNvSpPr txBox="1"/>
            <p:nvPr/>
          </p:nvSpPr>
          <p:spPr>
            <a:xfrm>
              <a:off x="640160" y="-556038"/>
              <a:ext cx="108555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신청인과의 관계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06" name="그룹 105"/>
            <p:cNvGrpSpPr/>
            <p:nvPr/>
          </p:nvGrpSpPr>
          <p:grpSpPr>
            <a:xfrm>
              <a:off x="2112152" y="-566622"/>
              <a:ext cx="1615726" cy="252000"/>
              <a:chOff x="2112152" y="-566622"/>
              <a:chExt cx="1615726" cy="252000"/>
            </a:xfrm>
          </p:grpSpPr>
          <p:sp>
            <p:nvSpPr>
              <p:cNvPr id="107" name="직사각형 106"/>
              <p:cNvSpPr/>
              <p:nvPr/>
            </p:nvSpPr>
            <p:spPr>
              <a:xfrm>
                <a:off x="2112152" y="-566622"/>
                <a:ext cx="161572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08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2048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109" name="그룹 108"/>
          <p:cNvGrpSpPr/>
          <p:nvPr/>
        </p:nvGrpSpPr>
        <p:grpSpPr>
          <a:xfrm>
            <a:off x="1072208" y="2649800"/>
            <a:ext cx="5391974" cy="252000"/>
            <a:chOff x="640160" y="-566622"/>
            <a:chExt cx="5391974" cy="252000"/>
          </a:xfrm>
        </p:grpSpPr>
        <p:sp>
          <p:nvSpPr>
            <p:cNvPr id="110" name="TextBox 109"/>
            <p:cNvSpPr txBox="1"/>
            <p:nvPr/>
          </p:nvSpPr>
          <p:spPr>
            <a:xfrm>
              <a:off x="640160" y="-556038"/>
              <a:ext cx="101341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1" name="직사각형 110"/>
            <p:cNvSpPr/>
            <p:nvPr/>
          </p:nvSpPr>
          <p:spPr>
            <a:xfrm>
              <a:off x="2113382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12" name="직사각형 111"/>
            <p:cNvSpPr/>
            <p:nvPr/>
          </p:nvSpPr>
          <p:spPr>
            <a:xfrm>
              <a:off x="3481534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3269696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4" name="직사각형 113"/>
            <p:cNvSpPr/>
            <p:nvPr/>
          </p:nvSpPr>
          <p:spPr>
            <a:xfrm>
              <a:off x="4862753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4650915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16" name="눈물 방울 115"/>
          <p:cNvSpPr/>
          <p:nvPr/>
        </p:nvSpPr>
        <p:spPr>
          <a:xfrm rot="5400000">
            <a:off x="7634297" y="266191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7" name="직사각형 116"/>
          <p:cNvSpPr/>
          <p:nvPr/>
        </p:nvSpPr>
        <p:spPr>
          <a:xfrm>
            <a:off x="6544816" y="2652699"/>
            <a:ext cx="972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발송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18" name="그룹 117"/>
          <p:cNvGrpSpPr/>
          <p:nvPr/>
        </p:nvGrpSpPr>
        <p:grpSpPr>
          <a:xfrm>
            <a:off x="1072208" y="3255923"/>
            <a:ext cx="9252000" cy="246221"/>
            <a:chOff x="1072208" y="1117425"/>
            <a:chExt cx="9252000" cy="246221"/>
          </a:xfrm>
        </p:grpSpPr>
        <p:sp>
          <p:nvSpPr>
            <p:cNvPr id="119" name="TextBox 118"/>
            <p:cNvSpPr txBox="1"/>
            <p:nvPr/>
          </p:nvSpPr>
          <p:spPr>
            <a:xfrm>
              <a:off x="1072208" y="1117425"/>
              <a:ext cx="215956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법정대리인 안내사항 확인 및 동의</a:t>
              </a:r>
            </a:p>
          </p:txBody>
        </p:sp>
        <p:cxnSp>
          <p:nvCxnSpPr>
            <p:cNvPr id="120" name="직선 연결선 11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1" name="눈물 방울 120"/>
          <p:cNvSpPr/>
          <p:nvPr/>
        </p:nvSpPr>
        <p:spPr>
          <a:xfrm rot="5400000">
            <a:off x="932958" y="317111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7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22" name="그룹 121"/>
          <p:cNvGrpSpPr/>
          <p:nvPr/>
        </p:nvGrpSpPr>
        <p:grpSpPr>
          <a:xfrm>
            <a:off x="1163507" y="3607926"/>
            <a:ext cx="8758499" cy="253916"/>
            <a:chOff x="1936304" y="-857339"/>
            <a:chExt cx="8758499" cy="253916"/>
          </a:xfrm>
        </p:grpSpPr>
        <p:sp>
          <p:nvSpPr>
            <p:cNvPr id="123" name="타원 122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2116304" y="-857339"/>
              <a:ext cx="23631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본인은 안내사항을 확인하였습니다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10413957" y="-857339"/>
              <a:ext cx="2808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126" name="눈물 방울 125"/>
          <p:cNvSpPr/>
          <p:nvPr/>
        </p:nvSpPr>
        <p:spPr>
          <a:xfrm rot="5400000">
            <a:off x="9861950" y="358127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B5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30" name="그룹 129"/>
          <p:cNvGrpSpPr/>
          <p:nvPr/>
        </p:nvGrpSpPr>
        <p:grpSpPr>
          <a:xfrm>
            <a:off x="1072208" y="4149874"/>
            <a:ext cx="9252000" cy="246221"/>
            <a:chOff x="1072208" y="1117425"/>
            <a:chExt cx="9252000" cy="246221"/>
          </a:xfrm>
        </p:grpSpPr>
        <p:sp>
          <p:nvSpPr>
            <p:cNvPr id="131" name="TextBox 130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구비서류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32" name="직선 연결선 131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" name="눈물 방울 132"/>
          <p:cNvSpPr/>
          <p:nvPr/>
        </p:nvSpPr>
        <p:spPr>
          <a:xfrm rot="5400000">
            <a:off x="932958" y="415734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8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06" name="TextBox 205"/>
          <p:cNvSpPr txBox="1"/>
          <p:nvPr/>
        </p:nvSpPr>
        <p:spPr>
          <a:xfrm>
            <a:off x="1054956" y="4495106"/>
            <a:ext cx="69923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구비서류</a:t>
            </a:r>
            <a:r>
              <a:rPr lang="en-US" altLang="ko-KR" sz="900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7" name="눈물 방울 206"/>
          <p:cNvSpPr/>
          <p:nvPr/>
        </p:nvSpPr>
        <p:spPr>
          <a:xfrm rot="5400000">
            <a:off x="3527947" y="447975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08" name="직사각형 207"/>
          <p:cNvSpPr/>
          <p:nvPr/>
        </p:nvSpPr>
        <p:spPr>
          <a:xfrm>
            <a:off x="2559799" y="447229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7402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08093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외국인</a:t>
            </a:r>
            <a:r>
              <a:rPr lang="en-US" altLang="ko-KR" sz="1000" dirty="0">
                <a:latin typeface="+mn-ea"/>
                <a:ea typeface="+mn-ea"/>
              </a:rPr>
              <a:t>(Foreigner))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11" name="직사각형 110"/>
          <p:cNvSpPr/>
          <p:nvPr/>
        </p:nvSpPr>
        <p:spPr>
          <a:xfrm>
            <a:off x="962696" y="981522"/>
            <a:ext cx="9468000" cy="5976664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62" name="그룹 61"/>
          <p:cNvGrpSpPr/>
          <p:nvPr/>
        </p:nvGrpSpPr>
        <p:grpSpPr>
          <a:xfrm>
            <a:off x="1053932" y="2781722"/>
            <a:ext cx="7867148" cy="252000"/>
            <a:chOff x="640160" y="-566622"/>
            <a:chExt cx="7867148" cy="252000"/>
          </a:xfrm>
        </p:grpSpPr>
        <p:sp>
          <p:nvSpPr>
            <p:cNvPr id="63" name="직사각형 62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778730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</a:p>
          </p:txBody>
        </p:sp>
      </p:grpSp>
      <p:grpSp>
        <p:nvGrpSpPr>
          <p:cNvPr id="194" name="그룹 193"/>
          <p:cNvGrpSpPr/>
          <p:nvPr/>
        </p:nvGrpSpPr>
        <p:grpSpPr>
          <a:xfrm>
            <a:off x="1072208" y="2391485"/>
            <a:ext cx="9252000" cy="246221"/>
            <a:chOff x="1072208" y="1117425"/>
            <a:chExt cx="9252000" cy="246221"/>
          </a:xfrm>
        </p:grpSpPr>
        <p:sp>
          <p:nvSpPr>
            <p:cNvPr id="195" name="TextBox 194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</a:p>
          </p:txBody>
        </p:sp>
        <p:cxnSp>
          <p:nvCxnSpPr>
            <p:cNvPr id="196" name="직선 연결선 19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7" name="눈물 방울 196"/>
          <p:cNvSpPr/>
          <p:nvPr/>
        </p:nvSpPr>
        <p:spPr>
          <a:xfrm rot="5400000">
            <a:off x="967461" y="234344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10" name="그룹 209"/>
          <p:cNvGrpSpPr/>
          <p:nvPr/>
        </p:nvGrpSpPr>
        <p:grpSpPr>
          <a:xfrm>
            <a:off x="1072208" y="4738032"/>
            <a:ext cx="6264696" cy="252000"/>
            <a:chOff x="640160" y="-566622"/>
            <a:chExt cx="6264696" cy="252000"/>
          </a:xfrm>
        </p:grpSpPr>
        <p:sp>
          <p:nvSpPr>
            <p:cNvPr id="214" name="TextBox 213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8" name="직사각형 217"/>
            <p:cNvSpPr/>
            <p:nvPr/>
          </p:nvSpPr>
          <p:spPr>
            <a:xfrm>
              <a:off x="2112151" y="-566622"/>
              <a:ext cx="479270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</a:t>
              </a:r>
              <a:r>
                <a:rPr lang="ko-KR" altLang="en-US" sz="90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19" name="그룹 218"/>
          <p:cNvGrpSpPr/>
          <p:nvPr/>
        </p:nvGrpSpPr>
        <p:grpSpPr>
          <a:xfrm>
            <a:off x="1072208" y="5098072"/>
            <a:ext cx="4006570" cy="252000"/>
            <a:chOff x="640160" y="-566622"/>
            <a:chExt cx="4006570" cy="252000"/>
          </a:xfrm>
        </p:grpSpPr>
        <p:sp>
          <p:nvSpPr>
            <p:cNvPr id="220" name="TextBox 219"/>
            <p:cNvSpPr txBox="1"/>
            <p:nvPr/>
          </p:nvSpPr>
          <p:spPr>
            <a:xfrm>
              <a:off x="640160" y="-556038"/>
              <a:ext cx="10454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외국인등록번호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1" name="직사각형 220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2" name="직사각형 221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3" name="TextBox 222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24" name="그룹 223"/>
          <p:cNvGrpSpPr/>
          <p:nvPr/>
        </p:nvGrpSpPr>
        <p:grpSpPr>
          <a:xfrm>
            <a:off x="1072208" y="4341960"/>
            <a:ext cx="9252000" cy="246221"/>
            <a:chOff x="1072208" y="1117425"/>
            <a:chExt cx="9252000" cy="246221"/>
          </a:xfrm>
        </p:grpSpPr>
        <p:sp>
          <p:nvSpPr>
            <p:cNvPr id="225" name="TextBox 224"/>
            <p:cNvSpPr txBox="1"/>
            <p:nvPr/>
          </p:nvSpPr>
          <p:spPr>
            <a:xfrm>
              <a:off x="1072208" y="1117425"/>
              <a:ext cx="8707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가입자 정보</a:t>
              </a:r>
            </a:p>
          </p:txBody>
        </p:sp>
        <p:cxnSp>
          <p:nvCxnSpPr>
            <p:cNvPr id="226" name="직선 연결선 22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7" name="눈물 방울 226"/>
          <p:cNvSpPr/>
          <p:nvPr/>
        </p:nvSpPr>
        <p:spPr>
          <a:xfrm rot="5400000">
            <a:off x="932957" y="428912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28" name="그룹 227"/>
          <p:cNvGrpSpPr/>
          <p:nvPr/>
        </p:nvGrpSpPr>
        <p:grpSpPr>
          <a:xfrm>
            <a:off x="1059141" y="5780472"/>
            <a:ext cx="5405041" cy="252000"/>
            <a:chOff x="424136" y="-566622"/>
            <a:chExt cx="5405041" cy="252000"/>
          </a:xfrm>
        </p:grpSpPr>
        <p:sp>
          <p:nvSpPr>
            <p:cNvPr id="229" name="TextBox 228"/>
            <p:cNvSpPr txBox="1"/>
            <p:nvPr/>
          </p:nvSpPr>
          <p:spPr>
            <a:xfrm>
              <a:off x="424136" y="-556038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기기변경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30" name="직사각형 229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231" name="직사각형 230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32" name="TextBox 231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33" name="직사각형 232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34" name="TextBox 233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35" name="오른쪽 중괄호 234"/>
          <p:cNvSpPr/>
          <p:nvPr/>
        </p:nvSpPr>
        <p:spPr>
          <a:xfrm>
            <a:off x="7696904" y="5672744"/>
            <a:ext cx="313910" cy="503881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6" name="직사각형 235"/>
          <p:cNvSpPr/>
          <p:nvPr/>
        </p:nvSpPr>
        <p:spPr>
          <a:xfrm>
            <a:off x="8027715" y="5822283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기기변경 인 경우만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237" name="그룹 236"/>
          <p:cNvGrpSpPr/>
          <p:nvPr/>
        </p:nvGrpSpPr>
        <p:grpSpPr>
          <a:xfrm>
            <a:off x="1072208" y="3213770"/>
            <a:ext cx="9252000" cy="246221"/>
            <a:chOff x="1072208" y="1117425"/>
            <a:chExt cx="9252000" cy="246221"/>
          </a:xfrm>
        </p:grpSpPr>
        <p:sp>
          <p:nvSpPr>
            <p:cNvPr id="238" name="TextBox 237"/>
            <p:cNvSpPr txBox="1"/>
            <p:nvPr/>
          </p:nvSpPr>
          <p:spPr>
            <a:xfrm>
              <a:off x="1072208" y="1117425"/>
              <a:ext cx="8707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신분증 확인</a:t>
              </a:r>
            </a:p>
          </p:txBody>
        </p:sp>
        <p:cxnSp>
          <p:nvCxnSpPr>
            <p:cNvPr id="239" name="직선 연결선 238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5" name="눈물 방울 244"/>
          <p:cNvSpPr/>
          <p:nvPr/>
        </p:nvSpPr>
        <p:spPr>
          <a:xfrm rot="5400000">
            <a:off x="932958" y="322123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76" name="눈물 방울 275"/>
          <p:cNvSpPr/>
          <p:nvPr/>
        </p:nvSpPr>
        <p:spPr>
          <a:xfrm rot="5400000">
            <a:off x="7344371" y="579164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80" name="직사각형 279"/>
          <p:cNvSpPr/>
          <p:nvPr/>
        </p:nvSpPr>
        <p:spPr>
          <a:xfrm>
            <a:off x="6542922" y="5782430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grpSp>
        <p:nvGrpSpPr>
          <p:cNvPr id="281" name="그룹 280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282" name="TextBox 281"/>
            <p:cNvSpPr txBox="1"/>
            <p:nvPr/>
          </p:nvSpPr>
          <p:spPr>
            <a:xfrm>
              <a:off x="1072208" y="1117425"/>
              <a:ext cx="9989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가입유형 선택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83" name="직선 연결선 282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4" name="그룹 283"/>
          <p:cNvGrpSpPr/>
          <p:nvPr/>
        </p:nvGrpSpPr>
        <p:grpSpPr>
          <a:xfrm>
            <a:off x="1072208" y="1521610"/>
            <a:ext cx="3007164" cy="252000"/>
            <a:chOff x="1072208" y="-566622"/>
            <a:chExt cx="3007164" cy="252000"/>
          </a:xfrm>
        </p:grpSpPr>
        <p:sp>
          <p:nvSpPr>
            <p:cNvPr id="285" name="직사각형 284"/>
            <p:cNvSpPr/>
            <p:nvPr/>
          </p:nvSpPr>
          <p:spPr>
            <a:xfrm>
              <a:off x="254483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</a:p>
          </p:txBody>
        </p:sp>
        <p:sp>
          <p:nvSpPr>
            <p:cNvPr id="286" name="직사각형 285"/>
            <p:cNvSpPr/>
            <p:nvPr/>
          </p:nvSpPr>
          <p:spPr>
            <a:xfrm>
              <a:off x="3359372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87" name="TextBox 286"/>
            <p:cNvSpPr txBox="1"/>
            <p:nvPr/>
          </p:nvSpPr>
          <p:spPr>
            <a:xfrm>
              <a:off x="1072208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상품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88" name="그룹 287"/>
          <p:cNvGrpSpPr/>
          <p:nvPr/>
        </p:nvGrpSpPr>
        <p:grpSpPr>
          <a:xfrm>
            <a:off x="1072208" y="1917654"/>
            <a:ext cx="3825050" cy="252000"/>
            <a:chOff x="1072208" y="-566622"/>
            <a:chExt cx="3825050" cy="252000"/>
          </a:xfrm>
        </p:grpSpPr>
        <p:sp>
          <p:nvSpPr>
            <p:cNvPr id="289" name="직사각형 288"/>
            <p:cNvSpPr/>
            <p:nvPr/>
          </p:nvSpPr>
          <p:spPr>
            <a:xfrm>
              <a:off x="2548176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번호이동</a:t>
              </a:r>
            </a:p>
          </p:txBody>
        </p:sp>
        <p:sp>
          <p:nvSpPr>
            <p:cNvPr id="290" name="직사각형 289"/>
            <p:cNvSpPr/>
            <p:nvPr/>
          </p:nvSpPr>
          <p:spPr>
            <a:xfrm>
              <a:off x="3362717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신규가입</a:t>
              </a:r>
            </a:p>
          </p:txBody>
        </p:sp>
        <p:sp>
          <p:nvSpPr>
            <p:cNvPr id="291" name="직사각형 290"/>
            <p:cNvSpPr/>
            <p:nvPr/>
          </p:nvSpPr>
          <p:spPr>
            <a:xfrm>
              <a:off x="417725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기기변경</a:t>
              </a:r>
            </a:p>
          </p:txBody>
        </p:sp>
        <p:sp>
          <p:nvSpPr>
            <p:cNvPr id="292" name="TextBox 291"/>
            <p:cNvSpPr txBox="1"/>
            <p:nvPr/>
          </p:nvSpPr>
          <p:spPr>
            <a:xfrm>
              <a:off x="1072208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가입유형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93" name="눈물 방울 292"/>
          <p:cNvSpPr/>
          <p:nvPr/>
        </p:nvSpPr>
        <p:spPr>
          <a:xfrm rot="5400000">
            <a:off x="967461" y="106818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99" name="직사각형 198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pSp>
        <p:nvGrpSpPr>
          <p:cNvPr id="314" name="그룹 313"/>
          <p:cNvGrpSpPr/>
          <p:nvPr/>
        </p:nvGrpSpPr>
        <p:grpSpPr>
          <a:xfrm>
            <a:off x="1072208" y="6238106"/>
            <a:ext cx="9252000" cy="246221"/>
            <a:chOff x="1072208" y="1117425"/>
            <a:chExt cx="9252000" cy="246221"/>
          </a:xfrm>
        </p:grpSpPr>
        <p:sp>
          <p:nvSpPr>
            <p:cNvPr id="315" name="TextBox 314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구비서류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316" name="직선 연결선 31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7" name="눈물 방울 316"/>
          <p:cNvSpPr/>
          <p:nvPr/>
        </p:nvSpPr>
        <p:spPr>
          <a:xfrm rot="5400000">
            <a:off x="932958" y="62455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8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18" name="TextBox 317"/>
          <p:cNvSpPr txBox="1"/>
          <p:nvPr/>
        </p:nvSpPr>
        <p:spPr>
          <a:xfrm>
            <a:off x="1054956" y="6584986"/>
            <a:ext cx="69923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구비서류</a:t>
            </a:r>
            <a:r>
              <a:rPr lang="en-US" altLang="ko-KR" sz="900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19" name="눈물 방울 318"/>
          <p:cNvSpPr/>
          <p:nvPr/>
        </p:nvSpPr>
        <p:spPr>
          <a:xfrm rot="5400000">
            <a:off x="3527947" y="656963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20" name="직사각형 319"/>
          <p:cNvSpPr/>
          <p:nvPr/>
        </p:nvSpPr>
        <p:spPr>
          <a:xfrm>
            <a:off x="2559799" y="656217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3" name="눈물 방울 82"/>
          <p:cNvSpPr/>
          <p:nvPr/>
        </p:nvSpPr>
        <p:spPr>
          <a:xfrm rot="5400000">
            <a:off x="6072804" y="390534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4" name="직사각형 83"/>
          <p:cNvSpPr/>
          <p:nvPr/>
        </p:nvSpPr>
        <p:spPr>
          <a:xfrm>
            <a:off x="5104656" y="3897874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85" name="그룹 84"/>
          <p:cNvGrpSpPr/>
          <p:nvPr/>
        </p:nvGrpSpPr>
        <p:grpSpPr>
          <a:xfrm>
            <a:off x="1072208" y="3897874"/>
            <a:ext cx="3928878" cy="252000"/>
            <a:chOff x="-36790" y="4763928"/>
            <a:chExt cx="3928878" cy="252000"/>
          </a:xfrm>
        </p:grpSpPr>
        <p:sp>
          <p:nvSpPr>
            <p:cNvPr id="86" name="TextBox 85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87" name="그룹 86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88" name="직사각형 87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8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90" name="그룹 89"/>
          <p:cNvGrpSpPr/>
          <p:nvPr/>
        </p:nvGrpSpPr>
        <p:grpSpPr>
          <a:xfrm>
            <a:off x="1072148" y="5447666"/>
            <a:ext cx="5400600" cy="252000"/>
            <a:chOff x="640160" y="-566622"/>
            <a:chExt cx="5400600" cy="252000"/>
          </a:xfrm>
        </p:grpSpPr>
        <p:sp>
          <p:nvSpPr>
            <p:cNvPr id="91" name="TextBox 90"/>
            <p:cNvSpPr txBox="1"/>
            <p:nvPr/>
          </p:nvSpPr>
          <p:spPr>
            <a:xfrm>
              <a:off x="640160" y="-556038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사업자등록번호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2" name="직사각형 91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3" name="직사각형 92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487137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5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465954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7" name="직사각형 96"/>
          <p:cNvSpPr/>
          <p:nvPr/>
        </p:nvSpPr>
        <p:spPr>
          <a:xfrm>
            <a:off x="6544816" y="5453270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※ </a:t>
            </a:r>
            <a:r>
              <a:rPr lang="ko-KR" altLang="en-US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개인사업자인 경우만 입력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graphicFrame>
        <p:nvGraphicFramePr>
          <p:cNvPr id="98" name="표 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458439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 예외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grpSp>
        <p:nvGrpSpPr>
          <p:cNvPr id="99" name="그룹 98"/>
          <p:cNvGrpSpPr/>
          <p:nvPr/>
        </p:nvGrpSpPr>
        <p:grpSpPr>
          <a:xfrm>
            <a:off x="1054956" y="3537834"/>
            <a:ext cx="5345844" cy="252000"/>
            <a:chOff x="640160" y="-566622"/>
            <a:chExt cx="5345844" cy="252000"/>
          </a:xfrm>
        </p:grpSpPr>
        <p:sp>
          <p:nvSpPr>
            <p:cNvPr id="100" name="직사각형 99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2" name="직사각형 101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103" name="직사각형 102"/>
            <p:cNvSpPr/>
            <p:nvPr/>
          </p:nvSpPr>
          <p:spPr>
            <a:xfrm>
              <a:off x="4401708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4" name="직사각형 103"/>
            <p:cNvSpPr/>
            <p:nvPr/>
          </p:nvSpPr>
          <p:spPr>
            <a:xfrm>
              <a:off x="5247852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 예외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05" name="눈물 방울 104"/>
          <p:cNvSpPr/>
          <p:nvPr/>
        </p:nvSpPr>
        <p:spPr>
          <a:xfrm rot="5400000">
            <a:off x="7440956" y="354530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6" name="직사각형 105"/>
          <p:cNvSpPr/>
          <p:nvPr/>
        </p:nvSpPr>
        <p:spPr>
          <a:xfrm>
            <a:off x="6472808" y="3537834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조회</a:t>
            </a:r>
            <a:r>
              <a:rPr lang="en-US" altLang="ko-KR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73295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775660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외국인 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>
                <a:latin typeface="+mn-ea"/>
                <a:ea typeface="+mn-ea"/>
              </a:rPr>
              <a:t>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6" name="직사각형 85"/>
          <p:cNvSpPr/>
          <p:nvPr/>
        </p:nvSpPr>
        <p:spPr>
          <a:xfrm>
            <a:off x="962696" y="981522"/>
            <a:ext cx="9468000" cy="547260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52" name="그룹 151"/>
          <p:cNvGrpSpPr/>
          <p:nvPr/>
        </p:nvGrpSpPr>
        <p:grpSpPr>
          <a:xfrm>
            <a:off x="1072208" y="2463493"/>
            <a:ext cx="9252000" cy="246221"/>
            <a:chOff x="1072208" y="1117425"/>
            <a:chExt cx="9252000" cy="246221"/>
          </a:xfrm>
        </p:grpSpPr>
        <p:sp>
          <p:nvSpPr>
            <p:cNvPr id="153" name="TextBox 152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</a:p>
          </p:txBody>
        </p:sp>
        <p:cxnSp>
          <p:nvCxnSpPr>
            <p:cNvPr id="154" name="직선 연결선 15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5" name="눈물 방울 154"/>
          <p:cNvSpPr/>
          <p:nvPr/>
        </p:nvSpPr>
        <p:spPr>
          <a:xfrm rot="5400000">
            <a:off x="967461" y="241544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56" name="그룹 155"/>
          <p:cNvGrpSpPr/>
          <p:nvPr/>
        </p:nvGrpSpPr>
        <p:grpSpPr>
          <a:xfrm>
            <a:off x="1072208" y="3393754"/>
            <a:ext cx="9252000" cy="246221"/>
            <a:chOff x="1072208" y="1117425"/>
            <a:chExt cx="9252000" cy="246221"/>
          </a:xfrm>
        </p:grpSpPr>
        <p:sp>
          <p:nvSpPr>
            <p:cNvPr id="157" name="TextBox 156"/>
            <p:cNvSpPr txBox="1"/>
            <p:nvPr/>
          </p:nvSpPr>
          <p:spPr>
            <a:xfrm>
              <a:off x="1072208" y="1117425"/>
              <a:ext cx="16049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신분증 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확인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법정대리인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58" name="직선 연결선 157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7" name="눈물 방울 176"/>
          <p:cNvSpPr/>
          <p:nvPr/>
        </p:nvSpPr>
        <p:spPr>
          <a:xfrm rot="5400000">
            <a:off x="932958" y="340122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80" name="그룹 179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181" name="TextBox 180"/>
            <p:cNvSpPr txBox="1"/>
            <p:nvPr/>
          </p:nvSpPr>
          <p:spPr>
            <a:xfrm>
              <a:off x="1072208" y="1117425"/>
              <a:ext cx="9989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가입유형 선택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82" name="직선 연결선 181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3" name="그룹 182"/>
          <p:cNvGrpSpPr/>
          <p:nvPr/>
        </p:nvGrpSpPr>
        <p:grpSpPr>
          <a:xfrm>
            <a:off x="1072208" y="1521610"/>
            <a:ext cx="3007164" cy="252000"/>
            <a:chOff x="1072208" y="-566622"/>
            <a:chExt cx="3007164" cy="252000"/>
          </a:xfrm>
        </p:grpSpPr>
        <p:sp>
          <p:nvSpPr>
            <p:cNvPr id="184" name="직사각형 183"/>
            <p:cNvSpPr/>
            <p:nvPr/>
          </p:nvSpPr>
          <p:spPr>
            <a:xfrm>
              <a:off x="254483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3359372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6" name="TextBox 185"/>
            <p:cNvSpPr txBox="1"/>
            <p:nvPr/>
          </p:nvSpPr>
          <p:spPr>
            <a:xfrm>
              <a:off x="1072208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상품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87" name="그룹 186"/>
          <p:cNvGrpSpPr/>
          <p:nvPr/>
        </p:nvGrpSpPr>
        <p:grpSpPr>
          <a:xfrm>
            <a:off x="1072208" y="1917654"/>
            <a:ext cx="3825050" cy="252000"/>
            <a:chOff x="1072208" y="-566622"/>
            <a:chExt cx="3825050" cy="252000"/>
          </a:xfrm>
        </p:grpSpPr>
        <p:sp>
          <p:nvSpPr>
            <p:cNvPr id="188" name="직사각형 187"/>
            <p:cNvSpPr/>
            <p:nvPr/>
          </p:nvSpPr>
          <p:spPr>
            <a:xfrm>
              <a:off x="2548176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번호이동</a:t>
              </a:r>
            </a:p>
          </p:txBody>
        </p:sp>
        <p:sp>
          <p:nvSpPr>
            <p:cNvPr id="189" name="직사각형 188"/>
            <p:cNvSpPr/>
            <p:nvPr/>
          </p:nvSpPr>
          <p:spPr>
            <a:xfrm>
              <a:off x="3362717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신규가입</a:t>
              </a:r>
            </a:p>
          </p:txBody>
        </p:sp>
        <p:sp>
          <p:nvSpPr>
            <p:cNvPr id="190" name="직사각형 189"/>
            <p:cNvSpPr/>
            <p:nvPr/>
          </p:nvSpPr>
          <p:spPr>
            <a:xfrm>
              <a:off x="417725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기기변경</a:t>
              </a:r>
            </a:p>
          </p:txBody>
        </p:sp>
        <p:sp>
          <p:nvSpPr>
            <p:cNvPr id="191" name="TextBox 190"/>
            <p:cNvSpPr txBox="1"/>
            <p:nvPr/>
          </p:nvSpPr>
          <p:spPr>
            <a:xfrm>
              <a:off x="1072208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가입유형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92" name="눈물 방울 191"/>
          <p:cNvSpPr/>
          <p:nvPr/>
        </p:nvSpPr>
        <p:spPr>
          <a:xfrm rot="5400000">
            <a:off x="967461" y="106818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93" name="그룹 192"/>
          <p:cNvGrpSpPr/>
          <p:nvPr/>
        </p:nvGrpSpPr>
        <p:grpSpPr>
          <a:xfrm>
            <a:off x="1072208" y="5098072"/>
            <a:ext cx="6264696" cy="252000"/>
            <a:chOff x="640160" y="-566622"/>
            <a:chExt cx="6264696" cy="252000"/>
          </a:xfrm>
        </p:grpSpPr>
        <p:sp>
          <p:nvSpPr>
            <p:cNvPr id="194" name="TextBox 193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5" name="직사각형 194"/>
            <p:cNvSpPr/>
            <p:nvPr/>
          </p:nvSpPr>
          <p:spPr>
            <a:xfrm>
              <a:off x="2112151" y="-566622"/>
              <a:ext cx="479270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</a:t>
              </a:r>
              <a:r>
                <a:rPr lang="ko-KR" altLang="en-US" sz="90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96" name="그룹 195"/>
          <p:cNvGrpSpPr/>
          <p:nvPr/>
        </p:nvGrpSpPr>
        <p:grpSpPr>
          <a:xfrm>
            <a:off x="1072208" y="5458112"/>
            <a:ext cx="4006570" cy="252000"/>
            <a:chOff x="640160" y="-566622"/>
            <a:chExt cx="4006570" cy="252000"/>
          </a:xfrm>
        </p:grpSpPr>
        <p:sp>
          <p:nvSpPr>
            <p:cNvPr id="197" name="TextBox 196"/>
            <p:cNvSpPr txBox="1"/>
            <p:nvPr/>
          </p:nvSpPr>
          <p:spPr>
            <a:xfrm>
              <a:off x="640160" y="-556038"/>
              <a:ext cx="10454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외국인등록번호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8" name="직사각형 197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9" name="직사각형 198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0" name="TextBox 199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01" name="그룹 200"/>
          <p:cNvGrpSpPr/>
          <p:nvPr/>
        </p:nvGrpSpPr>
        <p:grpSpPr>
          <a:xfrm>
            <a:off x="1072208" y="4702000"/>
            <a:ext cx="9252000" cy="246221"/>
            <a:chOff x="1072208" y="1117425"/>
            <a:chExt cx="9252000" cy="246221"/>
          </a:xfrm>
        </p:grpSpPr>
        <p:sp>
          <p:nvSpPr>
            <p:cNvPr id="202" name="TextBox 201"/>
            <p:cNvSpPr txBox="1"/>
            <p:nvPr/>
          </p:nvSpPr>
          <p:spPr>
            <a:xfrm>
              <a:off x="1072208" y="1117425"/>
              <a:ext cx="14766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가입자 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정보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03" name="직선 연결선 202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" name="눈물 방울 203"/>
          <p:cNvSpPr/>
          <p:nvPr/>
        </p:nvSpPr>
        <p:spPr>
          <a:xfrm rot="5400000">
            <a:off x="932957" y="464916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05" name="그룹 204"/>
          <p:cNvGrpSpPr/>
          <p:nvPr/>
        </p:nvGrpSpPr>
        <p:grpSpPr>
          <a:xfrm>
            <a:off x="1059141" y="5854128"/>
            <a:ext cx="5405041" cy="252000"/>
            <a:chOff x="424136" y="-566622"/>
            <a:chExt cx="5405041" cy="252000"/>
          </a:xfrm>
        </p:grpSpPr>
        <p:sp>
          <p:nvSpPr>
            <p:cNvPr id="206" name="TextBox 205"/>
            <p:cNvSpPr txBox="1"/>
            <p:nvPr/>
          </p:nvSpPr>
          <p:spPr>
            <a:xfrm>
              <a:off x="424136" y="-556038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기기변경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7" name="직사각형 206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208" name="직사각형 207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9" name="TextBox 208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0" name="직사각형 209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1" name="TextBox 210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12" name="오른쪽 중괄호 211"/>
          <p:cNvSpPr/>
          <p:nvPr/>
        </p:nvSpPr>
        <p:spPr>
          <a:xfrm>
            <a:off x="7696904" y="5746400"/>
            <a:ext cx="313910" cy="503881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직사각형 212"/>
          <p:cNvSpPr/>
          <p:nvPr/>
        </p:nvSpPr>
        <p:spPr>
          <a:xfrm>
            <a:off x="8027715" y="5895939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기기변경 인 경우만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214" name="눈물 방울 213"/>
          <p:cNvSpPr/>
          <p:nvPr/>
        </p:nvSpPr>
        <p:spPr>
          <a:xfrm rot="5400000">
            <a:off x="7344371" y="586529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5" name="직사각형 214"/>
          <p:cNvSpPr/>
          <p:nvPr/>
        </p:nvSpPr>
        <p:spPr>
          <a:xfrm>
            <a:off x="6542922" y="5856086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grpSp>
        <p:nvGrpSpPr>
          <p:cNvPr id="77" name="그룹 76"/>
          <p:cNvGrpSpPr/>
          <p:nvPr/>
        </p:nvGrpSpPr>
        <p:grpSpPr>
          <a:xfrm>
            <a:off x="1047336" y="2817754"/>
            <a:ext cx="7867148" cy="252000"/>
            <a:chOff x="640160" y="-566622"/>
            <a:chExt cx="7867148" cy="252000"/>
          </a:xfrm>
        </p:grpSpPr>
        <p:sp>
          <p:nvSpPr>
            <p:cNvPr id="80" name="직사각형 79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81" name="직사각형 80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2" name="직사각형 81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85" name="직사각형 84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778730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</a:p>
          </p:txBody>
        </p:sp>
      </p:grpSp>
      <p:sp>
        <p:nvSpPr>
          <p:cNvPr id="150" name="직사각형 149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sp>
        <p:nvSpPr>
          <p:cNvPr id="76" name="눈물 방울 75"/>
          <p:cNvSpPr/>
          <p:nvPr/>
        </p:nvSpPr>
        <p:spPr>
          <a:xfrm rot="5400000">
            <a:off x="6072804" y="412136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5104656" y="4113898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79" name="그룹 78"/>
          <p:cNvGrpSpPr/>
          <p:nvPr/>
        </p:nvGrpSpPr>
        <p:grpSpPr>
          <a:xfrm>
            <a:off x="1072208" y="4113898"/>
            <a:ext cx="3928878" cy="252000"/>
            <a:chOff x="-36790" y="4763928"/>
            <a:chExt cx="3928878" cy="252000"/>
          </a:xfrm>
        </p:grpSpPr>
        <p:sp>
          <p:nvSpPr>
            <p:cNvPr id="87" name="TextBox 86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88" name="그룹 87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89" name="직사각형 88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91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aphicFrame>
        <p:nvGraphicFramePr>
          <p:cNvPr id="92" name="표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458439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 예외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grpSp>
        <p:nvGrpSpPr>
          <p:cNvPr id="93" name="그룹 92"/>
          <p:cNvGrpSpPr/>
          <p:nvPr/>
        </p:nvGrpSpPr>
        <p:grpSpPr>
          <a:xfrm>
            <a:off x="1054956" y="3753858"/>
            <a:ext cx="5345844" cy="252000"/>
            <a:chOff x="640160" y="-566622"/>
            <a:chExt cx="5345844" cy="252000"/>
          </a:xfrm>
        </p:grpSpPr>
        <p:sp>
          <p:nvSpPr>
            <p:cNvPr id="94" name="직사각형 93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6" name="직사각형 95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4401708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8" name="직사각형 97"/>
            <p:cNvSpPr/>
            <p:nvPr/>
          </p:nvSpPr>
          <p:spPr>
            <a:xfrm>
              <a:off x="5247852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 예외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9" name="눈물 방울 98"/>
          <p:cNvSpPr/>
          <p:nvPr/>
        </p:nvSpPr>
        <p:spPr>
          <a:xfrm rot="5400000">
            <a:off x="7440956" y="376132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0" name="직사각형 99"/>
          <p:cNvSpPr/>
          <p:nvPr/>
        </p:nvSpPr>
        <p:spPr>
          <a:xfrm>
            <a:off x="6472808" y="3753858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조회</a:t>
            </a:r>
            <a:r>
              <a:rPr lang="en-US" altLang="ko-KR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740927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4494876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6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외국인 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>
                <a:latin typeface="+mn-ea"/>
                <a:ea typeface="+mn-ea"/>
              </a:rPr>
              <a:t>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60" name="직사각형 259"/>
          <p:cNvSpPr/>
          <p:nvPr/>
        </p:nvSpPr>
        <p:spPr>
          <a:xfrm>
            <a:off x="962696" y="981522"/>
            <a:ext cx="9468000" cy="547260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00" name="그룹 99"/>
          <p:cNvGrpSpPr/>
          <p:nvPr/>
        </p:nvGrpSpPr>
        <p:grpSpPr>
          <a:xfrm>
            <a:off x="1072209" y="1500868"/>
            <a:ext cx="6264695" cy="252000"/>
            <a:chOff x="640160" y="-566622"/>
            <a:chExt cx="6264695" cy="252000"/>
          </a:xfrm>
        </p:grpSpPr>
        <p:sp>
          <p:nvSpPr>
            <p:cNvPr id="101" name="TextBox 100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2" name="직사각형 101"/>
            <p:cNvSpPr/>
            <p:nvPr/>
          </p:nvSpPr>
          <p:spPr>
            <a:xfrm>
              <a:off x="2112150" y="-566622"/>
              <a:ext cx="479270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03" name="그룹 102"/>
          <p:cNvGrpSpPr/>
          <p:nvPr/>
        </p:nvGrpSpPr>
        <p:grpSpPr>
          <a:xfrm>
            <a:off x="1079829" y="1860908"/>
            <a:ext cx="4006569" cy="252000"/>
            <a:chOff x="640160" y="-566622"/>
            <a:chExt cx="4006569" cy="252000"/>
          </a:xfrm>
        </p:grpSpPr>
        <p:sp>
          <p:nvSpPr>
            <p:cNvPr id="104" name="TextBox 103"/>
            <p:cNvSpPr txBox="1"/>
            <p:nvPr/>
          </p:nvSpPr>
          <p:spPr>
            <a:xfrm>
              <a:off x="640160" y="-556038"/>
              <a:ext cx="132760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주민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외국인등록번호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5" name="직사각형 104"/>
            <p:cNvSpPr/>
            <p:nvPr/>
          </p:nvSpPr>
          <p:spPr>
            <a:xfrm>
              <a:off x="2109196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6" name="직사각형 105"/>
            <p:cNvSpPr/>
            <p:nvPr/>
          </p:nvSpPr>
          <p:spPr>
            <a:xfrm>
              <a:off x="3477348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265510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08" name="그룹 107"/>
          <p:cNvGrpSpPr/>
          <p:nvPr/>
        </p:nvGrpSpPr>
        <p:grpSpPr>
          <a:xfrm>
            <a:off x="1072209" y="1116890"/>
            <a:ext cx="9252000" cy="246221"/>
            <a:chOff x="1072208" y="1117425"/>
            <a:chExt cx="9252000" cy="246221"/>
          </a:xfrm>
        </p:grpSpPr>
        <p:sp>
          <p:nvSpPr>
            <p:cNvPr id="109" name="TextBox 108"/>
            <p:cNvSpPr txBox="1"/>
            <p:nvPr/>
          </p:nvSpPr>
          <p:spPr>
            <a:xfrm>
              <a:off x="1072208" y="1117425"/>
              <a:ext cx="112723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법정대리인 정보</a:t>
              </a:r>
            </a:p>
          </p:txBody>
        </p:sp>
        <p:cxnSp>
          <p:nvCxnSpPr>
            <p:cNvPr id="110" name="직선 연결선 10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1" name="눈물 방울 110"/>
          <p:cNvSpPr/>
          <p:nvPr/>
        </p:nvSpPr>
        <p:spPr>
          <a:xfrm rot="5400000">
            <a:off x="932958" y="106405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1072208" y="2220948"/>
            <a:ext cx="3087718" cy="252000"/>
            <a:chOff x="640160" y="-566622"/>
            <a:chExt cx="3087718" cy="252000"/>
          </a:xfrm>
        </p:grpSpPr>
        <p:sp>
          <p:nvSpPr>
            <p:cNvPr id="113" name="TextBox 112"/>
            <p:cNvSpPr txBox="1"/>
            <p:nvPr/>
          </p:nvSpPr>
          <p:spPr>
            <a:xfrm>
              <a:off x="640160" y="-556038"/>
              <a:ext cx="108555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신청인과의 관계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14" name="그룹 113"/>
            <p:cNvGrpSpPr/>
            <p:nvPr/>
          </p:nvGrpSpPr>
          <p:grpSpPr>
            <a:xfrm>
              <a:off x="2112152" y="-566622"/>
              <a:ext cx="1615726" cy="252000"/>
              <a:chOff x="2112152" y="-566622"/>
              <a:chExt cx="1615726" cy="252000"/>
            </a:xfrm>
          </p:grpSpPr>
          <p:sp>
            <p:nvSpPr>
              <p:cNvPr id="115" name="직사각형 114"/>
              <p:cNvSpPr/>
              <p:nvPr/>
            </p:nvSpPr>
            <p:spPr>
              <a:xfrm>
                <a:off x="2112152" y="-566622"/>
                <a:ext cx="161572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16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2048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117" name="그룹 116"/>
          <p:cNvGrpSpPr/>
          <p:nvPr/>
        </p:nvGrpSpPr>
        <p:grpSpPr>
          <a:xfrm>
            <a:off x="1072208" y="2593082"/>
            <a:ext cx="5391974" cy="252000"/>
            <a:chOff x="640160" y="-566622"/>
            <a:chExt cx="5391974" cy="252000"/>
          </a:xfrm>
        </p:grpSpPr>
        <p:sp>
          <p:nvSpPr>
            <p:cNvPr id="118" name="TextBox 117"/>
            <p:cNvSpPr txBox="1"/>
            <p:nvPr/>
          </p:nvSpPr>
          <p:spPr>
            <a:xfrm>
              <a:off x="640160" y="-556038"/>
              <a:ext cx="101341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9" name="직사각형 118"/>
            <p:cNvSpPr/>
            <p:nvPr/>
          </p:nvSpPr>
          <p:spPr>
            <a:xfrm>
              <a:off x="2113382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20" name="직사각형 119"/>
            <p:cNvSpPr/>
            <p:nvPr/>
          </p:nvSpPr>
          <p:spPr>
            <a:xfrm>
              <a:off x="3481534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3269696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2" name="직사각형 121"/>
            <p:cNvSpPr/>
            <p:nvPr/>
          </p:nvSpPr>
          <p:spPr>
            <a:xfrm>
              <a:off x="4862753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4650915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24" name="눈물 방울 123"/>
          <p:cNvSpPr/>
          <p:nvPr/>
        </p:nvSpPr>
        <p:spPr>
          <a:xfrm rot="5400000">
            <a:off x="7634297" y="260519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544816" y="2595981"/>
            <a:ext cx="972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발송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26" name="그룹 125"/>
          <p:cNvGrpSpPr/>
          <p:nvPr/>
        </p:nvGrpSpPr>
        <p:grpSpPr>
          <a:xfrm>
            <a:off x="1072208" y="3182267"/>
            <a:ext cx="9252000" cy="246221"/>
            <a:chOff x="1072208" y="1117425"/>
            <a:chExt cx="9252000" cy="246221"/>
          </a:xfrm>
        </p:grpSpPr>
        <p:sp>
          <p:nvSpPr>
            <p:cNvPr id="130" name="TextBox 129"/>
            <p:cNvSpPr txBox="1"/>
            <p:nvPr/>
          </p:nvSpPr>
          <p:spPr>
            <a:xfrm>
              <a:off x="1072208" y="1117425"/>
              <a:ext cx="215956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법정대리인 안내사항 확인 및 동의</a:t>
              </a:r>
            </a:p>
          </p:txBody>
        </p:sp>
        <p:cxnSp>
          <p:nvCxnSpPr>
            <p:cNvPr id="131" name="직선 연결선 13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2" name="눈물 방울 131"/>
          <p:cNvSpPr/>
          <p:nvPr/>
        </p:nvSpPr>
        <p:spPr>
          <a:xfrm rot="5400000">
            <a:off x="932958" y="309745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7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33" name="그룹 132"/>
          <p:cNvGrpSpPr/>
          <p:nvPr/>
        </p:nvGrpSpPr>
        <p:grpSpPr>
          <a:xfrm>
            <a:off x="1163507" y="3534270"/>
            <a:ext cx="8758499" cy="253916"/>
            <a:chOff x="1936304" y="-857339"/>
            <a:chExt cx="8758499" cy="253916"/>
          </a:xfrm>
        </p:grpSpPr>
        <p:sp>
          <p:nvSpPr>
            <p:cNvPr id="134" name="타원 133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2116304" y="-857339"/>
              <a:ext cx="23631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본인은 안내사항을 확인하였습니다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136" name="TextBox 135"/>
            <p:cNvSpPr txBox="1"/>
            <p:nvPr/>
          </p:nvSpPr>
          <p:spPr>
            <a:xfrm>
              <a:off x="10413957" y="-857339"/>
              <a:ext cx="2808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137" name="눈물 방울 136"/>
          <p:cNvSpPr/>
          <p:nvPr/>
        </p:nvSpPr>
        <p:spPr>
          <a:xfrm rot="5400000">
            <a:off x="9861950" y="350762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B5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38" name="그룹 137"/>
          <p:cNvGrpSpPr/>
          <p:nvPr/>
        </p:nvGrpSpPr>
        <p:grpSpPr>
          <a:xfrm>
            <a:off x="1072208" y="4076218"/>
            <a:ext cx="9252000" cy="246221"/>
            <a:chOff x="1072208" y="1117425"/>
            <a:chExt cx="9252000" cy="246221"/>
          </a:xfrm>
        </p:grpSpPr>
        <p:sp>
          <p:nvSpPr>
            <p:cNvPr id="139" name="TextBox 138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구비서류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41" name="직선 연결선 14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3" name="눈물 방울 142"/>
          <p:cNvSpPr/>
          <p:nvPr/>
        </p:nvSpPr>
        <p:spPr>
          <a:xfrm rot="5400000">
            <a:off x="932958" y="408368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8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1054956" y="4423098"/>
            <a:ext cx="69923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구비서류</a:t>
            </a:r>
            <a:r>
              <a:rPr lang="en-US" altLang="ko-KR" sz="900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9" name="눈물 방울 148"/>
          <p:cNvSpPr/>
          <p:nvPr/>
        </p:nvSpPr>
        <p:spPr>
          <a:xfrm rot="5400000">
            <a:off x="3527947" y="440774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0" name="직사각형 149"/>
          <p:cNvSpPr/>
          <p:nvPr/>
        </p:nvSpPr>
        <p:spPr>
          <a:xfrm>
            <a:off x="2559799" y="4400282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775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557846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법인</a:t>
            </a:r>
            <a:r>
              <a:rPr lang="en-US" altLang="ko-KR" sz="1000" dirty="0">
                <a:latin typeface="+mn-ea"/>
                <a:ea typeface="+mn-ea"/>
              </a:rPr>
              <a:t>, </a:t>
            </a:r>
            <a:r>
              <a:rPr lang="ko-KR" altLang="en-US" sz="1000" dirty="0">
                <a:latin typeface="+mn-ea"/>
                <a:ea typeface="+mn-ea"/>
              </a:rPr>
              <a:t>공공기관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3" name="직사각형 82"/>
          <p:cNvSpPr/>
          <p:nvPr/>
        </p:nvSpPr>
        <p:spPr>
          <a:xfrm>
            <a:off x="962696" y="981522"/>
            <a:ext cx="9468000" cy="648072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89" name="그룹 188"/>
          <p:cNvGrpSpPr/>
          <p:nvPr/>
        </p:nvGrpSpPr>
        <p:grpSpPr>
          <a:xfrm>
            <a:off x="1072208" y="2392953"/>
            <a:ext cx="9252000" cy="246221"/>
            <a:chOff x="1072208" y="1117425"/>
            <a:chExt cx="9252000" cy="246221"/>
          </a:xfrm>
        </p:grpSpPr>
        <p:sp>
          <p:nvSpPr>
            <p:cNvPr id="190" name="TextBox 189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</a:p>
          </p:txBody>
        </p:sp>
        <p:cxnSp>
          <p:nvCxnSpPr>
            <p:cNvPr id="191" name="직선 연결선 19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2" name="눈물 방울 191"/>
          <p:cNvSpPr/>
          <p:nvPr/>
        </p:nvSpPr>
        <p:spPr>
          <a:xfrm rot="5400000">
            <a:off x="967461" y="234490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93" name="그룹 192"/>
          <p:cNvGrpSpPr/>
          <p:nvPr/>
        </p:nvGrpSpPr>
        <p:grpSpPr>
          <a:xfrm>
            <a:off x="1072208" y="3575517"/>
            <a:ext cx="9252000" cy="246221"/>
            <a:chOff x="1072208" y="1117425"/>
            <a:chExt cx="9252000" cy="246221"/>
          </a:xfrm>
        </p:grpSpPr>
        <p:sp>
          <p:nvSpPr>
            <p:cNvPr id="194" name="TextBox 193"/>
            <p:cNvSpPr txBox="1"/>
            <p:nvPr/>
          </p:nvSpPr>
          <p:spPr>
            <a:xfrm>
              <a:off x="1072208" y="1117425"/>
              <a:ext cx="8707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신분증 확인</a:t>
              </a:r>
            </a:p>
          </p:txBody>
        </p:sp>
        <p:cxnSp>
          <p:nvCxnSpPr>
            <p:cNvPr id="195" name="직선 연결선 194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1" name="눈물 방울 200"/>
          <p:cNvSpPr/>
          <p:nvPr/>
        </p:nvSpPr>
        <p:spPr>
          <a:xfrm rot="5400000">
            <a:off x="932958" y="358298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04" name="그룹 203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205" name="TextBox 204"/>
            <p:cNvSpPr txBox="1"/>
            <p:nvPr/>
          </p:nvSpPr>
          <p:spPr>
            <a:xfrm>
              <a:off x="1072208" y="1117425"/>
              <a:ext cx="9989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가입유형 선택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06" name="직선 연결선 20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7" name="그룹 206"/>
          <p:cNvGrpSpPr/>
          <p:nvPr/>
        </p:nvGrpSpPr>
        <p:grpSpPr>
          <a:xfrm>
            <a:off x="1072208" y="1521610"/>
            <a:ext cx="3007164" cy="252000"/>
            <a:chOff x="1072208" y="-566622"/>
            <a:chExt cx="3007164" cy="252000"/>
          </a:xfrm>
        </p:grpSpPr>
        <p:sp>
          <p:nvSpPr>
            <p:cNvPr id="208" name="직사각형 207"/>
            <p:cNvSpPr/>
            <p:nvPr/>
          </p:nvSpPr>
          <p:spPr>
            <a:xfrm>
              <a:off x="254483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</a:p>
          </p:txBody>
        </p:sp>
        <p:sp>
          <p:nvSpPr>
            <p:cNvPr id="209" name="직사각형 208"/>
            <p:cNvSpPr/>
            <p:nvPr/>
          </p:nvSpPr>
          <p:spPr>
            <a:xfrm>
              <a:off x="3359372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0" name="TextBox 209"/>
            <p:cNvSpPr txBox="1"/>
            <p:nvPr/>
          </p:nvSpPr>
          <p:spPr>
            <a:xfrm>
              <a:off x="1072208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상품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11" name="그룹 210"/>
          <p:cNvGrpSpPr/>
          <p:nvPr/>
        </p:nvGrpSpPr>
        <p:grpSpPr>
          <a:xfrm>
            <a:off x="1072208" y="1917654"/>
            <a:ext cx="3825050" cy="252000"/>
            <a:chOff x="1072208" y="-566622"/>
            <a:chExt cx="3825050" cy="252000"/>
          </a:xfrm>
        </p:grpSpPr>
        <p:sp>
          <p:nvSpPr>
            <p:cNvPr id="212" name="직사각형 211"/>
            <p:cNvSpPr/>
            <p:nvPr/>
          </p:nvSpPr>
          <p:spPr>
            <a:xfrm>
              <a:off x="2548176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번호이동</a:t>
              </a:r>
            </a:p>
          </p:txBody>
        </p:sp>
        <p:sp>
          <p:nvSpPr>
            <p:cNvPr id="213" name="직사각형 212"/>
            <p:cNvSpPr/>
            <p:nvPr/>
          </p:nvSpPr>
          <p:spPr>
            <a:xfrm>
              <a:off x="3362717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신규가입</a:t>
              </a:r>
            </a:p>
          </p:txBody>
        </p:sp>
        <p:sp>
          <p:nvSpPr>
            <p:cNvPr id="214" name="직사각형 213"/>
            <p:cNvSpPr/>
            <p:nvPr/>
          </p:nvSpPr>
          <p:spPr>
            <a:xfrm>
              <a:off x="417725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기기변경</a:t>
              </a:r>
            </a:p>
          </p:txBody>
        </p:sp>
        <p:sp>
          <p:nvSpPr>
            <p:cNvPr id="215" name="TextBox 214"/>
            <p:cNvSpPr txBox="1"/>
            <p:nvPr/>
          </p:nvSpPr>
          <p:spPr>
            <a:xfrm>
              <a:off x="1072208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가입유형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16" name="눈물 방울 215"/>
          <p:cNvSpPr/>
          <p:nvPr/>
        </p:nvSpPr>
        <p:spPr>
          <a:xfrm rot="5400000">
            <a:off x="967461" y="106818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25" name="그룹 224"/>
          <p:cNvGrpSpPr/>
          <p:nvPr/>
        </p:nvGrpSpPr>
        <p:grpSpPr>
          <a:xfrm>
            <a:off x="1072208" y="4774247"/>
            <a:ext cx="9252000" cy="246221"/>
            <a:chOff x="1072208" y="1117425"/>
            <a:chExt cx="9252000" cy="246221"/>
          </a:xfrm>
        </p:grpSpPr>
        <p:sp>
          <p:nvSpPr>
            <p:cNvPr id="226" name="TextBox 225"/>
            <p:cNvSpPr txBox="1"/>
            <p:nvPr/>
          </p:nvSpPr>
          <p:spPr>
            <a:xfrm>
              <a:off x="1072208" y="1117425"/>
              <a:ext cx="8707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가입자 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정보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27" name="직선 연결선 226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8" name="눈물 방울 227"/>
          <p:cNvSpPr/>
          <p:nvPr/>
        </p:nvSpPr>
        <p:spPr>
          <a:xfrm rot="5400000">
            <a:off x="932957" y="4721412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pSp>
        <p:nvGrpSpPr>
          <p:cNvPr id="94" name="그룹 93"/>
          <p:cNvGrpSpPr/>
          <p:nvPr/>
        </p:nvGrpSpPr>
        <p:grpSpPr>
          <a:xfrm>
            <a:off x="1046392" y="2747214"/>
            <a:ext cx="7867068" cy="252000"/>
            <a:chOff x="640160" y="-566622"/>
            <a:chExt cx="7867068" cy="252000"/>
          </a:xfrm>
        </p:grpSpPr>
        <p:sp>
          <p:nvSpPr>
            <p:cNvPr id="95" name="직사각형 94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96" name="직사각형 95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9" name="직사각형 98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100" name="직사각형 99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118" name="직사각형 117"/>
            <p:cNvSpPr/>
            <p:nvPr/>
          </p:nvSpPr>
          <p:spPr>
            <a:xfrm>
              <a:off x="778722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02" name="그룹 101"/>
          <p:cNvGrpSpPr/>
          <p:nvPr/>
        </p:nvGrpSpPr>
        <p:grpSpPr>
          <a:xfrm>
            <a:off x="1046344" y="3107254"/>
            <a:ext cx="2992231" cy="252000"/>
            <a:chOff x="640160" y="-566622"/>
            <a:chExt cx="2992231" cy="252000"/>
          </a:xfrm>
        </p:grpSpPr>
        <p:sp>
          <p:nvSpPr>
            <p:cNvPr id="103" name="직사각형 102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본인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대표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4" name="직사각형 103"/>
            <p:cNvSpPr/>
            <p:nvPr/>
          </p:nvSpPr>
          <p:spPr>
            <a:xfrm>
              <a:off x="29123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대리인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방문고객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20" name="그룹 119"/>
          <p:cNvGrpSpPr/>
          <p:nvPr/>
        </p:nvGrpSpPr>
        <p:grpSpPr>
          <a:xfrm>
            <a:off x="1072148" y="5122185"/>
            <a:ext cx="6264696" cy="252000"/>
            <a:chOff x="640160" y="-566622"/>
            <a:chExt cx="6264696" cy="252000"/>
          </a:xfrm>
        </p:grpSpPr>
        <p:sp>
          <p:nvSpPr>
            <p:cNvPr id="121" name="TextBox 120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3" name="직사각형 122"/>
            <p:cNvSpPr/>
            <p:nvPr/>
          </p:nvSpPr>
          <p:spPr>
            <a:xfrm>
              <a:off x="2112151" y="-566622"/>
              <a:ext cx="479270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072148" y="5482225"/>
            <a:ext cx="4006570" cy="252000"/>
            <a:chOff x="640160" y="-566622"/>
            <a:chExt cx="4006570" cy="252000"/>
          </a:xfrm>
        </p:grpSpPr>
        <p:sp>
          <p:nvSpPr>
            <p:cNvPr id="132" name="TextBox 131"/>
            <p:cNvSpPr txBox="1"/>
            <p:nvPr/>
          </p:nvSpPr>
          <p:spPr>
            <a:xfrm>
              <a:off x="640160" y="-556038"/>
              <a:ext cx="9300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법인등록번호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7" name="직사각형 136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8" name="TextBox 137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53" name="그룹 152"/>
          <p:cNvGrpSpPr/>
          <p:nvPr/>
        </p:nvGrpSpPr>
        <p:grpSpPr>
          <a:xfrm>
            <a:off x="1059081" y="6922073"/>
            <a:ext cx="5405041" cy="252000"/>
            <a:chOff x="424136" y="-566622"/>
            <a:chExt cx="5405041" cy="252000"/>
          </a:xfrm>
        </p:grpSpPr>
        <p:sp>
          <p:nvSpPr>
            <p:cNvPr id="154" name="TextBox 153"/>
            <p:cNvSpPr txBox="1"/>
            <p:nvPr/>
          </p:nvSpPr>
          <p:spPr>
            <a:xfrm>
              <a:off x="424136" y="-556038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기기변경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5" name="직사각형 154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56" name="직사각형 155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8" name="직사각형 157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9" name="TextBox 158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60" name="오른쪽 중괄호 159"/>
          <p:cNvSpPr/>
          <p:nvPr/>
        </p:nvSpPr>
        <p:spPr>
          <a:xfrm>
            <a:off x="7696844" y="6814345"/>
            <a:ext cx="313910" cy="503881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직사각형 160"/>
          <p:cNvSpPr/>
          <p:nvPr/>
        </p:nvSpPr>
        <p:spPr>
          <a:xfrm>
            <a:off x="8027655" y="6963884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기기변경 인 경우만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52" name="눈물 방울 151"/>
          <p:cNvSpPr/>
          <p:nvPr/>
        </p:nvSpPr>
        <p:spPr>
          <a:xfrm rot="5400000">
            <a:off x="7344311" y="693324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6542862" y="6924031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grpSp>
        <p:nvGrpSpPr>
          <p:cNvPr id="101" name="그룹 100"/>
          <p:cNvGrpSpPr/>
          <p:nvPr/>
        </p:nvGrpSpPr>
        <p:grpSpPr>
          <a:xfrm>
            <a:off x="1072148" y="5842265"/>
            <a:ext cx="5400600" cy="252000"/>
            <a:chOff x="640160" y="-566622"/>
            <a:chExt cx="5400600" cy="252000"/>
          </a:xfrm>
        </p:grpSpPr>
        <p:sp>
          <p:nvSpPr>
            <p:cNvPr id="112" name="TextBox 111"/>
            <p:cNvSpPr txBox="1"/>
            <p:nvPr/>
          </p:nvSpPr>
          <p:spPr>
            <a:xfrm>
              <a:off x="640160" y="-556038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사업자등록번호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3" name="직사각형 112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4" name="직사각형 113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6" name="직사각형 115"/>
            <p:cNvSpPr/>
            <p:nvPr/>
          </p:nvSpPr>
          <p:spPr>
            <a:xfrm>
              <a:off x="487137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5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465954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67" name="그룹 166"/>
          <p:cNvGrpSpPr/>
          <p:nvPr/>
        </p:nvGrpSpPr>
        <p:grpSpPr>
          <a:xfrm>
            <a:off x="1065798" y="6544355"/>
            <a:ext cx="4790428" cy="252000"/>
            <a:chOff x="640160" y="-566622"/>
            <a:chExt cx="4790428" cy="252000"/>
          </a:xfrm>
        </p:grpSpPr>
        <p:sp>
          <p:nvSpPr>
            <p:cNvPr id="168" name="TextBox 167"/>
            <p:cNvSpPr txBox="1"/>
            <p:nvPr/>
          </p:nvSpPr>
          <p:spPr>
            <a:xfrm>
              <a:off x="640160" y="-556038"/>
              <a:ext cx="75052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업종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업태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69" name="그룹 168"/>
            <p:cNvGrpSpPr/>
            <p:nvPr/>
          </p:nvGrpSpPr>
          <p:grpSpPr>
            <a:xfrm>
              <a:off x="2112152" y="-566622"/>
              <a:ext cx="3318436" cy="252000"/>
              <a:chOff x="2112152" y="-566622"/>
              <a:chExt cx="3318436" cy="252000"/>
            </a:xfrm>
          </p:grpSpPr>
          <p:sp>
            <p:nvSpPr>
              <p:cNvPr id="170" name="직사각형 169"/>
              <p:cNvSpPr/>
              <p:nvPr/>
            </p:nvSpPr>
            <p:spPr>
              <a:xfrm>
                <a:off x="2112152" y="-566622"/>
                <a:ext cx="161572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업종 선택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71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2048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72" name="직사각형 171"/>
              <p:cNvSpPr/>
              <p:nvPr/>
            </p:nvSpPr>
            <p:spPr>
              <a:xfrm>
                <a:off x="3814862" y="-566622"/>
                <a:ext cx="161572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업태 입력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</p:grpSp>
      <p:grpSp>
        <p:nvGrpSpPr>
          <p:cNvPr id="173" name="그룹 172"/>
          <p:cNvGrpSpPr/>
          <p:nvPr/>
        </p:nvGrpSpPr>
        <p:grpSpPr>
          <a:xfrm>
            <a:off x="1065798" y="6220291"/>
            <a:ext cx="3087718" cy="252000"/>
            <a:chOff x="640160" y="-566622"/>
            <a:chExt cx="3087718" cy="252000"/>
          </a:xfrm>
        </p:grpSpPr>
        <p:sp>
          <p:nvSpPr>
            <p:cNvPr id="174" name="TextBox 173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대표자명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5" name="직사각형 174"/>
            <p:cNvSpPr/>
            <p:nvPr/>
          </p:nvSpPr>
          <p:spPr>
            <a:xfrm>
              <a:off x="2112152" y="-566622"/>
              <a:ext cx="1615726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대표자명 입력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20" name="오른쪽 중괄호 319"/>
          <p:cNvSpPr/>
          <p:nvPr/>
        </p:nvSpPr>
        <p:spPr>
          <a:xfrm>
            <a:off x="7696944" y="3069930"/>
            <a:ext cx="313910" cy="39576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1" name="직사각형 320"/>
          <p:cNvSpPr/>
          <p:nvPr/>
        </p:nvSpPr>
        <p:spPr>
          <a:xfrm>
            <a:off x="8027755" y="3111565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법인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공공기관만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22" name="오른쪽 중괄호 321"/>
          <p:cNvSpPr/>
          <p:nvPr/>
        </p:nvSpPr>
        <p:spPr>
          <a:xfrm>
            <a:off x="7696944" y="5482305"/>
            <a:ext cx="313910" cy="1303465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3" name="직사각형 322"/>
          <p:cNvSpPr/>
          <p:nvPr/>
        </p:nvSpPr>
        <p:spPr>
          <a:xfrm>
            <a:off x="8027755" y="5991885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법인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공공기관만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06" name="눈물 방울 105"/>
          <p:cNvSpPr/>
          <p:nvPr/>
        </p:nvSpPr>
        <p:spPr>
          <a:xfrm rot="5400000">
            <a:off x="6072804" y="430135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7" name="직사각형 106"/>
          <p:cNvSpPr/>
          <p:nvPr/>
        </p:nvSpPr>
        <p:spPr>
          <a:xfrm>
            <a:off x="5104656" y="4293890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08" name="그룹 107"/>
          <p:cNvGrpSpPr/>
          <p:nvPr/>
        </p:nvGrpSpPr>
        <p:grpSpPr>
          <a:xfrm>
            <a:off x="1072208" y="4293890"/>
            <a:ext cx="3928878" cy="252000"/>
            <a:chOff x="-36790" y="4763928"/>
            <a:chExt cx="3928878" cy="252000"/>
          </a:xfrm>
        </p:grpSpPr>
        <p:sp>
          <p:nvSpPr>
            <p:cNvPr id="109" name="TextBox 108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10" name="그룹 109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11" name="직사각형 110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1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aphicFrame>
        <p:nvGraphicFramePr>
          <p:cNvPr id="122" name="표 1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458439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 예외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grpSp>
        <p:nvGrpSpPr>
          <p:cNvPr id="125" name="그룹 124"/>
          <p:cNvGrpSpPr/>
          <p:nvPr/>
        </p:nvGrpSpPr>
        <p:grpSpPr>
          <a:xfrm>
            <a:off x="1054956" y="3933850"/>
            <a:ext cx="5345844" cy="252000"/>
            <a:chOff x="640160" y="-566622"/>
            <a:chExt cx="5345844" cy="252000"/>
          </a:xfrm>
        </p:grpSpPr>
        <p:sp>
          <p:nvSpPr>
            <p:cNvPr id="127" name="직사각형 126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0" name="직사각형 129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134" name="직사각형 133"/>
            <p:cNvSpPr/>
            <p:nvPr/>
          </p:nvSpPr>
          <p:spPr>
            <a:xfrm>
              <a:off x="4401708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5" name="직사각형 134"/>
            <p:cNvSpPr/>
            <p:nvPr/>
          </p:nvSpPr>
          <p:spPr>
            <a:xfrm>
              <a:off x="5247852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 예외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36" name="눈물 방울 135"/>
          <p:cNvSpPr/>
          <p:nvPr/>
        </p:nvSpPr>
        <p:spPr>
          <a:xfrm rot="5400000">
            <a:off x="7440956" y="394131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9" name="직사각형 138"/>
          <p:cNvSpPr/>
          <p:nvPr/>
        </p:nvSpPr>
        <p:spPr>
          <a:xfrm>
            <a:off x="6472808" y="393385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조회</a:t>
            </a:r>
            <a:r>
              <a:rPr lang="en-US" altLang="ko-KR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6094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110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1449730"/>
              </p:ext>
            </p:extLst>
          </p:nvPr>
        </p:nvGraphicFramePr>
        <p:xfrm>
          <a:off x="10505256" y="788950"/>
          <a:ext cx="2130330" cy="163205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9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법인 실사용자 정보 입력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대리인 위임 정보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생년월일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남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4" name="TextBox 83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법인</a:t>
            </a:r>
            <a:r>
              <a:rPr lang="en-US" altLang="ko-KR" sz="1000" dirty="0">
                <a:latin typeface="+mn-ea"/>
                <a:ea typeface="+mn-ea"/>
              </a:rPr>
              <a:t>, </a:t>
            </a:r>
            <a:r>
              <a:rPr lang="ko-KR" altLang="en-US" sz="1000" dirty="0">
                <a:latin typeface="+mn-ea"/>
                <a:ea typeface="+mn-ea"/>
              </a:rPr>
              <a:t>공공기관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962696" y="981522"/>
            <a:ext cx="9468000" cy="547260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37" name="그룹 136"/>
          <p:cNvGrpSpPr/>
          <p:nvPr/>
        </p:nvGrpSpPr>
        <p:grpSpPr>
          <a:xfrm>
            <a:off x="1072208" y="4292242"/>
            <a:ext cx="9252000" cy="246221"/>
            <a:chOff x="1072208" y="1117425"/>
            <a:chExt cx="9252000" cy="246221"/>
          </a:xfrm>
        </p:grpSpPr>
        <p:sp>
          <p:nvSpPr>
            <p:cNvPr id="138" name="TextBox 137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구비서류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39" name="직선 연결선 138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0" name="눈물 방울 139"/>
          <p:cNvSpPr/>
          <p:nvPr/>
        </p:nvSpPr>
        <p:spPr>
          <a:xfrm rot="5400000">
            <a:off x="932958" y="429970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8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1054956" y="4639122"/>
            <a:ext cx="69923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구비서류</a:t>
            </a:r>
            <a:r>
              <a:rPr lang="en-US" altLang="ko-KR" sz="900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4" name="눈물 방울 143"/>
          <p:cNvSpPr/>
          <p:nvPr/>
        </p:nvSpPr>
        <p:spPr>
          <a:xfrm rot="5400000">
            <a:off x="3527947" y="46237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5" name="직사각형 144"/>
          <p:cNvSpPr/>
          <p:nvPr/>
        </p:nvSpPr>
        <p:spPr>
          <a:xfrm>
            <a:off x="2559799" y="4616306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77" name="그룹 176"/>
          <p:cNvGrpSpPr/>
          <p:nvPr/>
        </p:nvGrpSpPr>
        <p:grpSpPr>
          <a:xfrm>
            <a:off x="1072208" y="1133900"/>
            <a:ext cx="9252000" cy="246221"/>
            <a:chOff x="1072208" y="1117425"/>
            <a:chExt cx="9252000" cy="246221"/>
          </a:xfrm>
        </p:grpSpPr>
        <p:sp>
          <p:nvSpPr>
            <p:cNvPr id="178" name="TextBox 177"/>
            <p:cNvSpPr txBox="1"/>
            <p:nvPr/>
          </p:nvSpPr>
          <p:spPr>
            <a:xfrm>
              <a:off x="1072208" y="1117425"/>
              <a:ext cx="13484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실사용자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정보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79" name="직선 연결선 178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0" name="그룹 179"/>
          <p:cNvGrpSpPr/>
          <p:nvPr/>
        </p:nvGrpSpPr>
        <p:grpSpPr>
          <a:xfrm>
            <a:off x="1072208" y="1493996"/>
            <a:ext cx="5391974" cy="252000"/>
            <a:chOff x="640160" y="-566622"/>
            <a:chExt cx="5391974" cy="252000"/>
          </a:xfrm>
        </p:grpSpPr>
        <p:sp>
          <p:nvSpPr>
            <p:cNvPr id="181" name="TextBox 180"/>
            <p:cNvSpPr txBox="1"/>
            <p:nvPr/>
          </p:nvSpPr>
          <p:spPr>
            <a:xfrm>
              <a:off x="640160" y="-556038"/>
              <a:ext cx="97013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실사용자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83" name="그룹 182"/>
          <p:cNvGrpSpPr/>
          <p:nvPr/>
        </p:nvGrpSpPr>
        <p:grpSpPr>
          <a:xfrm>
            <a:off x="1072208" y="1854036"/>
            <a:ext cx="5391974" cy="252000"/>
            <a:chOff x="640160" y="-566622"/>
            <a:chExt cx="5391974" cy="252000"/>
          </a:xfrm>
        </p:grpSpPr>
        <p:sp>
          <p:nvSpPr>
            <p:cNvPr id="184" name="TextBox 183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2109197" y="-566622"/>
              <a:ext cx="3922937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(YYYYMMDD)</a:t>
              </a:r>
            </a:p>
          </p:txBody>
        </p:sp>
      </p:grpSp>
      <p:grpSp>
        <p:nvGrpSpPr>
          <p:cNvPr id="186" name="그룹 185"/>
          <p:cNvGrpSpPr/>
          <p:nvPr/>
        </p:nvGrpSpPr>
        <p:grpSpPr>
          <a:xfrm>
            <a:off x="6631509" y="1871966"/>
            <a:ext cx="897050" cy="234014"/>
            <a:chOff x="4999694" y="-1228030"/>
            <a:chExt cx="897050" cy="234014"/>
          </a:xfrm>
        </p:grpSpPr>
        <p:grpSp>
          <p:nvGrpSpPr>
            <p:cNvPr id="187" name="그룹 186"/>
            <p:cNvGrpSpPr/>
            <p:nvPr/>
          </p:nvGrpSpPr>
          <p:grpSpPr>
            <a:xfrm>
              <a:off x="4999694" y="-1193269"/>
              <a:ext cx="144000" cy="144000"/>
              <a:chOff x="4999694" y="-1193269"/>
              <a:chExt cx="144000" cy="144000"/>
            </a:xfrm>
          </p:grpSpPr>
          <p:sp>
            <p:nvSpPr>
              <p:cNvPr id="191" name="타원 190"/>
              <p:cNvSpPr/>
              <p:nvPr/>
            </p:nvSpPr>
            <p:spPr>
              <a:xfrm>
                <a:off x="4999694" y="-1193269"/>
                <a:ext cx="144000" cy="144000"/>
              </a:xfrm>
              <a:prstGeom prst="ellipse">
                <a:avLst/>
              </a:prstGeom>
              <a:solidFill>
                <a:schemeClr val="bg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192" name="타원 191"/>
              <p:cNvSpPr/>
              <p:nvPr/>
            </p:nvSpPr>
            <p:spPr>
              <a:xfrm>
                <a:off x="5024022" y="-1177206"/>
                <a:ext cx="108000" cy="108000"/>
              </a:xfrm>
              <a:prstGeom prst="ellipse">
                <a:avLst/>
              </a:prstGeom>
              <a:solidFill>
                <a:schemeClr val="tx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</p:grpSp>
        <p:sp>
          <p:nvSpPr>
            <p:cNvPr id="188" name="타원 187"/>
            <p:cNvSpPr/>
            <p:nvPr/>
          </p:nvSpPr>
          <p:spPr>
            <a:xfrm>
              <a:off x="5519468" y="-1195970"/>
              <a:ext cx="144000" cy="144000"/>
            </a:xfrm>
            <a:prstGeom prst="ellipse">
              <a:avLst/>
            </a:prstGeom>
            <a:solidFill>
              <a:schemeClr val="bg1">
                <a:alpha val="7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89" name="TextBox 188"/>
            <p:cNvSpPr txBox="1"/>
            <p:nvPr/>
          </p:nvSpPr>
          <p:spPr>
            <a:xfrm>
              <a:off x="5096030" y="-1228030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남</a:t>
              </a:r>
            </a:p>
          </p:txBody>
        </p:sp>
        <p:sp>
          <p:nvSpPr>
            <p:cNvPr id="190" name="TextBox 189"/>
            <p:cNvSpPr txBox="1"/>
            <p:nvPr/>
          </p:nvSpPr>
          <p:spPr>
            <a:xfrm>
              <a:off x="5596662" y="-1224848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여</a:t>
              </a:r>
            </a:p>
          </p:txBody>
        </p:sp>
      </p:grpSp>
      <p:sp>
        <p:nvSpPr>
          <p:cNvPr id="193" name="눈물 방울 192"/>
          <p:cNvSpPr/>
          <p:nvPr/>
        </p:nvSpPr>
        <p:spPr>
          <a:xfrm rot="5400000">
            <a:off x="949779" y="104876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9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94" name="그룹 193"/>
          <p:cNvGrpSpPr/>
          <p:nvPr/>
        </p:nvGrpSpPr>
        <p:grpSpPr>
          <a:xfrm>
            <a:off x="1072208" y="2324088"/>
            <a:ext cx="9252000" cy="246221"/>
            <a:chOff x="1072208" y="1117425"/>
            <a:chExt cx="9252000" cy="246221"/>
          </a:xfrm>
        </p:grpSpPr>
        <p:sp>
          <p:nvSpPr>
            <p:cNvPr id="195" name="TextBox 194"/>
            <p:cNvSpPr txBox="1"/>
            <p:nvPr/>
          </p:nvSpPr>
          <p:spPr>
            <a:xfrm>
              <a:off x="1072208" y="1117425"/>
              <a:ext cx="117211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대리인 위임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정보</a:t>
              </a:r>
            </a:p>
          </p:txBody>
        </p:sp>
        <p:cxnSp>
          <p:nvCxnSpPr>
            <p:cNvPr id="196" name="직선 연결선 19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7" name="눈물 방울 196"/>
          <p:cNvSpPr/>
          <p:nvPr/>
        </p:nvSpPr>
        <p:spPr>
          <a:xfrm rot="5400000">
            <a:off x="932957" y="227125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10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98" name="그룹 197"/>
          <p:cNvGrpSpPr/>
          <p:nvPr/>
        </p:nvGrpSpPr>
        <p:grpSpPr>
          <a:xfrm>
            <a:off x="1072208" y="2684184"/>
            <a:ext cx="5391974" cy="252000"/>
            <a:chOff x="640160" y="-566622"/>
            <a:chExt cx="5391974" cy="252000"/>
          </a:xfrm>
        </p:grpSpPr>
        <p:sp>
          <p:nvSpPr>
            <p:cNvPr id="199" name="TextBox 198"/>
            <p:cNvSpPr txBox="1"/>
            <p:nvPr/>
          </p:nvSpPr>
          <p:spPr>
            <a:xfrm>
              <a:off x="640160" y="-556038"/>
              <a:ext cx="124104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위임받은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고객 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0" name="직사각형 199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01" name="그룹 200"/>
          <p:cNvGrpSpPr/>
          <p:nvPr/>
        </p:nvGrpSpPr>
        <p:grpSpPr>
          <a:xfrm>
            <a:off x="1072208" y="3044224"/>
            <a:ext cx="5391974" cy="252000"/>
            <a:chOff x="640160" y="-566622"/>
            <a:chExt cx="5391974" cy="252000"/>
          </a:xfrm>
        </p:grpSpPr>
        <p:sp>
          <p:nvSpPr>
            <p:cNvPr id="202" name="TextBox 201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3" name="직사각형 202"/>
            <p:cNvSpPr/>
            <p:nvPr/>
          </p:nvSpPr>
          <p:spPr>
            <a:xfrm>
              <a:off x="2109197" y="-566622"/>
              <a:ext cx="3922937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(YYYYMMDD)</a:t>
              </a:r>
            </a:p>
          </p:txBody>
        </p:sp>
      </p:grpSp>
      <p:grpSp>
        <p:nvGrpSpPr>
          <p:cNvPr id="204" name="그룹 203"/>
          <p:cNvGrpSpPr/>
          <p:nvPr/>
        </p:nvGrpSpPr>
        <p:grpSpPr>
          <a:xfrm>
            <a:off x="1059141" y="3764248"/>
            <a:ext cx="5405041" cy="252000"/>
            <a:chOff x="424136" y="-566622"/>
            <a:chExt cx="5405041" cy="252000"/>
          </a:xfrm>
        </p:grpSpPr>
        <p:sp>
          <p:nvSpPr>
            <p:cNvPr id="205" name="TextBox 204"/>
            <p:cNvSpPr txBox="1"/>
            <p:nvPr/>
          </p:nvSpPr>
          <p:spPr>
            <a:xfrm>
              <a:off x="424136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6" name="직사각형 205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7" name="직사각형 206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8" name="TextBox 207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9" name="직사각형 208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0" name="TextBox 209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11" name="그룹 210"/>
          <p:cNvGrpSpPr/>
          <p:nvPr/>
        </p:nvGrpSpPr>
        <p:grpSpPr>
          <a:xfrm>
            <a:off x="6631509" y="3062154"/>
            <a:ext cx="897050" cy="234014"/>
            <a:chOff x="4999694" y="-1228030"/>
            <a:chExt cx="897050" cy="234014"/>
          </a:xfrm>
        </p:grpSpPr>
        <p:grpSp>
          <p:nvGrpSpPr>
            <p:cNvPr id="212" name="그룹 211"/>
            <p:cNvGrpSpPr/>
            <p:nvPr/>
          </p:nvGrpSpPr>
          <p:grpSpPr>
            <a:xfrm>
              <a:off x="4999694" y="-1193269"/>
              <a:ext cx="144000" cy="144000"/>
              <a:chOff x="4999694" y="-1193269"/>
              <a:chExt cx="144000" cy="144000"/>
            </a:xfrm>
          </p:grpSpPr>
          <p:sp>
            <p:nvSpPr>
              <p:cNvPr id="216" name="타원 215"/>
              <p:cNvSpPr/>
              <p:nvPr/>
            </p:nvSpPr>
            <p:spPr>
              <a:xfrm>
                <a:off x="4999694" y="-1193269"/>
                <a:ext cx="144000" cy="144000"/>
              </a:xfrm>
              <a:prstGeom prst="ellipse">
                <a:avLst/>
              </a:prstGeom>
              <a:solidFill>
                <a:schemeClr val="bg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217" name="타원 216"/>
              <p:cNvSpPr/>
              <p:nvPr/>
            </p:nvSpPr>
            <p:spPr>
              <a:xfrm>
                <a:off x="5024022" y="-1177206"/>
                <a:ext cx="108000" cy="108000"/>
              </a:xfrm>
              <a:prstGeom prst="ellipse">
                <a:avLst/>
              </a:prstGeom>
              <a:solidFill>
                <a:schemeClr val="tx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</p:grpSp>
        <p:sp>
          <p:nvSpPr>
            <p:cNvPr id="213" name="타원 212"/>
            <p:cNvSpPr/>
            <p:nvPr/>
          </p:nvSpPr>
          <p:spPr>
            <a:xfrm>
              <a:off x="5519468" y="-1195970"/>
              <a:ext cx="144000" cy="144000"/>
            </a:xfrm>
            <a:prstGeom prst="ellipse">
              <a:avLst/>
            </a:prstGeom>
            <a:solidFill>
              <a:schemeClr val="bg1">
                <a:alpha val="7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14" name="TextBox 213"/>
            <p:cNvSpPr txBox="1"/>
            <p:nvPr/>
          </p:nvSpPr>
          <p:spPr>
            <a:xfrm>
              <a:off x="5096030" y="-1228030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남</a:t>
              </a:r>
            </a:p>
          </p:txBody>
        </p:sp>
        <p:sp>
          <p:nvSpPr>
            <p:cNvPr id="215" name="TextBox 214"/>
            <p:cNvSpPr txBox="1"/>
            <p:nvPr/>
          </p:nvSpPr>
          <p:spPr>
            <a:xfrm>
              <a:off x="5596662" y="-1224848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여</a:t>
              </a:r>
            </a:p>
          </p:txBody>
        </p:sp>
      </p:grpSp>
      <p:grpSp>
        <p:nvGrpSpPr>
          <p:cNvPr id="218" name="그룹 217"/>
          <p:cNvGrpSpPr/>
          <p:nvPr/>
        </p:nvGrpSpPr>
        <p:grpSpPr>
          <a:xfrm>
            <a:off x="1072208" y="3404208"/>
            <a:ext cx="3087718" cy="252000"/>
            <a:chOff x="640160" y="-566622"/>
            <a:chExt cx="3087718" cy="252000"/>
          </a:xfrm>
        </p:grpSpPr>
        <p:sp>
          <p:nvSpPr>
            <p:cNvPr id="219" name="TextBox 218"/>
            <p:cNvSpPr txBox="1"/>
            <p:nvPr/>
          </p:nvSpPr>
          <p:spPr>
            <a:xfrm>
              <a:off x="640160" y="-556038"/>
              <a:ext cx="108555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신청인과의 관계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220" name="그룹 219"/>
            <p:cNvGrpSpPr/>
            <p:nvPr/>
          </p:nvGrpSpPr>
          <p:grpSpPr>
            <a:xfrm>
              <a:off x="2112152" y="-566622"/>
              <a:ext cx="1615726" cy="252000"/>
              <a:chOff x="2112152" y="-566622"/>
              <a:chExt cx="1615726" cy="252000"/>
            </a:xfrm>
          </p:grpSpPr>
          <p:sp>
            <p:nvSpPr>
              <p:cNvPr id="221" name="직사각형 220"/>
              <p:cNvSpPr/>
              <p:nvPr/>
            </p:nvSpPr>
            <p:spPr>
              <a:xfrm>
                <a:off x="2112152" y="-566622"/>
                <a:ext cx="161572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222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2048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223" name="오른쪽 중괄호 222"/>
          <p:cNvSpPr/>
          <p:nvPr/>
        </p:nvSpPr>
        <p:spPr>
          <a:xfrm>
            <a:off x="7696904" y="2276018"/>
            <a:ext cx="313910" cy="18002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4" name="직사각형 223"/>
          <p:cNvSpPr/>
          <p:nvPr/>
        </p:nvSpPr>
        <p:spPr>
          <a:xfrm>
            <a:off x="8027715" y="3109917"/>
            <a:ext cx="227756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방문고객이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대리인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경우만 영역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1892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55" name="직사각형 154"/>
          <p:cNvSpPr/>
          <p:nvPr/>
        </p:nvSpPr>
        <p:spPr>
          <a:xfrm>
            <a:off x="970931" y="974392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가입유형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 ‘USIM’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선택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78" name="직사각형 177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83" name="눈물 방울 82"/>
          <p:cNvSpPr/>
          <p:nvPr/>
        </p:nvSpPr>
        <p:spPr>
          <a:xfrm rot="5400000">
            <a:off x="356894" y="97675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54" name="그룹 53"/>
          <p:cNvGrpSpPr/>
          <p:nvPr/>
        </p:nvGrpSpPr>
        <p:grpSpPr>
          <a:xfrm>
            <a:off x="1072208" y="1341562"/>
            <a:ext cx="3007164" cy="252000"/>
            <a:chOff x="1072208" y="-566622"/>
            <a:chExt cx="3007164" cy="252000"/>
          </a:xfrm>
        </p:grpSpPr>
        <p:sp>
          <p:nvSpPr>
            <p:cNvPr id="55" name="직사각형 54"/>
            <p:cNvSpPr/>
            <p:nvPr/>
          </p:nvSpPr>
          <p:spPr>
            <a:xfrm>
              <a:off x="254483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</a:t>
              </a: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3359372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USIM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1072208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상품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59" name="그룹 58"/>
          <p:cNvGrpSpPr/>
          <p:nvPr/>
        </p:nvGrpSpPr>
        <p:grpSpPr>
          <a:xfrm>
            <a:off x="1072208" y="1737606"/>
            <a:ext cx="3007084" cy="252000"/>
            <a:chOff x="1072208" y="-566622"/>
            <a:chExt cx="3007084" cy="252000"/>
          </a:xfrm>
        </p:grpSpPr>
        <p:sp>
          <p:nvSpPr>
            <p:cNvPr id="60" name="직사각형 59"/>
            <p:cNvSpPr/>
            <p:nvPr/>
          </p:nvSpPr>
          <p:spPr>
            <a:xfrm>
              <a:off x="254475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번호이동</a:t>
              </a: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3359292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신규가입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072208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가입유형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08" name="눈물 방울 107"/>
          <p:cNvSpPr/>
          <p:nvPr/>
        </p:nvSpPr>
        <p:spPr>
          <a:xfrm rot="5400000">
            <a:off x="4999314" y="96962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1" name="직사각형 110"/>
          <p:cNvSpPr/>
          <p:nvPr/>
        </p:nvSpPr>
        <p:spPr>
          <a:xfrm>
            <a:off x="5613351" y="931963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신분증 선택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5699377" y="1682240"/>
            <a:ext cx="5256790" cy="252000"/>
            <a:chOff x="640160" y="-566622"/>
            <a:chExt cx="5256790" cy="252000"/>
          </a:xfrm>
        </p:grpSpPr>
        <p:sp>
          <p:nvSpPr>
            <p:cNvPr id="113" name="직사각형 112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5" name="직사각형 114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116" name="직사각형 115"/>
            <p:cNvSpPr/>
            <p:nvPr/>
          </p:nvSpPr>
          <p:spPr>
            <a:xfrm>
              <a:off x="4401708" y="-566622"/>
              <a:ext cx="70503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안면인증</a:t>
              </a:r>
            </a:p>
          </p:txBody>
        </p:sp>
        <p:sp>
          <p:nvSpPr>
            <p:cNvPr id="183" name="직사각형 182"/>
            <p:cNvSpPr/>
            <p:nvPr/>
          </p:nvSpPr>
          <p:spPr>
            <a:xfrm>
              <a:off x="5191915" y="-566622"/>
              <a:ext cx="70503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 예외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17" name="눈물 방울 116"/>
          <p:cNvSpPr/>
          <p:nvPr/>
        </p:nvSpPr>
        <p:spPr>
          <a:xfrm rot="5400000">
            <a:off x="12083376" y="168970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11115228" y="168224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조회</a:t>
            </a:r>
            <a:r>
              <a:rPr lang="en-US" altLang="ko-KR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19" name="그룹 118"/>
          <p:cNvGrpSpPr/>
          <p:nvPr/>
        </p:nvGrpSpPr>
        <p:grpSpPr>
          <a:xfrm>
            <a:off x="5699377" y="1286168"/>
            <a:ext cx="5256790" cy="252056"/>
            <a:chOff x="640160" y="-566678"/>
            <a:chExt cx="5256790" cy="252056"/>
          </a:xfrm>
        </p:grpSpPr>
        <p:sp>
          <p:nvSpPr>
            <p:cNvPr id="120" name="직사각형 119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2" name="직사각형 121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123" name="직사각형 122"/>
            <p:cNvSpPr/>
            <p:nvPr/>
          </p:nvSpPr>
          <p:spPr>
            <a:xfrm>
              <a:off x="4401708" y="-566622"/>
              <a:ext cx="70503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</a:t>
              </a:r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5191915" y="-566678"/>
              <a:ext cx="70503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 예외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24" name="눈물 방울 123"/>
          <p:cNvSpPr/>
          <p:nvPr/>
        </p:nvSpPr>
        <p:spPr>
          <a:xfrm rot="5400000">
            <a:off x="12083376" y="129369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11115228" y="1286224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조회</a:t>
            </a:r>
            <a:r>
              <a:rPr lang="en-US" altLang="ko-KR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33" name="그룹 32"/>
          <p:cNvGrpSpPr/>
          <p:nvPr/>
        </p:nvGrpSpPr>
        <p:grpSpPr>
          <a:xfrm>
            <a:off x="1072208" y="2883927"/>
            <a:ext cx="3928878" cy="1800200"/>
            <a:chOff x="-36790" y="4763928"/>
            <a:chExt cx="3928878" cy="1800200"/>
          </a:xfrm>
        </p:grpSpPr>
        <p:sp>
          <p:nvSpPr>
            <p:cNvPr id="34" name="TextBox 33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35" name="그룹 34"/>
            <p:cNvGrpSpPr/>
            <p:nvPr/>
          </p:nvGrpSpPr>
          <p:grpSpPr>
            <a:xfrm>
              <a:off x="1425710" y="4763928"/>
              <a:ext cx="2466378" cy="1800200"/>
              <a:chOff x="1768498" y="-566622"/>
              <a:chExt cx="2466378" cy="1800200"/>
            </a:xfrm>
          </p:grpSpPr>
          <p:sp>
            <p:nvSpPr>
              <p:cNvPr id="36" name="직사각형 35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37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38" name="직사각형 37"/>
              <p:cNvSpPr/>
              <p:nvPr/>
            </p:nvSpPr>
            <p:spPr>
              <a:xfrm>
                <a:off x="1768498" y="-314566"/>
                <a:ext cx="2459840" cy="1548144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72000" rIns="0" bIns="72000" rtlCol="0" anchor="t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주민등록증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운전면허증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국내여권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외국인등록증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err="1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영주증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err="1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국내거소신고증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국가보훈증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</p:grpSp>
      <p:sp>
        <p:nvSpPr>
          <p:cNvPr id="48" name="눈물 방울 47"/>
          <p:cNvSpPr/>
          <p:nvPr/>
        </p:nvSpPr>
        <p:spPr>
          <a:xfrm rot="5400000">
            <a:off x="6072804" y="289139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5104656" y="2883927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73" name="그룹 72"/>
          <p:cNvGrpSpPr/>
          <p:nvPr/>
        </p:nvGrpSpPr>
        <p:grpSpPr>
          <a:xfrm>
            <a:off x="1072208" y="5476215"/>
            <a:ext cx="3928878" cy="252000"/>
            <a:chOff x="-36790" y="4763928"/>
            <a:chExt cx="3928878" cy="252000"/>
          </a:xfrm>
        </p:grpSpPr>
        <p:sp>
          <p:nvSpPr>
            <p:cNvPr id="74" name="TextBox 73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75" name="그룹 74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76" name="직사각형 75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운전면허증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77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79" name="눈물 방울 78"/>
          <p:cNvSpPr/>
          <p:nvPr/>
        </p:nvSpPr>
        <p:spPr>
          <a:xfrm rot="5400000">
            <a:off x="6048227" y="548368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5080079" y="5476215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5786290" y="5796761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발급 일자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(YYYY.MM.DD)</a:t>
            </a:r>
          </a:p>
        </p:txBody>
      </p:sp>
      <p:pic>
        <p:nvPicPr>
          <p:cNvPr id="8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4515" y="5829495"/>
            <a:ext cx="196097" cy="1865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5" name="직사각형 84"/>
          <p:cNvSpPr/>
          <p:nvPr/>
        </p:nvSpPr>
        <p:spPr>
          <a:xfrm>
            <a:off x="2535228" y="5786177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면허번호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89" name="그룹 88"/>
          <p:cNvGrpSpPr/>
          <p:nvPr/>
        </p:nvGrpSpPr>
        <p:grpSpPr>
          <a:xfrm>
            <a:off x="4470344" y="5800279"/>
            <a:ext cx="1229920" cy="252000"/>
            <a:chOff x="1775036" y="-566622"/>
            <a:chExt cx="1229920" cy="252000"/>
          </a:xfrm>
        </p:grpSpPr>
        <p:sp>
          <p:nvSpPr>
            <p:cNvPr id="90" name="직사각형 89"/>
            <p:cNvSpPr/>
            <p:nvPr/>
          </p:nvSpPr>
          <p:spPr>
            <a:xfrm>
              <a:off x="1775036" y="-566622"/>
              <a:ext cx="122992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면허지역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91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48232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69" name="그룹 68"/>
          <p:cNvGrpSpPr/>
          <p:nvPr/>
        </p:nvGrpSpPr>
        <p:grpSpPr>
          <a:xfrm>
            <a:off x="1072208" y="4780023"/>
            <a:ext cx="3928878" cy="252000"/>
            <a:chOff x="-36790" y="4763928"/>
            <a:chExt cx="3928878" cy="252000"/>
          </a:xfrm>
        </p:grpSpPr>
        <p:sp>
          <p:nvSpPr>
            <p:cNvPr id="70" name="TextBox 69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71" name="그룹 70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72" name="직사각형 71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주민등록증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78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86" name="눈물 방울 85"/>
          <p:cNvSpPr/>
          <p:nvPr/>
        </p:nvSpPr>
        <p:spPr>
          <a:xfrm rot="5400000">
            <a:off x="6048227" y="478749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7" name="직사각형 86"/>
          <p:cNvSpPr/>
          <p:nvPr/>
        </p:nvSpPr>
        <p:spPr>
          <a:xfrm>
            <a:off x="5080079" y="4780023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2541246" y="5080199"/>
            <a:ext cx="1800000" cy="252000"/>
            <a:chOff x="8355718" y="5478532"/>
            <a:chExt cx="1800000" cy="252000"/>
          </a:xfrm>
        </p:grpSpPr>
        <p:sp>
          <p:nvSpPr>
            <p:cNvPr id="88" name="직사각형 87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92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98" name="그룹 97"/>
          <p:cNvGrpSpPr/>
          <p:nvPr/>
        </p:nvGrpSpPr>
        <p:grpSpPr>
          <a:xfrm>
            <a:off x="7192888" y="3496023"/>
            <a:ext cx="3928878" cy="252000"/>
            <a:chOff x="-36790" y="4763928"/>
            <a:chExt cx="3928878" cy="252000"/>
          </a:xfrm>
        </p:grpSpPr>
        <p:sp>
          <p:nvSpPr>
            <p:cNvPr id="99" name="TextBox 98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00" name="그룹 99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01" name="직사각형 100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외국인등록증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02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03" name="눈물 방울 102"/>
          <p:cNvSpPr/>
          <p:nvPr/>
        </p:nvSpPr>
        <p:spPr>
          <a:xfrm rot="5400000">
            <a:off x="12168907" y="350349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4" name="직사각형 103"/>
          <p:cNvSpPr/>
          <p:nvPr/>
        </p:nvSpPr>
        <p:spPr>
          <a:xfrm>
            <a:off x="11200759" y="3496023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09" name="그룹 108"/>
          <p:cNvGrpSpPr/>
          <p:nvPr/>
        </p:nvGrpSpPr>
        <p:grpSpPr>
          <a:xfrm>
            <a:off x="8690016" y="3796143"/>
            <a:ext cx="1800000" cy="252000"/>
            <a:chOff x="2978346" y="4761970"/>
            <a:chExt cx="1800000" cy="252000"/>
          </a:xfrm>
        </p:grpSpPr>
        <p:sp>
          <p:nvSpPr>
            <p:cNvPr id="126" name="직사각형 125"/>
            <p:cNvSpPr/>
            <p:nvPr/>
          </p:nvSpPr>
          <p:spPr>
            <a:xfrm>
              <a:off x="2978346" y="4761970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127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79774" y="4797914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31" name="그룹 130"/>
          <p:cNvGrpSpPr/>
          <p:nvPr/>
        </p:nvGrpSpPr>
        <p:grpSpPr>
          <a:xfrm>
            <a:off x="7192888" y="2847951"/>
            <a:ext cx="3928878" cy="252000"/>
            <a:chOff x="-36790" y="4763928"/>
            <a:chExt cx="3928878" cy="252000"/>
          </a:xfrm>
        </p:grpSpPr>
        <p:sp>
          <p:nvSpPr>
            <p:cNvPr id="132" name="TextBox 131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33" name="그룹 132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34" name="직사각형 133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국내여권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35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36" name="눈물 방울 135"/>
          <p:cNvSpPr/>
          <p:nvPr/>
        </p:nvSpPr>
        <p:spPr>
          <a:xfrm rot="5400000">
            <a:off x="12168907" y="285541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7" name="직사각형 136"/>
          <p:cNvSpPr/>
          <p:nvPr/>
        </p:nvSpPr>
        <p:spPr>
          <a:xfrm>
            <a:off x="11200759" y="2847951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38" name="그룹 137"/>
          <p:cNvGrpSpPr/>
          <p:nvPr/>
        </p:nvGrpSpPr>
        <p:grpSpPr>
          <a:xfrm>
            <a:off x="8661926" y="3135983"/>
            <a:ext cx="1800000" cy="252000"/>
            <a:chOff x="8355718" y="5478532"/>
            <a:chExt cx="1800000" cy="252000"/>
          </a:xfrm>
        </p:grpSpPr>
        <p:sp>
          <p:nvSpPr>
            <p:cNvPr id="139" name="직사각형 138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140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41" name="그룹 140"/>
          <p:cNvGrpSpPr/>
          <p:nvPr/>
        </p:nvGrpSpPr>
        <p:grpSpPr>
          <a:xfrm>
            <a:off x="7192888" y="4108119"/>
            <a:ext cx="3928878" cy="252000"/>
            <a:chOff x="-36790" y="4763928"/>
            <a:chExt cx="3928878" cy="252000"/>
          </a:xfrm>
        </p:grpSpPr>
        <p:sp>
          <p:nvSpPr>
            <p:cNvPr id="142" name="TextBox 141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43" name="그룹 142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44" name="직사각형 143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err="1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영주증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45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46" name="눈물 방울 145"/>
          <p:cNvSpPr/>
          <p:nvPr/>
        </p:nvSpPr>
        <p:spPr>
          <a:xfrm rot="5400000">
            <a:off x="12168907" y="411558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7" name="직사각형 146"/>
          <p:cNvSpPr/>
          <p:nvPr/>
        </p:nvSpPr>
        <p:spPr>
          <a:xfrm>
            <a:off x="11200759" y="4108119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48" name="그룹 147"/>
          <p:cNvGrpSpPr/>
          <p:nvPr/>
        </p:nvGrpSpPr>
        <p:grpSpPr>
          <a:xfrm>
            <a:off x="8661926" y="4396151"/>
            <a:ext cx="1800000" cy="252000"/>
            <a:chOff x="8355718" y="5478532"/>
            <a:chExt cx="1800000" cy="252000"/>
          </a:xfrm>
        </p:grpSpPr>
        <p:sp>
          <p:nvSpPr>
            <p:cNvPr id="149" name="직사각형 148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150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51" name="그룹 150"/>
          <p:cNvGrpSpPr/>
          <p:nvPr/>
        </p:nvGrpSpPr>
        <p:grpSpPr>
          <a:xfrm>
            <a:off x="7192888" y="4720159"/>
            <a:ext cx="3928878" cy="252000"/>
            <a:chOff x="-36790" y="4763928"/>
            <a:chExt cx="3928878" cy="252000"/>
          </a:xfrm>
        </p:grpSpPr>
        <p:sp>
          <p:nvSpPr>
            <p:cNvPr id="152" name="TextBox 151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53" name="그룹 152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54" name="직사각형 153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국내거소신고증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56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57" name="눈물 방울 156"/>
          <p:cNvSpPr/>
          <p:nvPr/>
        </p:nvSpPr>
        <p:spPr>
          <a:xfrm rot="5400000">
            <a:off x="12168907" y="472762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8" name="직사각형 157"/>
          <p:cNvSpPr/>
          <p:nvPr/>
        </p:nvSpPr>
        <p:spPr>
          <a:xfrm>
            <a:off x="11200759" y="4720159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59" name="그룹 158"/>
          <p:cNvGrpSpPr/>
          <p:nvPr/>
        </p:nvGrpSpPr>
        <p:grpSpPr>
          <a:xfrm>
            <a:off x="8661926" y="5008191"/>
            <a:ext cx="1800000" cy="252000"/>
            <a:chOff x="8355718" y="5478532"/>
            <a:chExt cx="1800000" cy="252000"/>
          </a:xfrm>
        </p:grpSpPr>
        <p:sp>
          <p:nvSpPr>
            <p:cNvPr id="160" name="직사각형 159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161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62" name="그룹 161"/>
          <p:cNvGrpSpPr/>
          <p:nvPr/>
        </p:nvGrpSpPr>
        <p:grpSpPr>
          <a:xfrm>
            <a:off x="7192888" y="5332255"/>
            <a:ext cx="3928878" cy="252000"/>
            <a:chOff x="-36790" y="4763928"/>
            <a:chExt cx="3928878" cy="252000"/>
          </a:xfrm>
        </p:grpSpPr>
        <p:sp>
          <p:nvSpPr>
            <p:cNvPr id="163" name="TextBox 162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64" name="그룹 163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65" name="직사각형 164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국가보훈증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66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67" name="눈물 방울 166"/>
          <p:cNvSpPr/>
          <p:nvPr/>
        </p:nvSpPr>
        <p:spPr>
          <a:xfrm rot="5400000">
            <a:off x="12168907" y="533972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68" name="직사각형 167"/>
          <p:cNvSpPr/>
          <p:nvPr/>
        </p:nvSpPr>
        <p:spPr>
          <a:xfrm>
            <a:off x="11200759" y="5332255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69" name="그룹 168"/>
          <p:cNvGrpSpPr/>
          <p:nvPr/>
        </p:nvGrpSpPr>
        <p:grpSpPr>
          <a:xfrm>
            <a:off x="8661926" y="5620287"/>
            <a:ext cx="1800000" cy="252000"/>
            <a:chOff x="8355718" y="5478532"/>
            <a:chExt cx="1800000" cy="252000"/>
          </a:xfrm>
        </p:grpSpPr>
        <p:sp>
          <p:nvSpPr>
            <p:cNvPr id="170" name="직사각형 169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171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172" name="눈물 방울 171"/>
          <p:cNvSpPr/>
          <p:nvPr/>
        </p:nvSpPr>
        <p:spPr>
          <a:xfrm rot="5400000">
            <a:off x="356894" y="267537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73" name="직사각형 172"/>
          <p:cNvSpPr/>
          <p:nvPr/>
        </p:nvSpPr>
        <p:spPr>
          <a:xfrm>
            <a:off x="970931" y="2637706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신분증 스캔 선택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84" name="그룹 183"/>
          <p:cNvGrpSpPr/>
          <p:nvPr/>
        </p:nvGrpSpPr>
        <p:grpSpPr>
          <a:xfrm>
            <a:off x="5693850" y="2061642"/>
            <a:ext cx="5256790" cy="252000"/>
            <a:chOff x="640160" y="-566622"/>
            <a:chExt cx="5256790" cy="252000"/>
          </a:xfrm>
        </p:grpSpPr>
        <p:sp>
          <p:nvSpPr>
            <p:cNvPr id="185" name="직사각형 184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</a:p>
          </p:txBody>
        </p:sp>
        <p:sp>
          <p:nvSpPr>
            <p:cNvPr id="186" name="TextBox 185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7" name="직사각형 186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188" name="직사각형 187"/>
            <p:cNvSpPr/>
            <p:nvPr/>
          </p:nvSpPr>
          <p:spPr>
            <a:xfrm>
              <a:off x="4401708" y="-566622"/>
              <a:ext cx="70503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</a:t>
              </a:r>
            </a:p>
          </p:txBody>
        </p:sp>
        <p:sp>
          <p:nvSpPr>
            <p:cNvPr id="189" name="직사각형 188"/>
            <p:cNvSpPr/>
            <p:nvPr/>
          </p:nvSpPr>
          <p:spPr>
            <a:xfrm>
              <a:off x="5191915" y="-566622"/>
              <a:ext cx="70503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인증 예외</a:t>
              </a:r>
            </a:p>
          </p:txBody>
        </p:sp>
      </p:grpSp>
      <p:graphicFrame>
        <p:nvGraphicFramePr>
          <p:cNvPr id="192" name="표 1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212979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 예외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88856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63" name="그룹 62"/>
          <p:cNvGrpSpPr/>
          <p:nvPr/>
        </p:nvGrpSpPr>
        <p:grpSpPr>
          <a:xfrm>
            <a:off x="1107206" y="1267595"/>
            <a:ext cx="5405041" cy="252000"/>
            <a:chOff x="424136" y="-566622"/>
            <a:chExt cx="5405041" cy="252000"/>
          </a:xfrm>
        </p:grpSpPr>
        <p:sp>
          <p:nvSpPr>
            <p:cNvPr id="64" name="TextBox 63"/>
            <p:cNvSpPr txBox="1"/>
            <p:nvPr/>
          </p:nvSpPr>
          <p:spPr>
            <a:xfrm>
              <a:off x="424136" y="-556038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기기변경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66" name="직사각형 65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71" name="눈물 방울 70"/>
          <p:cNvSpPr/>
          <p:nvPr/>
        </p:nvSpPr>
        <p:spPr>
          <a:xfrm rot="5400000">
            <a:off x="7392436" y="127876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6590987" y="1269553"/>
            <a:ext cx="7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grpSp>
        <p:nvGrpSpPr>
          <p:cNvPr id="73" name="그룹 72"/>
          <p:cNvGrpSpPr/>
          <p:nvPr/>
        </p:nvGrpSpPr>
        <p:grpSpPr>
          <a:xfrm>
            <a:off x="1113897" y="2023707"/>
            <a:ext cx="5405041" cy="252000"/>
            <a:chOff x="424136" y="-566622"/>
            <a:chExt cx="5405041" cy="252000"/>
          </a:xfrm>
        </p:grpSpPr>
        <p:sp>
          <p:nvSpPr>
            <p:cNvPr id="74" name="TextBox 73"/>
            <p:cNvSpPr txBox="1"/>
            <p:nvPr/>
          </p:nvSpPr>
          <p:spPr>
            <a:xfrm>
              <a:off x="424136" y="-556038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기기변경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5" name="직사각형 74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76" name="직사각형 75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81" name="눈물 방울 80"/>
          <p:cNvSpPr/>
          <p:nvPr/>
        </p:nvSpPr>
        <p:spPr>
          <a:xfrm rot="5400000">
            <a:off x="7399127" y="203487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6597678" y="2025665"/>
            <a:ext cx="7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 완료</a:t>
            </a:r>
          </a:p>
        </p:txBody>
      </p:sp>
      <p:sp>
        <p:nvSpPr>
          <p:cNvPr id="84" name="직사각형 83"/>
          <p:cNvSpPr/>
          <p:nvPr/>
        </p:nvSpPr>
        <p:spPr>
          <a:xfrm>
            <a:off x="928192" y="981521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85" name="직사각형 84"/>
          <p:cNvSpPr/>
          <p:nvPr/>
        </p:nvSpPr>
        <p:spPr>
          <a:xfrm>
            <a:off x="928192" y="1743412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86" name="그룹 85"/>
          <p:cNvGrpSpPr/>
          <p:nvPr/>
        </p:nvGrpSpPr>
        <p:grpSpPr>
          <a:xfrm>
            <a:off x="867991" y="3328874"/>
            <a:ext cx="2881818" cy="1397063"/>
            <a:chOff x="5875124" y="3832891"/>
            <a:chExt cx="2881818" cy="1397063"/>
          </a:xfrm>
        </p:grpSpPr>
        <p:sp>
          <p:nvSpPr>
            <p:cNvPr id="87" name="직사각형 86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89" name="직사각형 88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고객 정보와 휴대폰번호가 일치하지 않습니다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휴대폰번호를 다시 확인해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90" name="직사각형 89"/>
          <p:cNvSpPr/>
          <p:nvPr/>
        </p:nvSpPr>
        <p:spPr>
          <a:xfrm>
            <a:off x="922002" y="3034020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휴대폰번호 유효성 오류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91" name="눈물 방울 90"/>
          <p:cNvSpPr/>
          <p:nvPr/>
        </p:nvSpPr>
        <p:spPr>
          <a:xfrm rot="5400000">
            <a:off x="356894" y="303607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92" name="그룹 91"/>
          <p:cNvGrpSpPr/>
          <p:nvPr/>
        </p:nvGrpSpPr>
        <p:grpSpPr>
          <a:xfrm>
            <a:off x="4095046" y="3328874"/>
            <a:ext cx="2881818" cy="1397063"/>
            <a:chOff x="5875124" y="3832891"/>
            <a:chExt cx="2881818" cy="1397063"/>
          </a:xfrm>
        </p:grpSpPr>
        <p:sp>
          <p:nvSpPr>
            <p:cNvPr id="93" name="직사각형 92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 인증이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96" name="직사각형 95"/>
          <p:cNvSpPr/>
          <p:nvPr/>
        </p:nvSpPr>
        <p:spPr>
          <a:xfrm>
            <a:off x="4149057" y="3034020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휴대폰번호 유효성 체크 완료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97" name="직사각형 96"/>
          <p:cNvSpPr/>
          <p:nvPr/>
        </p:nvSpPr>
        <p:spPr>
          <a:xfrm>
            <a:off x="173136" y="621482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98" name="직사각형 97"/>
          <p:cNvSpPr/>
          <p:nvPr/>
        </p:nvSpPr>
        <p:spPr>
          <a:xfrm>
            <a:off x="173136" y="2658611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99" name="눈물 방울 98"/>
          <p:cNvSpPr/>
          <p:nvPr/>
        </p:nvSpPr>
        <p:spPr>
          <a:xfrm rot="5400000">
            <a:off x="356894" y="97675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85168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 smtClean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 smtClean="0">
                <a:latin typeface="+mn-ea"/>
                <a:ea typeface="+mn-ea"/>
              </a:rPr>
              <a:t>), </a:t>
            </a:r>
            <a:r>
              <a:rPr lang="ko-KR" altLang="en-US" sz="1000" dirty="0" smtClean="0">
                <a:latin typeface="+mn-ea"/>
                <a:ea typeface="+mn-ea"/>
              </a:rPr>
              <a:t>외국인 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>
                <a:latin typeface="+mn-ea"/>
                <a:ea typeface="+mn-ea"/>
              </a:rPr>
              <a:t>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82" name="그룹 81"/>
          <p:cNvGrpSpPr/>
          <p:nvPr/>
        </p:nvGrpSpPr>
        <p:grpSpPr>
          <a:xfrm>
            <a:off x="1107206" y="1267596"/>
            <a:ext cx="5405041" cy="252000"/>
            <a:chOff x="424136" y="-566622"/>
            <a:chExt cx="5405041" cy="252000"/>
          </a:xfrm>
        </p:grpSpPr>
        <p:sp>
          <p:nvSpPr>
            <p:cNvPr id="83" name="TextBox 82"/>
            <p:cNvSpPr txBox="1"/>
            <p:nvPr/>
          </p:nvSpPr>
          <p:spPr>
            <a:xfrm>
              <a:off x="424136" y="-556038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85" name="직사각형 84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7" name="직사각형 86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09" name="눈물 방울 108"/>
          <p:cNvSpPr/>
          <p:nvPr/>
        </p:nvSpPr>
        <p:spPr>
          <a:xfrm rot="5400000">
            <a:off x="7629702" y="127876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3" name="직사각형 112"/>
          <p:cNvSpPr/>
          <p:nvPr/>
        </p:nvSpPr>
        <p:spPr>
          <a:xfrm>
            <a:off x="6590987" y="1269554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인증번호 발송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14" name="그룹 113"/>
          <p:cNvGrpSpPr/>
          <p:nvPr/>
        </p:nvGrpSpPr>
        <p:grpSpPr>
          <a:xfrm>
            <a:off x="1113897" y="4039932"/>
            <a:ext cx="5405041" cy="252000"/>
            <a:chOff x="424136" y="-566622"/>
            <a:chExt cx="5405041" cy="252000"/>
          </a:xfrm>
        </p:grpSpPr>
        <p:sp>
          <p:nvSpPr>
            <p:cNvPr id="115" name="TextBox 114"/>
            <p:cNvSpPr txBox="1"/>
            <p:nvPr/>
          </p:nvSpPr>
          <p:spPr>
            <a:xfrm>
              <a:off x="424136" y="-556038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6" name="직사각형 115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9" name="직사각형 118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22" name="눈물 방울 121"/>
          <p:cNvSpPr/>
          <p:nvPr/>
        </p:nvSpPr>
        <p:spPr>
          <a:xfrm rot="5400000">
            <a:off x="7399127" y="405110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3" name="직사각형 122"/>
          <p:cNvSpPr/>
          <p:nvPr/>
        </p:nvSpPr>
        <p:spPr>
          <a:xfrm>
            <a:off x="6597678" y="4041890"/>
            <a:ext cx="7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 완료</a:t>
            </a:r>
          </a:p>
        </p:txBody>
      </p:sp>
      <p:sp>
        <p:nvSpPr>
          <p:cNvPr id="125" name="직사각형 124"/>
          <p:cNvSpPr/>
          <p:nvPr/>
        </p:nvSpPr>
        <p:spPr>
          <a:xfrm>
            <a:off x="928192" y="981522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활성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928192" y="3759637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graphicFrame>
        <p:nvGraphicFramePr>
          <p:cNvPr id="68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7980825"/>
              </p:ext>
            </p:extLst>
          </p:nvPr>
        </p:nvGraphicFramePr>
        <p:xfrm>
          <a:off x="10505256" y="788950"/>
          <a:ext cx="2130330" cy="650879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확인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영역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남은 시간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카운팅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3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 기준으로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카운팅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시작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확인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전산 모듈 이용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B4-1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재발송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재발송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이후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남은 시간 다시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카운팅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3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 기준으로 처음부터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카운팅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시작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전산 모듈 이용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B4-2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확인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전산 모듈 이용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9" name="직사각형 68"/>
          <p:cNvSpPr/>
          <p:nvPr/>
        </p:nvSpPr>
        <p:spPr>
          <a:xfrm>
            <a:off x="928192" y="1701602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[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발송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]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클릭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70" name="그룹 69"/>
          <p:cNvGrpSpPr/>
          <p:nvPr/>
        </p:nvGrpSpPr>
        <p:grpSpPr>
          <a:xfrm>
            <a:off x="1107206" y="1989634"/>
            <a:ext cx="5405041" cy="252000"/>
            <a:chOff x="424136" y="-566622"/>
            <a:chExt cx="5405041" cy="252000"/>
          </a:xfrm>
        </p:grpSpPr>
        <p:sp>
          <p:nvSpPr>
            <p:cNvPr id="71" name="TextBox 70"/>
            <p:cNvSpPr txBox="1"/>
            <p:nvPr/>
          </p:nvSpPr>
          <p:spPr>
            <a:xfrm>
              <a:off x="424136" y="-556038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5" name="직사각형 74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77" name="눈물 방울 76"/>
          <p:cNvSpPr/>
          <p:nvPr/>
        </p:nvSpPr>
        <p:spPr>
          <a:xfrm rot="5400000">
            <a:off x="7696976" y="1969570"/>
            <a:ext cx="252000" cy="324000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B4-1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590986" y="1991592"/>
            <a:ext cx="1016698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인증번호 </a:t>
            </a:r>
            <a:r>
              <a:rPr lang="ko-KR" altLang="en-US" sz="1000" b="1" dirty="0" err="1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재발송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9" name="제목 1"/>
          <p:cNvSpPr txBox="1">
            <a:spLocks/>
          </p:cNvSpPr>
          <p:nvPr/>
        </p:nvSpPr>
        <p:spPr bwMode="auto">
          <a:xfrm>
            <a:off x="3808512" y="2279624"/>
            <a:ext cx="1074374" cy="3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lang="ko-KR" altLang="en-US" sz="1600" b="1" kern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4572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9144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13716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18288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r>
              <a:rPr lang="ko-KR" altLang="en-US" sz="1000" dirty="0" err="1">
                <a:solidFill>
                  <a:schemeClr val="bg1">
                    <a:lumMod val="50000"/>
                  </a:schemeClr>
                </a:solidFill>
              </a:rPr>
              <a:t>남은시간</a:t>
            </a:r>
            <a:r>
              <a:rPr lang="ko-KR" altLang="en-US" sz="1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1000" dirty="0">
                <a:solidFill>
                  <a:srgbClr val="FF0000"/>
                </a:solidFill>
              </a:rPr>
              <a:t>02:33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2596597" y="2333624"/>
            <a:ext cx="1169381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입력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9" name="눈물 방울 88"/>
          <p:cNvSpPr/>
          <p:nvPr/>
        </p:nvSpPr>
        <p:spPr>
          <a:xfrm rot="5400000">
            <a:off x="6040792" y="2311602"/>
            <a:ext cx="252000" cy="324000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B4-2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0" name="직사각형 89"/>
          <p:cNvSpPr/>
          <p:nvPr/>
        </p:nvSpPr>
        <p:spPr>
          <a:xfrm>
            <a:off x="4960639" y="2333624"/>
            <a:ext cx="973607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확인</a:t>
            </a:r>
          </a:p>
        </p:txBody>
      </p:sp>
      <p:sp>
        <p:nvSpPr>
          <p:cNvPr id="132" name="직사각형 131"/>
          <p:cNvSpPr/>
          <p:nvPr/>
        </p:nvSpPr>
        <p:spPr>
          <a:xfrm>
            <a:off x="928192" y="2707796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입력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33" name="그룹 132"/>
          <p:cNvGrpSpPr/>
          <p:nvPr/>
        </p:nvGrpSpPr>
        <p:grpSpPr>
          <a:xfrm>
            <a:off x="1107206" y="2995828"/>
            <a:ext cx="5405041" cy="252000"/>
            <a:chOff x="424136" y="-566622"/>
            <a:chExt cx="5405041" cy="252000"/>
          </a:xfrm>
        </p:grpSpPr>
        <p:sp>
          <p:nvSpPr>
            <p:cNvPr id="134" name="TextBox 133"/>
            <p:cNvSpPr txBox="1"/>
            <p:nvPr/>
          </p:nvSpPr>
          <p:spPr>
            <a:xfrm>
              <a:off x="424136" y="-556038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5" name="직사각형 134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36" name="직사각형 135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8" name="직사각형 137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40" name="눈물 방울 139"/>
          <p:cNvSpPr/>
          <p:nvPr/>
        </p:nvSpPr>
        <p:spPr>
          <a:xfrm rot="5400000">
            <a:off x="7696976" y="2975764"/>
            <a:ext cx="252000" cy="324000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B4-1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1" name="직사각형 140"/>
          <p:cNvSpPr/>
          <p:nvPr/>
        </p:nvSpPr>
        <p:spPr>
          <a:xfrm>
            <a:off x="6590986" y="2997786"/>
            <a:ext cx="1016698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인증번호 </a:t>
            </a:r>
            <a:r>
              <a:rPr lang="ko-KR" altLang="en-US" sz="1000" b="1" dirty="0" err="1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재발송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2" name="제목 1"/>
          <p:cNvSpPr txBox="1">
            <a:spLocks/>
          </p:cNvSpPr>
          <p:nvPr/>
        </p:nvSpPr>
        <p:spPr bwMode="auto">
          <a:xfrm>
            <a:off x="3808512" y="3285818"/>
            <a:ext cx="1074374" cy="3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lang="ko-KR" altLang="en-US" sz="1600" b="1" kern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4572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9144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13716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18288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r>
              <a:rPr lang="ko-KR" altLang="en-US" sz="1000" dirty="0" err="1">
                <a:solidFill>
                  <a:schemeClr val="bg1">
                    <a:lumMod val="50000"/>
                  </a:schemeClr>
                </a:solidFill>
              </a:rPr>
              <a:t>남은시간</a:t>
            </a:r>
            <a:r>
              <a:rPr lang="ko-KR" altLang="en-US" sz="1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1000" dirty="0">
                <a:solidFill>
                  <a:srgbClr val="FF0000"/>
                </a:solidFill>
              </a:rPr>
              <a:t>02:33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43" name="직사각형 142"/>
          <p:cNvSpPr/>
          <p:nvPr/>
        </p:nvSpPr>
        <p:spPr>
          <a:xfrm>
            <a:off x="2596597" y="3339818"/>
            <a:ext cx="1169381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입력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4" name="눈물 방울 143"/>
          <p:cNvSpPr/>
          <p:nvPr/>
        </p:nvSpPr>
        <p:spPr>
          <a:xfrm rot="5400000">
            <a:off x="6040792" y="3317796"/>
            <a:ext cx="252000" cy="324000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B4-2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5" name="직사각형 144"/>
          <p:cNvSpPr/>
          <p:nvPr/>
        </p:nvSpPr>
        <p:spPr>
          <a:xfrm>
            <a:off x="4960639" y="3339818"/>
            <a:ext cx="973607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인증번호 확인</a:t>
            </a:r>
          </a:p>
        </p:txBody>
      </p:sp>
      <p:sp>
        <p:nvSpPr>
          <p:cNvPr id="57" name="눈물 방울 56"/>
          <p:cNvSpPr/>
          <p:nvPr/>
        </p:nvSpPr>
        <p:spPr>
          <a:xfrm rot="5400000">
            <a:off x="356894" y="97675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37146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 smtClean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 smtClean="0">
                <a:latin typeface="+mn-ea"/>
                <a:ea typeface="+mn-ea"/>
              </a:rPr>
              <a:t>), </a:t>
            </a:r>
            <a:r>
              <a:rPr lang="ko-KR" altLang="en-US" sz="1000" dirty="0" smtClean="0">
                <a:latin typeface="+mn-ea"/>
                <a:ea typeface="+mn-ea"/>
              </a:rPr>
              <a:t>외국인 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>
                <a:latin typeface="+mn-ea"/>
                <a:ea typeface="+mn-ea"/>
              </a:rPr>
              <a:t>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173136" y="693490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91" name="눈물 방울 90"/>
          <p:cNvSpPr/>
          <p:nvPr/>
        </p:nvSpPr>
        <p:spPr>
          <a:xfrm rot="5400000">
            <a:off x="627761" y="102785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2" name="직사각형 91"/>
          <p:cNvSpPr/>
          <p:nvPr/>
        </p:nvSpPr>
        <p:spPr>
          <a:xfrm>
            <a:off x="928192" y="1072148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발송 처리 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93" name="그룹 92"/>
          <p:cNvGrpSpPr/>
          <p:nvPr/>
        </p:nvGrpSpPr>
        <p:grpSpPr>
          <a:xfrm>
            <a:off x="620358" y="1348481"/>
            <a:ext cx="2880000" cy="1400103"/>
            <a:chOff x="620358" y="4765995"/>
            <a:chExt cx="2880000" cy="1400103"/>
          </a:xfrm>
        </p:grpSpPr>
        <p:sp>
          <p:nvSpPr>
            <p:cNvPr id="94" name="직사각형 93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인증번호가 발송되었습니다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6" name="직사각형 95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98" name="직사각형 97"/>
          <p:cNvSpPr/>
          <p:nvPr/>
        </p:nvSpPr>
        <p:spPr>
          <a:xfrm>
            <a:off x="4053413" y="1072147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미발송된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99" name="그룹 98"/>
          <p:cNvGrpSpPr/>
          <p:nvPr/>
        </p:nvGrpSpPr>
        <p:grpSpPr>
          <a:xfrm>
            <a:off x="3745579" y="1348480"/>
            <a:ext cx="2880000" cy="1400103"/>
            <a:chOff x="620358" y="4765995"/>
            <a:chExt cx="2880000" cy="1400103"/>
          </a:xfrm>
        </p:grpSpPr>
        <p:sp>
          <p:nvSpPr>
            <p:cNvPr id="100" name="직사각형 99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[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 발송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]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버튼을 클릭하시면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인증번호가 등록된 휴대폰으로 발송됩니다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2" name="직사각형 101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103" name="직사각형 102"/>
          <p:cNvSpPr/>
          <p:nvPr/>
        </p:nvSpPr>
        <p:spPr>
          <a:xfrm>
            <a:off x="928192" y="3007738"/>
            <a:ext cx="278851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미입력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혹은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6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자리가 아닌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04" name="그룹 103"/>
          <p:cNvGrpSpPr/>
          <p:nvPr/>
        </p:nvGrpSpPr>
        <p:grpSpPr>
          <a:xfrm>
            <a:off x="657325" y="3284071"/>
            <a:ext cx="2880000" cy="1400103"/>
            <a:chOff x="620358" y="4765995"/>
            <a:chExt cx="2880000" cy="1400103"/>
          </a:xfrm>
        </p:grpSpPr>
        <p:sp>
          <p:nvSpPr>
            <p:cNvPr id="105" name="직사각형 104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6" name="직사각형 105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인증번호는 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 숫자로 입력해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110" name="직사각형 109"/>
          <p:cNvSpPr/>
          <p:nvPr/>
        </p:nvSpPr>
        <p:spPr>
          <a:xfrm>
            <a:off x="3880520" y="3007738"/>
            <a:ext cx="278851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일치하지 않는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11" name="그룹 110"/>
          <p:cNvGrpSpPr/>
          <p:nvPr/>
        </p:nvGrpSpPr>
        <p:grpSpPr>
          <a:xfrm>
            <a:off x="3609653" y="3284071"/>
            <a:ext cx="2880000" cy="1400103"/>
            <a:chOff x="620358" y="4765995"/>
            <a:chExt cx="2880000" cy="1400103"/>
          </a:xfrm>
        </p:grpSpPr>
        <p:sp>
          <p:nvSpPr>
            <p:cNvPr id="112" name="직사각형 111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1" name="직사각형 120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인증번호가 일치하지 않습니다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4" name="직사각형 123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127" name="직사각형 126"/>
          <p:cNvSpPr/>
          <p:nvPr/>
        </p:nvSpPr>
        <p:spPr>
          <a:xfrm>
            <a:off x="6832848" y="3004132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유효시간 경과된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28" name="그룹 127"/>
          <p:cNvGrpSpPr/>
          <p:nvPr/>
        </p:nvGrpSpPr>
        <p:grpSpPr>
          <a:xfrm>
            <a:off x="6561981" y="3280465"/>
            <a:ext cx="2880000" cy="1400103"/>
            <a:chOff x="620358" y="4765995"/>
            <a:chExt cx="2880000" cy="1400103"/>
          </a:xfrm>
        </p:grpSpPr>
        <p:sp>
          <p:nvSpPr>
            <p:cNvPr id="129" name="직사각형 128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0" name="직사각형 129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 유효시간이 종료되었습니다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[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 </a:t>
              </a: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재발송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]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버튼을 클릭하시면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인증번호가 </a:t>
              </a: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재발송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됩니다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1" name="직사각형 130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34" name="눈물 방울 33"/>
          <p:cNvSpPr/>
          <p:nvPr/>
        </p:nvSpPr>
        <p:spPr>
          <a:xfrm rot="5400000">
            <a:off x="604152" y="2925770"/>
            <a:ext cx="252000" cy="324000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B4-2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2" name="눈물 방울 31"/>
          <p:cNvSpPr/>
          <p:nvPr/>
        </p:nvSpPr>
        <p:spPr>
          <a:xfrm rot="5400000">
            <a:off x="356894" y="97675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73365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48178"/>
              </p:ext>
            </p:extLst>
          </p:nvPr>
        </p:nvGraphicFramePr>
        <p:xfrm>
          <a:off x="10505256" y="788950"/>
          <a:ext cx="2130330" cy="265725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가입자 연락처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고객유형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 ‘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’/’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(Foreigner)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 경우 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체류기간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비자 정보 입력 항목 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체류기간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 불가능한 날짜 입력 시 안내 메시지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종료일인 경우 안내 메시지 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우편번호 찾기 팝업 표시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 smtClean="0">
                <a:latin typeface="+mn-ea"/>
                <a:ea typeface="+mn-ea"/>
              </a:rPr>
              <a:t>고객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80" name="직사각형 179"/>
          <p:cNvSpPr/>
          <p:nvPr/>
        </p:nvSpPr>
        <p:spPr>
          <a:xfrm>
            <a:off x="962696" y="981522"/>
            <a:ext cx="9468000" cy="5505531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grpSp>
        <p:nvGrpSpPr>
          <p:cNvPr id="104" name="그룹 103"/>
          <p:cNvGrpSpPr/>
          <p:nvPr/>
        </p:nvGrpSpPr>
        <p:grpSpPr>
          <a:xfrm>
            <a:off x="1072208" y="1182256"/>
            <a:ext cx="9252000" cy="246221"/>
            <a:chOff x="1072208" y="1117425"/>
            <a:chExt cx="9252000" cy="246221"/>
          </a:xfrm>
        </p:grpSpPr>
        <p:sp>
          <p:nvSpPr>
            <p:cNvPr id="115" name="TextBox 114"/>
            <p:cNvSpPr txBox="1"/>
            <p:nvPr/>
          </p:nvSpPr>
          <p:spPr>
            <a:xfrm>
              <a:off x="1072208" y="1117425"/>
              <a:ext cx="9989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가입자 연락처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17" name="직선 연결선 116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그룹 118"/>
          <p:cNvGrpSpPr/>
          <p:nvPr/>
        </p:nvGrpSpPr>
        <p:grpSpPr>
          <a:xfrm>
            <a:off x="1059141" y="1536517"/>
            <a:ext cx="5405041" cy="252000"/>
            <a:chOff x="424136" y="-566622"/>
            <a:chExt cx="5405041" cy="252000"/>
          </a:xfrm>
        </p:grpSpPr>
        <p:sp>
          <p:nvSpPr>
            <p:cNvPr id="127" name="TextBox 126"/>
            <p:cNvSpPr txBox="1"/>
            <p:nvPr/>
          </p:nvSpPr>
          <p:spPr>
            <a:xfrm>
              <a:off x="424136" y="-556038"/>
              <a:ext cx="8146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9" name="직사각형 128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30" name="직사각형 129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0" name="직사각형 139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1" name="TextBox 140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42" name="그룹 141"/>
          <p:cNvGrpSpPr/>
          <p:nvPr/>
        </p:nvGrpSpPr>
        <p:grpSpPr>
          <a:xfrm>
            <a:off x="1059141" y="1896557"/>
            <a:ext cx="5405041" cy="252000"/>
            <a:chOff x="424136" y="-566622"/>
            <a:chExt cx="5405041" cy="252000"/>
          </a:xfrm>
        </p:grpSpPr>
        <p:sp>
          <p:nvSpPr>
            <p:cNvPr id="144" name="TextBox 143"/>
            <p:cNvSpPr txBox="1"/>
            <p:nvPr/>
          </p:nvSpPr>
          <p:spPr>
            <a:xfrm>
              <a:off x="424136" y="-556038"/>
              <a:ext cx="64633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전화번호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5" name="직사각형 144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지역번호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6" name="직사각형 145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7" name="TextBox 146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8" name="직사각형 147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9" name="TextBox 148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50" name="그룹 149"/>
          <p:cNvGrpSpPr/>
          <p:nvPr/>
        </p:nvGrpSpPr>
        <p:grpSpPr>
          <a:xfrm>
            <a:off x="1054956" y="2256597"/>
            <a:ext cx="5409226" cy="252000"/>
            <a:chOff x="424136" y="-566622"/>
            <a:chExt cx="5409226" cy="252000"/>
          </a:xfrm>
        </p:grpSpPr>
        <p:sp>
          <p:nvSpPr>
            <p:cNvPr id="151" name="TextBox 150"/>
            <p:cNvSpPr txBox="1"/>
            <p:nvPr/>
          </p:nvSpPr>
          <p:spPr>
            <a:xfrm>
              <a:off x="424136" y="-556038"/>
              <a:ext cx="8146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이메일주소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2" name="직사각형 161"/>
            <p:cNvSpPr/>
            <p:nvPr/>
          </p:nvSpPr>
          <p:spPr>
            <a:xfrm>
              <a:off x="1910424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이메일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아이디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6" name="직사각형 165"/>
            <p:cNvSpPr/>
            <p:nvPr/>
          </p:nvSpPr>
          <p:spPr>
            <a:xfrm>
              <a:off x="3282762" y="-566622"/>
              <a:ext cx="25506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이메일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도메인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7" name="TextBox 166"/>
            <p:cNvSpPr txBox="1"/>
            <p:nvPr/>
          </p:nvSpPr>
          <p:spPr>
            <a:xfrm>
              <a:off x="3025049" y="-554080"/>
              <a:ext cx="29848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@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68" name="그룹 167"/>
          <p:cNvGrpSpPr/>
          <p:nvPr/>
        </p:nvGrpSpPr>
        <p:grpSpPr>
          <a:xfrm>
            <a:off x="1059141" y="2622416"/>
            <a:ext cx="2207811" cy="252000"/>
            <a:chOff x="424136" y="-566622"/>
            <a:chExt cx="2207811" cy="252000"/>
          </a:xfrm>
        </p:grpSpPr>
        <p:sp>
          <p:nvSpPr>
            <p:cNvPr id="169" name="TextBox 168"/>
            <p:cNvSpPr txBox="1"/>
            <p:nvPr/>
          </p:nvSpPr>
          <p:spPr>
            <a:xfrm>
              <a:off x="424136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주소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2" name="직사각형 171"/>
            <p:cNvSpPr/>
            <p:nvPr/>
          </p:nvSpPr>
          <p:spPr>
            <a:xfrm>
              <a:off x="1911947" y="-566622"/>
              <a:ext cx="72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우편번호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73" name="그룹 172"/>
          <p:cNvGrpSpPr/>
          <p:nvPr/>
        </p:nvGrpSpPr>
        <p:grpSpPr>
          <a:xfrm>
            <a:off x="2541846" y="2982456"/>
            <a:ext cx="5400000" cy="576064"/>
            <a:chOff x="1911026" y="-566622"/>
            <a:chExt cx="5400000" cy="576064"/>
          </a:xfrm>
        </p:grpSpPr>
        <p:sp>
          <p:nvSpPr>
            <p:cNvPr id="175" name="직사각형 174"/>
            <p:cNvSpPr/>
            <p:nvPr/>
          </p:nvSpPr>
          <p:spPr>
            <a:xfrm>
              <a:off x="1911026" y="-566622"/>
              <a:ext cx="540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주소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6" name="직사각형 175"/>
            <p:cNvSpPr/>
            <p:nvPr/>
          </p:nvSpPr>
          <p:spPr>
            <a:xfrm>
              <a:off x="1911026" y="-242558"/>
              <a:ext cx="54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상세주소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77" name="눈물 방울 176"/>
          <p:cNvSpPr/>
          <p:nvPr/>
        </p:nvSpPr>
        <p:spPr>
          <a:xfrm rot="5400000">
            <a:off x="878602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78" name="눈물 방울 177"/>
          <p:cNvSpPr/>
          <p:nvPr/>
        </p:nvSpPr>
        <p:spPr>
          <a:xfrm rot="5400000">
            <a:off x="4536059" y="262988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79" name="직사각형 178"/>
          <p:cNvSpPr/>
          <p:nvPr/>
        </p:nvSpPr>
        <p:spPr>
          <a:xfrm>
            <a:off x="3349186" y="2622416"/>
            <a:ext cx="108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우편번호 찾기</a:t>
            </a:r>
          </a:p>
        </p:txBody>
      </p:sp>
      <p:grpSp>
        <p:nvGrpSpPr>
          <p:cNvPr id="38" name="그룹 37"/>
          <p:cNvGrpSpPr/>
          <p:nvPr/>
        </p:nvGrpSpPr>
        <p:grpSpPr>
          <a:xfrm>
            <a:off x="1072208" y="3681850"/>
            <a:ext cx="2931644" cy="252000"/>
            <a:chOff x="-36790" y="4763928"/>
            <a:chExt cx="2931644" cy="252000"/>
          </a:xfrm>
        </p:grpSpPr>
        <p:sp>
          <p:nvSpPr>
            <p:cNvPr id="39" name="TextBox 38"/>
            <p:cNvSpPr txBox="1"/>
            <p:nvPr/>
          </p:nvSpPr>
          <p:spPr>
            <a:xfrm>
              <a:off x="-36790" y="4772554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국가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40" name="그룹 39"/>
            <p:cNvGrpSpPr/>
            <p:nvPr/>
          </p:nvGrpSpPr>
          <p:grpSpPr>
            <a:xfrm>
              <a:off x="1432248" y="4763928"/>
              <a:ext cx="1462606" cy="252000"/>
              <a:chOff x="1775036" y="-566622"/>
              <a:chExt cx="1462606" cy="252000"/>
            </a:xfrm>
          </p:grpSpPr>
          <p:sp>
            <p:nvSpPr>
              <p:cNvPr id="41" name="직사각형 40"/>
              <p:cNvSpPr/>
              <p:nvPr/>
            </p:nvSpPr>
            <p:spPr>
              <a:xfrm>
                <a:off x="1775036" y="-566622"/>
                <a:ext cx="146260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국가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42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52448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43" name="그룹 42"/>
          <p:cNvGrpSpPr/>
          <p:nvPr/>
        </p:nvGrpSpPr>
        <p:grpSpPr>
          <a:xfrm>
            <a:off x="1072208" y="4401930"/>
            <a:ext cx="2931644" cy="252000"/>
            <a:chOff x="-36790" y="4763928"/>
            <a:chExt cx="2931644" cy="252000"/>
          </a:xfrm>
        </p:grpSpPr>
        <p:sp>
          <p:nvSpPr>
            <p:cNvPr id="44" name="TextBox 43"/>
            <p:cNvSpPr txBox="1"/>
            <p:nvPr/>
          </p:nvSpPr>
          <p:spPr>
            <a:xfrm>
              <a:off x="-36790" y="4772554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비자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1432248" y="4763928"/>
              <a:ext cx="146260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비자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입력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46" name="그룹 45"/>
          <p:cNvGrpSpPr/>
          <p:nvPr/>
        </p:nvGrpSpPr>
        <p:grpSpPr>
          <a:xfrm>
            <a:off x="1072208" y="4039012"/>
            <a:ext cx="3456384" cy="254878"/>
            <a:chOff x="1072208" y="7711420"/>
            <a:chExt cx="3456384" cy="254878"/>
          </a:xfrm>
        </p:grpSpPr>
        <p:sp>
          <p:nvSpPr>
            <p:cNvPr id="47" name="TextBox 46"/>
            <p:cNvSpPr txBox="1"/>
            <p:nvPr/>
          </p:nvSpPr>
          <p:spPr>
            <a:xfrm>
              <a:off x="1072208" y="7722924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체류기간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48" name="그룹 47"/>
            <p:cNvGrpSpPr/>
            <p:nvPr/>
          </p:nvGrpSpPr>
          <p:grpSpPr>
            <a:xfrm>
              <a:off x="2548472" y="7711420"/>
              <a:ext cx="1980120" cy="254878"/>
              <a:chOff x="1360240" y="1501480"/>
              <a:chExt cx="1980120" cy="254878"/>
            </a:xfrm>
          </p:grpSpPr>
          <p:grpSp>
            <p:nvGrpSpPr>
              <p:cNvPr id="49" name="그룹 48"/>
              <p:cNvGrpSpPr/>
              <p:nvPr/>
            </p:nvGrpSpPr>
            <p:grpSpPr>
              <a:xfrm>
                <a:off x="1360240" y="1504358"/>
                <a:ext cx="900000" cy="252000"/>
                <a:chOff x="1360240" y="1504358"/>
                <a:chExt cx="900000" cy="252000"/>
              </a:xfrm>
            </p:grpSpPr>
            <p:sp>
              <p:nvSpPr>
                <p:cNvPr id="54" name="직사각형 53"/>
                <p:cNvSpPr/>
                <p:nvPr/>
              </p:nvSpPr>
              <p:spPr>
                <a:xfrm>
                  <a:off x="1360240" y="1504358"/>
                  <a:ext cx="900000" cy="252000"/>
                </a:xfrm>
                <a:prstGeom prst="rect">
                  <a:avLst/>
                </a:prstGeom>
                <a:solidFill>
                  <a:schemeClr val="bg1"/>
                </a:solidFill>
                <a:ln w="6350" algn="ctr">
                  <a:solidFill>
                    <a:schemeClr val="tx1">
                      <a:lumMod val="65000"/>
                      <a:lumOff val="35000"/>
                    </a:schemeClr>
                  </a:solidFill>
                  <a:miter lim="800000"/>
                  <a:headEnd/>
                  <a:tailEnd/>
                </a:ln>
              </p:spPr>
              <p:txBody>
                <a:bodyPr wrap="square" lIns="72000" tIns="0" rIns="0" bIns="0" rtlCol="0" anchor="ctr">
                  <a:no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ko-KR" sz="8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맑은 고딕" pitchFamily="50" charset="-127"/>
                      <a:ea typeface="맑은 고딕" pitchFamily="50" charset="-127"/>
                    </a:rPr>
                    <a:t>2026-01-01</a:t>
                  </a:r>
                </a:p>
              </p:txBody>
            </p:sp>
            <p:pic>
              <p:nvPicPr>
                <p:cNvPr id="55" name="Picture 2"/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056467" y="1537092"/>
                  <a:ext cx="196097" cy="1865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pic>
          </p:grpSp>
          <p:grpSp>
            <p:nvGrpSpPr>
              <p:cNvPr id="50" name="그룹 49"/>
              <p:cNvGrpSpPr/>
              <p:nvPr/>
            </p:nvGrpSpPr>
            <p:grpSpPr>
              <a:xfrm>
                <a:off x="2440360" y="1501480"/>
                <a:ext cx="900000" cy="252000"/>
                <a:chOff x="1360240" y="1504358"/>
                <a:chExt cx="900000" cy="252000"/>
              </a:xfrm>
            </p:grpSpPr>
            <p:sp>
              <p:nvSpPr>
                <p:cNvPr id="52" name="직사각형 51"/>
                <p:cNvSpPr/>
                <p:nvPr/>
              </p:nvSpPr>
              <p:spPr>
                <a:xfrm>
                  <a:off x="1360240" y="1504358"/>
                  <a:ext cx="900000" cy="252000"/>
                </a:xfrm>
                <a:prstGeom prst="rect">
                  <a:avLst/>
                </a:prstGeom>
                <a:solidFill>
                  <a:schemeClr val="bg1"/>
                </a:solidFill>
                <a:ln w="6350" algn="ctr">
                  <a:solidFill>
                    <a:schemeClr val="tx1">
                      <a:lumMod val="65000"/>
                      <a:lumOff val="35000"/>
                    </a:schemeClr>
                  </a:solidFill>
                  <a:miter lim="800000"/>
                  <a:headEnd/>
                  <a:tailEnd/>
                </a:ln>
              </p:spPr>
              <p:txBody>
                <a:bodyPr wrap="square" lIns="72000" tIns="0" rIns="0" bIns="0" rtlCol="0" anchor="ctr">
                  <a:no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ko-KR" sz="8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맑은 고딕" pitchFamily="50" charset="-127"/>
                      <a:ea typeface="맑은 고딕" pitchFamily="50" charset="-127"/>
                    </a:rPr>
                    <a:t>2026-01-01</a:t>
                  </a:r>
                </a:p>
              </p:txBody>
            </p:sp>
            <p:pic>
              <p:nvPicPr>
                <p:cNvPr id="53" name="Picture 2"/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056467" y="1537092"/>
                  <a:ext cx="196097" cy="1865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pic>
          </p:grpSp>
          <p:sp>
            <p:nvSpPr>
              <p:cNvPr id="51" name="TextBox 50"/>
              <p:cNvSpPr txBox="1"/>
              <p:nvPr/>
            </p:nvSpPr>
            <p:spPr>
              <a:xfrm>
                <a:off x="2224336" y="1509292"/>
                <a:ext cx="26642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  <a:ea typeface="+mn-ea"/>
                  </a:rPr>
                  <a:t>~</a:t>
                </a:r>
                <a:endParaRPr lang="ko-KR" altLang="en-US" sz="800" dirty="0">
                  <a:latin typeface="+mn-ea"/>
                  <a:ea typeface="+mn-ea"/>
                </a:endParaRPr>
              </a:p>
            </p:txBody>
          </p:sp>
        </p:grpSp>
      </p:grpSp>
      <p:sp>
        <p:nvSpPr>
          <p:cNvPr id="56" name="오른쪽 중괄호 55"/>
          <p:cNvSpPr/>
          <p:nvPr/>
        </p:nvSpPr>
        <p:spPr>
          <a:xfrm>
            <a:off x="5536704" y="3661108"/>
            <a:ext cx="313910" cy="992822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/>
          <p:cNvSpPr/>
          <p:nvPr/>
        </p:nvSpPr>
        <p:spPr>
          <a:xfrm>
            <a:off x="5917164" y="4033646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외국인인 경우만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0976027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휴대폰번호 항목에 안내 문구추가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sp>
        <p:nvSpPr>
          <p:cNvPr id="59" name="직사각형 58"/>
          <p:cNvSpPr/>
          <p:nvPr/>
        </p:nvSpPr>
        <p:spPr>
          <a:xfrm>
            <a:off x="6544816" y="1549059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※ </a:t>
            </a:r>
            <a:r>
              <a:rPr lang="ko-KR" altLang="en-US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신청서 </a:t>
            </a: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발송 </a:t>
            </a:r>
            <a:r>
              <a:rPr lang="ko-KR" altLang="en-US" sz="10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요청시</a:t>
            </a:r>
            <a:r>
              <a:rPr lang="ko-KR" altLang="en-US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 추가로 발송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949639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390634"/>
              </p:ext>
            </p:extLst>
          </p:nvPr>
        </p:nvGraphicFramePr>
        <p:xfrm>
          <a:off x="10505256" y="788950"/>
          <a:ext cx="2130330" cy="612092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첫번째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항목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용량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첫번째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항목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색상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첫번째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항목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약정기간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24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단말기 할부기간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24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첫번째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카테고리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첫번째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요금 항목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카테고리별로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요금제 조회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 우선순위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우선순위로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휴대폰에 따라 대상요금제 조회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정책에 따라 대상요금제 조회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요금제에 따라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서비스유형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(5G/LTE)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약정기간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무약정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시 할인유형 선택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비노출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단말기 할부기간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현금완납으로 지급한 경우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'0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개월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고정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1) '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무약정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아닌 경우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일시납부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약정기간과 동일한 기간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2) '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무약정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 경우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 납부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약정기간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리스트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1.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전체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2.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스마트신청서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‘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카테고리에 해당하는 요금제 목록 조회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카테고리에 정의된 요금제 상품 정보는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동일하게 조회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대리점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로그인 아이디의 설정 대리점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3" name="직사각형 62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 smtClean="0">
                <a:latin typeface="+mn-ea"/>
                <a:ea typeface="+mn-ea"/>
              </a:rPr>
              <a:t>– </a:t>
            </a:r>
            <a:r>
              <a:rPr lang="ko-KR" altLang="en-US" sz="1000" dirty="0" smtClean="0">
                <a:latin typeface="+mn-ea"/>
                <a:ea typeface="+mn-ea"/>
              </a:rPr>
              <a:t>고객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3" name="TextBox 2"/>
            <p:cNvSpPr txBox="1"/>
            <p:nvPr/>
          </p:nvSpPr>
          <p:spPr>
            <a:xfrm>
              <a:off x="1072208" y="1117425"/>
              <a:ext cx="1473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휴대폰 및 요금제 정보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5" name="직선 연결선 4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그룹 146"/>
          <p:cNvGrpSpPr/>
          <p:nvPr/>
        </p:nvGrpSpPr>
        <p:grpSpPr>
          <a:xfrm>
            <a:off x="1072208" y="2313726"/>
            <a:ext cx="6264696" cy="252000"/>
            <a:chOff x="640160" y="-566622"/>
            <a:chExt cx="6264696" cy="252000"/>
          </a:xfrm>
        </p:grpSpPr>
        <p:sp>
          <p:nvSpPr>
            <p:cNvPr id="148" name="TextBox 147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용량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49" name="그룹 148"/>
            <p:cNvGrpSpPr/>
            <p:nvPr/>
          </p:nvGrpSpPr>
          <p:grpSpPr>
            <a:xfrm>
              <a:off x="2112151" y="-566622"/>
              <a:ext cx="4792705" cy="252000"/>
              <a:chOff x="2112151" y="-566622"/>
              <a:chExt cx="4792705" cy="252000"/>
            </a:xfrm>
          </p:grpSpPr>
          <p:sp>
            <p:nvSpPr>
              <p:cNvPr id="150" name="직사각형 149"/>
              <p:cNvSpPr/>
              <p:nvPr/>
            </p:nvSpPr>
            <p:spPr>
              <a:xfrm>
                <a:off x="2112151" y="-566622"/>
                <a:ext cx="4792705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128GB</a:t>
                </a: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51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691499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152" name="그룹 151"/>
          <p:cNvGrpSpPr/>
          <p:nvPr/>
        </p:nvGrpSpPr>
        <p:grpSpPr>
          <a:xfrm>
            <a:off x="1072208" y="2709770"/>
            <a:ext cx="6264696" cy="252000"/>
            <a:chOff x="640160" y="-566622"/>
            <a:chExt cx="6264696" cy="252000"/>
          </a:xfrm>
        </p:grpSpPr>
        <p:sp>
          <p:nvSpPr>
            <p:cNvPr id="153" name="TextBox 152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색상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54" name="그룹 153"/>
            <p:cNvGrpSpPr/>
            <p:nvPr/>
          </p:nvGrpSpPr>
          <p:grpSpPr>
            <a:xfrm>
              <a:off x="2112151" y="-566622"/>
              <a:ext cx="4792705" cy="252000"/>
              <a:chOff x="2112151" y="-566622"/>
              <a:chExt cx="4792705" cy="252000"/>
            </a:xfrm>
          </p:grpSpPr>
          <p:sp>
            <p:nvSpPr>
              <p:cNvPr id="155" name="직사각형 154"/>
              <p:cNvSpPr/>
              <p:nvPr/>
            </p:nvSpPr>
            <p:spPr>
              <a:xfrm>
                <a:off x="2112151" y="-566622"/>
                <a:ext cx="4792705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화이트</a:t>
                </a:r>
              </a:p>
            </p:txBody>
          </p:sp>
          <p:pic>
            <p:nvPicPr>
              <p:cNvPr id="156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691499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157" name="그룹 156"/>
          <p:cNvGrpSpPr/>
          <p:nvPr/>
        </p:nvGrpSpPr>
        <p:grpSpPr>
          <a:xfrm>
            <a:off x="1072208" y="1917682"/>
            <a:ext cx="6264696" cy="252000"/>
            <a:chOff x="640160" y="-566622"/>
            <a:chExt cx="6264696" cy="252000"/>
          </a:xfrm>
        </p:grpSpPr>
        <p:sp>
          <p:nvSpPr>
            <p:cNvPr id="158" name="TextBox 157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59" name="그룹 158"/>
            <p:cNvGrpSpPr/>
            <p:nvPr/>
          </p:nvGrpSpPr>
          <p:grpSpPr>
            <a:xfrm>
              <a:off x="2112151" y="-566622"/>
              <a:ext cx="4792705" cy="252000"/>
              <a:chOff x="2112151" y="-566622"/>
              <a:chExt cx="4792705" cy="252000"/>
            </a:xfrm>
          </p:grpSpPr>
          <p:sp>
            <p:nvSpPr>
              <p:cNvPr id="160" name="직사각형 159"/>
              <p:cNvSpPr/>
              <p:nvPr/>
            </p:nvSpPr>
            <p:spPr>
              <a:xfrm>
                <a:off x="2112151" y="-566622"/>
                <a:ext cx="4792705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갤럭시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A36</a:t>
                </a:r>
              </a:p>
            </p:txBody>
          </p:sp>
          <p:pic>
            <p:nvPicPr>
              <p:cNvPr id="161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691499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171" name="그룹 170"/>
          <p:cNvGrpSpPr/>
          <p:nvPr/>
        </p:nvGrpSpPr>
        <p:grpSpPr>
          <a:xfrm>
            <a:off x="1072208" y="3073416"/>
            <a:ext cx="4637390" cy="252000"/>
            <a:chOff x="1072208" y="-566622"/>
            <a:chExt cx="4637390" cy="252000"/>
          </a:xfrm>
        </p:grpSpPr>
        <p:sp>
          <p:nvSpPr>
            <p:cNvPr id="172" name="직사각형 171"/>
            <p:cNvSpPr/>
            <p:nvPr/>
          </p:nvSpPr>
          <p:spPr>
            <a:xfrm>
              <a:off x="2545975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무약정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3" name="직사각형 172"/>
            <p:cNvSpPr/>
            <p:nvPr/>
          </p:nvSpPr>
          <p:spPr>
            <a:xfrm>
              <a:off x="3360516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24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개월</a:t>
              </a:r>
            </a:p>
          </p:txBody>
        </p:sp>
        <p:sp>
          <p:nvSpPr>
            <p:cNvPr id="174" name="직사각형 173"/>
            <p:cNvSpPr/>
            <p:nvPr/>
          </p:nvSpPr>
          <p:spPr>
            <a:xfrm>
              <a:off x="4175057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30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개월</a:t>
              </a:r>
            </a:p>
          </p:txBody>
        </p:sp>
        <p:sp>
          <p:nvSpPr>
            <p:cNvPr id="175" name="직사각형 174"/>
            <p:cNvSpPr/>
            <p:nvPr/>
          </p:nvSpPr>
          <p:spPr>
            <a:xfrm>
              <a:off x="498959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36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개월</a:t>
              </a:r>
            </a:p>
          </p:txBody>
        </p:sp>
        <p:sp>
          <p:nvSpPr>
            <p:cNvPr id="181" name="TextBox 180"/>
            <p:cNvSpPr txBox="1"/>
            <p:nvPr/>
          </p:nvSpPr>
          <p:spPr>
            <a:xfrm>
              <a:off x="1072208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>
                  <a:latin typeface="맑은 고딕" pitchFamily="50" charset="-127"/>
                  <a:ea typeface="맑은 고딕" pitchFamily="50" charset="-127"/>
                </a:rPr>
                <a:t>약정기간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82" name="그룹 181"/>
          <p:cNvGrpSpPr/>
          <p:nvPr/>
        </p:nvGrpSpPr>
        <p:grpSpPr>
          <a:xfrm>
            <a:off x="1072208" y="3469460"/>
            <a:ext cx="2194664" cy="252000"/>
            <a:chOff x="1072208" y="-566622"/>
            <a:chExt cx="2194664" cy="252000"/>
          </a:xfrm>
        </p:grpSpPr>
        <p:sp>
          <p:nvSpPr>
            <p:cNvPr id="183" name="직사각형 182"/>
            <p:cNvSpPr/>
            <p:nvPr/>
          </p:nvSpPr>
          <p:spPr>
            <a:xfrm>
              <a:off x="2546872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24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개월</a:t>
              </a:r>
            </a:p>
          </p:txBody>
        </p:sp>
        <p:sp>
          <p:nvSpPr>
            <p:cNvPr id="187" name="TextBox 186"/>
            <p:cNvSpPr txBox="1"/>
            <p:nvPr/>
          </p:nvSpPr>
          <p:spPr>
            <a:xfrm>
              <a:off x="1072208" y="-556038"/>
              <a:ext cx="108555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단말기 할부기간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98" name="눈물 방울 197"/>
          <p:cNvSpPr/>
          <p:nvPr/>
        </p:nvSpPr>
        <p:spPr>
          <a:xfrm rot="5400000">
            <a:off x="967461" y="106818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" name="오른쪽 중괄호 20"/>
          <p:cNvSpPr/>
          <p:nvPr/>
        </p:nvSpPr>
        <p:spPr>
          <a:xfrm>
            <a:off x="8319138" y="1845618"/>
            <a:ext cx="290733" cy="226828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2" name="직사각형 201"/>
          <p:cNvSpPr/>
          <p:nvPr/>
        </p:nvSpPr>
        <p:spPr>
          <a:xfrm>
            <a:off x="8609871" y="2637706"/>
            <a:ext cx="1823377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상품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=‘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&amp;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개통유형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 ‘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선택한 경우만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83" name="그룹 82"/>
          <p:cNvGrpSpPr/>
          <p:nvPr/>
        </p:nvGrpSpPr>
        <p:grpSpPr>
          <a:xfrm>
            <a:off x="1072208" y="3825866"/>
            <a:ext cx="6065764" cy="252000"/>
            <a:chOff x="1072208" y="-566622"/>
            <a:chExt cx="6065764" cy="252000"/>
          </a:xfrm>
        </p:grpSpPr>
        <p:sp>
          <p:nvSpPr>
            <p:cNvPr id="84" name="직사각형 83"/>
            <p:cNvSpPr/>
            <p:nvPr/>
          </p:nvSpPr>
          <p:spPr>
            <a:xfrm>
              <a:off x="254475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단말 할인</a:t>
              </a:r>
            </a:p>
          </p:txBody>
        </p:sp>
        <p:sp>
          <p:nvSpPr>
            <p:cNvPr id="85" name="직사각형 84"/>
            <p:cNvSpPr/>
            <p:nvPr/>
          </p:nvSpPr>
          <p:spPr>
            <a:xfrm>
              <a:off x="3359292" y="-566622"/>
              <a:ext cx="144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알뜰스폰서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약정지원금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1072208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할인유형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4888632" y="-566622"/>
              <a:ext cx="144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알뜰스폰서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요금할인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6417972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심플할인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67" name="그룹 66"/>
          <p:cNvGrpSpPr/>
          <p:nvPr/>
        </p:nvGrpSpPr>
        <p:grpSpPr>
          <a:xfrm>
            <a:off x="1072208" y="4185906"/>
            <a:ext cx="7161045" cy="576064"/>
            <a:chOff x="640160" y="-566622"/>
            <a:chExt cx="7161045" cy="576064"/>
          </a:xfrm>
        </p:grpSpPr>
        <p:sp>
          <p:nvSpPr>
            <p:cNvPr id="68" name="TextBox 67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요금제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71" name="그룹 70"/>
            <p:cNvGrpSpPr/>
            <p:nvPr/>
          </p:nvGrpSpPr>
          <p:grpSpPr>
            <a:xfrm>
              <a:off x="2114824" y="-566622"/>
              <a:ext cx="5686381" cy="576064"/>
              <a:chOff x="2114824" y="-566622"/>
              <a:chExt cx="5686381" cy="576064"/>
            </a:xfrm>
          </p:grpSpPr>
          <p:sp>
            <p:nvSpPr>
              <p:cNvPr id="72" name="직사각형 71"/>
              <p:cNvSpPr/>
              <p:nvPr/>
            </p:nvSpPr>
            <p:spPr>
              <a:xfrm>
                <a:off x="2114824" y="-566622"/>
                <a:ext cx="2844625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추천 요금제</a:t>
                </a:r>
              </a:p>
            </p:txBody>
          </p:sp>
          <p:pic>
            <p:nvPicPr>
              <p:cNvPr id="7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44616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4" name="직사각형 73"/>
              <p:cNvSpPr/>
              <p:nvPr/>
            </p:nvSpPr>
            <p:spPr>
              <a:xfrm>
                <a:off x="2117693" y="-242558"/>
                <a:ext cx="5683512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5G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단말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(2GB/200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분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) /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데이터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2GB(+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보답프로그램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50GB(6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개월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)) |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음성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200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분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|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문자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100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건</a:t>
                </a:r>
              </a:p>
            </p:txBody>
          </p:sp>
          <p:pic>
            <p:nvPicPr>
              <p:cNvPr id="75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71570" y="-200607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2" name="그룹 1">
            <a:extLst>
              <a:ext uri="{FF2B5EF4-FFF2-40B4-BE49-F238E27FC236}">
                <a16:creationId xmlns="" xmlns:a16="http://schemas.microsoft.com/office/drawing/2014/main" id="{57484787-AC4E-E60B-CF76-178D19B44D80}"/>
              </a:ext>
            </a:extLst>
          </p:cNvPr>
          <p:cNvGrpSpPr/>
          <p:nvPr/>
        </p:nvGrpSpPr>
        <p:grpSpPr>
          <a:xfrm>
            <a:off x="1064458" y="4905986"/>
            <a:ext cx="3176102" cy="252000"/>
            <a:chOff x="632410" y="-568150"/>
            <a:chExt cx="3176102" cy="252000"/>
          </a:xfrm>
        </p:grpSpPr>
        <p:sp>
          <p:nvSpPr>
            <p:cNvPr id="4" name="TextBox 3">
              <a:extLst>
                <a:ext uri="{FF2B5EF4-FFF2-40B4-BE49-F238E27FC236}">
                  <a16:creationId xmlns="" xmlns:a16="http://schemas.microsoft.com/office/drawing/2014/main" id="{7CBD174E-34A6-1F57-CAFB-8FBD761DE329}"/>
                </a:ext>
              </a:extLst>
            </p:cNvPr>
            <p:cNvSpPr txBox="1"/>
            <p:nvPr/>
          </p:nvSpPr>
          <p:spPr>
            <a:xfrm>
              <a:off x="63241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대리점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="" xmlns:a16="http://schemas.microsoft.com/office/drawing/2014/main" id="{E07DDD73-F4E2-8FBB-8912-17B457E44C61}"/>
                </a:ext>
              </a:extLst>
            </p:cNvPr>
            <p:cNvGrpSpPr/>
            <p:nvPr/>
          </p:nvGrpSpPr>
          <p:grpSpPr>
            <a:xfrm>
              <a:off x="2111550" y="-568150"/>
              <a:ext cx="1696962" cy="252000"/>
              <a:chOff x="2111550" y="-568150"/>
              <a:chExt cx="1696962" cy="252000"/>
            </a:xfrm>
          </p:grpSpPr>
          <p:sp>
            <p:nvSpPr>
              <p:cNvPr id="11" name="직사각형 10">
                <a:extLst>
                  <a:ext uri="{FF2B5EF4-FFF2-40B4-BE49-F238E27FC236}">
                    <a16:creationId xmlns="" xmlns:a16="http://schemas.microsoft.com/office/drawing/2014/main" id="{B0708EAE-2F50-4C3D-C082-00A08AD3D3A5}"/>
                  </a:ext>
                </a:extLst>
              </p:cNvPr>
              <p:cNvSpPr/>
              <p:nvPr/>
            </p:nvSpPr>
            <p:spPr>
              <a:xfrm>
                <a:off x="2111550" y="-568150"/>
                <a:ext cx="1696962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대리점 선택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2" name="Picture 4">
                <a:extLst>
                  <a:ext uri="{FF2B5EF4-FFF2-40B4-BE49-F238E27FC236}">
                    <a16:creationId xmlns="" xmlns:a16="http://schemas.microsoft.com/office/drawing/2014/main" id="{95ED2E99-7368-43A6-8B97-7CC8FE6CEF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1886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55" name="그룹 54"/>
          <p:cNvGrpSpPr/>
          <p:nvPr/>
        </p:nvGrpSpPr>
        <p:grpSpPr>
          <a:xfrm>
            <a:off x="1072208" y="1521610"/>
            <a:ext cx="3007084" cy="252000"/>
            <a:chOff x="1072208" y="-566622"/>
            <a:chExt cx="3007084" cy="252000"/>
          </a:xfrm>
        </p:grpSpPr>
        <p:sp>
          <p:nvSpPr>
            <p:cNvPr id="58" name="직사각형 57"/>
            <p:cNvSpPr/>
            <p:nvPr/>
          </p:nvSpPr>
          <p:spPr>
            <a:xfrm>
              <a:off x="254475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휴대폰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3359292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err="1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eSIM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1072208" y="-556038"/>
              <a:ext cx="73930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개통 유형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9" name="오른쪽 중괄호 98"/>
          <p:cNvSpPr/>
          <p:nvPr/>
        </p:nvSpPr>
        <p:spPr>
          <a:xfrm>
            <a:off x="8319138" y="1485550"/>
            <a:ext cx="290733" cy="28806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/>
          <p:cNvSpPr/>
          <p:nvPr/>
        </p:nvSpPr>
        <p:spPr>
          <a:xfrm>
            <a:off x="8561040" y="1445508"/>
            <a:ext cx="190097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상품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 ‘USIM’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경우는 개통 유형 항목을 표시하지 않음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195444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 smtClean="0">
                <a:latin typeface="+mn-ea"/>
                <a:ea typeface="+mn-ea"/>
              </a:rPr>
              <a:t>– </a:t>
            </a:r>
            <a:r>
              <a:rPr lang="ko-KR" altLang="en-US" sz="1000" dirty="0" smtClean="0">
                <a:latin typeface="+mn-ea"/>
                <a:ea typeface="+mn-ea"/>
              </a:rPr>
              <a:t>고객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98" name="눈물 방울 197"/>
          <p:cNvSpPr/>
          <p:nvPr/>
        </p:nvSpPr>
        <p:spPr>
          <a:xfrm rot="5400000">
            <a:off x="503611" y="90474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970931" y="909514"/>
            <a:ext cx="694203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상품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 ‘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&amp;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가입유형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 ‘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번호이동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’/’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신규가입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 &amp;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개통유형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 ‘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휴대폰’ 인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grpSp>
        <p:nvGrpSpPr>
          <p:cNvPr id="191" name="그룹 190"/>
          <p:cNvGrpSpPr/>
          <p:nvPr/>
        </p:nvGrpSpPr>
        <p:grpSpPr>
          <a:xfrm>
            <a:off x="1069507" y="1269554"/>
            <a:ext cx="3007084" cy="252000"/>
            <a:chOff x="1072208" y="-566622"/>
            <a:chExt cx="3007084" cy="252000"/>
          </a:xfrm>
        </p:grpSpPr>
        <p:sp>
          <p:nvSpPr>
            <p:cNvPr id="192" name="직사각형 191"/>
            <p:cNvSpPr/>
            <p:nvPr/>
          </p:nvSpPr>
          <p:spPr>
            <a:xfrm>
              <a:off x="254475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휴대폰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>
              <a:off x="3359292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err="1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eSIM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4" name="TextBox 193"/>
            <p:cNvSpPr txBox="1"/>
            <p:nvPr/>
          </p:nvSpPr>
          <p:spPr>
            <a:xfrm>
              <a:off x="1072208" y="-556038"/>
              <a:ext cx="73930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개통 유형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507" y="1647331"/>
            <a:ext cx="7175500" cy="3249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286" name="표 2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7815208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가입 유형별 화면 노출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케이스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3341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 smtClean="0">
                <a:latin typeface="+mn-ea"/>
                <a:ea typeface="+mn-ea"/>
              </a:rPr>
              <a:t>– </a:t>
            </a:r>
            <a:r>
              <a:rPr lang="ko-KR" altLang="en-US" sz="1000" dirty="0" smtClean="0">
                <a:latin typeface="+mn-ea"/>
                <a:ea typeface="+mn-ea"/>
              </a:rPr>
              <a:t>고객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98" name="눈물 방울 197"/>
          <p:cNvSpPr/>
          <p:nvPr/>
        </p:nvSpPr>
        <p:spPr>
          <a:xfrm rot="5400000">
            <a:off x="503611" y="90474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219" name="직사각형 218"/>
          <p:cNvSpPr/>
          <p:nvPr/>
        </p:nvSpPr>
        <p:spPr>
          <a:xfrm>
            <a:off x="1002493" y="981522"/>
            <a:ext cx="604637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상품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 ‘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&amp;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가입유형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 ‘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번호이동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’/’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신규가입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&amp;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개통유형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</a:t>
            </a:r>
            <a:r>
              <a:rPr lang="en-US" altLang="ko-KR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eSIM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경우인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264" name="그룹 263"/>
          <p:cNvGrpSpPr/>
          <p:nvPr/>
        </p:nvGrpSpPr>
        <p:grpSpPr>
          <a:xfrm>
            <a:off x="1072208" y="1371759"/>
            <a:ext cx="3007084" cy="252000"/>
            <a:chOff x="1072208" y="-566622"/>
            <a:chExt cx="3007084" cy="252000"/>
          </a:xfrm>
        </p:grpSpPr>
        <p:sp>
          <p:nvSpPr>
            <p:cNvPr id="265" name="직사각형 264"/>
            <p:cNvSpPr/>
            <p:nvPr/>
          </p:nvSpPr>
          <p:spPr>
            <a:xfrm>
              <a:off x="254475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</a:t>
              </a:r>
            </a:p>
          </p:txBody>
        </p:sp>
        <p:sp>
          <p:nvSpPr>
            <p:cNvPr id="266" name="직사각형 265"/>
            <p:cNvSpPr/>
            <p:nvPr/>
          </p:nvSpPr>
          <p:spPr>
            <a:xfrm>
              <a:off x="3359292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err="1">
                  <a:latin typeface="맑은 고딕" pitchFamily="50" charset="-127"/>
                  <a:ea typeface="맑은 고딕" pitchFamily="50" charset="-127"/>
                </a:rPr>
                <a:t>eSIM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67" name="TextBox 266"/>
            <p:cNvSpPr txBox="1"/>
            <p:nvPr/>
          </p:nvSpPr>
          <p:spPr>
            <a:xfrm>
              <a:off x="1072208" y="-556038"/>
              <a:ext cx="73930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개통 유형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aphicFrame>
        <p:nvGraphicFramePr>
          <p:cNvPr id="286" name="표 2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1475701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가입 유형별 화면 노출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케이스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grpSp>
        <p:nvGrpSpPr>
          <p:cNvPr id="344" name="그룹 343"/>
          <p:cNvGrpSpPr/>
          <p:nvPr/>
        </p:nvGrpSpPr>
        <p:grpSpPr>
          <a:xfrm>
            <a:off x="1072208" y="1777272"/>
            <a:ext cx="4637390" cy="252000"/>
            <a:chOff x="1072208" y="-566622"/>
            <a:chExt cx="4637390" cy="252000"/>
          </a:xfrm>
        </p:grpSpPr>
        <p:sp>
          <p:nvSpPr>
            <p:cNvPr id="345" name="직사각형 344"/>
            <p:cNvSpPr/>
            <p:nvPr/>
          </p:nvSpPr>
          <p:spPr>
            <a:xfrm>
              <a:off x="2545975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무약정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46" name="직사각형 345"/>
            <p:cNvSpPr/>
            <p:nvPr/>
          </p:nvSpPr>
          <p:spPr>
            <a:xfrm>
              <a:off x="3360516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24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개월</a:t>
              </a:r>
            </a:p>
          </p:txBody>
        </p:sp>
        <p:sp>
          <p:nvSpPr>
            <p:cNvPr id="347" name="직사각형 346"/>
            <p:cNvSpPr/>
            <p:nvPr/>
          </p:nvSpPr>
          <p:spPr>
            <a:xfrm>
              <a:off x="4175057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30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개월</a:t>
              </a:r>
            </a:p>
          </p:txBody>
        </p:sp>
        <p:sp>
          <p:nvSpPr>
            <p:cNvPr id="348" name="직사각형 347"/>
            <p:cNvSpPr/>
            <p:nvPr/>
          </p:nvSpPr>
          <p:spPr>
            <a:xfrm>
              <a:off x="498959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36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개월</a:t>
              </a:r>
            </a:p>
          </p:txBody>
        </p:sp>
        <p:sp>
          <p:nvSpPr>
            <p:cNvPr id="349" name="TextBox 348"/>
            <p:cNvSpPr txBox="1"/>
            <p:nvPr/>
          </p:nvSpPr>
          <p:spPr>
            <a:xfrm>
              <a:off x="1072208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>
                  <a:latin typeface="맑은 고딕" pitchFamily="50" charset="-127"/>
                  <a:ea typeface="맑은 고딕" pitchFamily="50" charset="-127"/>
                </a:rPr>
                <a:t>약정기간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350" name="그룹 349"/>
          <p:cNvGrpSpPr/>
          <p:nvPr/>
        </p:nvGrpSpPr>
        <p:grpSpPr>
          <a:xfrm>
            <a:off x="1072208" y="2173316"/>
            <a:ext cx="2194664" cy="252000"/>
            <a:chOff x="1072208" y="-566622"/>
            <a:chExt cx="2194664" cy="252000"/>
          </a:xfrm>
        </p:grpSpPr>
        <p:sp>
          <p:nvSpPr>
            <p:cNvPr id="351" name="직사각형 350"/>
            <p:cNvSpPr/>
            <p:nvPr/>
          </p:nvSpPr>
          <p:spPr>
            <a:xfrm>
              <a:off x="2546872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24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개월</a:t>
              </a:r>
            </a:p>
          </p:txBody>
        </p:sp>
        <p:sp>
          <p:nvSpPr>
            <p:cNvPr id="352" name="TextBox 351"/>
            <p:cNvSpPr txBox="1"/>
            <p:nvPr/>
          </p:nvSpPr>
          <p:spPr>
            <a:xfrm>
              <a:off x="1072208" y="-556038"/>
              <a:ext cx="108555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단말기 할부기간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353" name="그룹 352"/>
          <p:cNvGrpSpPr/>
          <p:nvPr/>
        </p:nvGrpSpPr>
        <p:grpSpPr>
          <a:xfrm>
            <a:off x="1072208" y="2529722"/>
            <a:ext cx="6065764" cy="252000"/>
            <a:chOff x="1072208" y="-566622"/>
            <a:chExt cx="6065764" cy="252000"/>
          </a:xfrm>
        </p:grpSpPr>
        <p:sp>
          <p:nvSpPr>
            <p:cNvPr id="354" name="직사각형 353"/>
            <p:cNvSpPr/>
            <p:nvPr/>
          </p:nvSpPr>
          <p:spPr>
            <a:xfrm>
              <a:off x="254475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단말 할인</a:t>
              </a:r>
            </a:p>
          </p:txBody>
        </p:sp>
        <p:sp>
          <p:nvSpPr>
            <p:cNvPr id="355" name="직사각형 354"/>
            <p:cNvSpPr/>
            <p:nvPr/>
          </p:nvSpPr>
          <p:spPr>
            <a:xfrm>
              <a:off x="3359292" y="-566622"/>
              <a:ext cx="144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알뜰스폰서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약정지원금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56" name="TextBox 355"/>
            <p:cNvSpPr txBox="1"/>
            <p:nvPr/>
          </p:nvSpPr>
          <p:spPr>
            <a:xfrm>
              <a:off x="1072208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할인유형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57" name="직사각형 356"/>
            <p:cNvSpPr/>
            <p:nvPr/>
          </p:nvSpPr>
          <p:spPr>
            <a:xfrm>
              <a:off x="4888632" y="-566622"/>
              <a:ext cx="144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알뜰스폰서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요금할인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58" name="직사각형 357"/>
            <p:cNvSpPr/>
            <p:nvPr/>
          </p:nvSpPr>
          <p:spPr>
            <a:xfrm>
              <a:off x="6417972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심플할인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359" name="그룹 358"/>
          <p:cNvGrpSpPr/>
          <p:nvPr/>
        </p:nvGrpSpPr>
        <p:grpSpPr>
          <a:xfrm>
            <a:off x="1072208" y="2889762"/>
            <a:ext cx="7161045" cy="576064"/>
            <a:chOff x="640160" y="-566622"/>
            <a:chExt cx="7161045" cy="576064"/>
          </a:xfrm>
        </p:grpSpPr>
        <p:sp>
          <p:nvSpPr>
            <p:cNvPr id="360" name="TextBox 359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요금제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361" name="그룹 360"/>
            <p:cNvGrpSpPr/>
            <p:nvPr/>
          </p:nvGrpSpPr>
          <p:grpSpPr>
            <a:xfrm>
              <a:off x="2114824" y="-566622"/>
              <a:ext cx="5686381" cy="576064"/>
              <a:chOff x="2114824" y="-566622"/>
              <a:chExt cx="5686381" cy="576064"/>
            </a:xfrm>
          </p:grpSpPr>
          <p:sp>
            <p:nvSpPr>
              <p:cNvPr id="362" name="직사각형 361"/>
              <p:cNvSpPr/>
              <p:nvPr/>
            </p:nvSpPr>
            <p:spPr>
              <a:xfrm>
                <a:off x="2114824" y="-566622"/>
                <a:ext cx="2844625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추천 요금제</a:t>
                </a:r>
              </a:p>
            </p:txBody>
          </p:sp>
          <p:pic>
            <p:nvPicPr>
              <p:cNvPr id="36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44616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364" name="직사각형 363"/>
              <p:cNvSpPr/>
              <p:nvPr/>
            </p:nvSpPr>
            <p:spPr>
              <a:xfrm>
                <a:off x="2117693" y="-242558"/>
                <a:ext cx="5683512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5G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단말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(2GB/200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분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) /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데이터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2GB(+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보답프로그램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50GB(6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개월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)) |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음성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200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분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|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문자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100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건</a:t>
                </a:r>
              </a:p>
            </p:txBody>
          </p:sp>
          <p:pic>
            <p:nvPicPr>
              <p:cNvPr id="365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71570" y="-200607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366" name="그룹 365">
            <a:extLst>
              <a:ext uri="{FF2B5EF4-FFF2-40B4-BE49-F238E27FC236}">
                <a16:creationId xmlns="" xmlns:a16="http://schemas.microsoft.com/office/drawing/2014/main" id="{57484787-AC4E-E60B-CF76-178D19B44D80}"/>
              </a:ext>
            </a:extLst>
          </p:cNvPr>
          <p:cNvGrpSpPr/>
          <p:nvPr/>
        </p:nvGrpSpPr>
        <p:grpSpPr>
          <a:xfrm>
            <a:off x="1064458" y="3609842"/>
            <a:ext cx="3176102" cy="252000"/>
            <a:chOff x="632410" y="-568150"/>
            <a:chExt cx="3176102" cy="252000"/>
          </a:xfrm>
        </p:grpSpPr>
        <p:sp>
          <p:nvSpPr>
            <p:cNvPr id="367" name="TextBox 366">
              <a:extLst>
                <a:ext uri="{FF2B5EF4-FFF2-40B4-BE49-F238E27FC236}">
                  <a16:creationId xmlns="" xmlns:a16="http://schemas.microsoft.com/office/drawing/2014/main" id="{7CBD174E-34A6-1F57-CAFB-8FBD761DE329}"/>
                </a:ext>
              </a:extLst>
            </p:cNvPr>
            <p:cNvSpPr txBox="1"/>
            <p:nvPr/>
          </p:nvSpPr>
          <p:spPr>
            <a:xfrm>
              <a:off x="63241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대리점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368" name="그룹 367">
              <a:extLst>
                <a:ext uri="{FF2B5EF4-FFF2-40B4-BE49-F238E27FC236}">
                  <a16:creationId xmlns="" xmlns:a16="http://schemas.microsoft.com/office/drawing/2014/main" id="{E07DDD73-F4E2-8FBB-8912-17B457E44C61}"/>
                </a:ext>
              </a:extLst>
            </p:cNvPr>
            <p:cNvGrpSpPr/>
            <p:nvPr/>
          </p:nvGrpSpPr>
          <p:grpSpPr>
            <a:xfrm>
              <a:off x="2111550" y="-568150"/>
              <a:ext cx="1696962" cy="252000"/>
              <a:chOff x="2111550" y="-568150"/>
              <a:chExt cx="1696962" cy="252000"/>
            </a:xfrm>
          </p:grpSpPr>
          <p:sp>
            <p:nvSpPr>
              <p:cNvPr id="369" name="직사각형 368">
                <a:extLst>
                  <a:ext uri="{FF2B5EF4-FFF2-40B4-BE49-F238E27FC236}">
                    <a16:creationId xmlns="" xmlns:a16="http://schemas.microsoft.com/office/drawing/2014/main" id="{B0708EAE-2F50-4C3D-C082-00A08AD3D3A5}"/>
                  </a:ext>
                </a:extLst>
              </p:cNvPr>
              <p:cNvSpPr/>
              <p:nvPr/>
            </p:nvSpPr>
            <p:spPr>
              <a:xfrm>
                <a:off x="2111550" y="-568150"/>
                <a:ext cx="1696962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대리점 선택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370" name="Picture 4">
                <a:extLst>
                  <a:ext uri="{FF2B5EF4-FFF2-40B4-BE49-F238E27FC236}">
                    <a16:creationId xmlns="" xmlns:a16="http://schemas.microsoft.com/office/drawing/2014/main" id="{95ED2E99-7368-43A6-8B97-7CC8FE6CEF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1886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45" name="오른쪽 중괄호 44"/>
          <p:cNvSpPr/>
          <p:nvPr/>
        </p:nvSpPr>
        <p:spPr>
          <a:xfrm>
            <a:off x="8319138" y="1773582"/>
            <a:ext cx="290733" cy="651734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/>
          <p:cNvSpPr/>
          <p:nvPr/>
        </p:nvSpPr>
        <p:spPr>
          <a:xfrm>
            <a:off x="8561040" y="1805548"/>
            <a:ext cx="295232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en-US" altLang="ko-KR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eSIM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경우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세팅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가능할지 확인 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2881520" y="1854489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(2026.03.13)</a:t>
            </a:r>
          </a:p>
          <a:p>
            <a:pPr>
              <a:spcBef>
                <a:spcPct val="50000"/>
              </a:spcBef>
            </a:pPr>
            <a:r>
              <a:rPr lang="en-US" altLang="ko-KR" sz="1000" b="1" dirty="0" err="1">
                <a:solidFill>
                  <a:srgbClr val="FF0000"/>
                </a:solidFill>
                <a:latin typeface="+mn-ea"/>
                <a:ea typeface="+mn-ea"/>
              </a:rPr>
              <a:t>eSIM</a:t>
            </a:r>
            <a:r>
              <a:rPr lang="en-US" altLang="ko-KR" sz="1000" b="1" dirty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인 경우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약정기간</a:t>
            </a: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,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단말기 할부기간</a:t>
            </a: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,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할인유형이 </a:t>
            </a:r>
            <a:r>
              <a:rPr lang="en-US" altLang="ko-KR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api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에서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세팅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불가능할 경우 해당 케이스는 가입 제외 처리 검토</a:t>
            </a:r>
            <a:endParaRPr lang="ko-KR" altLang="en-US" sz="10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스캔 기능 삭제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여부는 추후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확인후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유통영업팀에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전달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해야함</a:t>
            </a:r>
            <a:endParaRPr lang="ko-KR" altLang="en-US" sz="1000" b="1" dirty="0" smtClean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492342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 smtClean="0">
                <a:latin typeface="+mn-ea"/>
                <a:ea typeface="+mn-ea"/>
              </a:rPr>
              <a:t>– </a:t>
            </a:r>
            <a:r>
              <a:rPr lang="ko-KR" altLang="en-US" sz="1000" dirty="0" smtClean="0">
                <a:latin typeface="+mn-ea"/>
                <a:ea typeface="+mn-ea"/>
              </a:rPr>
              <a:t>고객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968230" y="951325"/>
            <a:ext cx="636867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상품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 ‘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&amp;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가입유형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 ‘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기기변경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경우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개통유형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 ‘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으로 내부적으로 고정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pic>
        <p:nvPicPr>
          <p:cNvPr id="5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507" y="1269554"/>
            <a:ext cx="7175500" cy="3249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3" name="직사각형 52"/>
          <p:cNvSpPr/>
          <p:nvPr/>
        </p:nvSpPr>
        <p:spPr>
          <a:xfrm>
            <a:off x="951052" y="4797946"/>
            <a:ext cx="403015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상품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 ‘USIM’ &amp;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가입유형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= ‘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번호이동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’/’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신규가입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54" name="그룹 53"/>
          <p:cNvGrpSpPr/>
          <p:nvPr/>
        </p:nvGrpSpPr>
        <p:grpSpPr>
          <a:xfrm>
            <a:off x="1072208" y="5091757"/>
            <a:ext cx="9252000" cy="246221"/>
            <a:chOff x="1072208" y="1117425"/>
            <a:chExt cx="9252000" cy="246221"/>
          </a:xfrm>
        </p:grpSpPr>
        <p:sp>
          <p:nvSpPr>
            <p:cNvPr id="55" name="TextBox 54"/>
            <p:cNvSpPr txBox="1"/>
            <p:nvPr/>
          </p:nvSpPr>
          <p:spPr>
            <a:xfrm>
              <a:off x="1072208" y="1117425"/>
              <a:ext cx="1473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휴대폰 및 요금제 정보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58" name="직선 연결선 57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그룹 58"/>
          <p:cNvGrpSpPr/>
          <p:nvPr/>
        </p:nvGrpSpPr>
        <p:grpSpPr>
          <a:xfrm>
            <a:off x="1072208" y="5446018"/>
            <a:ext cx="7161045" cy="576064"/>
            <a:chOff x="640160" y="-566622"/>
            <a:chExt cx="7161045" cy="576064"/>
          </a:xfrm>
        </p:grpSpPr>
        <p:sp>
          <p:nvSpPr>
            <p:cNvPr id="60" name="TextBox 59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요금제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61" name="그룹 60"/>
            <p:cNvGrpSpPr/>
            <p:nvPr/>
          </p:nvGrpSpPr>
          <p:grpSpPr>
            <a:xfrm>
              <a:off x="2114824" y="-566622"/>
              <a:ext cx="5686381" cy="576064"/>
              <a:chOff x="2114824" y="-566622"/>
              <a:chExt cx="5686381" cy="576064"/>
            </a:xfrm>
          </p:grpSpPr>
          <p:sp>
            <p:nvSpPr>
              <p:cNvPr id="62" name="직사각형 61"/>
              <p:cNvSpPr/>
              <p:nvPr/>
            </p:nvSpPr>
            <p:spPr>
              <a:xfrm>
                <a:off x="2114824" y="-566622"/>
                <a:ext cx="2844625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추천 요금제</a:t>
                </a:r>
              </a:p>
            </p:txBody>
          </p:sp>
          <p:pic>
            <p:nvPicPr>
              <p:cNvPr id="63" name="Picture 4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44616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65" name="직사각형 64"/>
              <p:cNvSpPr/>
              <p:nvPr/>
            </p:nvSpPr>
            <p:spPr>
              <a:xfrm>
                <a:off x="2117693" y="-242558"/>
                <a:ext cx="5683512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5G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단말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(2GB/200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분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) /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데이터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2GB(+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보답프로그램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50GB(6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개월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)) |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음성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200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분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|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문자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100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건</a:t>
                </a:r>
              </a:p>
            </p:txBody>
          </p:sp>
          <p:pic>
            <p:nvPicPr>
              <p:cNvPr id="66" name="Picture 4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71570" y="-200607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67" name="그룹 66">
            <a:extLst>
              <a:ext uri="{FF2B5EF4-FFF2-40B4-BE49-F238E27FC236}">
                <a16:creationId xmlns="" xmlns:a16="http://schemas.microsoft.com/office/drawing/2014/main" id="{57484787-AC4E-E60B-CF76-178D19B44D80}"/>
              </a:ext>
            </a:extLst>
          </p:cNvPr>
          <p:cNvGrpSpPr/>
          <p:nvPr/>
        </p:nvGrpSpPr>
        <p:grpSpPr>
          <a:xfrm>
            <a:off x="1064458" y="6166098"/>
            <a:ext cx="3176102" cy="252000"/>
            <a:chOff x="632410" y="-568150"/>
            <a:chExt cx="3176102" cy="252000"/>
          </a:xfrm>
        </p:grpSpPr>
        <p:sp>
          <p:nvSpPr>
            <p:cNvPr id="68" name="TextBox 67">
              <a:extLst>
                <a:ext uri="{FF2B5EF4-FFF2-40B4-BE49-F238E27FC236}">
                  <a16:creationId xmlns="" xmlns:a16="http://schemas.microsoft.com/office/drawing/2014/main" id="{7CBD174E-34A6-1F57-CAFB-8FBD761DE329}"/>
                </a:ext>
              </a:extLst>
            </p:cNvPr>
            <p:cNvSpPr txBox="1"/>
            <p:nvPr/>
          </p:nvSpPr>
          <p:spPr>
            <a:xfrm>
              <a:off x="63241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대리점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69" name="그룹 68">
              <a:extLst>
                <a:ext uri="{FF2B5EF4-FFF2-40B4-BE49-F238E27FC236}">
                  <a16:creationId xmlns="" xmlns:a16="http://schemas.microsoft.com/office/drawing/2014/main" id="{E07DDD73-F4E2-8FBB-8912-17B457E44C61}"/>
                </a:ext>
              </a:extLst>
            </p:cNvPr>
            <p:cNvGrpSpPr/>
            <p:nvPr/>
          </p:nvGrpSpPr>
          <p:grpSpPr>
            <a:xfrm>
              <a:off x="2111550" y="-568150"/>
              <a:ext cx="1696962" cy="252000"/>
              <a:chOff x="2111550" y="-568150"/>
              <a:chExt cx="1696962" cy="252000"/>
            </a:xfrm>
          </p:grpSpPr>
          <p:sp>
            <p:nvSpPr>
              <p:cNvPr id="70" name="직사각형 69">
                <a:extLst>
                  <a:ext uri="{FF2B5EF4-FFF2-40B4-BE49-F238E27FC236}">
                    <a16:creationId xmlns="" xmlns:a16="http://schemas.microsoft.com/office/drawing/2014/main" id="{B0708EAE-2F50-4C3D-C082-00A08AD3D3A5}"/>
                  </a:ext>
                </a:extLst>
              </p:cNvPr>
              <p:cNvSpPr/>
              <p:nvPr/>
            </p:nvSpPr>
            <p:spPr>
              <a:xfrm>
                <a:off x="2111550" y="-568150"/>
                <a:ext cx="1696962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대리점 선택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71" name="Picture 4">
                <a:extLst>
                  <a:ext uri="{FF2B5EF4-FFF2-40B4-BE49-F238E27FC236}">
                    <a16:creationId xmlns="" xmlns:a16="http://schemas.microsoft.com/office/drawing/2014/main" id="{95ED2E99-7368-43A6-8B97-7CC8FE6CEF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1886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72" name="눈물 방울 71"/>
          <p:cNvSpPr/>
          <p:nvPr/>
        </p:nvSpPr>
        <p:spPr>
          <a:xfrm rot="5400000">
            <a:off x="503611" y="97675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aphicFrame>
        <p:nvGraphicFramePr>
          <p:cNvPr id="74" name="표 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960794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가입 유형별 화면 노출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케이스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2634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S101020101</a:t>
            </a:r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110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0335150"/>
              </p:ext>
            </p:extLst>
          </p:nvPr>
        </p:nvGraphicFramePr>
        <p:xfrm>
          <a:off x="10505256" y="788950"/>
          <a:ext cx="2130330" cy="506792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화면에서 선택한 가입정보에 따라 대상 약관 정보를 조회하여 화면에 출력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화면 출력 정보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번호이동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신규가입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기기변경에 따라 해당 약관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내국인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(19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 미만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(Foreigner)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에 따라 해당 약관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고객유형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 요금상품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서비스제공방식 등의 선택에 따라 해당하는 약관 모두 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선택항목 하위에 여러 개인 경우 중첩 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신분증 확인 </a:t>
                      </a: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= ‘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안면인증</a:t>
                      </a: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인 경우 관련 약관 표시</a:t>
                      </a:r>
                      <a:endParaRPr lang="en-US" altLang="ko-KR" sz="800" b="0" kern="1200" baseline="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동의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전체 선택 체크 박스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전체 항목 동의 체크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체크 박스 중 일부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체크해제된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경우 전체 선택 체크 해제 처리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가입조회 조건 결과 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가입조건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조회시에만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영역 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포탈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API -&gt; 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확인 필요</a:t>
                      </a:r>
                      <a:endParaRPr lang="ko-KR" altLang="en-US" sz="800" b="0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미확정</a:t>
                      </a:r>
                      <a:endParaRPr lang="en-US" altLang="ko-KR" sz="800" b="0" kern="1200" dirty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전체 펼침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상세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동의 완료된 이후 클릭 가능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가입조건 조회 결과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112" name="그룹 111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113" name="TextBox 112"/>
            <p:cNvSpPr txBox="1"/>
            <p:nvPr/>
          </p:nvSpPr>
          <p:spPr>
            <a:xfrm>
              <a:off x="1072208" y="1117425"/>
              <a:ext cx="74251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약관 동의</a:t>
              </a:r>
            </a:p>
          </p:txBody>
        </p:sp>
        <p:cxnSp>
          <p:nvCxnSpPr>
            <p:cNvPr id="114" name="직선 연결선 11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5" name="눈물 방울 114"/>
          <p:cNvSpPr/>
          <p:nvPr/>
        </p:nvSpPr>
        <p:spPr>
          <a:xfrm rot="5400000">
            <a:off x="932958" y="104876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54" name="그룹 53"/>
          <p:cNvGrpSpPr/>
          <p:nvPr/>
        </p:nvGrpSpPr>
        <p:grpSpPr>
          <a:xfrm>
            <a:off x="1163507" y="1557586"/>
            <a:ext cx="8758499" cy="253916"/>
            <a:chOff x="1936304" y="-857339"/>
            <a:chExt cx="8758499" cy="253916"/>
          </a:xfrm>
        </p:grpSpPr>
        <p:sp>
          <p:nvSpPr>
            <p:cNvPr id="55" name="타원 54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2116304" y="-857339"/>
              <a:ext cx="404630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이용약관</a:t>
              </a:r>
              <a:r>
                <a:rPr lang="en-US" altLang="ko-KR" sz="900" dirty="0">
                  <a:latin typeface="+mn-ea"/>
                  <a:ea typeface="+mn-ea"/>
                </a:rPr>
                <a:t>, </a:t>
              </a:r>
              <a:r>
                <a:rPr lang="ko-KR" altLang="en-US" sz="900" dirty="0">
                  <a:latin typeface="+mn-ea"/>
                  <a:ea typeface="+mn-ea"/>
                </a:rPr>
                <a:t>개인정보 수집</a:t>
              </a:r>
              <a:r>
                <a:rPr lang="en-US" altLang="ko-KR" sz="900" dirty="0">
                  <a:latin typeface="+mn-ea"/>
                  <a:ea typeface="+mn-ea"/>
                </a:rPr>
                <a:t>/</a:t>
              </a:r>
              <a:r>
                <a:rPr lang="ko-KR" altLang="en-US" sz="900" dirty="0">
                  <a:latin typeface="+mn-ea"/>
                  <a:ea typeface="+mn-ea"/>
                </a:rPr>
                <a:t>이용 및 선택동의 항목에 모두 동의합니다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10413957" y="-857339"/>
              <a:ext cx="2808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60" name="직사각형 59"/>
          <p:cNvSpPr/>
          <p:nvPr/>
        </p:nvSpPr>
        <p:spPr>
          <a:xfrm>
            <a:off x="1343506" y="1989634"/>
            <a:ext cx="8980707" cy="259228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61" name="그룹 60"/>
          <p:cNvGrpSpPr/>
          <p:nvPr/>
        </p:nvGrpSpPr>
        <p:grpSpPr>
          <a:xfrm>
            <a:off x="1504256" y="2133650"/>
            <a:ext cx="8629740" cy="504056"/>
            <a:chOff x="1936304" y="-857339"/>
            <a:chExt cx="8629740" cy="504056"/>
          </a:xfrm>
        </p:grpSpPr>
        <p:sp>
          <p:nvSpPr>
            <p:cNvPr id="62" name="타원 61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116304" y="-857339"/>
              <a:ext cx="416171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이용약관</a:t>
              </a:r>
              <a:r>
                <a:rPr lang="en-US" altLang="ko-KR" sz="900" dirty="0">
                  <a:latin typeface="+mn-ea"/>
                  <a:ea typeface="+mn-ea"/>
                </a:rPr>
                <a:t>, </a:t>
              </a:r>
              <a:r>
                <a:rPr lang="ko-KR" altLang="en-US" sz="900" dirty="0">
                  <a:latin typeface="+mn-ea"/>
                  <a:ea typeface="+mn-ea"/>
                </a:rPr>
                <a:t>개인정보 수집</a:t>
              </a:r>
              <a:r>
                <a:rPr lang="en-US" altLang="ko-KR" sz="900" dirty="0">
                  <a:latin typeface="+mn-ea"/>
                  <a:ea typeface="+mn-ea"/>
                </a:rPr>
                <a:t>/</a:t>
              </a:r>
              <a:r>
                <a:rPr lang="ko-KR" altLang="en-US" sz="900" dirty="0">
                  <a:latin typeface="+mn-ea"/>
                  <a:ea typeface="+mn-ea"/>
                </a:rPr>
                <a:t>이용 및 선택동의 항목에 모두 동의합니다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10296418" y="-857339"/>
              <a:ext cx="2696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V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124353" y="-584115"/>
              <a:ext cx="418415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※ 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고객님의 편의를 위한 모든 약관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선택약관 포함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에 일괄동의 하시겠습니까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?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</p:grpSp>
      <p:cxnSp>
        <p:nvCxnSpPr>
          <p:cNvPr id="66" name="구부러진 연결선 65"/>
          <p:cNvCxnSpPr/>
          <p:nvPr/>
        </p:nvCxnSpPr>
        <p:spPr>
          <a:xfrm rot="16200000" flipH="1">
            <a:off x="9625062" y="1968022"/>
            <a:ext cx="466166" cy="153126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8" name="그룹 67"/>
          <p:cNvGrpSpPr/>
          <p:nvPr/>
        </p:nvGrpSpPr>
        <p:grpSpPr>
          <a:xfrm>
            <a:off x="1504256" y="2781722"/>
            <a:ext cx="8639358" cy="253916"/>
            <a:chOff x="1936304" y="-857339"/>
            <a:chExt cx="8639358" cy="253916"/>
          </a:xfrm>
        </p:grpSpPr>
        <p:sp>
          <p:nvSpPr>
            <p:cNvPr id="69" name="타원 68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72" name="그룹 71"/>
          <p:cNvGrpSpPr/>
          <p:nvPr/>
        </p:nvGrpSpPr>
        <p:grpSpPr>
          <a:xfrm>
            <a:off x="1504256" y="3105129"/>
            <a:ext cx="8639358" cy="253916"/>
            <a:chOff x="1936304" y="-857339"/>
            <a:chExt cx="8639358" cy="253916"/>
          </a:xfrm>
        </p:grpSpPr>
        <p:sp>
          <p:nvSpPr>
            <p:cNvPr id="73" name="타원 72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76" name="그룹 75"/>
          <p:cNvGrpSpPr/>
          <p:nvPr/>
        </p:nvGrpSpPr>
        <p:grpSpPr>
          <a:xfrm>
            <a:off x="1504256" y="3428536"/>
            <a:ext cx="8639358" cy="253916"/>
            <a:chOff x="1936304" y="-857339"/>
            <a:chExt cx="8639358" cy="253916"/>
          </a:xfrm>
        </p:grpSpPr>
        <p:sp>
          <p:nvSpPr>
            <p:cNvPr id="77" name="타원 76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80" name="그룹 79"/>
          <p:cNvGrpSpPr/>
          <p:nvPr/>
        </p:nvGrpSpPr>
        <p:grpSpPr>
          <a:xfrm>
            <a:off x="1504256" y="3751942"/>
            <a:ext cx="8629740" cy="253916"/>
            <a:chOff x="1936304" y="-857339"/>
            <a:chExt cx="8629740" cy="253916"/>
          </a:xfrm>
        </p:grpSpPr>
        <p:sp>
          <p:nvSpPr>
            <p:cNvPr id="81" name="타원 80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10296418" y="-857339"/>
              <a:ext cx="2696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 smtClean="0">
                  <a:latin typeface="+mn-ea"/>
                  <a:ea typeface="+mn-ea"/>
                </a:rPr>
                <a:t>V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126" name="눈물 방울 125"/>
          <p:cNvSpPr/>
          <p:nvPr/>
        </p:nvSpPr>
        <p:spPr>
          <a:xfrm rot="5400000">
            <a:off x="9861950" y="149304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7" name="눈물 방울 126"/>
          <p:cNvSpPr/>
          <p:nvPr/>
        </p:nvSpPr>
        <p:spPr>
          <a:xfrm rot="5400000">
            <a:off x="9648627" y="277695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6" name="직사각형 135"/>
          <p:cNvSpPr/>
          <p:nvPr/>
        </p:nvSpPr>
        <p:spPr>
          <a:xfrm>
            <a:off x="9168980" y="465393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가입조건 조회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9" name="TextBox 148"/>
          <p:cNvSpPr txBox="1"/>
          <p:nvPr/>
        </p:nvSpPr>
        <p:spPr>
          <a:xfrm>
            <a:off x="1216224" y="5049944"/>
            <a:ext cx="9001000" cy="13681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180000" tIns="180000" rIns="180000" bIns="180000" rtlCol="0">
            <a:noAutofit/>
          </a:bodyPr>
          <a:lstStyle/>
          <a:p>
            <a:pPr algn="ctr"/>
            <a:r>
              <a:rPr lang="ko-KR" altLang="en-US" sz="1000" b="1" dirty="0">
                <a:latin typeface="맑은 고딕" pitchFamily="50" charset="-127"/>
                <a:ea typeface="맑은 고딕" pitchFamily="50" charset="-127"/>
              </a:rPr>
              <a:t>가입조건 조회 결과 개통 진행이 </a:t>
            </a:r>
            <a:r>
              <a:rPr lang="ko-KR" altLang="en-US" sz="10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가능</a:t>
            </a:r>
            <a:r>
              <a:rPr lang="ko-KR" altLang="en-US" sz="1000" b="1" dirty="0">
                <a:latin typeface="맑은 고딕" pitchFamily="50" charset="-127"/>
                <a:ea typeface="맑은 고딕" pitchFamily="50" charset="-127"/>
              </a:rPr>
              <a:t> 합니다</a:t>
            </a:r>
            <a:r>
              <a:rPr lang="en-US" altLang="ko-KR" sz="10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endParaRPr lang="en-US" altLang="ko-KR" sz="900" b="1" dirty="0" smtClean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 smtClean="0"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1467157" y="5509211"/>
            <a:ext cx="2002994" cy="252000"/>
            <a:chOff x="1467157" y="5329219"/>
            <a:chExt cx="2002994" cy="252000"/>
          </a:xfrm>
        </p:grpSpPr>
        <p:sp>
          <p:nvSpPr>
            <p:cNvPr id="138" name="TextBox 137"/>
            <p:cNvSpPr txBox="1"/>
            <p:nvPr/>
          </p:nvSpPr>
          <p:spPr>
            <a:xfrm>
              <a:off x="1467157" y="5339803"/>
              <a:ext cx="64633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가입제한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9" name="직사각형 138"/>
            <p:cNvSpPr/>
            <p:nvPr/>
          </p:nvSpPr>
          <p:spPr>
            <a:xfrm>
              <a:off x="2300770" y="5329219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가능</a:t>
              </a:r>
              <a:endParaRPr lang="en-US" altLang="ko-KR" sz="9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5" name="직선 연결선 4"/>
            <p:cNvCxnSpPr/>
            <p:nvPr/>
          </p:nvCxnSpPr>
          <p:spPr>
            <a:xfrm>
              <a:off x="2296344" y="5581219"/>
              <a:ext cx="11521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2" name="그룹 151"/>
          <p:cNvGrpSpPr/>
          <p:nvPr/>
        </p:nvGrpSpPr>
        <p:grpSpPr>
          <a:xfrm>
            <a:off x="4631284" y="5502786"/>
            <a:ext cx="2002994" cy="252000"/>
            <a:chOff x="1467157" y="5329219"/>
            <a:chExt cx="2002994" cy="252000"/>
          </a:xfrm>
        </p:grpSpPr>
        <p:sp>
          <p:nvSpPr>
            <p:cNvPr id="153" name="TextBox 152"/>
            <p:cNvSpPr txBox="1"/>
            <p:nvPr/>
          </p:nvSpPr>
          <p:spPr>
            <a:xfrm>
              <a:off x="1467157" y="5339803"/>
              <a:ext cx="64633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가입한도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4" name="직사각형 153"/>
            <p:cNvSpPr/>
            <p:nvPr/>
          </p:nvSpPr>
          <p:spPr>
            <a:xfrm>
              <a:off x="2300770" y="5329219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가능</a:t>
              </a:r>
              <a:endParaRPr lang="en-US" altLang="ko-KR" sz="9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55" name="직선 연결선 154"/>
            <p:cNvCxnSpPr/>
            <p:nvPr/>
          </p:nvCxnSpPr>
          <p:spPr>
            <a:xfrm>
              <a:off x="2296344" y="5581219"/>
              <a:ext cx="11521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6" name="그룹 155"/>
          <p:cNvGrpSpPr/>
          <p:nvPr/>
        </p:nvGrpSpPr>
        <p:grpSpPr>
          <a:xfrm>
            <a:off x="7854190" y="5502786"/>
            <a:ext cx="2002994" cy="252000"/>
            <a:chOff x="1467157" y="5329219"/>
            <a:chExt cx="2002994" cy="252000"/>
          </a:xfrm>
        </p:grpSpPr>
        <p:sp>
          <p:nvSpPr>
            <p:cNvPr id="157" name="TextBox 156"/>
            <p:cNvSpPr txBox="1"/>
            <p:nvPr/>
          </p:nvSpPr>
          <p:spPr>
            <a:xfrm>
              <a:off x="1467157" y="5339803"/>
              <a:ext cx="4154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미납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8" name="직사각형 157"/>
            <p:cNvSpPr/>
            <p:nvPr/>
          </p:nvSpPr>
          <p:spPr>
            <a:xfrm>
              <a:off x="2300770" y="5329219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가능</a:t>
              </a:r>
              <a:endParaRPr lang="en-US" altLang="ko-KR" sz="9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59" name="직선 연결선 158"/>
            <p:cNvCxnSpPr/>
            <p:nvPr/>
          </p:nvCxnSpPr>
          <p:spPr>
            <a:xfrm>
              <a:off x="2296344" y="5581219"/>
              <a:ext cx="11521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0" name="그룹 159"/>
          <p:cNvGrpSpPr/>
          <p:nvPr/>
        </p:nvGrpSpPr>
        <p:grpSpPr>
          <a:xfrm>
            <a:off x="1464943" y="5950074"/>
            <a:ext cx="2002994" cy="252000"/>
            <a:chOff x="1467157" y="5329219"/>
            <a:chExt cx="2002994" cy="252000"/>
          </a:xfrm>
        </p:grpSpPr>
        <p:sp>
          <p:nvSpPr>
            <p:cNvPr id="161" name="TextBox 160"/>
            <p:cNvSpPr txBox="1"/>
            <p:nvPr/>
          </p:nvSpPr>
          <p:spPr>
            <a:xfrm>
              <a:off x="1467157" y="5339803"/>
              <a:ext cx="8771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 smtClean="0">
                  <a:latin typeface="맑은 고딕" pitchFamily="50" charset="-127"/>
                  <a:ea typeface="맑은 고딕" pitchFamily="50" charset="-127"/>
                </a:rPr>
                <a:t>상습해지이력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2" name="직사각형 161"/>
            <p:cNvSpPr/>
            <p:nvPr/>
          </p:nvSpPr>
          <p:spPr>
            <a:xfrm>
              <a:off x="2300770" y="5329219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가능</a:t>
              </a:r>
              <a:endParaRPr lang="en-US" altLang="ko-KR" sz="9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63" name="직선 연결선 162"/>
            <p:cNvCxnSpPr/>
            <p:nvPr/>
          </p:nvCxnSpPr>
          <p:spPr>
            <a:xfrm>
              <a:off x="2296344" y="5581219"/>
              <a:ext cx="11521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4" name="그룹 163"/>
          <p:cNvGrpSpPr/>
          <p:nvPr/>
        </p:nvGrpSpPr>
        <p:grpSpPr>
          <a:xfrm>
            <a:off x="4629070" y="5943649"/>
            <a:ext cx="2002994" cy="252000"/>
            <a:chOff x="1467157" y="5329219"/>
            <a:chExt cx="2002994" cy="252000"/>
          </a:xfrm>
        </p:grpSpPr>
        <p:sp>
          <p:nvSpPr>
            <p:cNvPr id="165" name="TextBox 164"/>
            <p:cNvSpPr txBox="1"/>
            <p:nvPr/>
          </p:nvSpPr>
          <p:spPr>
            <a:xfrm>
              <a:off x="1467157" y="5339803"/>
              <a:ext cx="64633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할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부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할인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6" name="직사각형 165"/>
            <p:cNvSpPr/>
            <p:nvPr/>
          </p:nvSpPr>
          <p:spPr>
            <a:xfrm>
              <a:off x="2300770" y="5329219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가능</a:t>
              </a:r>
              <a:endParaRPr lang="en-US" altLang="ko-KR" sz="9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67" name="직선 연결선 166"/>
            <p:cNvCxnSpPr/>
            <p:nvPr/>
          </p:nvCxnSpPr>
          <p:spPr>
            <a:xfrm>
              <a:off x="2296344" y="5581219"/>
              <a:ext cx="11521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1" name="눈물 방울 170"/>
          <p:cNvSpPr/>
          <p:nvPr/>
        </p:nvSpPr>
        <p:spPr>
          <a:xfrm rot="5400000">
            <a:off x="10149982" y="464916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74" name="눈물 방울 173"/>
          <p:cNvSpPr/>
          <p:nvPr/>
        </p:nvSpPr>
        <p:spPr>
          <a:xfrm rot="5400000">
            <a:off x="932958" y="498540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1793890" y="4039974"/>
            <a:ext cx="8342538" cy="253916"/>
            <a:chOff x="1936304" y="-857339"/>
            <a:chExt cx="8342538" cy="253916"/>
          </a:xfrm>
        </p:grpSpPr>
        <p:sp>
          <p:nvSpPr>
            <p:cNvPr id="85" name="타원 84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999959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88" name="그룹 87"/>
          <p:cNvGrpSpPr/>
          <p:nvPr/>
        </p:nvGrpSpPr>
        <p:grpSpPr>
          <a:xfrm>
            <a:off x="1792288" y="4293890"/>
            <a:ext cx="8342538" cy="253916"/>
            <a:chOff x="1936304" y="-857339"/>
            <a:chExt cx="8342538" cy="253916"/>
          </a:xfrm>
        </p:grpSpPr>
        <p:sp>
          <p:nvSpPr>
            <p:cNvPr id="89" name="타원 88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999959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aphicFrame>
        <p:nvGraphicFramePr>
          <p:cNvPr id="93" name="표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5090647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dirty="0" smtClean="0">
                          <a:latin typeface="+mn-ea"/>
                          <a:ea typeface="+mn-ea"/>
                        </a:rPr>
                        <a:t>2</a:t>
                      </a: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선택 약관 하위 표시 추가</a:t>
                      </a:r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2" name="직사각형 91"/>
          <p:cNvSpPr/>
          <p:nvPr/>
        </p:nvSpPr>
        <p:spPr>
          <a:xfrm>
            <a:off x="12881520" y="3582681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(2026.03.04)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가입조회 조건 조회 </a:t>
            </a:r>
            <a:r>
              <a:rPr lang="en-US" altLang="ko-KR" sz="1000" b="1" dirty="0">
                <a:solidFill>
                  <a:srgbClr val="FF0000"/>
                </a:solidFill>
                <a:latin typeface="+mn-ea"/>
                <a:ea typeface="+mn-ea"/>
              </a:rPr>
              <a:t>API 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확인</a:t>
            </a: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M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플랫폼 개발 가능 여부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확인중</a:t>
            </a:r>
            <a:endParaRPr lang="ko-KR" altLang="en-US" sz="1000" b="1" dirty="0" smtClean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94" name="직사각형 93"/>
          <p:cNvSpPr/>
          <p:nvPr/>
        </p:nvSpPr>
        <p:spPr>
          <a:xfrm>
            <a:off x="12881520" y="2055434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(2026.03.04)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안면인증 관련 약관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추가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추후 약관 정보 수령하여 추가</a:t>
            </a:r>
          </a:p>
        </p:txBody>
      </p:sp>
    </p:spTree>
    <p:extLst>
      <p:ext uri="{BB962C8B-B14F-4D97-AF65-F5344CB8AC3E}">
        <p14:creationId xmlns:p14="http://schemas.microsoft.com/office/powerpoint/2010/main" val="15721027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813269"/>
              </p:ext>
            </p:extLst>
          </p:nvPr>
        </p:nvGraphicFramePr>
        <p:xfrm>
          <a:off x="10505256" y="788950"/>
          <a:ext cx="2130330" cy="2851224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K-NOTE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스캔 목록 조회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판매점 코드에 미완료된 신분증 스캔 목록 조회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endParaRPr lang="en-US" altLang="ko-KR" sz="800" b="0" kern="1200" baseline="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신분증 이미지 실물을 전송 받은 경우 </a:t>
                      </a: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이미지 첨부</a:t>
                      </a:r>
                      <a:endParaRPr lang="en-US" altLang="ko-KR" sz="800" b="0" kern="1200" baseline="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일련번호 </a:t>
                      </a:r>
                      <a:r>
                        <a:rPr lang="ko-KR" altLang="en-US" sz="800" b="0" kern="1200" baseline="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전송받은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경우 신청서에 일련번호 </a:t>
                      </a:r>
                      <a:r>
                        <a:rPr lang="ko-KR" altLang="en-US" sz="800" b="0" kern="1200" baseline="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세팅하여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플랫폼에 신청서 등록 처리시 </a:t>
                      </a:r>
                      <a:r>
                        <a:rPr lang="ko-KR" altLang="en-US" sz="800" b="0" kern="1200" baseline="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매핑</a:t>
                      </a:r>
                      <a:endParaRPr lang="ko-KR" altLang="en-US" sz="800" b="0" kern="1200" dirty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신분증을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latin typeface="+mn-ea"/>
                <a:ea typeface="+mn-ea"/>
              </a:rPr>
              <a:t>S101020109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신분증 </a:t>
            </a:r>
            <a:r>
              <a:rPr lang="ko-KR" altLang="en-US" sz="1000" dirty="0" smtClean="0">
                <a:latin typeface="+mn-ea"/>
                <a:ea typeface="+mn-ea"/>
              </a:rPr>
              <a:t>목록 조회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402516" y="5248841"/>
            <a:ext cx="2881818" cy="1397063"/>
            <a:chOff x="5875124" y="3832891"/>
            <a:chExt cx="2881818" cy="1397063"/>
          </a:xfrm>
        </p:grpSpPr>
        <p:sp>
          <p:nvSpPr>
            <p:cNvPr id="30" name="직사각형 29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조회된 데이터가 없습니다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3" name="눈물 방울 32"/>
          <p:cNvSpPr/>
          <p:nvPr/>
        </p:nvSpPr>
        <p:spPr>
          <a:xfrm rot="5400000">
            <a:off x="300620" y="514121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52128" y="4917752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신분증 스캔 목록이 없는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173136" y="4602828"/>
            <a:ext cx="3111198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grpSp>
        <p:nvGrpSpPr>
          <p:cNvPr id="112" name="그룹 111"/>
          <p:cNvGrpSpPr/>
          <p:nvPr/>
        </p:nvGrpSpPr>
        <p:grpSpPr>
          <a:xfrm>
            <a:off x="3323688" y="1197546"/>
            <a:ext cx="4085224" cy="5328592"/>
            <a:chOff x="515376" y="1348578"/>
            <a:chExt cx="4085224" cy="5328592"/>
          </a:xfrm>
        </p:grpSpPr>
        <p:grpSp>
          <p:nvGrpSpPr>
            <p:cNvPr id="113" name="그룹 112"/>
            <p:cNvGrpSpPr/>
            <p:nvPr/>
          </p:nvGrpSpPr>
          <p:grpSpPr>
            <a:xfrm>
              <a:off x="515376" y="1348578"/>
              <a:ext cx="4085224" cy="5328592"/>
              <a:chOff x="515376" y="1348578"/>
              <a:chExt cx="4085224" cy="5328592"/>
            </a:xfrm>
          </p:grpSpPr>
          <p:sp>
            <p:nvSpPr>
              <p:cNvPr id="116" name="직사각형 115"/>
              <p:cNvSpPr/>
              <p:nvPr/>
            </p:nvSpPr>
            <p:spPr>
              <a:xfrm>
                <a:off x="515376" y="1348578"/>
                <a:ext cx="4085224" cy="5328592"/>
              </a:xfrm>
              <a:prstGeom prst="rect">
                <a:avLst/>
              </a:prstGeom>
              <a:solidFill>
                <a:srgbClr val="FFFFFF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grpSp>
            <p:nvGrpSpPr>
              <p:cNvPr id="117" name="그룹 116"/>
              <p:cNvGrpSpPr/>
              <p:nvPr/>
            </p:nvGrpSpPr>
            <p:grpSpPr>
              <a:xfrm rot="2700000">
                <a:off x="4226981" y="1468991"/>
                <a:ext cx="214699" cy="216000"/>
                <a:chOff x="6609184" y="2719104"/>
                <a:chExt cx="1008112" cy="1008112"/>
              </a:xfrm>
            </p:grpSpPr>
            <p:cxnSp>
              <p:nvCxnSpPr>
                <p:cNvPr id="118" name="직선 연결선 117"/>
                <p:cNvCxnSpPr/>
                <p:nvPr/>
              </p:nvCxnSpPr>
              <p:spPr>
                <a:xfrm>
                  <a:off x="6609184" y="3223160"/>
                  <a:ext cx="1008112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직선 연결선 118"/>
                <p:cNvCxnSpPr/>
                <p:nvPr/>
              </p:nvCxnSpPr>
              <p:spPr>
                <a:xfrm rot="5400000">
                  <a:off x="6609184" y="3223160"/>
                  <a:ext cx="1008112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4" name="TextBox 113"/>
            <p:cNvSpPr txBox="1"/>
            <p:nvPr/>
          </p:nvSpPr>
          <p:spPr>
            <a:xfrm>
              <a:off x="620153" y="1435068"/>
              <a:ext cx="2883555" cy="388364"/>
            </a:xfrm>
            <a:prstGeom prst="rect">
              <a:avLst/>
            </a:prstGeom>
            <a:noFill/>
          </p:spPr>
          <p:txBody>
            <a:bodyPr wrap="square" lIns="107241" tIns="53620" rIns="107241" bIns="53620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400" b="1" dirty="0" smtClean="0">
                  <a:solidFill>
                    <a:prstClr val="black"/>
                  </a:solidFill>
                  <a:latin typeface="+mn-ea"/>
                  <a:ea typeface="+mn-ea"/>
                </a:rPr>
                <a:t>신분증 목록 조회</a:t>
              </a:r>
              <a:endParaRPr lang="en-US" altLang="ko-KR" sz="1400" b="1" dirty="0"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</p:grpSp>
      <p:sp>
        <p:nvSpPr>
          <p:cNvPr id="120" name="TextBox 119"/>
          <p:cNvSpPr txBox="1"/>
          <p:nvPr/>
        </p:nvSpPr>
        <p:spPr>
          <a:xfrm>
            <a:off x="3495937" y="1873781"/>
            <a:ext cx="127150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스캔 목록 </a:t>
            </a:r>
            <a:r>
              <a:rPr lang="en-US" altLang="ko-KR" sz="900" b="1" dirty="0" smtClean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총 </a:t>
            </a:r>
            <a:r>
              <a:rPr lang="en-US" altLang="ko-KR" sz="900" b="1" dirty="0" smtClean="0">
                <a:latin typeface="맑은 고딕" pitchFamily="50" charset="-127"/>
                <a:ea typeface="맑은 고딕" pitchFamily="50" charset="-127"/>
              </a:rPr>
              <a:t>XX </a:t>
            </a:r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건</a:t>
            </a:r>
            <a:r>
              <a:rPr lang="en-US" altLang="ko-KR" sz="900" b="1" dirty="0" smtClean="0"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21" name="표 120">
            <a:extLst>
              <a:ext uri="{FF2B5EF4-FFF2-40B4-BE49-F238E27FC236}">
                <a16:creationId xmlns="" xmlns:a16="http://schemas.microsoft.com/office/drawing/2014/main" id="{F4D390E8-2A4A-4727-AA8D-7611F67FF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6975102"/>
              </p:ext>
            </p:extLst>
          </p:nvPr>
        </p:nvGraphicFramePr>
        <p:xfrm>
          <a:off x="3554982" y="2133874"/>
          <a:ext cx="3511292" cy="2016000"/>
        </p:xfrm>
        <a:graphic>
          <a:graphicData uri="http://schemas.openxmlformats.org/drawingml/2006/table">
            <a:tbl>
              <a:tblPr/>
              <a:tblGrid>
                <a:gridCol w="469554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820904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110417"/>
                <a:gridCol w="1110417"/>
              </a:tblGrid>
              <a:tr h="288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고객명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종류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kern="120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스캔일시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홍길동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주민등록증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2026.03.10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홍길순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운전면허증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…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…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…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kern="12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…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3" name="직사각형 122"/>
          <p:cNvSpPr/>
          <p:nvPr/>
        </p:nvSpPr>
        <p:spPr>
          <a:xfrm>
            <a:off x="3710624" y="2489600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3710624" y="2770189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V</a:t>
            </a:r>
            <a:endParaRPr lang="ko-KR" altLang="en-US" sz="800" b="1" dirty="0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3710624" y="3066113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3710624" y="3352850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3710624" y="3636005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3710624" y="3929760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34" name="눈물 방울 133"/>
          <p:cNvSpPr/>
          <p:nvPr/>
        </p:nvSpPr>
        <p:spPr>
          <a:xfrm rot="5400000">
            <a:off x="3239915" y="1869016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6" name="눈물 방울 135"/>
          <p:cNvSpPr/>
          <p:nvPr/>
        </p:nvSpPr>
        <p:spPr>
          <a:xfrm rot="5400000">
            <a:off x="6192243" y="605945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7" name="눈물 방울 136"/>
          <p:cNvSpPr/>
          <p:nvPr/>
        </p:nvSpPr>
        <p:spPr>
          <a:xfrm rot="5400000">
            <a:off x="4245326" y="605945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8" name="직사각형 137"/>
          <p:cNvSpPr/>
          <p:nvPr/>
        </p:nvSpPr>
        <p:spPr>
          <a:xfrm>
            <a:off x="5388021" y="6022114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139" name="직사각형 138"/>
          <p:cNvSpPr/>
          <p:nvPr/>
        </p:nvSpPr>
        <p:spPr>
          <a:xfrm>
            <a:off x="4554639" y="6022114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4" name="직선 화살표 연결선 3"/>
          <p:cNvCxnSpPr/>
          <p:nvPr/>
        </p:nvCxnSpPr>
        <p:spPr>
          <a:xfrm flipH="1">
            <a:off x="7142642" y="2104613"/>
            <a:ext cx="1" cy="38454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/>
          <p:cNvSpPr/>
          <p:nvPr/>
        </p:nvSpPr>
        <p:spPr>
          <a:xfrm>
            <a:off x="12881520" y="1125538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(2026.03.04)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판매점 스캐너 통한 신분증 목록 조회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K-NOTE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협의중</a:t>
            </a:r>
            <a:endParaRPr lang="ko-KR" altLang="en-US" sz="1000" b="1" dirty="0" smtClean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846003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직사각형 46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7459686"/>
              </p:ext>
            </p:extLst>
          </p:nvPr>
        </p:nvGraphicFramePr>
        <p:xfrm>
          <a:off x="10505256" y="788950"/>
          <a:ext cx="2130330" cy="4336376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접근권한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미동의 상태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접근권한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 안내 메시지 노출 후 설정 화면으로 이동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동의 등록 후 카메라 구동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미동의시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이용 불가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상태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 구동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QR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생성 후 고객 휴대폰에서 “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모바일신분증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“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에서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QR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촬영 진행</a:t>
                      </a:r>
                    </a:p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QR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촬영 후 “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모바일신분증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”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에서 인증 수행</a:t>
                      </a:r>
                    </a:p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정상 인증 처리 후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QR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코드 하단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인증완료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]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버튼 클릭</a:t>
                      </a:r>
                    </a:p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정상 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인증시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고객명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주민등록번호 화면에 자동 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세팅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처리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QR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생성 후 유효시간은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15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초로 시간이 지난 경우 재생성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</a:b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(QR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촬영까지의 유효시간이고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에서 인증하는 시간은 무관함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 접근 권한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미동의 상태인 경우 알림 메시지 표시 후 팝업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버튼 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처리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-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정상 인증 처리된 경우 인증 완료 처리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S101020103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err="1">
                <a:latin typeface="+mn-ea"/>
                <a:ea typeface="+mn-ea"/>
              </a:rPr>
              <a:t>모바일</a:t>
            </a:r>
            <a:r>
              <a:rPr lang="ko-KR" altLang="en-US" sz="1000" dirty="0">
                <a:latin typeface="+mn-ea"/>
                <a:ea typeface="+mn-ea"/>
              </a:rPr>
              <a:t> 신분증</a:t>
            </a:r>
          </a:p>
        </p:txBody>
      </p:sp>
      <p:sp>
        <p:nvSpPr>
          <p:cNvPr id="30" name="직사각형 29"/>
          <p:cNvSpPr/>
          <p:nvPr/>
        </p:nvSpPr>
        <p:spPr>
          <a:xfrm>
            <a:off x="3323688" y="1428660"/>
            <a:ext cx="4085224" cy="3801294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31" name="그룹 30"/>
          <p:cNvGrpSpPr/>
          <p:nvPr/>
        </p:nvGrpSpPr>
        <p:grpSpPr>
          <a:xfrm rot="2700000">
            <a:off x="7035293" y="1549073"/>
            <a:ext cx="214699" cy="216000"/>
            <a:chOff x="6609184" y="2719104"/>
            <a:chExt cx="1008112" cy="1008112"/>
          </a:xfrm>
        </p:grpSpPr>
        <p:cxnSp>
          <p:nvCxnSpPr>
            <p:cNvPr id="32" name="직선 연결선 31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32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/>
          <p:cNvSpPr txBox="1"/>
          <p:nvPr/>
        </p:nvSpPr>
        <p:spPr>
          <a:xfrm>
            <a:off x="3428465" y="1515150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 err="1">
                <a:solidFill>
                  <a:prstClr val="black"/>
                </a:solidFill>
                <a:latin typeface="+mn-ea"/>
                <a:ea typeface="+mn-ea"/>
              </a:rPr>
              <a:t>모바일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 신분증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grpSp>
        <p:nvGrpSpPr>
          <p:cNvPr id="35" name="그룹 34"/>
          <p:cNvGrpSpPr/>
          <p:nvPr/>
        </p:nvGrpSpPr>
        <p:grpSpPr>
          <a:xfrm>
            <a:off x="252699" y="5229954"/>
            <a:ext cx="2881818" cy="1397063"/>
            <a:chOff x="5875124" y="3832891"/>
            <a:chExt cx="2881818" cy="1397063"/>
          </a:xfrm>
        </p:grpSpPr>
        <p:sp>
          <p:nvSpPr>
            <p:cNvPr id="36" name="직사각형 35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 조회를 하시려면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카메라 접근 허용 후 다시 시도해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9" name="눈물 방울 38"/>
          <p:cNvSpPr/>
          <p:nvPr/>
        </p:nvSpPr>
        <p:spPr>
          <a:xfrm rot="5400000">
            <a:off x="150803" y="512232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3395695" y="2076732"/>
            <a:ext cx="3823315" cy="288032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QR Code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를 조회해 주세요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9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1" name="눈물 방울 40"/>
          <p:cNvSpPr/>
          <p:nvPr/>
        </p:nvSpPr>
        <p:spPr>
          <a:xfrm rot="5400000">
            <a:off x="3063477" y="176601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202311" y="4898865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카메라 접근 권한이 없는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pic>
        <p:nvPicPr>
          <p:cNvPr id="44" name="그림 43"/>
          <p:cNvPicPr>
            <a:picLocks noChangeAspect="1"/>
          </p:cNvPicPr>
          <p:nvPr/>
        </p:nvPicPr>
        <p:blipFill rotWithShape="1">
          <a:blip r:embed="rId2"/>
          <a:srcRect l="39528" t="15415" r="24232" b="26900"/>
          <a:stretch/>
        </p:blipFill>
        <p:spPr>
          <a:xfrm>
            <a:off x="4483529" y="2383302"/>
            <a:ext cx="1647646" cy="1561381"/>
          </a:xfrm>
          <a:prstGeom prst="rect">
            <a:avLst/>
          </a:prstGeom>
        </p:spPr>
      </p:pic>
      <p:sp>
        <p:nvSpPr>
          <p:cNvPr id="53" name="직사각형 52"/>
          <p:cNvSpPr/>
          <p:nvPr/>
        </p:nvSpPr>
        <p:spPr>
          <a:xfrm>
            <a:off x="3792085" y="4034751"/>
            <a:ext cx="2878182" cy="259099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QR 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유효시간 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00:14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4" name="눈물 방울 53"/>
          <p:cNvSpPr/>
          <p:nvPr/>
        </p:nvSpPr>
        <p:spPr>
          <a:xfrm rot="5400000">
            <a:off x="4154992" y="398433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8" name="눈물 방울 27"/>
          <p:cNvSpPr/>
          <p:nvPr/>
        </p:nvSpPr>
        <p:spPr>
          <a:xfrm rot="5400000">
            <a:off x="6211475" y="461922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2" name="눈물 방울 41"/>
          <p:cNvSpPr/>
          <p:nvPr/>
        </p:nvSpPr>
        <p:spPr>
          <a:xfrm rot="5400000">
            <a:off x="4048534" y="461922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5191229" y="4581882"/>
            <a:ext cx="90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인증완료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4357847" y="4581882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73136" y="4602828"/>
            <a:ext cx="3111198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50" name="직사각형 49"/>
          <p:cNvSpPr/>
          <p:nvPr/>
        </p:nvSpPr>
        <p:spPr>
          <a:xfrm>
            <a:off x="12881520" y="1125538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(2026.03.04)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모바일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신분증 솔루션 연동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솔루션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스펙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확인중</a:t>
            </a:r>
            <a:endParaRPr lang="ko-KR" altLang="en-US" sz="1000" b="1" dirty="0" smtClean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498624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직사각형 45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231464"/>
              </p:ext>
            </p:extLst>
          </p:nvPr>
        </p:nvGraphicFramePr>
        <p:xfrm>
          <a:off x="10505256" y="788950"/>
          <a:ext cx="2130330" cy="2801320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안면 인증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접근권한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미동의 상태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접근권한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 안내 메시지 노출 후 설정 화면으로 이동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동의 등록 후 카메라 구동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미동의시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이용 불가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상태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 구동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 접근 권한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미동의 상태인 경우 알림 메시지 표시 후 팝업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정상 인증 처리 후 하단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인증완료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]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버튼 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인증 완료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smtClean="0">
                <a:latin typeface="+mn-ea"/>
                <a:ea typeface="+mn-ea"/>
              </a:rPr>
              <a:t>안면인증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3555456" y="1068660"/>
            <a:ext cx="4085224" cy="538547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31" name="그룹 30"/>
          <p:cNvGrpSpPr/>
          <p:nvPr/>
        </p:nvGrpSpPr>
        <p:grpSpPr>
          <a:xfrm rot="2700000">
            <a:off x="7267061" y="1189073"/>
            <a:ext cx="214699" cy="216000"/>
            <a:chOff x="6609184" y="2719104"/>
            <a:chExt cx="1008112" cy="1008112"/>
          </a:xfrm>
        </p:grpSpPr>
        <p:cxnSp>
          <p:nvCxnSpPr>
            <p:cNvPr id="32" name="직선 연결선 31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32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/>
          <p:cNvSpPr txBox="1"/>
          <p:nvPr/>
        </p:nvSpPr>
        <p:spPr>
          <a:xfrm>
            <a:off x="3660233" y="1155150"/>
            <a:ext cx="2883555" cy="388364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 smtClean="0">
                <a:solidFill>
                  <a:prstClr val="black"/>
                </a:solidFill>
                <a:latin typeface="+mn-ea"/>
                <a:ea typeface="+mn-ea"/>
              </a:rPr>
              <a:t>안면인증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grpSp>
        <p:nvGrpSpPr>
          <p:cNvPr id="35" name="그룹 34"/>
          <p:cNvGrpSpPr/>
          <p:nvPr/>
        </p:nvGrpSpPr>
        <p:grpSpPr>
          <a:xfrm>
            <a:off x="342750" y="5229954"/>
            <a:ext cx="2881818" cy="1397063"/>
            <a:chOff x="5875124" y="3832891"/>
            <a:chExt cx="2881818" cy="1397063"/>
          </a:xfrm>
        </p:grpSpPr>
        <p:sp>
          <p:nvSpPr>
            <p:cNvPr id="36" name="직사각형 35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안면인증을 하시려면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카메라 접근 허용 후 다시 시도해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9" name="눈물 방울 38"/>
          <p:cNvSpPr/>
          <p:nvPr/>
        </p:nvSpPr>
        <p:spPr>
          <a:xfrm rot="5400000">
            <a:off x="240854" y="512232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1" name="눈물 방울 40"/>
          <p:cNvSpPr/>
          <p:nvPr/>
        </p:nvSpPr>
        <p:spPr>
          <a:xfrm rot="5400000">
            <a:off x="3295245" y="140601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292362" y="4898865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카메라 접근 권한이 없는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3627463" y="1716732"/>
            <a:ext cx="3823315" cy="288032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사각형에 얼굴을 맞춰주세요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9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3838238" y="2205656"/>
            <a:ext cx="3420000" cy="3420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S101020104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6" name="눈물 방울 25"/>
          <p:cNvSpPr/>
          <p:nvPr/>
        </p:nvSpPr>
        <p:spPr>
          <a:xfrm rot="5400000">
            <a:off x="6443243" y="605945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7" name="눈물 방울 26"/>
          <p:cNvSpPr/>
          <p:nvPr/>
        </p:nvSpPr>
        <p:spPr>
          <a:xfrm rot="5400000">
            <a:off x="4280302" y="605945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5422997" y="6022114"/>
            <a:ext cx="90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인증완료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4589615" y="6022114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173136" y="4602828"/>
            <a:ext cx="3051432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3660233" y="1148844"/>
            <a:ext cx="3892695" cy="5233278"/>
          </a:xfrm>
          <a:prstGeom prst="rect">
            <a:avLst/>
          </a:prstGeom>
          <a:solidFill>
            <a:schemeClr val="tx1">
              <a:lumMod val="65000"/>
              <a:lumOff val="3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200" b="1">
                <a:latin typeface="+mn-ea"/>
                <a:ea typeface="+mn-ea"/>
              </a:rPr>
              <a:t>안면인증 프로세스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12881520" y="1125538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(2026.03.04)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안면인증 연동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연동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스펙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확인중</a:t>
            </a:r>
            <a:endParaRPr lang="ko-KR" altLang="en-US" sz="1000" b="1" dirty="0" smtClean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441252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0753612"/>
              </p:ext>
            </p:extLst>
          </p:nvPr>
        </p:nvGraphicFramePr>
        <p:xfrm>
          <a:off x="10505256" y="788950"/>
          <a:ext cx="2130330" cy="3288971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및 서류 스캔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접근권한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미동의 상태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접근권한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 안내 메시지 노출 후 설정 화면으로 이동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동의 등록 후 카메라 구동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미동의시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이용 불가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상태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구동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- OCR</a:t>
                      </a: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스캔 솔루션</a:t>
                      </a:r>
                      <a:endParaRPr lang="ko-KR" altLang="en-US" sz="800" b="0" kern="1200" dirty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 접근 권한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미동의 상태인 경우 알림 메시지 표시 후 팝업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Text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를 요청한 화면 항목에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재촬영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S101020102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smtClean="0">
                <a:latin typeface="+mn-ea"/>
                <a:ea typeface="+mn-ea"/>
              </a:rPr>
              <a:t>신분증</a:t>
            </a:r>
            <a:r>
              <a:rPr lang="en-US" altLang="ko-KR" sz="1000" dirty="0" smtClean="0">
                <a:latin typeface="+mn-ea"/>
                <a:ea typeface="+mn-ea"/>
              </a:rPr>
              <a:t>/</a:t>
            </a:r>
            <a:r>
              <a:rPr lang="ko-KR" altLang="en-US" sz="1000" dirty="0" smtClean="0">
                <a:latin typeface="+mn-ea"/>
                <a:ea typeface="+mn-ea"/>
              </a:rPr>
              <a:t>서류 스캔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3482453" y="1205110"/>
            <a:ext cx="4085224" cy="4593382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 rot="2700000">
            <a:off x="7194058" y="1325522"/>
            <a:ext cx="214699" cy="216000"/>
            <a:chOff x="6609184" y="2719104"/>
            <a:chExt cx="1008112" cy="1008112"/>
          </a:xfrm>
        </p:grpSpPr>
        <p:cxnSp>
          <p:nvCxnSpPr>
            <p:cNvPr id="27" name="직선 연결선 26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연결선 27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/>
          <p:cNvSpPr txBox="1"/>
          <p:nvPr/>
        </p:nvSpPr>
        <p:spPr>
          <a:xfrm>
            <a:off x="3587230" y="1291599"/>
            <a:ext cx="2883555" cy="388364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 smtClean="0">
                <a:solidFill>
                  <a:prstClr val="black"/>
                </a:solidFill>
                <a:latin typeface="+mn-ea"/>
                <a:ea typeface="+mn-ea"/>
              </a:rPr>
              <a:t>신분증</a:t>
            </a:r>
            <a:r>
              <a:rPr lang="en-US" altLang="ko-KR" sz="1400" b="1" dirty="0" smtClean="0">
                <a:solidFill>
                  <a:prstClr val="black"/>
                </a:solidFill>
                <a:latin typeface="+mn-ea"/>
                <a:ea typeface="+mn-ea"/>
              </a:rPr>
              <a:t>/</a:t>
            </a:r>
            <a:r>
              <a:rPr lang="ko-KR" altLang="en-US" sz="1400" b="1" dirty="0" smtClean="0">
                <a:solidFill>
                  <a:prstClr val="black"/>
                </a:solidFill>
                <a:latin typeface="+mn-ea"/>
                <a:ea typeface="+mn-ea"/>
              </a:rPr>
              <a:t>서류 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스캔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402516" y="5248841"/>
            <a:ext cx="2881818" cy="1397063"/>
            <a:chOff x="5875124" y="3832891"/>
            <a:chExt cx="2881818" cy="1397063"/>
          </a:xfrm>
        </p:grpSpPr>
        <p:sp>
          <p:nvSpPr>
            <p:cNvPr id="30" name="직사각형 29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촬영을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하시려면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카메라 접근 허용 후 다시 시도해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3" name="눈물 방울 32"/>
          <p:cNvSpPr/>
          <p:nvPr/>
        </p:nvSpPr>
        <p:spPr>
          <a:xfrm rot="5400000">
            <a:off x="300620" y="514121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3554460" y="1853181"/>
            <a:ext cx="3823315" cy="288032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사각형에 맞추어 </a:t>
            </a:r>
            <a:r>
              <a:rPr lang="ko-KR" altLang="en-US" sz="9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주세요</a:t>
            </a:r>
            <a:r>
              <a:rPr lang="en-US" altLang="ko-KR" sz="9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9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눈물 방울 35"/>
          <p:cNvSpPr/>
          <p:nvPr/>
        </p:nvSpPr>
        <p:spPr>
          <a:xfrm rot="5400000">
            <a:off x="3222242" y="154246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3765235" y="2342105"/>
            <a:ext cx="3420000" cy="259229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52128" y="4917752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카메라 접근 권한이 없는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7" name="눈물 방울 36"/>
          <p:cNvSpPr/>
          <p:nvPr/>
        </p:nvSpPr>
        <p:spPr>
          <a:xfrm rot="5400000">
            <a:off x="6370240" y="525979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8" name="눈물 방울 37"/>
          <p:cNvSpPr/>
          <p:nvPr/>
        </p:nvSpPr>
        <p:spPr>
          <a:xfrm rot="5400000">
            <a:off x="4063283" y="525979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5566018" y="5222459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40" name="직사각형 39"/>
          <p:cNvSpPr/>
          <p:nvPr/>
        </p:nvSpPr>
        <p:spPr>
          <a:xfrm>
            <a:off x="4372596" y="5222459"/>
            <a:ext cx="108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다시 촬영하기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173136" y="4602828"/>
            <a:ext cx="3111198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44" name="직사각형 43"/>
          <p:cNvSpPr/>
          <p:nvPr/>
        </p:nvSpPr>
        <p:spPr>
          <a:xfrm>
            <a:off x="12881520" y="1125538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(2026.03.04)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신분증 서류 스캔 </a:t>
            </a: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OCR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솔루션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스펙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확인중</a:t>
            </a:r>
            <a:endParaRPr lang="ko-KR" altLang="en-US" sz="1000" b="1" dirty="0" smtClean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924923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46583"/>
              </p:ext>
            </p:extLst>
          </p:nvPr>
        </p:nvGraphicFramePr>
        <p:xfrm>
          <a:off x="10505256" y="788950"/>
          <a:ext cx="2130330" cy="2191720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구비서류 목록 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촬영하기 팝업 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촬영완료하여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이미지 등록한 경우 다시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다시 촬영한 이미지로 갱신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신분증을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latin typeface="+mn-ea"/>
                <a:ea typeface="+mn-ea"/>
              </a:rPr>
              <a:t>S101020110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smtClean="0">
                <a:latin typeface="+mn-ea"/>
                <a:ea typeface="+mn-ea"/>
              </a:rPr>
              <a:t>구비서류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3323688" y="1197546"/>
            <a:ext cx="4085224" cy="5328592"/>
            <a:chOff x="515376" y="1348578"/>
            <a:chExt cx="4085224" cy="5328592"/>
          </a:xfrm>
        </p:grpSpPr>
        <p:grpSp>
          <p:nvGrpSpPr>
            <p:cNvPr id="113" name="그룹 112"/>
            <p:cNvGrpSpPr/>
            <p:nvPr/>
          </p:nvGrpSpPr>
          <p:grpSpPr>
            <a:xfrm>
              <a:off x="515376" y="1348578"/>
              <a:ext cx="4085224" cy="5328592"/>
              <a:chOff x="515376" y="1348578"/>
              <a:chExt cx="4085224" cy="5328592"/>
            </a:xfrm>
          </p:grpSpPr>
          <p:sp>
            <p:nvSpPr>
              <p:cNvPr id="116" name="직사각형 115"/>
              <p:cNvSpPr/>
              <p:nvPr/>
            </p:nvSpPr>
            <p:spPr>
              <a:xfrm>
                <a:off x="515376" y="1348578"/>
                <a:ext cx="4085224" cy="5328592"/>
              </a:xfrm>
              <a:prstGeom prst="rect">
                <a:avLst/>
              </a:prstGeom>
              <a:solidFill>
                <a:srgbClr val="FFFFFF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grpSp>
            <p:nvGrpSpPr>
              <p:cNvPr id="117" name="그룹 116"/>
              <p:cNvGrpSpPr/>
              <p:nvPr/>
            </p:nvGrpSpPr>
            <p:grpSpPr>
              <a:xfrm rot="2700000">
                <a:off x="4226981" y="1468991"/>
                <a:ext cx="214699" cy="216000"/>
                <a:chOff x="6609184" y="2719104"/>
                <a:chExt cx="1008112" cy="1008112"/>
              </a:xfrm>
            </p:grpSpPr>
            <p:cxnSp>
              <p:nvCxnSpPr>
                <p:cNvPr id="118" name="직선 연결선 117"/>
                <p:cNvCxnSpPr/>
                <p:nvPr/>
              </p:nvCxnSpPr>
              <p:spPr>
                <a:xfrm>
                  <a:off x="6609184" y="3223160"/>
                  <a:ext cx="1008112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직선 연결선 118"/>
                <p:cNvCxnSpPr/>
                <p:nvPr/>
              </p:nvCxnSpPr>
              <p:spPr>
                <a:xfrm rot="5400000">
                  <a:off x="6609184" y="3223160"/>
                  <a:ext cx="1008112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4" name="TextBox 113"/>
            <p:cNvSpPr txBox="1"/>
            <p:nvPr/>
          </p:nvSpPr>
          <p:spPr>
            <a:xfrm>
              <a:off x="620153" y="1435068"/>
              <a:ext cx="2883555" cy="388364"/>
            </a:xfrm>
            <a:prstGeom prst="rect">
              <a:avLst/>
            </a:prstGeom>
            <a:noFill/>
          </p:spPr>
          <p:txBody>
            <a:bodyPr wrap="square" lIns="107241" tIns="53620" rIns="107241" bIns="53620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400" b="1" dirty="0" smtClean="0">
                  <a:solidFill>
                    <a:prstClr val="black"/>
                  </a:solidFill>
                  <a:latin typeface="+mn-ea"/>
                  <a:ea typeface="+mn-ea"/>
                </a:rPr>
                <a:t>구비서류</a:t>
              </a:r>
              <a:endParaRPr lang="en-US" altLang="ko-KR" sz="1400" b="1" dirty="0"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</p:grpSp>
      <p:sp>
        <p:nvSpPr>
          <p:cNvPr id="134" name="눈물 방울 133"/>
          <p:cNvSpPr/>
          <p:nvPr/>
        </p:nvSpPr>
        <p:spPr>
          <a:xfrm rot="5400000">
            <a:off x="3383931" y="176884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6" name="눈물 방울 135"/>
          <p:cNvSpPr/>
          <p:nvPr/>
        </p:nvSpPr>
        <p:spPr>
          <a:xfrm rot="5400000">
            <a:off x="6192243" y="605945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7" name="눈물 방울 136"/>
          <p:cNvSpPr/>
          <p:nvPr/>
        </p:nvSpPr>
        <p:spPr>
          <a:xfrm rot="5400000">
            <a:off x="4245326" y="605945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8" name="직사각형 137"/>
          <p:cNvSpPr/>
          <p:nvPr/>
        </p:nvSpPr>
        <p:spPr>
          <a:xfrm>
            <a:off x="5388021" y="6022114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139" name="직사각형 138"/>
          <p:cNvSpPr/>
          <p:nvPr/>
        </p:nvSpPr>
        <p:spPr>
          <a:xfrm>
            <a:off x="4554639" y="6022114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3554461" y="1853181"/>
            <a:ext cx="3422404" cy="288032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촬영 버튼을 선택하신 후</a:t>
            </a:r>
            <a:r>
              <a:rPr lang="en-US" altLang="ko-KR" sz="9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구비서류를 촬영해주세요</a:t>
            </a:r>
            <a:r>
              <a:rPr lang="en-US" altLang="ko-KR" sz="9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9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828625" y="2288250"/>
            <a:ext cx="9925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가족관계증명서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0" name="눈물 방울 39"/>
          <p:cNvSpPr/>
          <p:nvPr/>
        </p:nvSpPr>
        <p:spPr>
          <a:xfrm rot="5400000">
            <a:off x="6912323" y="227629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5849940" y="2256956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촬영하기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808512" y="2644892"/>
            <a:ext cx="154561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외국인등록증</a:t>
            </a:r>
            <a:r>
              <a:rPr lang="en-US" altLang="ko-KR" sz="900" b="1" dirty="0" smtClean="0"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900" b="1" dirty="0" err="1" smtClean="0">
                <a:latin typeface="맑은 고딕" pitchFamily="50" charset="-127"/>
                <a:ea typeface="맑은 고딕" pitchFamily="50" charset="-127"/>
              </a:rPr>
              <a:t>거소신고증</a:t>
            </a:r>
            <a:endParaRPr lang="ko-KR" altLang="en-US" sz="9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5860840" y="2624168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촬영하기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3808512" y="3018470"/>
            <a:ext cx="8771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사업자등록증</a:t>
            </a:r>
          </a:p>
        </p:txBody>
      </p:sp>
      <p:sp>
        <p:nvSpPr>
          <p:cNvPr id="83" name="직사각형 82"/>
          <p:cNvSpPr/>
          <p:nvPr/>
        </p:nvSpPr>
        <p:spPr>
          <a:xfrm>
            <a:off x="5860840" y="2997746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촬영하기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3808512" y="3392048"/>
            <a:ext cx="9925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법인인감증명서</a:t>
            </a:r>
          </a:p>
        </p:txBody>
      </p:sp>
      <p:sp>
        <p:nvSpPr>
          <p:cNvPr id="85" name="직사각형 84"/>
          <p:cNvSpPr/>
          <p:nvPr/>
        </p:nvSpPr>
        <p:spPr>
          <a:xfrm>
            <a:off x="5860840" y="3371324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촬영하기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3808512" y="3765626"/>
            <a:ext cx="16177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위임장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법인인감 날인 포함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)</a:t>
            </a:r>
          </a:p>
        </p:txBody>
      </p:sp>
      <p:sp>
        <p:nvSpPr>
          <p:cNvPr id="87" name="직사각형 86"/>
          <p:cNvSpPr/>
          <p:nvPr/>
        </p:nvSpPr>
        <p:spPr>
          <a:xfrm>
            <a:off x="5860840" y="3744902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촬영하기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808512" y="4139204"/>
            <a:ext cx="9172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대리인 신분증</a:t>
            </a:r>
          </a:p>
        </p:txBody>
      </p:sp>
      <p:sp>
        <p:nvSpPr>
          <p:cNvPr id="89" name="직사각형 88"/>
          <p:cNvSpPr/>
          <p:nvPr/>
        </p:nvSpPr>
        <p:spPr>
          <a:xfrm>
            <a:off x="5860840" y="411848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촬영하기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808512" y="4512782"/>
            <a:ext cx="114807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대리인 재직증명서</a:t>
            </a:r>
          </a:p>
        </p:txBody>
      </p:sp>
      <p:sp>
        <p:nvSpPr>
          <p:cNvPr id="91" name="직사각형 90"/>
          <p:cNvSpPr/>
          <p:nvPr/>
        </p:nvSpPr>
        <p:spPr>
          <a:xfrm>
            <a:off x="5860840" y="4492058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촬영하기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17229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latin typeface="+mn-ea"/>
                <a:ea typeface="+mn-ea"/>
              </a:rPr>
              <a:t>S101020110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 smtClean="0">
                <a:latin typeface="+mn-ea"/>
                <a:ea typeface="+mn-ea"/>
              </a:rPr>
              <a:t>구비서류</a:t>
            </a:r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92" name="표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9967105"/>
              </p:ext>
            </p:extLst>
          </p:nvPr>
        </p:nvGraphicFramePr>
        <p:xfrm>
          <a:off x="4672608" y="1998088"/>
          <a:ext cx="6933525" cy="2172157"/>
        </p:xfrm>
        <a:graphic>
          <a:graphicData uri="http://schemas.openxmlformats.org/drawingml/2006/table">
            <a:tbl>
              <a:tblPr firstRow="1" firstCol="1" bandRow="1"/>
              <a:tblGrid>
                <a:gridCol w="138952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8640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90000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86400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008000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008000"/>
              </a:tblGrid>
              <a:tr h="256696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내국인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(</a:t>
                      </a: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성인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)</a:t>
                      </a:r>
                      <a:endParaRPr lang="ko-KR" sz="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내국인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(</a:t>
                      </a: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미성년자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)</a:t>
                      </a:r>
                      <a:endParaRPr lang="ko-KR" sz="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외국인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(</a:t>
                      </a: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성인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)</a:t>
                      </a:r>
                      <a:endParaRPr lang="ko-KR" sz="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외국인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(</a:t>
                      </a: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미성년자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)</a:t>
                      </a:r>
                      <a:endParaRPr lang="ko-KR" sz="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법인</a:t>
                      </a:r>
                      <a:endParaRPr lang="ko-KR" sz="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공공기관</a:t>
                      </a:r>
                      <a:endParaRPr lang="ko-KR" sz="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56696">
                <a:tc>
                  <a:txBody>
                    <a:bodyPr/>
                    <a:lstStyle/>
                    <a:p>
                      <a:pPr algn="ctr" fontAlgn="t"/>
                      <a:r>
                        <a:rPr lang="ko-KR" altLang="en-US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가족관계증명서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56696">
                <a:tc>
                  <a:txBody>
                    <a:bodyPr/>
                    <a:lstStyle/>
                    <a:p>
                      <a:pPr algn="ctr" fontAlgn="t"/>
                      <a:r>
                        <a:rPr lang="ko-KR" altLang="en-US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외국인등록증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거소신고증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256696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사업자등록증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개인사업자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] O</a:t>
                      </a:r>
                    </a:p>
                    <a:p>
                      <a:pPr algn="ctr" fontAlgn="t"/>
                      <a:r>
                        <a:rPr lang="en-US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-&gt; </a:t>
                      </a:r>
                      <a:r>
                        <a:rPr lang="ko-KR" altLang="en-US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서비스해지</a:t>
                      </a:r>
                      <a:r>
                        <a:rPr lang="ko-KR" altLang="en-US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제외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개인사업자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] O</a:t>
                      </a:r>
                    </a:p>
                    <a:p>
                      <a:pPr algn="ctr" fontAlgn="t"/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-&gt; </a:t>
                      </a:r>
                      <a:r>
                        <a:rPr lang="ko-KR" altLang="en-US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서비스해지</a:t>
                      </a:r>
                      <a:r>
                        <a:rPr lang="ko-KR" altLang="en-US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제외</a:t>
                      </a:r>
                      <a:endParaRPr lang="en-US" altLang="ko-KR" sz="800" b="0" i="0" u="none" strike="noStrike" dirty="0" smtClean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b="0" i="0" u="none" strike="noStrike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256696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법인인감증명서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072408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u="none" strike="noStrike" dirty="0" smtClean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696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위임장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(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법인인감 날인 포함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)</a:t>
                      </a: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 smtClean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[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방문자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=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] 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[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방문자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=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] 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256696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 신분증</a:t>
                      </a: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[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방문자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=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] 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[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방문자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=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] 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56696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 재직증명서</a:t>
                      </a: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[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방문자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=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] 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[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방문자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=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] 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04" name="표 1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88350"/>
              </p:ext>
            </p:extLst>
          </p:nvPr>
        </p:nvGraphicFramePr>
        <p:xfrm>
          <a:off x="4672608" y="4608029"/>
          <a:ext cx="7092000" cy="2053568"/>
        </p:xfrm>
        <a:graphic>
          <a:graphicData uri="http://schemas.openxmlformats.org/drawingml/2006/table">
            <a:tbl>
              <a:tblPr firstRow="1" firstCol="1" bandRow="1"/>
              <a:tblGrid>
                <a:gridCol w="15480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8640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90000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86400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008000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008000"/>
              </a:tblGrid>
              <a:tr h="256696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내국인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(</a:t>
                      </a: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성인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)</a:t>
                      </a:r>
                      <a:endParaRPr lang="ko-KR" sz="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내국인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(</a:t>
                      </a: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미성년자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)</a:t>
                      </a:r>
                      <a:endParaRPr lang="ko-KR" sz="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외국인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(</a:t>
                      </a: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성인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)</a:t>
                      </a:r>
                      <a:endParaRPr lang="ko-KR" sz="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외국인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(</a:t>
                      </a: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미성년자</a:t>
                      </a:r>
                      <a:r>
                        <a:rPr lang="en-US" altLang="ko-KR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)</a:t>
                      </a:r>
                      <a:endParaRPr lang="ko-KR" sz="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법인</a:t>
                      </a:r>
                      <a:endParaRPr lang="ko-KR" sz="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b="1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공공기관</a:t>
                      </a:r>
                      <a:endParaRPr lang="ko-KR" sz="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56696">
                <a:tc>
                  <a:txBody>
                    <a:bodyPr/>
                    <a:lstStyle/>
                    <a:p>
                      <a:pPr algn="ctr" fontAlgn="t"/>
                      <a:r>
                        <a:rPr lang="ko-KR" altLang="en-US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가족관계증명서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56696">
                <a:tc>
                  <a:txBody>
                    <a:bodyPr/>
                    <a:lstStyle/>
                    <a:p>
                      <a:pPr algn="ctr" fontAlgn="t"/>
                      <a:r>
                        <a:rPr lang="ko-KR" altLang="en-US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외국인등록증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거소신고증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256696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사업자등록증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24734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개인사업자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] O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24734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개인사업자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] O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b="0" i="0" u="none" strike="noStrike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b="0" i="0" u="none" strike="noStrike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256696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법인인감증명서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072408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u="none" strike="noStrike" dirty="0" smtClean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b="0" i="0" u="none" strike="noStrike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696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위임장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(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법인인감 날인 포함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)</a:t>
                      </a: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 smtClean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[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방문자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=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] 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[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방문자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=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] 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256696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 신분증</a:t>
                      </a: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[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방문자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=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] 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[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방문자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=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] 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56696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 재직증명서</a:t>
                      </a: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[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방문자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=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] 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[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방문자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=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대리인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/>
                        </a:rPr>
                        <a:t>] 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</a:t>
                      </a:r>
                      <a:endParaRPr lang="ko-KR" sz="8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05" name="직사각형 104"/>
          <p:cNvSpPr/>
          <p:nvPr/>
        </p:nvSpPr>
        <p:spPr>
          <a:xfrm>
            <a:off x="4672608" y="1717225"/>
            <a:ext cx="342173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신규개통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번호이동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기기변경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서비스해지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06" name="직사각형 105"/>
          <p:cNvSpPr/>
          <p:nvPr/>
        </p:nvSpPr>
        <p:spPr>
          <a:xfrm>
            <a:off x="4672608" y="4365898"/>
            <a:ext cx="342173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명의변경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aphicFrame>
        <p:nvGraphicFramePr>
          <p:cNvPr id="44" name="표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25376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구비 서류 케이스 추가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개인사업자인 경우 사업자등록증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sp>
        <p:nvSpPr>
          <p:cNvPr id="50" name="눈물 방울 49"/>
          <p:cNvSpPr/>
          <p:nvPr/>
        </p:nvSpPr>
        <p:spPr>
          <a:xfrm rot="5400000">
            <a:off x="300620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319026" y="1456376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촬영 완료 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173136" y="837506"/>
            <a:ext cx="3111198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 smtClean="0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66063" y="1703694"/>
            <a:ext cx="9925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가족관계증명서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2155330" y="167240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촬영하기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471154" y="1705346"/>
            <a:ext cx="49885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[</a:t>
            </a:r>
            <a:r>
              <a:rPr lang="ko-KR" altLang="en-US" sz="900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완료</a:t>
            </a:r>
            <a:r>
              <a:rPr lang="en-US" altLang="ko-KR" sz="900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]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4456584" y="1455381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구비서류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900043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747984"/>
              </p:ext>
            </p:extLst>
          </p:nvPr>
        </p:nvGraphicFramePr>
        <p:xfrm>
          <a:off x="10505256" y="788950"/>
          <a:ext cx="2130330" cy="2923211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사진 촬영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접근권한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미동의 상태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접근권한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 안내 메시지 노출 후 설정 화면으로 이동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동의 등록 후 카메라 구동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미동의시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이용 불가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상태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 구동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 접근 권한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미동의 상태인 경우 알림 메시지 표시 후 팝업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이미지를 요청한 화면 항목에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이미지 첨부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재촬영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S101020105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사진 촬영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3493893" y="1348579"/>
            <a:ext cx="4085224" cy="4593382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 rot="2700000">
            <a:off x="7205498" y="1468991"/>
            <a:ext cx="214699" cy="216000"/>
            <a:chOff x="6609184" y="2719104"/>
            <a:chExt cx="1008112" cy="1008112"/>
          </a:xfrm>
        </p:grpSpPr>
        <p:cxnSp>
          <p:nvCxnSpPr>
            <p:cNvPr id="27" name="직선 연결선 26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연결선 27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/>
          <p:cNvSpPr txBox="1"/>
          <p:nvPr/>
        </p:nvSpPr>
        <p:spPr>
          <a:xfrm>
            <a:off x="3598670" y="1435068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사진 촬영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295392" y="5258977"/>
            <a:ext cx="2881818" cy="1397063"/>
            <a:chOff x="5875124" y="3832891"/>
            <a:chExt cx="2881818" cy="1397063"/>
          </a:xfrm>
        </p:grpSpPr>
        <p:sp>
          <p:nvSpPr>
            <p:cNvPr id="30" name="직사각형 29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신분증 촬영을 하시려면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카메라 접근 허용 후 다시 시도해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3" name="눈물 방울 32"/>
          <p:cNvSpPr/>
          <p:nvPr/>
        </p:nvSpPr>
        <p:spPr>
          <a:xfrm rot="5400000">
            <a:off x="193496" y="515134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3565900" y="1996650"/>
            <a:ext cx="3823315" cy="288032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사각형에 맞추어 주세요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9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눈물 방울 35"/>
          <p:cNvSpPr/>
          <p:nvPr/>
        </p:nvSpPr>
        <p:spPr>
          <a:xfrm rot="5400000">
            <a:off x="3233682" y="168592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3776675" y="2485574"/>
            <a:ext cx="3420000" cy="259229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45004" y="4927888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카메라 접근 권한이 없는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7" name="눈물 방울 36"/>
          <p:cNvSpPr/>
          <p:nvPr/>
        </p:nvSpPr>
        <p:spPr>
          <a:xfrm rot="5400000">
            <a:off x="6381680" y="540326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8" name="눈물 방울 37"/>
          <p:cNvSpPr/>
          <p:nvPr/>
        </p:nvSpPr>
        <p:spPr>
          <a:xfrm rot="5400000">
            <a:off x="4074723" y="540326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5577458" y="5365928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40" name="직사각형 39"/>
          <p:cNvSpPr/>
          <p:nvPr/>
        </p:nvSpPr>
        <p:spPr>
          <a:xfrm>
            <a:off x="4384036" y="5365928"/>
            <a:ext cx="108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다시 촬영하기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173136" y="4602828"/>
            <a:ext cx="3111198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</p:spTree>
    <p:extLst>
      <p:ext uri="{BB962C8B-B14F-4D97-AF65-F5344CB8AC3E}">
        <p14:creationId xmlns:p14="http://schemas.microsoft.com/office/powerpoint/2010/main" val="27026417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2385180"/>
              </p:ext>
            </p:extLst>
          </p:nvPr>
        </p:nvGraphicFramePr>
        <p:xfrm>
          <a:off x="10505256" y="788950"/>
          <a:ext cx="2130330" cy="421448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주소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검색어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주소 검색 결과 건수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주소 검색 결과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- 10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 단위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페이징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조회된 결과가 없는 경우 안내 문구 화면에 출력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주소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 주소 입력 화면으로 이동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주소를 상세주소 입력 영역에 기본값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노출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API :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행안부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우편번호 조회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페이지 번호에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하이라이트되어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페이지 번호 클릭 불가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페이지가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페이지만 존재하는 경우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페이징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영역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비노출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필수 입력 항목 입력 여부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주소 검색하여 조회결과를 화면에 출력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S101020106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우편번호 찾기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803408" y="1348579"/>
            <a:ext cx="4085224" cy="4593382"/>
            <a:chOff x="515376" y="1348579"/>
            <a:chExt cx="4085224" cy="4593382"/>
          </a:xfrm>
        </p:grpSpPr>
        <p:grpSp>
          <p:nvGrpSpPr>
            <p:cNvPr id="2" name="그룹 1"/>
            <p:cNvGrpSpPr/>
            <p:nvPr/>
          </p:nvGrpSpPr>
          <p:grpSpPr>
            <a:xfrm>
              <a:off x="515376" y="1348579"/>
              <a:ext cx="4085224" cy="4593382"/>
              <a:chOff x="515376" y="1348579"/>
              <a:chExt cx="4085224" cy="4593382"/>
            </a:xfrm>
          </p:grpSpPr>
          <p:sp>
            <p:nvSpPr>
              <p:cNvPr id="31" name="직사각형 30"/>
              <p:cNvSpPr/>
              <p:nvPr/>
            </p:nvSpPr>
            <p:spPr>
              <a:xfrm>
                <a:off x="515376" y="1348579"/>
                <a:ext cx="4085224" cy="4593382"/>
              </a:xfrm>
              <a:prstGeom prst="rect">
                <a:avLst/>
              </a:prstGeom>
              <a:solidFill>
                <a:srgbClr val="FFFFFF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grpSp>
            <p:nvGrpSpPr>
              <p:cNvPr id="32" name="그룹 31"/>
              <p:cNvGrpSpPr/>
              <p:nvPr/>
            </p:nvGrpSpPr>
            <p:grpSpPr>
              <a:xfrm rot="2700000">
                <a:off x="4226981" y="1468991"/>
                <a:ext cx="214699" cy="216000"/>
                <a:chOff x="6609184" y="2719104"/>
                <a:chExt cx="1008112" cy="1008112"/>
              </a:xfrm>
            </p:grpSpPr>
            <p:cxnSp>
              <p:nvCxnSpPr>
                <p:cNvPr id="33" name="직선 연결선 32"/>
                <p:cNvCxnSpPr/>
                <p:nvPr/>
              </p:nvCxnSpPr>
              <p:spPr>
                <a:xfrm>
                  <a:off x="6609184" y="3223160"/>
                  <a:ext cx="1008112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직선 연결선 33"/>
                <p:cNvCxnSpPr/>
                <p:nvPr/>
              </p:nvCxnSpPr>
              <p:spPr>
                <a:xfrm rot="5400000">
                  <a:off x="6609184" y="3223160"/>
                  <a:ext cx="1008112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/>
            <p:cNvSpPr txBox="1"/>
            <p:nvPr/>
          </p:nvSpPr>
          <p:spPr>
            <a:xfrm>
              <a:off x="620153" y="1435068"/>
              <a:ext cx="2883555" cy="357523"/>
            </a:xfrm>
            <a:prstGeom prst="rect">
              <a:avLst/>
            </a:prstGeom>
            <a:noFill/>
          </p:spPr>
          <p:txBody>
            <a:bodyPr wrap="square" lIns="107241" tIns="53620" rIns="107241" bIns="53620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400" b="1" dirty="0">
                  <a:solidFill>
                    <a:prstClr val="black"/>
                  </a:solidFill>
                  <a:latin typeface="+mn-ea"/>
                  <a:ea typeface="+mn-ea"/>
                </a:rPr>
                <a:t>주소 검색</a:t>
              </a:r>
              <a:endParaRPr lang="en-US" altLang="ko-KR" sz="1400" b="1" dirty="0"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186" y="1917626"/>
            <a:ext cx="3640668" cy="307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26" name="눈물 방울 125"/>
          <p:cNvSpPr/>
          <p:nvPr/>
        </p:nvSpPr>
        <p:spPr>
          <a:xfrm rot="5400000">
            <a:off x="3165727" y="2056876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9" name="눈물 방울 18"/>
          <p:cNvSpPr/>
          <p:nvPr/>
        </p:nvSpPr>
        <p:spPr>
          <a:xfrm rot="5400000">
            <a:off x="4258931" y="181096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47" name="그룹 46"/>
          <p:cNvGrpSpPr/>
          <p:nvPr/>
        </p:nvGrpSpPr>
        <p:grpSpPr>
          <a:xfrm>
            <a:off x="5771960" y="1349513"/>
            <a:ext cx="4085224" cy="4593382"/>
            <a:chOff x="515376" y="1348579"/>
            <a:chExt cx="4085224" cy="4593382"/>
          </a:xfrm>
        </p:grpSpPr>
        <p:grpSp>
          <p:nvGrpSpPr>
            <p:cNvPr id="48" name="그룹 47"/>
            <p:cNvGrpSpPr/>
            <p:nvPr/>
          </p:nvGrpSpPr>
          <p:grpSpPr>
            <a:xfrm>
              <a:off x="515376" y="1348579"/>
              <a:ext cx="4085224" cy="4593382"/>
              <a:chOff x="515376" y="1348579"/>
              <a:chExt cx="4085224" cy="4593382"/>
            </a:xfrm>
          </p:grpSpPr>
          <p:sp>
            <p:nvSpPr>
              <p:cNvPr id="50" name="직사각형 49"/>
              <p:cNvSpPr/>
              <p:nvPr/>
            </p:nvSpPr>
            <p:spPr>
              <a:xfrm>
                <a:off x="515376" y="1348579"/>
                <a:ext cx="4085224" cy="4593382"/>
              </a:xfrm>
              <a:prstGeom prst="rect">
                <a:avLst/>
              </a:prstGeom>
              <a:solidFill>
                <a:srgbClr val="FFFFFF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grpSp>
            <p:nvGrpSpPr>
              <p:cNvPr id="51" name="그룹 50"/>
              <p:cNvGrpSpPr/>
              <p:nvPr/>
            </p:nvGrpSpPr>
            <p:grpSpPr>
              <a:xfrm rot="2700000">
                <a:off x="4226981" y="1468991"/>
                <a:ext cx="214699" cy="216000"/>
                <a:chOff x="6609184" y="2719104"/>
                <a:chExt cx="1008112" cy="1008112"/>
              </a:xfrm>
            </p:grpSpPr>
            <p:cxnSp>
              <p:nvCxnSpPr>
                <p:cNvPr id="52" name="직선 연결선 51"/>
                <p:cNvCxnSpPr/>
                <p:nvPr/>
              </p:nvCxnSpPr>
              <p:spPr>
                <a:xfrm>
                  <a:off x="6609184" y="3223160"/>
                  <a:ext cx="1008112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/>
                <p:cNvCxnSpPr/>
                <p:nvPr/>
              </p:nvCxnSpPr>
              <p:spPr>
                <a:xfrm rot="5400000">
                  <a:off x="6609184" y="3223160"/>
                  <a:ext cx="1008112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9" name="TextBox 48"/>
            <p:cNvSpPr txBox="1"/>
            <p:nvPr/>
          </p:nvSpPr>
          <p:spPr>
            <a:xfrm>
              <a:off x="620153" y="1435068"/>
              <a:ext cx="2883555" cy="357523"/>
            </a:xfrm>
            <a:prstGeom prst="rect">
              <a:avLst/>
            </a:prstGeom>
            <a:noFill/>
          </p:spPr>
          <p:txBody>
            <a:bodyPr wrap="square" lIns="107241" tIns="53620" rIns="107241" bIns="53620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400" b="1" dirty="0">
                  <a:solidFill>
                    <a:prstClr val="black"/>
                  </a:solidFill>
                  <a:latin typeface="+mn-ea"/>
                  <a:ea typeface="+mn-ea"/>
                </a:rPr>
                <a:t>주소 검색</a:t>
              </a:r>
              <a:endParaRPr lang="en-US" altLang="ko-KR" sz="1400" b="1" dirty="0"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</p:grpSp>
      <p:cxnSp>
        <p:nvCxnSpPr>
          <p:cNvPr id="5" name="직선 화살표 연결선 4"/>
          <p:cNvCxnSpPr/>
          <p:nvPr/>
        </p:nvCxnSpPr>
        <p:spPr>
          <a:xfrm>
            <a:off x="4491759" y="2163537"/>
            <a:ext cx="1280201" cy="14826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0760" y="1792591"/>
            <a:ext cx="3481074" cy="35546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4776" y="5347208"/>
            <a:ext cx="3266280" cy="4588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1" name="눈물 방울 130"/>
          <p:cNvSpPr/>
          <p:nvPr/>
        </p:nvSpPr>
        <p:spPr>
          <a:xfrm rot="5400000">
            <a:off x="5976219" y="2344908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2" name="눈물 방울 131"/>
          <p:cNvSpPr/>
          <p:nvPr/>
        </p:nvSpPr>
        <p:spPr>
          <a:xfrm rot="5400000">
            <a:off x="5938865" y="274276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3" name="눈물 방울 132"/>
          <p:cNvSpPr/>
          <p:nvPr/>
        </p:nvSpPr>
        <p:spPr>
          <a:xfrm rot="5400000">
            <a:off x="6731474" y="546997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81888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S101020106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우편번호 찾기</a:t>
            </a:r>
          </a:p>
        </p:txBody>
      </p:sp>
      <p:graphicFrame>
        <p:nvGraphicFramePr>
          <p:cNvPr id="1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78983"/>
              </p:ext>
            </p:extLst>
          </p:nvPr>
        </p:nvGraphicFramePr>
        <p:xfrm>
          <a:off x="10505256" y="788950"/>
          <a:ext cx="2130330" cy="173180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주소입력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기본주소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상세주소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요청한 화면에 정보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우편번호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기본주소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상세주소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18" name="그룹 17"/>
          <p:cNvGrpSpPr/>
          <p:nvPr/>
        </p:nvGrpSpPr>
        <p:grpSpPr>
          <a:xfrm>
            <a:off x="803408" y="1348579"/>
            <a:ext cx="4085224" cy="4593382"/>
            <a:chOff x="515376" y="1348579"/>
            <a:chExt cx="4085224" cy="4593382"/>
          </a:xfrm>
        </p:grpSpPr>
        <p:grpSp>
          <p:nvGrpSpPr>
            <p:cNvPr id="19" name="그룹 18"/>
            <p:cNvGrpSpPr/>
            <p:nvPr/>
          </p:nvGrpSpPr>
          <p:grpSpPr>
            <a:xfrm>
              <a:off x="515376" y="1348579"/>
              <a:ext cx="4085224" cy="4593382"/>
              <a:chOff x="515376" y="1348579"/>
              <a:chExt cx="4085224" cy="4593382"/>
            </a:xfrm>
          </p:grpSpPr>
          <p:sp>
            <p:nvSpPr>
              <p:cNvPr id="21" name="직사각형 20"/>
              <p:cNvSpPr/>
              <p:nvPr/>
            </p:nvSpPr>
            <p:spPr>
              <a:xfrm>
                <a:off x="515376" y="1348579"/>
                <a:ext cx="4085224" cy="4593382"/>
              </a:xfrm>
              <a:prstGeom prst="rect">
                <a:avLst/>
              </a:prstGeom>
              <a:solidFill>
                <a:srgbClr val="FFFFFF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grpSp>
            <p:nvGrpSpPr>
              <p:cNvPr id="26" name="그룹 25"/>
              <p:cNvGrpSpPr/>
              <p:nvPr/>
            </p:nvGrpSpPr>
            <p:grpSpPr>
              <a:xfrm rot="2700000">
                <a:off x="4226981" y="1468991"/>
                <a:ext cx="214699" cy="216000"/>
                <a:chOff x="6609184" y="2719104"/>
                <a:chExt cx="1008112" cy="1008112"/>
              </a:xfrm>
            </p:grpSpPr>
            <p:cxnSp>
              <p:nvCxnSpPr>
                <p:cNvPr id="28" name="직선 연결선 27"/>
                <p:cNvCxnSpPr/>
                <p:nvPr/>
              </p:nvCxnSpPr>
              <p:spPr>
                <a:xfrm>
                  <a:off x="6609184" y="3223160"/>
                  <a:ext cx="1008112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직선 연결선 29"/>
                <p:cNvCxnSpPr/>
                <p:nvPr/>
              </p:nvCxnSpPr>
              <p:spPr>
                <a:xfrm rot="5400000">
                  <a:off x="6609184" y="3223160"/>
                  <a:ext cx="1008112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0" name="TextBox 19"/>
            <p:cNvSpPr txBox="1"/>
            <p:nvPr/>
          </p:nvSpPr>
          <p:spPr>
            <a:xfrm>
              <a:off x="620153" y="1435068"/>
              <a:ext cx="2883555" cy="357523"/>
            </a:xfrm>
            <a:prstGeom prst="rect">
              <a:avLst/>
            </a:prstGeom>
            <a:noFill/>
          </p:spPr>
          <p:txBody>
            <a:bodyPr wrap="square" lIns="107241" tIns="53620" rIns="107241" bIns="53620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400" b="1" dirty="0">
                  <a:solidFill>
                    <a:prstClr val="black"/>
                  </a:solidFill>
                  <a:latin typeface="+mn-ea"/>
                  <a:ea typeface="+mn-ea"/>
                </a:rPr>
                <a:t>주소 검색</a:t>
              </a:r>
              <a:endParaRPr lang="en-US" altLang="ko-KR" sz="1400" b="1" dirty="0"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</p:grpSp>
      <p:grpSp>
        <p:nvGrpSpPr>
          <p:cNvPr id="31" name="그룹 30"/>
          <p:cNvGrpSpPr/>
          <p:nvPr/>
        </p:nvGrpSpPr>
        <p:grpSpPr>
          <a:xfrm>
            <a:off x="5771960" y="1349513"/>
            <a:ext cx="4085224" cy="4593382"/>
            <a:chOff x="515376" y="1348579"/>
            <a:chExt cx="4085224" cy="4593382"/>
          </a:xfrm>
        </p:grpSpPr>
        <p:grpSp>
          <p:nvGrpSpPr>
            <p:cNvPr id="32" name="그룹 31"/>
            <p:cNvGrpSpPr/>
            <p:nvPr/>
          </p:nvGrpSpPr>
          <p:grpSpPr>
            <a:xfrm>
              <a:off x="515376" y="1348579"/>
              <a:ext cx="4085224" cy="4593382"/>
              <a:chOff x="515376" y="1348579"/>
              <a:chExt cx="4085224" cy="4593382"/>
            </a:xfrm>
          </p:grpSpPr>
          <p:sp>
            <p:nvSpPr>
              <p:cNvPr id="34" name="직사각형 33"/>
              <p:cNvSpPr/>
              <p:nvPr/>
            </p:nvSpPr>
            <p:spPr>
              <a:xfrm>
                <a:off x="515376" y="1348579"/>
                <a:ext cx="4085224" cy="4593382"/>
              </a:xfrm>
              <a:prstGeom prst="rect">
                <a:avLst/>
              </a:prstGeom>
              <a:solidFill>
                <a:srgbClr val="FFFFFF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grpSp>
            <p:nvGrpSpPr>
              <p:cNvPr id="35" name="그룹 34"/>
              <p:cNvGrpSpPr/>
              <p:nvPr/>
            </p:nvGrpSpPr>
            <p:grpSpPr>
              <a:xfrm rot="2700000">
                <a:off x="4226981" y="1468991"/>
                <a:ext cx="214699" cy="216000"/>
                <a:chOff x="6609184" y="2719104"/>
                <a:chExt cx="1008112" cy="1008112"/>
              </a:xfrm>
            </p:grpSpPr>
            <p:cxnSp>
              <p:nvCxnSpPr>
                <p:cNvPr id="36" name="직선 연결선 35"/>
                <p:cNvCxnSpPr/>
                <p:nvPr/>
              </p:nvCxnSpPr>
              <p:spPr>
                <a:xfrm>
                  <a:off x="6609184" y="3223160"/>
                  <a:ext cx="1008112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직선 연결선 36"/>
                <p:cNvCxnSpPr/>
                <p:nvPr/>
              </p:nvCxnSpPr>
              <p:spPr>
                <a:xfrm rot="5400000">
                  <a:off x="6609184" y="3223160"/>
                  <a:ext cx="1008112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3" name="TextBox 32"/>
            <p:cNvSpPr txBox="1"/>
            <p:nvPr/>
          </p:nvSpPr>
          <p:spPr>
            <a:xfrm>
              <a:off x="620153" y="1435068"/>
              <a:ext cx="2883555" cy="357523"/>
            </a:xfrm>
            <a:prstGeom prst="rect">
              <a:avLst/>
            </a:prstGeom>
            <a:noFill/>
          </p:spPr>
          <p:txBody>
            <a:bodyPr wrap="square" lIns="107241" tIns="53620" rIns="107241" bIns="53620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400" b="1" dirty="0">
                  <a:solidFill>
                    <a:prstClr val="black"/>
                  </a:solidFill>
                  <a:latin typeface="+mn-ea"/>
                  <a:ea typeface="+mn-ea"/>
                </a:rPr>
                <a:t>주소 검색</a:t>
              </a:r>
              <a:endParaRPr lang="en-US" altLang="ko-KR" sz="1400" b="1" dirty="0"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</p:grp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200" y="1871088"/>
            <a:ext cx="3546254" cy="16391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눈물 방울 14"/>
          <p:cNvSpPr/>
          <p:nvPr/>
        </p:nvSpPr>
        <p:spPr>
          <a:xfrm rot="5400000">
            <a:off x="2004171" y="357064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323112" y="3575411"/>
            <a:ext cx="900430" cy="288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주소입력</a:t>
            </a:r>
          </a:p>
        </p:txBody>
      </p:sp>
      <p:sp>
        <p:nvSpPr>
          <p:cNvPr id="38" name="직사각형 37"/>
          <p:cNvSpPr/>
          <p:nvPr/>
        </p:nvSpPr>
        <p:spPr>
          <a:xfrm>
            <a:off x="1388700" y="6300665"/>
            <a:ext cx="90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주소입력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55351" y="5983211"/>
            <a:ext cx="294957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상세주소 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0" name="눈물 방울 39"/>
          <p:cNvSpPr/>
          <p:nvPr/>
        </p:nvSpPr>
        <p:spPr>
          <a:xfrm rot="5400000">
            <a:off x="205385" y="597844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208311" y="5590034"/>
            <a:ext cx="3323827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5968752" y="1065211"/>
            <a:ext cx="146867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조회 결과 없는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25" name="눈물 방울 24"/>
          <p:cNvSpPr/>
          <p:nvPr/>
        </p:nvSpPr>
        <p:spPr>
          <a:xfrm rot="5400000">
            <a:off x="5696834" y="108166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0760" y="1917626"/>
            <a:ext cx="3545795" cy="4714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6112768" y="2745718"/>
            <a:ext cx="3006847" cy="396044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bg1"/>
            </a:solidFill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조회 결과가 없습니다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2600" y="3285778"/>
            <a:ext cx="3321946" cy="228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540663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098069"/>
              </p:ext>
            </p:extLst>
          </p:nvPr>
        </p:nvGraphicFramePr>
        <p:xfrm>
          <a:off x="10505256" y="788950"/>
          <a:ext cx="2130330" cy="216957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선택한 약관에 대한 상세 내용을 조회하여 화면에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  <a:endParaRPr lang="en-US" altLang="ko-KR" sz="800" b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en-US" altLang="ko-KR" sz="800" b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#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 m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포탈과 동일 사용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동의 후 닫기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]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버튼 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처리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약관 동의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- 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모창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약관 동의 체크박스에 체크 처리되어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S101020107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  <a:r>
              <a:rPr lang="en-US" altLang="ko-KR" sz="1000" dirty="0">
                <a:latin typeface="+mn-ea"/>
                <a:ea typeface="+mn-ea"/>
              </a:rPr>
              <a:t> &gt; </a:t>
            </a:r>
            <a:r>
              <a:rPr lang="ko-KR" altLang="en-US" sz="1000" dirty="0">
                <a:latin typeface="+mn-ea"/>
                <a:ea typeface="+mn-ea"/>
              </a:rPr>
              <a:t>약관 상세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3493893" y="1348579"/>
            <a:ext cx="4085224" cy="4593382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8" name="그룹 17"/>
          <p:cNvGrpSpPr/>
          <p:nvPr/>
        </p:nvGrpSpPr>
        <p:grpSpPr>
          <a:xfrm rot="2700000">
            <a:off x="7205498" y="1468991"/>
            <a:ext cx="214699" cy="216000"/>
            <a:chOff x="6609184" y="2719104"/>
            <a:chExt cx="1008112" cy="1008112"/>
          </a:xfrm>
        </p:grpSpPr>
        <p:cxnSp>
          <p:nvCxnSpPr>
            <p:cNvPr id="19" name="직선 연결선 18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3598670" y="1435068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약관 타이틀 명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24" name="눈물 방울 23"/>
          <p:cNvSpPr/>
          <p:nvPr/>
        </p:nvSpPr>
        <p:spPr>
          <a:xfrm rot="5400000">
            <a:off x="3233682" y="168592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3776675" y="1894486"/>
            <a:ext cx="3420000" cy="318337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latin typeface="+mn-ea"/>
                <a:ea typeface="+mn-ea"/>
              </a:rPr>
              <a:t>약관 상세 문구</a:t>
            </a:r>
          </a:p>
        </p:txBody>
      </p:sp>
      <p:sp>
        <p:nvSpPr>
          <p:cNvPr id="12" name="눈물 방울 11"/>
          <p:cNvSpPr/>
          <p:nvPr/>
        </p:nvSpPr>
        <p:spPr>
          <a:xfrm rot="5400000">
            <a:off x="6022022" y="529945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865128" y="5262119"/>
            <a:ext cx="108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동의 후 닫기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199327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008575"/>
              </p:ext>
            </p:extLst>
          </p:nvPr>
        </p:nvGraphicFramePr>
        <p:xfrm>
          <a:off x="10505256" y="788950"/>
          <a:ext cx="2130330" cy="216957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선택한 안내 동의에 대한 상세 내용을 조회하여 화면에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  <a:endParaRPr lang="en-US" altLang="ko-KR" sz="800" b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en-US" altLang="ko-KR" sz="800" b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#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 m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포탈과 동일 사용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동의 후 닫기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]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버튼 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처리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약관 동의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- 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모창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안내 동의 체크박스에 체크 처리되어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S101020108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  <a:r>
              <a:rPr lang="en-US" altLang="ko-KR" sz="1000" dirty="0">
                <a:latin typeface="+mn-ea"/>
                <a:ea typeface="+mn-ea"/>
              </a:rPr>
              <a:t> &gt; </a:t>
            </a:r>
            <a:r>
              <a:rPr lang="ko-KR" altLang="en-US" sz="1000" dirty="0">
                <a:latin typeface="+mn-ea"/>
                <a:ea typeface="+mn-ea"/>
              </a:rPr>
              <a:t>안내동의 상세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3493893" y="1348579"/>
            <a:ext cx="4085224" cy="4593382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8" name="그룹 17"/>
          <p:cNvGrpSpPr/>
          <p:nvPr/>
        </p:nvGrpSpPr>
        <p:grpSpPr>
          <a:xfrm rot="2700000">
            <a:off x="7205498" y="1468991"/>
            <a:ext cx="214699" cy="216000"/>
            <a:chOff x="6609184" y="2719104"/>
            <a:chExt cx="1008112" cy="1008112"/>
          </a:xfrm>
        </p:grpSpPr>
        <p:cxnSp>
          <p:nvCxnSpPr>
            <p:cNvPr id="19" name="직선 연결선 18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3598670" y="1435068"/>
            <a:ext cx="2883555" cy="388364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안내사항 타이틀 명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22" name="눈물 방울 21"/>
          <p:cNvSpPr/>
          <p:nvPr/>
        </p:nvSpPr>
        <p:spPr>
          <a:xfrm rot="5400000">
            <a:off x="3233682" y="168592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3776675" y="1894486"/>
            <a:ext cx="3420000" cy="318337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latin typeface="+mn-ea"/>
                <a:ea typeface="+mn-ea"/>
              </a:rPr>
              <a:t>안내 상세 문구</a:t>
            </a:r>
          </a:p>
        </p:txBody>
      </p:sp>
      <p:sp>
        <p:nvSpPr>
          <p:cNvPr id="25" name="눈물 방울 24"/>
          <p:cNvSpPr/>
          <p:nvPr/>
        </p:nvSpPr>
        <p:spPr>
          <a:xfrm rot="5400000">
            <a:off x="6022022" y="529945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4865128" y="5262119"/>
            <a:ext cx="108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동의 후 닫기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57084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368068"/>
              </p:ext>
            </p:extLst>
          </p:nvPr>
        </p:nvGraphicFramePr>
        <p:xfrm>
          <a:off x="10505256" y="788950"/>
          <a:ext cx="2130330" cy="5067896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카테고리별로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부가서비스 조회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 우선순위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 우선순위로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해당하는 부가서비스 리스트 화면에 출력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첫번째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카테고리의 부가서비스 목록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노출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스마트신청서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‘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카테고리에 해당하는 부가서비스 목록 조회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카테고리에 정의된 부가서비스 상품 정보는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동일하게 조회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가입중인 부가서비스 조회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(X97)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 가능한 부가서비스 목록 조회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유료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무료 구분되어 표시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가입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설정된 부가서비스는 체크되어 표시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유료 부가서비스의 경우 일정액인 경우 금액 노출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000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원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노출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펼침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부가서비스 상세 안내 조회되어 화면에 출력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부가서비스를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S101030106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휴대폰</a:t>
            </a:r>
            <a:r>
              <a:rPr lang="en-US" altLang="ko-KR" sz="1000" dirty="0">
                <a:latin typeface="+mn-ea"/>
                <a:ea typeface="+mn-ea"/>
              </a:rPr>
              <a:t>, </a:t>
            </a:r>
            <a:r>
              <a:rPr lang="ko-KR" altLang="en-US" sz="1000" dirty="0">
                <a:latin typeface="+mn-ea"/>
                <a:ea typeface="+mn-ea"/>
              </a:rPr>
              <a:t>유심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r>
              <a:rPr lang="ko-KR" altLang="en-US" sz="1000" dirty="0">
                <a:latin typeface="+mn-ea"/>
                <a:ea typeface="+mn-ea"/>
              </a:rPr>
              <a:t>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부가서비스 추가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삭제</a:t>
            </a: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3323688" y="1197546"/>
            <a:ext cx="4085224" cy="5328592"/>
            <a:chOff x="515376" y="1348578"/>
            <a:chExt cx="4085224" cy="5328592"/>
          </a:xfrm>
        </p:grpSpPr>
        <p:grpSp>
          <p:nvGrpSpPr>
            <p:cNvPr id="28" name="그룹 27"/>
            <p:cNvGrpSpPr/>
            <p:nvPr/>
          </p:nvGrpSpPr>
          <p:grpSpPr>
            <a:xfrm>
              <a:off x="515376" y="1348578"/>
              <a:ext cx="4085224" cy="5328592"/>
              <a:chOff x="515376" y="1348578"/>
              <a:chExt cx="4085224" cy="5328592"/>
            </a:xfrm>
          </p:grpSpPr>
          <p:sp>
            <p:nvSpPr>
              <p:cNvPr id="30" name="직사각형 29"/>
              <p:cNvSpPr/>
              <p:nvPr/>
            </p:nvSpPr>
            <p:spPr>
              <a:xfrm>
                <a:off x="515376" y="1348578"/>
                <a:ext cx="4085224" cy="5328592"/>
              </a:xfrm>
              <a:prstGeom prst="rect">
                <a:avLst/>
              </a:prstGeom>
              <a:solidFill>
                <a:srgbClr val="FFFFFF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grpSp>
            <p:nvGrpSpPr>
              <p:cNvPr id="31" name="그룹 30"/>
              <p:cNvGrpSpPr/>
              <p:nvPr/>
            </p:nvGrpSpPr>
            <p:grpSpPr>
              <a:xfrm rot="2700000">
                <a:off x="4226981" y="1468991"/>
                <a:ext cx="214699" cy="216000"/>
                <a:chOff x="6609184" y="2719104"/>
                <a:chExt cx="1008112" cy="1008112"/>
              </a:xfrm>
            </p:grpSpPr>
            <p:cxnSp>
              <p:nvCxnSpPr>
                <p:cNvPr id="32" name="직선 연결선 31"/>
                <p:cNvCxnSpPr/>
                <p:nvPr/>
              </p:nvCxnSpPr>
              <p:spPr>
                <a:xfrm>
                  <a:off x="6609184" y="3223160"/>
                  <a:ext cx="1008112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직선 연결선 32"/>
                <p:cNvCxnSpPr/>
                <p:nvPr/>
              </p:nvCxnSpPr>
              <p:spPr>
                <a:xfrm rot="5400000">
                  <a:off x="6609184" y="3223160"/>
                  <a:ext cx="1008112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9" name="TextBox 28"/>
            <p:cNvSpPr txBox="1"/>
            <p:nvPr/>
          </p:nvSpPr>
          <p:spPr>
            <a:xfrm>
              <a:off x="620153" y="1435068"/>
              <a:ext cx="2883555" cy="388364"/>
            </a:xfrm>
            <a:prstGeom prst="rect">
              <a:avLst/>
            </a:prstGeom>
            <a:noFill/>
          </p:spPr>
          <p:txBody>
            <a:bodyPr wrap="square" lIns="107241" tIns="53620" rIns="107241" bIns="53620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400" b="1" dirty="0">
                  <a:solidFill>
                    <a:prstClr val="black"/>
                  </a:solidFill>
                  <a:latin typeface="+mn-ea"/>
                  <a:ea typeface="+mn-ea"/>
                </a:rPr>
                <a:t>부가서비스 추가</a:t>
              </a:r>
              <a:r>
                <a:rPr lang="en-US" altLang="ko-KR" sz="1400" b="1" dirty="0">
                  <a:solidFill>
                    <a:prstClr val="black"/>
                  </a:solidFill>
                  <a:latin typeface="+mn-ea"/>
                  <a:ea typeface="+mn-ea"/>
                </a:rPr>
                <a:t>/</a:t>
              </a:r>
              <a:r>
                <a:rPr lang="ko-KR" altLang="en-US" sz="1400" b="1" dirty="0">
                  <a:solidFill>
                    <a:prstClr val="black"/>
                  </a:solidFill>
                  <a:latin typeface="+mn-ea"/>
                  <a:ea typeface="+mn-ea"/>
                </a:rPr>
                <a:t>삭제</a:t>
              </a:r>
              <a:endParaRPr lang="en-US" altLang="ko-KR" sz="1400" b="1" dirty="0"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72553" y="1912220"/>
              <a:ext cx="503407" cy="288337"/>
            </a:xfrm>
            <a:prstGeom prst="rect">
              <a:avLst/>
            </a:prstGeom>
            <a:noFill/>
          </p:spPr>
          <p:txBody>
            <a:bodyPr wrap="square" lIns="107241" tIns="53620" rIns="107241" bIns="53620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900" b="1">
                  <a:solidFill>
                    <a:prstClr val="black"/>
                  </a:solidFill>
                  <a:latin typeface="+mn-ea"/>
                  <a:ea typeface="+mn-ea"/>
                </a:rPr>
                <a:t>선택</a:t>
              </a:r>
              <a:endParaRPr lang="en-US" altLang="ko-KR" sz="900" b="1" dirty="0"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</p:grpSp>
      <p:sp>
        <p:nvSpPr>
          <p:cNvPr id="38" name="TextBox 37"/>
          <p:cNvSpPr txBox="1"/>
          <p:nvPr/>
        </p:nvSpPr>
        <p:spPr>
          <a:xfrm>
            <a:off x="3495937" y="2277666"/>
            <a:ext cx="103265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무료 부가서비스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39" name="표 38">
            <a:extLst>
              <a:ext uri="{FF2B5EF4-FFF2-40B4-BE49-F238E27FC236}">
                <a16:creationId xmlns="" xmlns:a16="http://schemas.microsoft.com/office/drawing/2014/main" id="{F4D390E8-2A4A-4727-AA8D-7611F67FF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131596"/>
              </p:ext>
            </p:extLst>
          </p:nvPr>
        </p:nvGraphicFramePr>
        <p:xfrm>
          <a:off x="3554982" y="2537759"/>
          <a:ext cx="3421882" cy="2016000"/>
        </p:xfrm>
        <a:graphic>
          <a:graphicData uri="http://schemas.openxmlformats.org/drawingml/2006/table">
            <a:tbl>
              <a:tblPr/>
              <a:tblGrid>
                <a:gridCol w="46955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95233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무선데이터 차단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국제전화발신제한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익명호수신거부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네트워크유해차단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데이터로밍</a:t>
                      </a:r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원천 차단</a:t>
                      </a:r>
                      <a:r>
                        <a:rPr lang="en-US" altLang="ko-KR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(MMS </a:t>
                      </a:r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가능</a:t>
                      </a:r>
                      <a:r>
                        <a:rPr lang="en-US" altLang="ko-KR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링투유알리미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음성로밍</a:t>
                      </a:r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차단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0" name="직사각형 39"/>
          <p:cNvSpPr/>
          <p:nvPr/>
        </p:nvSpPr>
        <p:spPr>
          <a:xfrm>
            <a:off x="3710624" y="2615393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3710624" y="2893485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3710624" y="3174074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V</a:t>
            </a:r>
            <a:endParaRPr lang="ko-KR" altLang="en-US" sz="800" b="1" dirty="0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3710624" y="3469998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3710624" y="3756735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3710624" y="4039890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3710624" y="4333645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567945" y="4707033"/>
            <a:ext cx="103265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유료 부가서비스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50" name="표 49">
            <a:extLst>
              <a:ext uri="{FF2B5EF4-FFF2-40B4-BE49-F238E27FC236}">
                <a16:creationId xmlns="" xmlns:a16="http://schemas.microsoft.com/office/drawing/2014/main" id="{F4D390E8-2A4A-4727-AA8D-7611F67FF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977807"/>
              </p:ext>
            </p:extLst>
          </p:nvPr>
        </p:nvGraphicFramePr>
        <p:xfrm>
          <a:off x="3554982" y="4937865"/>
          <a:ext cx="3421882" cy="864000"/>
        </p:xfrm>
        <a:graphic>
          <a:graphicData uri="http://schemas.openxmlformats.org/drawingml/2006/table">
            <a:tbl>
              <a:tblPr/>
              <a:tblGrid>
                <a:gridCol w="46955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944218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00811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링투유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dirty="0">
                          <a:latin typeface="+mn-ea"/>
                          <a:ea typeface="+mn-ea"/>
                        </a:rPr>
                        <a:t>990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원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캐치콜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dirty="0">
                          <a:latin typeface="+mn-ea"/>
                          <a:ea typeface="+mn-ea"/>
                        </a:rPr>
                        <a:t>550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원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</a:t>
                      </a:r>
                      <a:r>
                        <a:rPr lang="en-US" altLang="ko-KR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로밍</a:t>
                      </a:r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하루종일</a:t>
                      </a:r>
                      <a:r>
                        <a:rPr lang="en-US" altLang="ko-KR" sz="900" b="0" kern="120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ON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dirty="0">
                          <a:latin typeface="+mn-ea"/>
                          <a:ea typeface="+mn-ea"/>
                        </a:rPr>
                        <a:t>2,200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/1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일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1" name="직사각형 50"/>
          <p:cNvSpPr/>
          <p:nvPr/>
        </p:nvSpPr>
        <p:spPr>
          <a:xfrm>
            <a:off x="3710624" y="4999470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3710624" y="5283074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V</a:t>
            </a:r>
            <a:endParaRPr lang="ko-KR" altLang="en-US" sz="800" b="1" dirty="0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3710624" y="5590066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 dirty="0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45" name="눈물 방울 144"/>
          <p:cNvSpPr/>
          <p:nvPr/>
        </p:nvSpPr>
        <p:spPr>
          <a:xfrm rot="5400000">
            <a:off x="3239915" y="227290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6" name="눈물 방울 35"/>
          <p:cNvSpPr/>
          <p:nvPr/>
        </p:nvSpPr>
        <p:spPr>
          <a:xfrm rot="5400000">
            <a:off x="3239914" y="468872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" name="눈물 방울 20"/>
          <p:cNvSpPr/>
          <p:nvPr/>
        </p:nvSpPr>
        <p:spPr>
          <a:xfrm rot="5400000">
            <a:off x="6192243" y="605945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2" name="눈물 방울 21"/>
          <p:cNvSpPr/>
          <p:nvPr/>
        </p:nvSpPr>
        <p:spPr>
          <a:xfrm rot="5400000">
            <a:off x="4245326" y="605945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5388021" y="6022114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4554639" y="6022114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55" name="그룹 54"/>
          <p:cNvGrpSpPr/>
          <p:nvPr/>
        </p:nvGrpSpPr>
        <p:grpSpPr>
          <a:xfrm>
            <a:off x="4132239" y="1773610"/>
            <a:ext cx="2844625" cy="252000"/>
            <a:chOff x="2114824" y="-566622"/>
            <a:chExt cx="2844625" cy="252000"/>
          </a:xfrm>
        </p:grpSpPr>
        <p:sp>
          <p:nvSpPr>
            <p:cNvPr id="56" name="직사각형 55"/>
            <p:cNvSpPr/>
            <p:nvPr/>
          </p:nvSpPr>
          <p:spPr>
            <a:xfrm>
              <a:off x="2114824" y="-566622"/>
              <a:ext cx="284462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추천 부가서비스</a:t>
              </a:r>
            </a:p>
          </p:txBody>
        </p:sp>
        <p:pic>
          <p:nvPicPr>
            <p:cNvPr id="57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44616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60" name="눈물 방울 59"/>
          <p:cNvSpPr/>
          <p:nvPr/>
        </p:nvSpPr>
        <p:spPr>
          <a:xfrm rot="5400000">
            <a:off x="3239915" y="176884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="" xmlns:a16="http://schemas.microsoft.com/office/drawing/2014/main" id="{6487BA25-B6EB-C3F3-82C2-F086C11A3457}"/>
              </a:ext>
            </a:extLst>
          </p:cNvPr>
          <p:cNvSpPr/>
          <p:nvPr/>
        </p:nvSpPr>
        <p:spPr>
          <a:xfrm>
            <a:off x="5558930" y="534584"/>
            <a:ext cx="7076656" cy="46851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smtClean="0">
                <a:latin typeface="+mn-ea"/>
                <a:ea typeface="+mn-ea"/>
              </a:rPr>
              <a:t>서비스변경 신청서에서 사용</a:t>
            </a:r>
            <a:endParaRPr lang="ko-KR" altLang="en-US" sz="12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132034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7671305"/>
              </p:ext>
            </p:extLst>
          </p:nvPr>
        </p:nvGraphicFramePr>
        <p:xfrm>
          <a:off x="10505256" y="788950"/>
          <a:ext cx="2130330" cy="711839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좌측 메뉴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작성단계에 맞춰 활성화 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/USIM/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eSIM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 및 가입유형 에 따라 해당하는 영역 화면에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 여부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국가명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여권번호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체류기간 시작일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체류기간 종료일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체류기간 시작일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&lt;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종료일로 입력되었는지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전화번호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전화번호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~11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11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주소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이메일주소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배송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받으시는분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배송지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주소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확인 동의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발급일자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발급일자 유효한지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발급번호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발급번호 자릿수 유효한지 여부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번호이동 할 전화번호 통신사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전화번호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전화번호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11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 입력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번호이동 인증유형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'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를 제외하고 번호이동 인증번호 입력 여부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채번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예약번호 입력 여부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안심 보험 서비스 선택한 경우 안심 보험 서비스 신청 동의 체크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사은품 그룹별 선택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개수내에서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선택 여부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초과시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은행명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계좌번호 입력 여부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명세서 수신 유형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명세서 수신 유형에 따른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정상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 납부 방법 선택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 납부 방법에 따른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정상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여부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5" name="직사각형 34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grpSp>
        <p:nvGrpSpPr>
          <p:cNvPr id="46" name="그룹 45"/>
          <p:cNvGrpSpPr/>
          <p:nvPr/>
        </p:nvGrpSpPr>
        <p:grpSpPr>
          <a:xfrm>
            <a:off x="208192" y="1055696"/>
            <a:ext cx="720000" cy="4368542"/>
            <a:chOff x="2452103" y="1811827"/>
            <a:chExt cx="720000" cy="4368542"/>
          </a:xfrm>
        </p:grpSpPr>
        <p:sp>
          <p:nvSpPr>
            <p:cNvPr id="50" name="직사각형 49"/>
            <p:cNvSpPr/>
            <p:nvPr/>
          </p:nvSpPr>
          <p:spPr>
            <a:xfrm>
              <a:off x="2452103" y="1811827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2452103" y="3482384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75" name="직사각형 74"/>
            <p:cNvSpPr/>
            <p:nvPr/>
          </p:nvSpPr>
          <p:spPr>
            <a:xfrm>
              <a:off x="2452103" y="4021880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76" name="직사각형 75"/>
            <p:cNvSpPr/>
            <p:nvPr/>
          </p:nvSpPr>
          <p:spPr>
            <a:xfrm>
              <a:off x="2452103" y="4561376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80" name="직사각형 79"/>
            <p:cNvSpPr/>
            <p:nvPr/>
          </p:nvSpPr>
          <p:spPr>
            <a:xfrm>
              <a:off x="2452103" y="5100872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83" name="그룹 82"/>
            <p:cNvGrpSpPr/>
            <p:nvPr/>
          </p:nvGrpSpPr>
          <p:grpSpPr>
            <a:xfrm>
              <a:off x="2452103" y="5640369"/>
              <a:ext cx="720000" cy="540000"/>
              <a:chOff x="2452103" y="5640369"/>
              <a:chExt cx="720000" cy="540000"/>
            </a:xfrm>
          </p:grpSpPr>
          <p:sp>
            <p:nvSpPr>
              <p:cNvPr id="90" name="직사각형 89"/>
              <p:cNvSpPr/>
              <p:nvPr/>
            </p:nvSpPr>
            <p:spPr>
              <a:xfrm>
                <a:off x="2452103" y="5640369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91" name="Picture 5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07286" y="5718297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84" name="직사각형 83"/>
            <p:cNvSpPr/>
            <p:nvPr/>
          </p:nvSpPr>
          <p:spPr>
            <a:xfrm>
              <a:off x="2489607" y="2374946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고객</a:t>
              </a:r>
            </a:p>
          </p:txBody>
        </p:sp>
        <p:sp>
          <p:nvSpPr>
            <p:cNvPr id="85" name="타원 84"/>
            <p:cNvSpPr/>
            <p:nvPr/>
          </p:nvSpPr>
          <p:spPr>
            <a:xfrm>
              <a:off x="2521110" y="2438320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6" name="직사각형 85"/>
            <p:cNvSpPr/>
            <p:nvPr/>
          </p:nvSpPr>
          <p:spPr>
            <a:xfrm>
              <a:off x="2489527" y="2733426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상품</a:t>
              </a:r>
            </a:p>
          </p:txBody>
        </p:sp>
        <p:sp>
          <p:nvSpPr>
            <p:cNvPr id="87" name="타원 86"/>
            <p:cNvSpPr/>
            <p:nvPr/>
          </p:nvSpPr>
          <p:spPr>
            <a:xfrm>
              <a:off x="2521110" y="2796800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2489527" y="3093466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동의</a:t>
              </a:r>
            </a:p>
          </p:txBody>
        </p:sp>
        <p:sp>
          <p:nvSpPr>
            <p:cNvPr id="89" name="타원 88"/>
            <p:cNvSpPr/>
            <p:nvPr/>
          </p:nvSpPr>
          <p:spPr>
            <a:xfrm>
              <a:off x="2521110" y="3156840"/>
              <a:ext cx="216000" cy="216000"/>
            </a:xfrm>
            <a:prstGeom prst="ellipse">
              <a:avLst/>
            </a:prstGeom>
            <a:noFill/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endParaRPr lang="ko-KR" altLang="en-US" sz="8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5" name="눈물 방울 94"/>
          <p:cNvSpPr/>
          <p:nvPr/>
        </p:nvSpPr>
        <p:spPr>
          <a:xfrm rot="5400000">
            <a:off x="212878" y="8449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2" name="직사각형 91"/>
          <p:cNvSpPr/>
          <p:nvPr/>
        </p:nvSpPr>
        <p:spPr>
          <a:xfrm>
            <a:off x="1072208" y="1125809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>
                <a:latin typeface="+mn-ea"/>
                <a:ea typeface="+mn-ea"/>
              </a:rPr>
              <a:t>고객 영역</a:t>
            </a:r>
          </a:p>
        </p:txBody>
      </p:sp>
      <p:sp>
        <p:nvSpPr>
          <p:cNvPr id="93" name="직사각형 92"/>
          <p:cNvSpPr/>
          <p:nvPr/>
        </p:nvSpPr>
        <p:spPr>
          <a:xfrm>
            <a:off x="1072208" y="2337442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>
                <a:latin typeface="+mn-ea"/>
                <a:ea typeface="+mn-ea"/>
              </a:rPr>
              <a:t>상품 영역</a:t>
            </a:r>
          </a:p>
        </p:txBody>
      </p:sp>
      <p:sp>
        <p:nvSpPr>
          <p:cNvPr id="44" name="눈물 방울 43"/>
          <p:cNvSpPr/>
          <p:nvPr/>
        </p:nvSpPr>
        <p:spPr>
          <a:xfrm rot="5400000">
            <a:off x="967462" y="220089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9641240" y="627452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9" name="눈물 방울 38"/>
          <p:cNvSpPr/>
          <p:nvPr/>
        </p:nvSpPr>
        <p:spPr>
          <a:xfrm rot="5400000">
            <a:off x="9390553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8633128" y="6284268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초기화</a:t>
            </a:r>
          </a:p>
        </p:txBody>
      </p:sp>
      <p:sp>
        <p:nvSpPr>
          <p:cNvPr id="43" name="직사각형 42"/>
          <p:cNvSpPr/>
          <p:nvPr/>
        </p:nvSpPr>
        <p:spPr>
          <a:xfrm>
            <a:off x="7336904" y="6292862"/>
            <a:ext cx="1008112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예상 납부금액</a:t>
            </a:r>
          </a:p>
        </p:txBody>
      </p:sp>
      <p:sp>
        <p:nvSpPr>
          <p:cNvPr id="45" name="눈물 방울 44"/>
          <p:cNvSpPr/>
          <p:nvPr/>
        </p:nvSpPr>
        <p:spPr>
          <a:xfrm rot="5400000">
            <a:off x="8421790" y="631758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2" name="눈물 방울 51"/>
          <p:cNvSpPr/>
          <p:nvPr/>
        </p:nvSpPr>
        <p:spPr>
          <a:xfrm rot="5400000">
            <a:off x="7053638" y="631758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23418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직사각형 63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334774"/>
              </p:ext>
            </p:extLst>
          </p:nvPr>
        </p:nvGraphicFramePr>
        <p:xfrm>
          <a:off x="10505256" y="788950"/>
          <a:ext cx="2130330" cy="6143064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신규가입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번호변경 디폴트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보유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기기변경 디폴트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사용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상품이 휴대폰인 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보유 여부에 따라 입력 항목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보유 선택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입력 항목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구매 선택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노출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-&gt;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구매 방식 디폴트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다음달 요금에 합산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eSIM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항목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구매 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LTE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휴대폰일 경우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일반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NFC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버튼 생성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- 5G, 3G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휴대폰일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일반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선택 버튼 생성</a:t>
                      </a:r>
                      <a:endParaRPr lang="ko-KR" altLang="en-US" sz="800" b="0" kern="1200" dirty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LTE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기기변경 신청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NFC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만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가능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일반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불가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 팝업 표시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번호의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구매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DB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테이블에 등록된 판매점 재고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(X85)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휴대폰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30" name="그룹 29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31" name="TextBox 30"/>
            <p:cNvSpPr txBox="1"/>
            <p:nvPr/>
          </p:nvSpPr>
          <p:spPr>
            <a:xfrm>
              <a:off x="1072208" y="1117425"/>
              <a:ext cx="101341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SIM/SIM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정보</a:t>
              </a:r>
            </a:p>
          </p:txBody>
        </p:sp>
        <p:cxnSp>
          <p:nvCxnSpPr>
            <p:cNvPr id="32" name="직선 연결선 31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6" name="눈물 방울 75"/>
          <p:cNvSpPr/>
          <p:nvPr/>
        </p:nvSpPr>
        <p:spPr>
          <a:xfrm rot="5400000">
            <a:off x="942909" y="1134098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00" name="그룹 99"/>
          <p:cNvGrpSpPr/>
          <p:nvPr/>
        </p:nvGrpSpPr>
        <p:grpSpPr>
          <a:xfrm>
            <a:off x="1053932" y="1521610"/>
            <a:ext cx="4086636" cy="252000"/>
            <a:chOff x="640160" y="-566622"/>
            <a:chExt cx="4086636" cy="252000"/>
          </a:xfrm>
        </p:grpSpPr>
        <p:sp>
          <p:nvSpPr>
            <p:cNvPr id="101" name="직사각형 100"/>
            <p:cNvSpPr/>
            <p:nvPr/>
          </p:nvSpPr>
          <p:spPr>
            <a:xfrm>
              <a:off x="21294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</a:p>
          </p:txBody>
        </p:sp>
        <p:sp>
          <p:nvSpPr>
            <p:cNvPr id="102" name="직사각형 101"/>
            <p:cNvSpPr/>
            <p:nvPr/>
          </p:nvSpPr>
          <p:spPr>
            <a:xfrm>
              <a:off x="2944032" y="-566622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구매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640160" y="-556038"/>
              <a:ext cx="72006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9" name="직사각형 28"/>
            <p:cNvSpPr/>
            <p:nvPr/>
          </p:nvSpPr>
          <p:spPr>
            <a:xfrm>
              <a:off x="3898796" y="-566622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err="1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eSIM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37" name="그룹 236"/>
          <p:cNvGrpSpPr/>
          <p:nvPr/>
        </p:nvGrpSpPr>
        <p:grpSpPr>
          <a:xfrm>
            <a:off x="1034704" y="1881650"/>
            <a:ext cx="3908684" cy="252000"/>
            <a:chOff x="602656" y="-566622"/>
            <a:chExt cx="3908684" cy="252000"/>
          </a:xfrm>
        </p:grpSpPr>
        <p:sp>
          <p:nvSpPr>
            <p:cNvPr id="238" name="TextBox 237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39" name="직사각형 238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19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40" name="직사각형 239"/>
          <p:cNvSpPr/>
          <p:nvPr/>
        </p:nvSpPr>
        <p:spPr>
          <a:xfrm>
            <a:off x="6040884" y="1880902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유효성 체크</a:t>
            </a:r>
          </a:p>
        </p:txBody>
      </p:sp>
      <p:sp>
        <p:nvSpPr>
          <p:cNvPr id="242" name="오른쪽 중괄호 241"/>
          <p:cNvSpPr/>
          <p:nvPr/>
        </p:nvSpPr>
        <p:spPr>
          <a:xfrm>
            <a:off x="7699963" y="1845618"/>
            <a:ext cx="313910" cy="3240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3" name="직사각형 242"/>
          <p:cNvSpPr/>
          <p:nvPr/>
        </p:nvSpPr>
        <p:spPr>
          <a:xfrm>
            <a:off x="7946069" y="1887429"/>
            <a:ext cx="219914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보유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인 경우만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27" name="눈물 방울 126"/>
          <p:cNvSpPr/>
          <p:nvPr/>
        </p:nvSpPr>
        <p:spPr>
          <a:xfrm rot="5400000">
            <a:off x="6874907" y="165509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6" name="눈물 방울 85"/>
          <p:cNvSpPr/>
          <p:nvPr/>
        </p:nvSpPr>
        <p:spPr>
          <a:xfrm rot="5400000">
            <a:off x="5492179" y="162482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7" name="직사각형 86"/>
          <p:cNvSpPr/>
          <p:nvPr/>
        </p:nvSpPr>
        <p:spPr>
          <a:xfrm>
            <a:off x="5032648" y="188165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</p:spTree>
    <p:extLst>
      <p:ext uri="{BB962C8B-B14F-4D97-AF65-F5344CB8AC3E}">
        <p14:creationId xmlns:p14="http://schemas.microsoft.com/office/powerpoint/2010/main" val="36133865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휴대폰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1072208" y="1341562"/>
            <a:ext cx="9252000" cy="246221"/>
            <a:chOff x="1072208" y="1117425"/>
            <a:chExt cx="9252000" cy="246221"/>
          </a:xfrm>
        </p:grpSpPr>
        <p:sp>
          <p:nvSpPr>
            <p:cNvPr id="34" name="TextBox 33"/>
            <p:cNvSpPr txBox="1"/>
            <p:nvPr/>
          </p:nvSpPr>
          <p:spPr>
            <a:xfrm>
              <a:off x="1072208" y="1117425"/>
              <a:ext cx="7216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정보</a:t>
              </a:r>
            </a:p>
          </p:txBody>
        </p:sp>
        <p:cxnSp>
          <p:nvCxnSpPr>
            <p:cNvPr id="37" name="직선 연결선 36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눈물 방울 37"/>
          <p:cNvSpPr/>
          <p:nvPr/>
        </p:nvSpPr>
        <p:spPr>
          <a:xfrm rot="5400000">
            <a:off x="677586" y="104876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9" name="그룹 38"/>
          <p:cNvGrpSpPr/>
          <p:nvPr/>
        </p:nvGrpSpPr>
        <p:grpSpPr>
          <a:xfrm>
            <a:off x="1053932" y="1695823"/>
            <a:ext cx="4050724" cy="259098"/>
            <a:chOff x="640160" y="-566622"/>
            <a:chExt cx="4050724" cy="259098"/>
          </a:xfrm>
        </p:grpSpPr>
        <p:sp>
          <p:nvSpPr>
            <p:cNvPr id="40" name="직사각형 39"/>
            <p:cNvSpPr/>
            <p:nvPr/>
          </p:nvSpPr>
          <p:spPr>
            <a:xfrm>
              <a:off x="21294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보유</a:t>
              </a: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2944032" y="-566622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구매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40160" y="-556038"/>
              <a:ext cx="72006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3862884" y="-559524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err="1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eSIM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6" name="그룹 15"/>
          <p:cNvGrpSpPr/>
          <p:nvPr/>
        </p:nvGrpSpPr>
        <p:grpSpPr>
          <a:xfrm>
            <a:off x="1056973" y="2055863"/>
            <a:ext cx="3535001" cy="252000"/>
            <a:chOff x="640160" y="-566622"/>
            <a:chExt cx="3535001" cy="252000"/>
          </a:xfrm>
        </p:grpSpPr>
        <p:sp>
          <p:nvSpPr>
            <p:cNvPr id="17" name="직사각형 16"/>
            <p:cNvSpPr/>
            <p:nvPr/>
          </p:nvSpPr>
          <p:spPr>
            <a:xfrm>
              <a:off x="2126450" y="-566622"/>
              <a:ext cx="97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일반 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6,600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3203161" y="-566622"/>
              <a:ext cx="97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NFC 8,800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40160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0" name="오른쪽 중괄호 19"/>
          <p:cNvSpPr/>
          <p:nvPr/>
        </p:nvSpPr>
        <p:spPr>
          <a:xfrm>
            <a:off x="7840837" y="2019831"/>
            <a:ext cx="313910" cy="702112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8086943" y="2235855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구매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인 경우만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25" name="그룹 24"/>
          <p:cNvGrpSpPr/>
          <p:nvPr/>
        </p:nvGrpSpPr>
        <p:grpSpPr>
          <a:xfrm>
            <a:off x="1034704" y="2410200"/>
            <a:ext cx="3908684" cy="252000"/>
            <a:chOff x="602656" y="-566622"/>
            <a:chExt cx="3908684" cy="252000"/>
          </a:xfrm>
        </p:grpSpPr>
        <p:sp>
          <p:nvSpPr>
            <p:cNvPr id="26" name="TextBox 25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19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67" name="직사각형 66"/>
          <p:cNvSpPr/>
          <p:nvPr/>
        </p:nvSpPr>
        <p:spPr>
          <a:xfrm>
            <a:off x="886143" y="1053530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구매 여부에 따른 선택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6040884" y="2415155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유효성 체크</a:t>
            </a:r>
          </a:p>
        </p:txBody>
      </p:sp>
      <p:sp>
        <p:nvSpPr>
          <p:cNvPr id="55" name="눈물 방울 54"/>
          <p:cNvSpPr/>
          <p:nvPr/>
        </p:nvSpPr>
        <p:spPr>
          <a:xfrm rot="5400000">
            <a:off x="6874907" y="223109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6" name="눈물 방울 55"/>
          <p:cNvSpPr/>
          <p:nvPr/>
        </p:nvSpPr>
        <p:spPr>
          <a:xfrm rot="5400000">
            <a:off x="5492179" y="221628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5032648" y="2415903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7" name="직사각형 96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grpSp>
        <p:nvGrpSpPr>
          <p:cNvPr id="51" name="그룹 50"/>
          <p:cNvGrpSpPr/>
          <p:nvPr/>
        </p:nvGrpSpPr>
        <p:grpSpPr>
          <a:xfrm>
            <a:off x="1053932" y="2768845"/>
            <a:ext cx="3743872" cy="252000"/>
            <a:chOff x="640160" y="-566622"/>
            <a:chExt cx="3743872" cy="252000"/>
          </a:xfrm>
        </p:grpSpPr>
        <p:sp>
          <p:nvSpPr>
            <p:cNvPr id="52" name="직사각형 51"/>
            <p:cNvSpPr/>
            <p:nvPr/>
          </p:nvSpPr>
          <p:spPr>
            <a:xfrm>
              <a:off x="21294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즉시납부</a:t>
              </a: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2944032" y="-566622"/>
              <a:ext cx="144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다음달 요금에 합산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640160" y="-556038"/>
              <a:ext cx="107593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구매 방식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037723" y="4005921"/>
            <a:ext cx="3908684" cy="252000"/>
            <a:chOff x="602656" y="-566622"/>
            <a:chExt cx="3908684" cy="252000"/>
          </a:xfrm>
        </p:grpSpPr>
        <p:sp>
          <p:nvSpPr>
            <p:cNvPr id="132" name="TextBox 131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1234567890123456789</a:t>
              </a:r>
            </a:p>
          </p:txBody>
        </p:sp>
      </p:grpSp>
      <p:sp>
        <p:nvSpPr>
          <p:cNvPr id="134" name="직사각형 133"/>
          <p:cNvSpPr/>
          <p:nvPr/>
        </p:nvSpPr>
        <p:spPr>
          <a:xfrm>
            <a:off x="6043903" y="4005173"/>
            <a:ext cx="16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USIM</a:t>
            </a: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유효성 체크</a:t>
            </a:r>
          </a:p>
        </p:txBody>
      </p:sp>
      <p:sp>
        <p:nvSpPr>
          <p:cNvPr id="135" name="눈물 방울 134"/>
          <p:cNvSpPr/>
          <p:nvPr/>
        </p:nvSpPr>
        <p:spPr>
          <a:xfrm rot="5400000">
            <a:off x="6877926" y="377936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6" name="직사각형 135"/>
          <p:cNvSpPr/>
          <p:nvPr/>
        </p:nvSpPr>
        <p:spPr>
          <a:xfrm>
            <a:off x="5035667" y="4005921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37" name="그룹 136"/>
          <p:cNvGrpSpPr/>
          <p:nvPr/>
        </p:nvGrpSpPr>
        <p:grpSpPr>
          <a:xfrm>
            <a:off x="1040742" y="4761969"/>
            <a:ext cx="3908684" cy="252000"/>
            <a:chOff x="602656" y="-566622"/>
            <a:chExt cx="3908684" cy="252000"/>
          </a:xfrm>
        </p:grpSpPr>
        <p:sp>
          <p:nvSpPr>
            <p:cNvPr id="138" name="TextBox 137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9" name="직사각형 138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1234567890123456789</a:t>
              </a:r>
            </a:p>
          </p:txBody>
        </p:sp>
      </p:grpSp>
      <p:sp>
        <p:nvSpPr>
          <p:cNvPr id="140" name="직사각형 139"/>
          <p:cNvSpPr/>
          <p:nvPr/>
        </p:nvSpPr>
        <p:spPr>
          <a:xfrm>
            <a:off x="6046922" y="4761221"/>
            <a:ext cx="16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유효성 체크 완료</a:t>
            </a:r>
          </a:p>
        </p:txBody>
      </p:sp>
      <p:sp>
        <p:nvSpPr>
          <p:cNvPr id="141" name="눈물 방울 140"/>
          <p:cNvSpPr/>
          <p:nvPr/>
        </p:nvSpPr>
        <p:spPr>
          <a:xfrm rot="5400000">
            <a:off x="6880945" y="453541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2" name="직사각형 141"/>
          <p:cNvSpPr/>
          <p:nvPr/>
        </p:nvSpPr>
        <p:spPr>
          <a:xfrm>
            <a:off x="5038686" y="4761969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3" name="눈물 방울 142"/>
          <p:cNvSpPr/>
          <p:nvPr/>
        </p:nvSpPr>
        <p:spPr>
          <a:xfrm rot="5400000">
            <a:off x="644926" y="371354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4" name="직사각형 143"/>
          <p:cNvSpPr/>
          <p:nvPr/>
        </p:nvSpPr>
        <p:spPr>
          <a:xfrm>
            <a:off x="928192" y="3717825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45" name="직사각형 144"/>
          <p:cNvSpPr/>
          <p:nvPr/>
        </p:nvSpPr>
        <p:spPr>
          <a:xfrm>
            <a:off x="928192" y="4479716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46" name="그룹 145"/>
          <p:cNvGrpSpPr/>
          <p:nvPr/>
        </p:nvGrpSpPr>
        <p:grpSpPr>
          <a:xfrm>
            <a:off x="640160" y="5857160"/>
            <a:ext cx="2881818" cy="1397063"/>
            <a:chOff x="5875124" y="3832891"/>
            <a:chExt cx="2881818" cy="1397063"/>
          </a:xfrm>
        </p:grpSpPr>
        <p:sp>
          <p:nvSpPr>
            <p:cNvPr id="147" name="직사각형 146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8" name="직사각형 147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49" name="직사각형 148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유효하지 않은 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150" name="눈물 방울 149"/>
          <p:cNvSpPr/>
          <p:nvPr/>
        </p:nvSpPr>
        <p:spPr>
          <a:xfrm rot="5400000">
            <a:off x="485614" y="560599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1" name="직사각형 150"/>
          <p:cNvSpPr/>
          <p:nvPr/>
        </p:nvSpPr>
        <p:spPr>
          <a:xfrm>
            <a:off x="671617" y="5568333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유효하지 않은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52" name="그룹 151"/>
          <p:cNvGrpSpPr/>
          <p:nvPr/>
        </p:nvGrpSpPr>
        <p:grpSpPr>
          <a:xfrm>
            <a:off x="3736504" y="5857651"/>
            <a:ext cx="2881818" cy="1397063"/>
            <a:chOff x="5875124" y="3832891"/>
            <a:chExt cx="2881818" cy="1397063"/>
          </a:xfrm>
        </p:grpSpPr>
        <p:sp>
          <p:nvSpPr>
            <p:cNvPr id="153" name="직사각형 152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4" name="직사각형 153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55" name="직사각형 154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사용 가능한 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156" name="직사각형 155"/>
          <p:cNvSpPr/>
          <p:nvPr/>
        </p:nvSpPr>
        <p:spPr>
          <a:xfrm>
            <a:off x="3767961" y="5568824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유효한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57" name="직사각형 156"/>
          <p:cNvSpPr/>
          <p:nvPr/>
        </p:nvSpPr>
        <p:spPr>
          <a:xfrm>
            <a:off x="173136" y="3285778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158" name="직사각형 157"/>
          <p:cNvSpPr/>
          <p:nvPr/>
        </p:nvSpPr>
        <p:spPr>
          <a:xfrm>
            <a:off x="173136" y="5157986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</p:spTree>
    <p:extLst>
      <p:ext uri="{BB962C8B-B14F-4D97-AF65-F5344CB8AC3E}">
        <p14:creationId xmlns:p14="http://schemas.microsoft.com/office/powerpoint/2010/main" val="41311854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휴대폰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97" name="직사각형 96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grpSp>
        <p:nvGrpSpPr>
          <p:cNvPr id="59" name="그룹 58"/>
          <p:cNvGrpSpPr/>
          <p:nvPr/>
        </p:nvGrpSpPr>
        <p:grpSpPr>
          <a:xfrm>
            <a:off x="1072208" y="1053530"/>
            <a:ext cx="9252000" cy="246221"/>
            <a:chOff x="1072208" y="1117425"/>
            <a:chExt cx="9252000" cy="246221"/>
          </a:xfrm>
        </p:grpSpPr>
        <p:sp>
          <p:nvSpPr>
            <p:cNvPr id="60" name="TextBox 59"/>
            <p:cNvSpPr txBox="1"/>
            <p:nvPr/>
          </p:nvSpPr>
          <p:spPr>
            <a:xfrm>
              <a:off x="1072208" y="1117425"/>
              <a:ext cx="7216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정보</a:t>
              </a:r>
            </a:p>
          </p:txBody>
        </p:sp>
        <p:cxnSp>
          <p:nvCxnSpPr>
            <p:cNvPr id="61" name="직선 연결선 6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그룹 61"/>
          <p:cNvGrpSpPr/>
          <p:nvPr/>
        </p:nvGrpSpPr>
        <p:grpSpPr>
          <a:xfrm>
            <a:off x="1053932" y="1407791"/>
            <a:ext cx="4050724" cy="259098"/>
            <a:chOff x="640160" y="-566622"/>
            <a:chExt cx="4050724" cy="259098"/>
          </a:xfrm>
        </p:grpSpPr>
        <p:sp>
          <p:nvSpPr>
            <p:cNvPr id="63" name="직사각형 62"/>
            <p:cNvSpPr/>
            <p:nvPr/>
          </p:nvSpPr>
          <p:spPr>
            <a:xfrm>
              <a:off x="21294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보유</a:t>
              </a: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2944032" y="-566622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구매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640160" y="-556038"/>
              <a:ext cx="72006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3862884" y="-559524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err="1">
                  <a:latin typeface="맑은 고딕" pitchFamily="50" charset="-127"/>
                  <a:ea typeface="맑은 고딕" pitchFamily="50" charset="-127"/>
                </a:rPr>
                <a:t>eSIM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6" name="TextBox 95"/>
          <p:cNvSpPr txBox="1"/>
          <p:nvPr/>
        </p:nvSpPr>
        <p:spPr>
          <a:xfrm>
            <a:off x="1072208" y="1771637"/>
            <a:ext cx="85472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휴대폰 정보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8" name="직사각형 97"/>
          <p:cNvSpPr/>
          <p:nvPr/>
        </p:nvSpPr>
        <p:spPr>
          <a:xfrm>
            <a:off x="2546366" y="1761053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휴대폰 모델명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9" name="직사각형 98"/>
          <p:cNvSpPr/>
          <p:nvPr/>
        </p:nvSpPr>
        <p:spPr>
          <a:xfrm>
            <a:off x="4778614" y="1761053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EID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0" name="직사각형 99"/>
          <p:cNvSpPr/>
          <p:nvPr/>
        </p:nvSpPr>
        <p:spPr>
          <a:xfrm>
            <a:off x="2546366" y="2049085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IMEI1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1" name="직사각형 100"/>
          <p:cNvSpPr/>
          <p:nvPr/>
        </p:nvSpPr>
        <p:spPr>
          <a:xfrm>
            <a:off x="4778614" y="2049085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IMEI2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2" name="눈물 방울 101"/>
          <p:cNvSpPr/>
          <p:nvPr/>
        </p:nvSpPr>
        <p:spPr>
          <a:xfrm rot="5400000">
            <a:off x="3813278" y="234601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3" name="직사각형 102"/>
          <p:cNvSpPr/>
          <p:nvPr/>
        </p:nvSpPr>
        <p:spPr>
          <a:xfrm>
            <a:off x="2544831" y="2336797"/>
            <a:ext cx="1188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이미지 등록</a:t>
            </a:r>
          </a:p>
        </p:txBody>
      </p:sp>
      <p:graphicFrame>
        <p:nvGraphicFramePr>
          <p:cNvPr id="104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899487"/>
              </p:ext>
            </p:extLst>
          </p:nvPr>
        </p:nvGraphicFramePr>
        <p:xfrm>
          <a:off x="10505256" y="788950"/>
          <a:ext cx="2130330" cy="375453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1-1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 입력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 정보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 항목 모두 비활성화되어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이미지 등록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활성화 되어 표시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이미지 등록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이미지 선택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브라우져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 정보 유효성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DB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테이블에 등록된 판매점 재고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기기원부조회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(Y13)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7" name="눈물 방울 106"/>
          <p:cNvSpPr/>
          <p:nvPr/>
        </p:nvSpPr>
        <p:spPr>
          <a:xfrm rot="5400000">
            <a:off x="644926" y="301437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8" name="직사각형 107"/>
          <p:cNvSpPr/>
          <p:nvPr/>
        </p:nvSpPr>
        <p:spPr>
          <a:xfrm>
            <a:off x="928192" y="3018652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09" name="그룹 108"/>
          <p:cNvGrpSpPr/>
          <p:nvPr/>
        </p:nvGrpSpPr>
        <p:grpSpPr>
          <a:xfrm>
            <a:off x="670118" y="4913051"/>
            <a:ext cx="2881818" cy="1397063"/>
            <a:chOff x="5875124" y="3832891"/>
            <a:chExt cx="2881818" cy="1397063"/>
          </a:xfrm>
        </p:grpSpPr>
        <p:sp>
          <p:nvSpPr>
            <p:cNvPr id="110" name="직사각형 109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1" name="직사각형 110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12" name="직사각형 111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 정보 인증에 실패하였습니다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 정보를 다시 확인해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실패 사유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13" name="직사각형 112"/>
          <p:cNvSpPr/>
          <p:nvPr/>
        </p:nvSpPr>
        <p:spPr>
          <a:xfrm>
            <a:off x="724129" y="4618197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 정보 유효성 오류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14" name="눈물 방울 113"/>
          <p:cNvSpPr/>
          <p:nvPr/>
        </p:nvSpPr>
        <p:spPr>
          <a:xfrm rot="5400000">
            <a:off x="356894" y="462025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15" name="그룹 114"/>
          <p:cNvGrpSpPr/>
          <p:nvPr/>
        </p:nvGrpSpPr>
        <p:grpSpPr>
          <a:xfrm>
            <a:off x="3897173" y="4913051"/>
            <a:ext cx="2881818" cy="1397063"/>
            <a:chOff x="5875124" y="3832891"/>
            <a:chExt cx="2881818" cy="1397063"/>
          </a:xfrm>
        </p:grpSpPr>
        <p:sp>
          <p:nvSpPr>
            <p:cNvPr id="116" name="직사각형 115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18" name="직사각형 117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 정보 인증이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119" name="직사각형 118"/>
          <p:cNvSpPr/>
          <p:nvPr/>
        </p:nvSpPr>
        <p:spPr>
          <a:xfrm>
            <a:off x="3951184" y="4618197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 정보 유효성 체크 완료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20" name="직사각형 119"/>
          <p:cNvSpPr/>
          <p:nvPr/>
        </p:nvSpPr>
        <p:spPr>
          <a:xfrm>
            <a:off x="173136" y="265861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121" name="직사각형 120"/>
          <p:cNvSpPr/>
          <p:nvPr/>
        </p:nvSpPr>
        <p:spPr>
          <a:xfrm>
            <a:off x="173136" y="4242788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2208" y="3281612"/>
            <a:ext cx="85472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휴대폰 정보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3" name="직사각형 122"/>
          <p:cNvSpPr/>
          <p:nvPr/>
        </p:nvSpPr>
        <p:spPr>
          <a:xfrm>
            <a:off x="2546366" y="3271028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휴대폰 모델명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4778614" y="3271028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EID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2546366" y="3559060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IMEI1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4778614" y="3559060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IMEI2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7" name="눈물 방울 126"/>
          <p:cNvSpPr/>
          <p:nvPr/>
        </p:nvSpPr>
        <p:spPr>
          <a:xfrm rot="5400000">
            <a:off x="3813278" y="385598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2544831" y="3846772"/>
            <a:ext cx="1188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이미지 등록 완료</a:t>
            </a:r>
          </a:p>
        </p:txBody>
      </p:sp>
      <p:sp>
        <p:nvSpPr>
          <p:cNvPr id="130" name="눈물 방울 129"/>
          <p:cNvSpPr/>
          <p:nvPr/>
        </p:nvSpPr>
        <p:spPr>
          <a:xfrm rot="5400000">
            <a:off x="667786" y="113300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48590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휴대폰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34" name="그룹 33"/>
          <p:cNvGrpSpPr/>
          <p:nvPr/>
        </p:nvGrpSpPr>
        <p:grpSpPr>
          <a:xfrm>
            <a:off x="1072208" y="1413570"/>
            <a:ext cx="9252000" cy="246221"/>
            <a:chOff x="1072208" y="1117425"/>
            <a:chExt cx="9252000" cy="246221"/>
          </a:xfrm>
        </p:grpSpPr>
        <p:sp>
          <p:nvSpPr>
            <p:cNvPr id="35" name="TextBox 34"/>
            <p:cNvSpPr txBox="1"/>
            <p:nvPr/>
          </p:nvSpPr>
          <p:spPr>
            <a:xfrm>
              <a:off x="1072208" y="1117425"/>
              <a:ext cx="7216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정보</a:t>
              </a:r>
            </a:p>
          </p:txBody>
        </p:sp>
        <p:cxnSp>
          <p:nvCxnSpPr>
            <p:cNvPr id="36" name="직선 연결선 3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눈물 방울 36"/>
          <p:cNvSpPr/>
          <p:nvPr/>
        </p:nvSpPr>
        <p:spPr>
          <a:xfrm rot="5400000">
            <a:off x="677586" y="104876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1053932" y="1767831"/>
            <a:ext cx="3474660" cy="252000"/>
            <a:chOff x="640160" y="-566622"/>
            <a:chExt cx="3474660" cy="252000"/>
          </a:xfrm>
        </p:grpSpPr>
        <p:sp>
          <p:nvSpPr>
            <p:cNvPr id="39" name="직사각형 38"/>
            <p:cNvSpPr/>
            <p:nvPr/>
          </p:nvSpPr>
          <p:spPr>
            <a:xfrm>
              <a:off x="2129489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현재 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사용</a:t>
              </a: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3286820" y="-566622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구매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40160" y="-556038"/>
              <a:ext cx="72006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2" name="직사각형 41"/>
          <p:cNvSpPr/>
          <p:nvPr/>
        </p:nvSpPr>
        <p:spPr>
          <a:xfrm>
            <a:off x="886143" y="1053530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기기변경인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081434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직사각형 75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5508784"/>
              </p:ext>
            </p:extLst>
          </p:nvPr>
        </p:nvGraphicFramePr>
        <p:xfrm>
          <a:off x="10505256" y="788950"/>
          <a:ext cx="2130330" cy="4192344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디폴트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보유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상품이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보유 여부에 따라 입력 항목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보유 선택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입력 항목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구매 선택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가격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 팝업 표시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번호의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구매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DB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테이블에 등록된 판매점 재고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(X85)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 smtClean="0">
                <a:latin typeface="+mn-ea"/>
                <a:ea typeface="+mn-ea"/>
              </a:rPr>
              <a:t>(USIM)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30" name="그룹 29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31" name="TextBox 30"/>
            <p:cNvSpPr txBox="1"/>
            <p:nvPr/>
          </p:nvSpPr>
          <p:spPr>
            <a:xfrm>
              <a:off x="1072208" y="1117425"/>
              <a:ext cx="81464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정보</a:t>
              </a:r>
            </a:p>
          </p:txBody>
        </p:sp>
        <p:cxnSp>
          <p:nvCxnSpPr>
            <p:cNvPr id="32" name="직선 연결선 31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그룹 99"/>
          <p:cNvGrpSpPr/>
          <p:nvPr/>
        </p:nvGrpSpPr>
        <p:grpSpPr>
          <a:xfrm>
            <a:off x="1053932" y="1521610"/>
            <a:ext cx="3131872" cy="252000"/>
            <a:chOff x="640160" y="-566622"/>
            <a:chExt cx="3131872" cy="252000"/>
          </a:xfrm>
        </p:grpSpPr>
        <p:sp>
          <p:nvSpPr>
            <p:cNvPr id="101" name="직사각형 100"/>
            <p:cNvSpPr/>
            <p:nvPr/>
          </p:nvSpPr>
          <p:spPr>
            <a:xfrm>
              <a:off x="21294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</a:p>
          </p:txBody>
        </p:sp>
        <p:sp>
          <p:nvSpPr>
            <p:cNvPr id="102" name="직사각형 101"/>
            <p:cNvSpPr/>
            <p:nvPr/>
          </p:nvSpPr>
          <p:spPr>
            <a:xfrm>
              <a:off x="2944032" y="-566622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구매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640160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62" name="눈물 방울 261"/>
          <p:cNvSpPr/>
          <p:nvPr/>
        </p:nvSpPr>
        <p:spPr>
          <a:xfrm rot="5400000">
            <a:off x="942909" y="1134098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108" name="그룹 107"/>
          <p:cNvGrpSpPr/>
          <p:nvPr/>
        </p:nvGrpSpPr>
        <p:grpSpPr>
          <a:xfrm>
            <a:off x="1034704" y="1881650"/>
            <a:ext cx="3908684" cy="252000"/>
            <a:chOff x="602656" y="-566622"/>
            <a:chExt cx="3908684" cy="252000"/>
          </a:xfrm>
        </p:grpSpPr>
        <p:sp>
          <p:nvSpPr>
            <p:cNvPr id="109" name="TextBox 108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4" name="직사각형 113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19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15" name="직사각형 114"/>
          <p:cNvSpPr/>
          <p:nvPr/>
        </p:nvSpPr>
        <p:spPr>
          <a:xfrm>
            <a:off x="6040884" y="1880902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유효성 체크</a:t>
            </a:r>
          </a:p>
        </p:txBody>
      </p:sp>
      <p:sp>
        <p:nvSpPr>
          <p:cNvPr id="116" name="오른쪽 중괄호 115"/>
          <p:cNvSpPr/>
          <p:nvPr/>
        </p:nvSpPr>
        <p:spPr>
          <a:xfrm>
            <a:off x="7699963" y="1845618"/>
            <a:ext cx="313910" cy="3240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직사각형 116"/>
          <p:cNvSpPr/>
          <p:nvPr/>
        </p:nvSpPr>
        <p:spPr>
          <a:xfrm>
            <a:off x="7946069" y="1887429"/>
            <a:ext cx="219914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보유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인 경우만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20" name="눈물 방울 119"/>
          <p:cNvSpPr/>
          <p:nvPr/>
        </p:nvSpPr>
        <p:spPr>
          <a:xfrm rot="5400000">
            <a:off x="6874907" y="165509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1" name="눈물 방울 120"/>
          <p:cNvSpPr/>
          <p:nvPr/>
        </p:nvSpPr>
        <p:spPr>
          <a:xfrm rot="5400000">
            <a:off x="5492179" y="162482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2" name="직사각형 121"/>
          <p:cNvSpPr/>
          <p:nvPr/>
        </p:nvSpPr>
        <p:spPr>
          <a:xfrm>
            <a:off x="5032648" y="188165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</p:spTree>
    <p:extLst>
      <p:ext uri="{BB962C8B-B14F-4D97-AF65-F5344CB8AC3E}">
        <p14:creationId xmlns:p14="http://schemas.microsoft.com/office/powerpoint/2010/main" val="33055331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 smtClean="0">
                <a:latin typeface="+mn-ea"/>
                <a:ea typeface="+mn-ea"/>
              </a:rPr>
              <a:t>(USIM)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1072208" y="1197546"/>
            <a:ext cx="9252000" cy="246221"/>
            <a:chOff x="1072208" y="1117425"/>
            <a:chExt cx="9252000" cy="246221"/>
          </a:xfrm>
        </p:grpSpPr>
        <p:sp>
          <p:nvSpPr>
            <p:cNvPr id="54" name="TextBox 53"/>
            <p:cNvSpPr txBox="1"/>
            <p:nvPr/>
          </p:nvSpPr>
          <p:spPr>
            <a:xfrm>
              <a:off x="1072208" y="1117425"/>
              <a:ext cx="81464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정보</a:t>
              </a:r>
            </a:p>
          </p:txBody>
        </p:sp>
        <p:cxnSp>
          <p:nvCxnSpPr>
            <p:cNvPr id="55" name="직선 연결선 54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그룹 55"/>
          <p:cNvGrpSpPr/>
          <p:nvPr/>
        </p:nvGrpSpPr>
        <p:grpSpPr>
          <a:xfrm>
            <a:off x="1053932" y="1551807"/>
            <a:ext cx="3131872" cy="252000"/>
            <a:chOff x="640160" y="-566622"/>
            <a:chExt cx="3131872" cy="252000"/>
          </a:xfrm>
        </p:grpSpPr>
        <p:sp>
          <p:nvSpPr>
            <p:cNvPr id="57" name="직사각형 56"/>
            <p:cNvSpPr/>
            <p:nvPr/>
          </p:nvSpPr>
          <p:spPr>
            <a:xfrm>
              <a:off x="21294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보유</a:t>
              </a: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944032" y="-566622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구매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40160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67" name="그룹 66"/>
          <p:cNvGrpSpPr/>
          <p:nvPr/>
        </p:nvGrpSpPr>
        <p:grpSpPr>
          <a:xfrm>
            <a:off x="1056973" y="1875807"/>
            <a:ext cx="3535001" cy="252000"/>
            <a:chOff x="640160" y="-566622"/>
            <a:chExt cx="3535001" cy="252000"/>
          </a:xfrm>
        </p:grpSpPr>
        <p:sp>
          <p:nvSpPr>
            <p:cNvPr id="68" name="직사각형 67"/>
            <p:cNvSpPr/>
            <p:nvPr/>
          </p:nvSpPr>
          <p:spPr>
            <a:xfrm>
              <a:off x="2126450" y="-566622"/>
              <a:ext cx="97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일반 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6,600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3203161" y="-566622"/>
              <a:ext cx="97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NFC 8,800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40160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71" name="오른쪽 중괄호 70"/>
          <p:cNvSpPr/>
          <p:nvPr/>
        </p:nvSpPr>
        <p:spPr>
          <a:xfrm>
            <a:off x="7696821" y="1839775"/>
            <a:ext cx="313910" cy="3240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/>
          <p:cNvSpPr/>
          <p:nvPr/>
        </p:nvSpPr>
        <p:spPr>
          <a:xfrm>
            <a:off x="7942927" y="1881586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미보유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인 경우만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73" name="눈물 방울 72"/>
          <p:cNvSpPr/>
          <p:nvPr/>
        </p:nvSpPr>
        <p:spPr>
          <a:xfrm rot="5400000">
            <a:off x="644926" y="90474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945499" y="917742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구매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인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43" name="그룹 42"/>
          <p:cNvGrpSpPr/>
          <p:nvPr/>
        </p:nvGrpSpPr>
        <p:grpSpPr>
          <a:xfrm>
            <a:off x="1034704" y="2241690"/>
            <a:ext cx="3908684" cy="252000"/>
            <a:chOff x="602656" y="-566622"/>
            <a:chExt cx="3908684" cy="252000"/>
          </a:xfrm>
        </p:grpSpPr>
        <p:sp>
          <p:nvSpPr>
            <p:cNvPr id="50" name="TextBox 49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19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52" name="직사각형 51"/>
          <p:cNvSpPr/>
          <p:nvPr/>
        </p:nvSpPr>
        <p:spPr>
          <a:xfrm>
            <a:off x="6040884" y="2240942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유효성 체크</a:t>
            </a:r>
          </a:p>
        </p:txBody>
      </p:sp>
      <p:sp>
        <p:nvSpPr>
          <p:cNvPr id="62" name="눈물 방울 61"/>
          <p:cNvSpPr/>
          <p:nvPr/>
        </p:nvSpPr>
        <p:spPr>
          <a:xfrm rot="5400000">
            <a:off x="6874907" y="201513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3" name="눈물 방울 62"/>
          <p:cNvSpPr/>
          <p:nvPr/>
        </p:nvSpPr>
        <p:spPr>
          <a:xfrm rot="5400000">
            <a:off x="5492179" y="19848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5032648" y="224169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65" name="그룹 64"/>
          <p:cNvGrpSpPr/>
          <p:nvPr/>
        </p:nvGrpSpPr>
        <p:grpSpPr>
          <a:xfrm>
            <a:off x="1037723" y="3682422"/>
            <a:ext cx="3908684" cy="252000"/>
            <a:chOff x="602656" y="-566622"/>
            <a:chExt cx="3908684" cy="252000"/>
          </a:xfrm>
        </p:grpSpPr>
        <p:sp>
          <p:nvSpPr>
            <p:cNvPr id="66" name="TextBox 65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5" name="직사각형 74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1234567890123456789</a:t>
              </a:r>
            </a:p>
          </p:txBody>
        </p:sp>
      </p:grpSp>
      <p:sp>
        <p:nvSpPr>
          <p:cNvPr id="76" name="직사각형 75"/>
          <p:cNvSpPr/>
          <p:nvPr/>
        </p:nvSpPr>
        <p:spPr>
          <a:xfrm>
            <a:off x="6043903" y="3681674"/>
            <a:ext cx="16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USIM</a:t>
            </a: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유효성 체크</a:t>
            </a:r>
          </a:p>
        </p:txBody>
      </p:sp>
      <p:sp>
        <p:nvSpPr>
          <p:cNvPr id="77" name="눈물 방울 76"/>
          <p:cNvSpPr/>
          <p:nvPr/>
        </p:nvSpPr>
        <p:spPr>
          <a:xfrm rot="5400000">
            <a:off x="6877926" y="345586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5035667" y="3682422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79" name="그룹 78"/>
          <p:cNvGrpSpPr/>
          <p:nvPr/>
        </p:nvGrpSpPr>
        <p:grpSpPr>
          <a:xfrm>
            <a:off x="1040742" y="4315851"/>
            <a:ext cx="3908684" cy="252000"/>
            <a:chOff x="602656" y="-566622"/>
            <a:chExt cx="3908684" cy="252000"/>
          </a:xfrm>
        </p:grpSpPr>
        <p:sp>
          <p:nvSpPr>
            <p:cNvPr id="80" name="TextBox 79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1" name="직사각형 80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1234567890123456789</a:t>
              </a:r>
            </a:p>
          </p:txBody>
        </p:sp>
      </p:grpSp>
      <p:sp>
        <p:nvSpPr>
          <p:cNvPr id="84" name="직사각형 83"/>
          <p:cNvSpPr/>
          <p:nvPr/>
        </p:nvSpPr>
        <p:spPr>
          <a:xfrm>
            <a:off x="6046922" y="4315103"/>
            <a:ext cx="16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유효성 체크 완료</a:t>
            </a:r>
          </a:p>
        </p:txBody>
      </p:sp>
      <p:sp>
        <p:nvSpPr>
          <p:cNvPr id="85" name="눈물 방울 84"/>
          <p:cNvSpPr/>
          <p:nvPr/>
        </p:nvSpPr>
        <p:spPr>
          <a:xfrm rot="5400000">
            <a:off x="6880945" y="408929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6" name="직사각형 85"/>
          <p:cNvSpPr/>
          <p:nvPr/>
        </p:nvSpPr>
        <p:spPr>
          <a:xfrm>
            <a:off x="5038686" y="4315851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7" name="눈물 방울 86"/>
          <p:cNvSpPr/>
          <p:nvPr/>
        </p:nvSpPr>
        <p:spPr>
          <a:xfrm rot="5400000">
            <a:off x="644926" y="339004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928192" y="3394326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928192" y="4033598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90" name="그룹 89"/>
          <p:cNvGrpSpPr/>
          <p:nvPr/>
        </p:nvGrpSpPr>
        <p:grpSpPr>
          <a:xfrm>
            <a:off x="511481" y="5329742"/>
            <a:ext cx="2881818" cy="1397063"/>
            <a:chOff x="5875124" y="3832891"/>
            <a:chExt cx="2881818" cy="1397063"/>
          </a:xfrm>
        </p:grpSpPr>
        <p:sp>
          <p:nvSpPr>
            <p:cNvPr id="91" name="직사각형 90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2" name="직사각형 91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93" name="직사각형 92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유효하지 않은 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94" name="눈물 방울 93"/>
          <p:cNvSpPr/>
          <p:nvPr/>
        </p:nvSpPr>
        <p:spPr>
          <a:xfrm rot="5400000">
            <a:off x="356935" y="507857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5" name="직사각형 94"/>
          <p:cNvSpPr/>
          <p:nvPr/>
        </p:nvSpPr>
        <p:spPr>
          <a:xfrm>
            <a:off x="542938" y="5040915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유효하지 않은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60" name="그룹 59"/>
          <p:cNvGrpSpPr/>
          <p:nvPr/>
        </p:nvGrpSpPr>
        <p:grpSpPr>
          <a:xfrm>
            <a:off x="3607825" y="5300036"/>
            <a:ext cx="2881818" cy="1397063"/>
            <a:chOff x="5875124" y="3832891"/>
            <a:chExt cx="2881818" cy="1397063"/>
          </a:xfrm>
        </p:grpSpPr>
        <p:sp>
          <p:nvSpPr>
            <p:cNvPr id="61" name="직사각형 60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6" name="직사각형 95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사용 가능한 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98" name="직사각형 97"/>
          <p:cNvSpPr/>
          <p:nvPr/>
        </p:nvSpPr>
        <p:spPr>
          <a:xfrm>
            <a:off x="3639282" y="5011209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유효한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99" name="직사각형 98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100" name="직사각형 99"/>
          <p:cNvSpPr/>
          <p:nvPr/>
        </p:nvSpPr>
        <p:spPr>
          <a:xfrm>
            <a:off x="173136" y="4681670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101" name="직사각형 100"/>
          <p:cNvSpPr/>
          <p:nvPr/>
        </p:nvSpPr>
        <p:spPr>
          <a:xfrm>
            <a:off x="173136" y="3025486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grpSp>
        <p:nvGrpSpPr>
          <p:cNvPr id="82" name="그룹 81"/>
          <p:cNvGrpSpPr/>
          <p:nvPr/>
        </p:nvGrpSpPr>
        <p:grpSpPr>
          <a:xfrm>
            <a:off x="1053932" y="2622372"/>
            <a:ext cx="3743872" cy="252000"/>
            <a:chOff x="640160" y="-566622"/>
            <a:chExt cx="3743872" cy="252000"/>
          </a:xfrm>
        </p:grpSpPr>
        <p:sp>
          <p:nvSpPr>
            <p:cNvPr id="83" name="직사각형 82"/>
            <p:cNvSpPr/>
            <p:nvPr/>
          </p:nvSpPr>
          <p:spPr>
            <a:xfrm>
              <a:off x="21294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즉시납부</a:t>
              </a:r>
            </a:p>
          </p:txBody>
        </p:sp>
        <p:sp>
          <p:nvSpPr>
            <p:cNvPr id="102" name="직사각형 101"/>
            <p:cNvSpPr/>
            <p:nvPr/>
          </p:nvSpPr>
          <p:spPr>
            <a:xfrm>
              <a:off x="2944032" y="-566622"/>
              <a:ext cx="144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다음달 요금에 합산</a:t>
              </a: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640160" y="-556038"/>
              <a:ext cx="107593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구매 방식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60444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직사각형 51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342495"/>
              </p:ext>
            </p:extLst>
          </p:nvPr>
        </p:nvGraphicFramePr>
        <p:xfrm>
          <a:off x="10505256" y="788950"/>
          <a:ext cx="2130330" cy="407045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IMEI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 입력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 정보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 팝업 표시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[IMEI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IMEI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[IMEI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IMEI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대리점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관리조직 이하로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에서 존재하는 단말기 여부 체크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대리점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&amp;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판매점 대상 재고 데이터로 대상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재고 관리 데이터에 유효한 데이터만 사용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가능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DB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테이블에 등록된 판매점 재고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기기원부조회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(Y13)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36" name="그룹 35"/>
          <p:cNvGrpSpPr/>
          <p:nvPr/>
        </p:nvGrpSpPr>
        <p:grpSpPr>
          <a:xfrm>
            <a:off x="1072215" y="1191085"/>
            <a:ext cx="9252000" cy="246221"/>
            <a:chOff x="1072208" y="1117425"/>
            <a:chExt cx="9252000" cy="246221"/>
          </a:xfrm>
        </p:grpSpPr>
        <p:sp>
          <p:nvSpPr>
            <p:cNvPr id="37" name="TextBox 36"/>
            <p:cNvSpPr txBox="1"/>
            <p:nvPr/>
          </p:nvSpPr>
          <p:spPr>
            <a:xfrm>
              <a:off x="1072208" y="1117425"/>
              <a:ext cx="8707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휴대폰 정보</a:t>
              </a:r>
            </a:p>
          </p:txBody>
        </p:sp>
        <p:cxnSp>
          <p:nvCxnSpPr>
            <p:cNvPr id="38" name="직선 연결선 37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눈물 방울 38"/>
          <p:cNvSpPr/>
          <p:nvPr/>
        </p:nvSpPr>
        <p:spPr>
          <a:xfrm rot="5400000">
            <a:off x="932964" y="113825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86" name="그룹 85"/>
          <p:cNvGrpSpPr/>
          <p:nvPr/>
        </p:nvGrpSpPr>
        <p:grpSpPr>
          <a:xfrm>
            <a:off x="1034704" y="1521610"/>
            <a:ext cx="3908684" cy="252000"/>
            <a:chOff x="602656" y="-566622"/>
            <a:chExt cx="3908684" cy="252000"/>
          </a:xfrm>
        </p:grpSpPr>
        <p:sp>
          <p:nvSpPr>
            <p:cNvPr id="87" name="TextBox 86"/>
            <p:cNvSpPr txBox="1"/>
            <p:nvPr/>
          </p:nvSpPr>
          <p:spPr>
            <a:xfrm>
              <a:off x="602656" y="-556038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IMEI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IMEI 15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 입력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89" name="직사각형 88"/>
          <p:cNvSpPr/>
          <p:nvPr/>
        </p:nvSpPr>
        <p:spPr>
          <a:xfrm>
            <a:off x="6040760" y="1521610"/>
            <a:ext cx="1440036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IMEI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유효성 체크</a:t>
            </a:r>
          </a:p>
        </p:txBody>
      </p:sp>
      <p:sp>
        <p:nvSpPr>
          <p:cNvPr id="92" name="눈물 방울 91"/>
          <p:cNvSpPr/>
          <p:nvPr/>
        </p:nvSpPr>
        <p:spPr>
          <a:xfrm rot="5400000">
            <a:off x="7557693" y="154651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7" name="눈물 방울 106"/>
          <p:cNvSpPr/>
          <p:nvPr/>
        </p:nvSpPr>
        <p:spPr>
          <a:xfrm rot="5400000">
            <a:off x="284886" y="2684526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8" name="직사각형 107"/>
          <p:cNvSpPr/>
          <p:nvPr/>
        </p:nvSpPr>
        <p:spPr>
          <a:xfrm>
            <a:off x="568152" y="2688808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09" name="직사각형 108"/>
          <p:cNvSpPr/>
          <p:nvPr/>
        </p:nvSpPr>
        <p:spPr>
          <a:xfrm>
            <a:off x="568152" y="3450699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11" name="눈물 방울 110"/>
          <p:cNvSpPr/>
          <p:nvPr/>
        </p:nvSpPr>
        <p:spPr>
          <a:xfrm rot="5400000">
            <a:off x="323571" y="458289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13" name="그룹 112"/>
          <p:cNvGrpSpPr/>
          <p:nvPr/>
        </p:nvGrpSpPr>
        <p:grpSpPr>
          <a:xfrm>
            <a:off x="610138" y="2994872"/>
            <a:ext cx="3908684" cy="252000"/>
            <a:chOff x="602656" y="-566622"/>
            <a:chExt cx="3908684" cy="252000"/>
          </a:xfrm>
        </p:grpSpPr>
        <p:sp>
          <p:nvSpPr>
            <p:cNvPr id="114" name="TextBox 113"/>
            <p:cNvSpPr txBox="1"/>
            <p:nvPr/>
          </p:nvSpPr>
          <p:spPr>
            <a:xfrm>
              <a:off x="602656" y="-556038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IMEI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5" name="직사각형 114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IMEI 15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16" name="직사각형 115"/>
          <p:cNvSpPr/>
          <p:nvPr/>
        </p:nvSpPr>
        <p:spPr>
          <a:xfrm>
            <a:off x="4608082" y="2976872"/>
            <a:ext cx="1440036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IMEI</a:t>
            </a: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 유효성 체크</a:t>
            </a:r>
          </a:p>
        </p:txBody>
      </p:sp>
      <p:grpSp>
        <p:nvGrpSpPr>
          <p:cNvPr id="117" name="그룹 116"/>
          <p:cNvGrpSpPr/>
          <p:nvPr/>
        </p:nvGrpSpPr>
        <p:grpSpPr>
          <a:xfrm>
            <a:off x="610262" y="3786960"/>
            <a:ext cx="3908684" cy="252000"/>
            <a:chOff x="602656" y="-566622"/>
            <a:chExt cx="3908684" cy="252000"/>
          </a:xfrm>
        </p:grpSpPr>
        <p:sp>
          <p:nvSpPr>
            <p:cNvPr id="118" name="TextBox 117"/>
            <p:cNvSpPr txBox="1"/>
            <p:nvPr/>
          </p:nvSpPr>
          <p:spPr>
            <a:xfrm>
              <a:off x="602656" y="-556038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IMEI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9" name="직사각형 118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IMEI 15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20" name="직사각형 119"/>
          <p:cNvSpPr/>
          <p:nvPr/>
        </p:nvSpPr>
        <p:spPr>
          <a:xfrm>
            <a:off x="4608206" y="3768960"/>
            <a:ext cx="1440036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IMEI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유효성 체크 완료</a:t>
            </a:r>
          </a:p>
        </p:txBody>
      </p:sp>
      <p:sp>
        <p:nvSpPr>
          <p:cNvPr id="121" name="눈물 방울 120"/>
          <p:cNvSpPr/>
          <p:nvPr/>
        </p:nvSpPr>
        <p:spPr>
          <a:xfrm rot="5400000">
            <a:off x="6124892" y="298430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2" name="눈물 방울 121"/>
          <p:cNvSpPr/>
          <p:nvPr/>
        </p:nvSpPr>
        <p:spPr>
          <a:xfrm rot="5400000">
            <a:off x="6124893" y="377639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173136" y="4200976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41" name="직사각형 40"/>
          <p:cNvSpPr/>
          <p:nvPr/>
        </p:nvSpPr>
        <p:spPr>
          <a:xfrm>
            <a:off x="173136" y="2349674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grpSp>
        <p:nvGrpSpPr>
          <p:cNvPr id="42" name="그룹 41"/>
          <p:cNvGrpSpPr/>
          <p:nvPr/>
        </p:nvGrpSpPr>
        <p:grpSpPr>
          <a:xfrm>
            <a:off x="640160" y="4849843"/>
            <a:ext cx="2881818" cy="1397063"/>
            <a:chOff x="5875124" y="3832891"/>
            <a:chExt cx="2881818" cy="1397063"/>
          </a:xfrm>
        </p:grpSpPr>
        <p:sp>
          <p:nvSpPr>
            <p:cNvPr id="43" name="직사각형 42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유효하지 않은 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IMEI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46" name="직사각형 45"/>
          <p:cNvSpPr/>
          <p:nvPr/>
        </p:nvSpPr>
        <p:spPr>
          <a:xfrm>
            <a:off x="671617" y="4561016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유효하지 않은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IMEI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47" name="그룹 46"/>
          <p:cNvGrpSpPr/>
          <p:nvPr/>
        </p:nvGrpSpPr>
        <p:grpSpPr>
          <a:xfrm>
            <a:off x="3736504" y="4850334"/>
            <a:ext cx="2881818" cy="1397063"/>
            <a:chOff x="5875124" y="3832891"/>
            <a:chExt cx="2881818" cy="1397063"/>
          </a:xfrm>
        </p:grpSpPr>
        <p:sp>
          <p:nvSpPr>
            <p:cNvPr id="48" name="직사각형 47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사용 가능한 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IMEI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51" name="직사각형 50"/>
          <p:cNvSpPr/>
          <p:nvPr/>
        </p:nvSpPr>
        <p:spPr>
          <a:xfrm>
            <a:off x="3767961" y="4561507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유효한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IMEI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휴대폰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7" name="눈물 방울 56"/>
          <p:cNvSpPr/>
          <p:nvPr/>
        </p:nvSpPr>
        <p:spPr>
          <a:xfrm rot="5400000">
            <a:off x="5492179" y="127460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5032648" y="1531426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12881520" y="1125538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(2026.03.04)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휴대폰 스캔 </a:t>
            </a: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OCR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솔루션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스펙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확인중</a:t>
            </a:r>
            <a:endParaRPr lang="ko-KR" altLang="en-US" sz="1000" b="1" dirty="0" smtClean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12881520" y="2862601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(2026.03.04)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휴대폰 정보 재고 유효성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체크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-&gt; </a:t>
            </a:r>
            <a:r>
              <a:rPr lang="en-US" altLang="ko-KR" sz="1000" b="1" dirty="0">
                <a:solidFill>
                  <a:srgbClr val="FF0000"/>
                </a:solidFill>
                <a:latin typeface="+mn-ea"/>
                <a:ea typeface="+mn-ea"/>
              </a:rPr>
              <a:t>IMEI 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대신에 단말기 일련번호 로 </a:t>
            </a:r>
            <a:r>
              <a:rPr lang="ko-KR" altLang="en-US" sz="1000" b="1" dirty="0" err="1">
                <a:solidFill>
                  <a:srgbClr val="FF0000"/>
                </a:solidFill>
                <a:latin typeface="+mn-ea"/>
                <a:ea typeface="+mn-ea"/>
              </a:rPr>
              <a:t>해야할지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 확인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필요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유통영업팀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확인 후 피드백 예정</a:t>
            </a:r>
            <a:endParaRPr lang="ko-KR" altLang="en-US" sz="10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078903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직사각형 54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0741513"/>
              </p:ext>
            </p:extLst>
          </p:nvPr>
        </p:nvGraphicFramePr>
        <p:xfrm>
          <a:off x="10505256" y="788950"/>
          <a:ext cx="2130330" cy="387645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번호이동인 경우 번호이동 할 전화번호 입력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번호이동 할 전화번호 통신사 선택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없음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번호이동 인증유형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없음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수단별 정보 입력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번호이동인 경우만 영역 노출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번호이동 사전동의 요청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사전동의 결과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성공한 경우 이후 프로세스 진행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실패한 경우 안내 메시지 팝업 표시 후 이후 처리 불가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DB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테이블에 등록된 판매점 재고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번호이동 사전동의 요청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(NP1)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사전동의 결과조회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(NP3)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31" name="그룹 30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32" name="TextBox 31"/>
            <p:cNvSpPr txBox="1"/>
            <p:nvPr/>
          </p:nvSpPr>
          <p:spPr>
            <a:xfrm>
              <a:off x="1072208" y="1117425"/>
              <a:ext cx="142859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번호이동 할 전화번호</a:t>
              </a:r>
            </a:p>
          </p:txBody>
        </p:sp>
        <p:cxnSp>
          <p:nvCxnSpPr>
            <p:cNvPr id="33" name="직선 연결선 32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눈물 방울 33"/>
          <p:cNvSpPr/>
          <p:nvPr/>
        </p:nvSpPr>
        <p:spPr>
          <a:xfrm rot="5400000">
            <a:off x="942909" y="1134098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6" name="그룹 35"/>
          <p:cNvGrpSpPr/>
          <p:nvPr/>
        </p:nvGrpSpPr>
        <p:grpSpPr>
          <a:xfrm>
            <a:off x="1072208" y="1561893"/>
            <a:ext cx="4968552" cy="252000"/>
            <a:chOff x="640160" y="-568150"/>
            <a:chExt cx="4968552" cy="252000"/>
          </a:xfrm>
        </p:grpSpPr>
        <p:sp>
          <p:nvSpPr>
            <p:cNvPr id="37" name="TextBox 36"/>
            <p:cNvSpPr txBox="1"/>
            <p:nvPr/>
          </p:nvSpPr>
          <p:spPr>
            <a:xfrm>
              <a:off x="640160" y="-556038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번호이동 할 전화번호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38" name="그룹 37"/>
            <p:cNvGrpSpPr/>
            <p:nvPr/>
          </p:nvGrpSpPr>
          <p:grpSpPr>
            <a:xfrm>
              <a:off x="2111550" y="-568150"/>
              <a:ext cx="3497162" cy="252000"/>
              <a:chOff x="2111550" y="-568150"/>
              <a:chExt cx="3497162" cy="252000"/>
            </a:xfrm>
          </p:grpSpPr>
          <p:sp>
            <p:nvSpPr>
              <p:cNvPr id="39" name="직사각형 38"/>
              <p:cNvSpPr/>
              <p:nvPr/>
            </p:nvSpPr>
            <p:spPr>
              <a:xfrm>
                <a:off x="2111550" y="-568150"/>
                <a:ext cx="1696962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통신사 선택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40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1886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41" name="직사각형 40"/>
              <p:cNvSpPr/>
              <p:nvPr/>
            </p:nvSpPr>
            <p:spPr>
              <a:xfrm>
                <a:off x="3911750" y="-568150"/>
                <a:ext cx="1696962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휴대폰 번호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‘-’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없이 입력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</p:grpSp>
      <p:grpSp>
        <p:nvGrpSpPr>
          <p:cNvPr id="48" name="그룹 47"/>
          <p:cNvGrpSpPr/>
          <p:nvPr/>
        </p:nvGrpSpPr>
        <p:grpSpPr>
          <a:xfrm>
            <a:off x="1054956" y="1866778"/>
            <a:ext cx="6057298" cy="252000"/>
            <a:chOff x="640160" y="-566622"/>
            <a:chExt cx="6057298" cy="252000"/>
          </a:xfrm>
        </p:grpSpPr>
        <p:sp>
          <p:nvSpPr>
            <p:cNvPr id="49" name="직사각형 48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 일련번호</a:t>
              </a: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3301143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요금납부 계좌번호</a:t>
              </a: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446533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요금납부 신용카드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40160" y="-556038"/>
              <a:ext cx="97013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번호이동 인증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5617458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지로</a:t>
              </a:r>
            </a:p>
          </p:txBody>
        </p:sp>
      </p:grpSp>
      <p:sp>
        <p:nvSpPr>
          <p:cNvPr id="57" name="직사각형 56"/>
          <p:cNvSpPr/>
          <p:nvPr/>
        </p:nvSpPr>
        <p:spPr>
          <a:xfrm>
            <a:off x="2546872" y="2154874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휴대폰 일련번호 뒤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4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자리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1144216" y="4172224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유형별 입력 정보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59" name="그룹 58"/>
          <p:cNvGrpSpPr/>
          <p:nvPr/>
        </p:nvGrpSpPr>
        <p:grpSpPr>
          <a:xfrm>
            <a:off x="1063582" y="4509914"/>
            <a:ext cx="6057298" cy="252000"/>
            <a:chOff x="640160" y="-566622"/>
            <a:chExt cx="6057298" cy="252000"/>
          </a:xfrm>
        </p:grpSpPr>
        <p:sp>
          <p:nvSpPr>
            <p:cNvPr id="60" name="직사각형 59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 일련번호</a:t>
              </a: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3301143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요금납부 계좌번호</a:t>
              </a: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446533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요금납부 신용카드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640160" y="-556038"/>
              <a:ext cx="97013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번호이동 인증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5617458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지로</a:t>
              </a:r>
            </a:p>
          </p:txBody>
        </p:sp>
      </p:grpSp>
      <p:sp>
        <p:nvSpPr>
          <p:cNvPr id="76" name="직사각형 75"/>
          <p:cNvSpPr/>
          <p:nvPr/>
        </p:nvSpPr>
        <p:spPr>
          <a:xfrm>
            <a:off x="2555498" y="4834042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요금납부 계좌번호 뒤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4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자리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77" name="그룹 76"/>
          <p:cNvGrpSpPr/>
          <p:nvPr/>
        </p:nvGrpSpPr>
        <p:grpSpPr>
          <a:xfrm>
            <a:off x="1063582" y="5266026"/>
            <a:ext cx="6057298" cy="252000"/>
            <a:chOff x="640160" y="-566622"/>
            <a:chExt cx="6057298" cy="252000"/>
          </a:xfrm>
        </p:grpSpPr>
        <p:sp>
          <p:nvSpPr>
            <p:cNvPr id="86" name="직사각형 85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 일련번호</a:t>
              </a:r>
            </a:p>
          </p:txBody>
        </p:sp>
        <p:sp>
          <p:nvSpPr>
            <p:cNvPr id="87" name="직사각형 86"/>
            <p:cNvSpPr/>
            <p:nvPr/>
          </p:nvSpPr>
          <p:spPr>
            <a:xfrm>
              <a:off x="3301143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요금납부 계좌번호</a:t>
              </a:r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446533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요금납부 신용카드</a:t>
              </a: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640160" y="-556038"/>
              <a:ext cx="97013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번호이동 인증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5617458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지로</a:t>
              </a:r>
            </a:p>
          </p:txBody>
        </p:sp>
      </p:grpSp>
      <p:sp>
        <p:nvSpPr>
          <p:cNvPr id="91" name="직사각형 90"/>
          <p:cNvSpPr/>
          <p:nvPr/>
        </p:nvSpPr>
        <p:spPr>
          <a:xfrm>
            <a:off x="2555498" y="5590034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요금납부 신용카드 뒤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4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자리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92" name="그룹 91"/>
          <p:cNvGrpSpPr/>
          <p:nvPr/>
        </p:nvGrpSpPr>
        <p:grpSpPr>
          <a:xfrm>
            <a:off x="1063582" y="6022018"/>
            <a:ext cx="6057298" cy="252000"/>
            <a:chOff x="640160" y="-566622"/>
            <a:chExt cx="6057298" cy="252000"/>
          </a:xfrm>
        </p:grpSpPr>
        <p:sp>
          <p:nvSpPr>
            <p:cNvPr id="93" name="직사각형 92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 일련번호</a:t>
              </a: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3301143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요금납부 계좌번호</a:t>
              </a:r>
            </a:p>
          </p:txBody>
        </p:sp>
        <p:sp>
          <p:nvSpPr>
            <p:cNvPr id="96" name="직사각형 95"/>
            <p:cNvSpPr/>
            <p:nvPr/>
          </p:nvSpPr>
          <p:spPr>
            <a:xfrm>
              <a:off x="446533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요금납부 신용카드</a:t>
              </a: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640160" y="-556038"/>
              <a:ext cx="97013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번호이동 인증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9" name="직사각형 98"/>
            <p:cNvSpPr/>
            <p:nvPr/>
          </p:nvSpPr>
          <p:spPr>
            <a:xfrm>
              <a:off x="5617458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지로</a:t>
              </a:r>
            </a:p>
          </p:txBody>
        </p:sp>
      </p:grpSp>
      <p:sp>
        <p:nvSpPr>
          <p:cNvPr id="103" name="오른쪽 중괄호 102"/>
          <p:cNvSpPr/>
          <p:nvPr/>
        </p:nvSpPr>
        <p:spPr>
          <a:xfrm>
            <a:off x="8701190" y="1161577"/>
            <a:ext cx="313910" cy="1778037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직사각형 103"/>
          <p:cNvSpPr/>
          <p:nvPr/>
        </p:nvSpPr>
        <p:spPr>
          <a:xfrm>
            <a:off x="9095055" y="1927484"/>
            <a:ext cx="122915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번호이동 인 경우만 영역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1" name="눈물 방울 80"/>
          <p:cNvSpPr/>
          <p:nvPr/>
        </p:nvSpPr>
        <p:spPr>
          <a:xfrm rot="5400000">
            <a:off x="4219840" y="246173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2555498" y="2438783"/>
            <a:ext cx="162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번호이동 사전동의</a:t>
            </a:r>
          </a:p>
        </p:txBody>
      </p:sp>
      <p:sp>
        <p:nvSpPr>
          <p:cNvPr id="54" name="직사각형 53"/>
          <p:cNvSpPr/>
          <p:nvPr/>
        </p:nvSpPr>
        <p:spPr>
          <a:xfrm>
            <a:off x="173136" y="3861842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56" name="눈물 방울 55"/>
          <p:cNvSpPr/>
          <p:nvPr/>
        </p:nvSpPr>
        <p:spPr>
          <a:xfrm rot="5400000">
            <a:off x="932958" y="421711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1072208" y="2752106"/>
            <a:ext cx="4397248" cy="230832"/>
            <a:chOff x="1072208" y="3069754"/>
            <a:chExt cx="4397248" cy="230832"/>
          </a:xfrm>
        </p:grpSpPr>
        <p:grpSp>
          <p:nvGrpSpPr>
            <p:cNvPr id="65" name="그룹 64"/>
            <p:cNvGrpSpPr/>
            <p:nvPr/>
          </p:nvGrpSpPr>
          <p:grpSpPr>
            <a:xfrm>
              <a:off x="2546573" y="3069754"/>
              <a:ext cx="2922883" cy="230832"/>
              <a:chOff x="2546573" y="5950074"/>
              <a:chExt cx="2922883" cy="230832"/>
            </a:xfrm>
          </p:grpSpPr>
          <p:sp>
            <p:nvSpPr>
              <p:cNvPr id="66" name="TextBox 65"/>
              <p:cNvSpPr txBox="1"/>
              <p:nvPr/>
            </p:nvSpPr>
            <p:spPr>
              <a:xfrm>
                <a:off x="2686322" y="5950074"/>
                <a:ext cx="27831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  <a:ea typeface="+mn-ea"/>
                  </a:rPr>
                  <a:t>다음달 요금 합산 납부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  <a:ea typeface="+mn-ea"/>
                  </a:rPr>
                  <a:t>(※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  <a:ea typeface="+mn-ea"/>
                  </a:rPr>
                  <a:t>번호이동 수수료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  <a:ea typeface="+mn-ea"/>
                  </a:rPr>
                  <a:t>800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  <a:ea typeface="+mn-ea"/>
                  </a:rPr>
                  <a:t>원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  <a:ea typeface="+mn-ea"/>
                  </a:rPr>
                  <a:t>)</a:t>
                </a: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endParaRPr>
              </a:p>
            </p:txBody>
          </p:sp>
          <p:sp>
            <p:nvSpPr>
              <p:cNvPr id="67" name="직사각형 66"/>
              <p:cNvSpPr/>
              <p:nvPr/>
            </p:nvSpPr>
            <p:spPr>
              <a:xfrm>
                <a:off x="2546573" y="5985269"/>
                <a:ext cx="144000" cy="144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sp>
          <p:nvSpPr>
            <p:cNvPr id="68" name="TextBox 67"/>
            <p:cNvSpPr txBox="1"/>
            <p:nvPr/>
          </p:nvSpPr>
          <p:spPr>
            <a:xfrm>
              <a:off x="1072208" y="3069754"/>
              <a:ext cx="108555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이번달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사용요금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69" name="그룹 68"/>
          <p:cNvGrpSpPr/>
          <p:nvPr/>
        </p:nvGrpSpPr>
        <p:grpSpPr>
          <a:xfrm>
            <a:off x="1072208" y="3054946"/>
            <a:ext cx="3853725" cy="230832"/>
            <a:chOff x="1072208" y="3069754"/>
            <a:chExt cx="3853725" cy="230832"/>
          </a:xfrm>
        </p:grpSpPr>
        <p:grpSp>
          <p:nvGrpSpPr>
            <p:cNvPr id="70" name="그룹 69"/>
            <p:cNvGrpSpPr/>
            <p:nvPr/>
          </p:nvGrpSpPr>
          <p:grpSpPr>
            <a:xfrm>
              <a:off x="2546573" y="3069754"/>
              <a:ext cx="2379360" cy="230832"/>
              <a:chOff x="2546573" y="5950074"/>
              <a:chExt cx="2379360" cy="230832"/>
            </a:xfrm>
          </p:grpSpPr>
          <p:sp>
            <p:nvSpPr>
              <p:cNvPr id="72" name="TextBox 71"/>
              <p:cNvSpPr txBox="1"/>
              <p:nvPr/>
            </p:nvSpPr>
            <p:spPr>
              <a:xfrm>
                <a:off x="2686322" y="5950074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  <a:ea typeface="+mn-ea"/>
                  </a:rPr>
                  <a:t>완납</a:t>
                </a:r>
              </a:p>
            </p:txBody>
          </p:sp>
          <p:sp>
            <p:nvSpPr>
              <p:cNvPr id="73" name="직사각형 72"/>
              <p:cNvSpPr/>
              <p:nvPr/>
            </p:nvSpPr>
            <p:spPr>
              <a:xfrm>
                <a:off x="2546573" y="5985269"/>
                <a:ext cx="144000" cy="144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74" name="TextBox 73"/>
              <p:cNvSpPr txBox="1"/>
              <p:nvPr/>
            </p:nvSpPr>
            <p:spPr>
              <a:xfrm>
                <a:off x="3321006" y="5950074"/>
                <a:ext cx="160492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  <a:ea typeface="+mn-ea"/>
                  </a:rPr>
                  <a:t>지속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  <a:ea typeface="+mn-ea"/>
                  </a:rPr>
                  <a:t>(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  <a:ea typeface="+mn-ea"/>
                  </a:rPr>
                  <a:t>이전 통신회사에 납부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  <a:ea typeface="+mn-ea"/>
                  </a:rPr>
                  <a:t>)</a:t>
                </a: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endParaRPr>
              </a:p>
            </p:txBody>
          </p:sp>
          <p:sp>
            <p:nvSpPr>
              <p:cNvPr id="75" name="직사각형 74"/>
              <p:cNvSpPr/>
              <p:nvPr/>
            </p:nvSpPr>
            <p:spPr>
              <a:xfrm>
                <a:off x="3181257" y="5985269"/>
                <a:ext cx="144000" cy="144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sp>
          <p:nvSpPr>
            <p:cNvPr id="71" name="TextBox 70"/>
            <p:cNvSpPr txBox="1"/>
            <p:nvPr/>
          </p:nvSpPr>
          <p:spPr>
            <a:xfrm>
              <a:off x="1072208" y="3069754"/>
              <a:ext cx="97013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 할부금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78" name="그룹 77"/>
          <p:cNvGrpSpPr/>
          <p:nvPr/>
        </p:nvGrpSpPr>
        <p:grpSpPr>
          <a:xfrm>
            <a:off x="1072208" y="3342978"/>
            <a:ext cx="2779713" cy="230832"/>
            <a:chOff x="1072208" y="3069754"/>
            <a:chExt cx="2779713" cy="230832"/>
          </a:xfrm>
        </p:grpSpPr>
        <p:grpSp>
          <p:nvGrpSpPr>
            <p:cNvPr id="79" name="그룹 78"/>
            <p:cNvGrpSpPr/>
            <p:nvPr/>
          </p:nvGrpSpPr>
          <p:grpSpPr>
            <a:xfrm>
              <a:off x="2546573" y="3069754"/>
              <a:ext cx="1305348" cy="230832"/>
              <a:chOff x="2546573" y="5950074"/>
              <a:chExt cx="1305348" cy="230832"/>
            </a:xfrm>
          </p:grpSpPr>
          <p:sp>
            <p:nvSpPr>
              <p:cNvPr id="84" name="TextBox 83"/>
              <p:cNvSpPr txBox="1"/>
              <p:nvPr/>
            </p:nvSpPr>
            <p:spPr>
              <a:xfrm>
                <a:off x="2686322" y="5950074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  <a:ea typeface="+mn-ea"/>
                  </a:rPr>
                  <a:t>동의</a:t>
                </a:r>
              </a:p>
            </p:txBody>
          </p:sp>
          <p:sp>
            <p:nvSpPr>
              <p:cNvPr id="85" name="직사각형 84"/>
              <p:cNvSpPr/>
              <p:nvPr/>
            </p:nvSpPr>
            <p:spPr>
              <a:xfrm>
                <a:off x="2546573" y="5985269"/>
                <a:ext cx="144000" cy="144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sp>
            <p:nvSpPr>
              <p:cNvPr id="95" name="TextBox 94"/>
              <p:cNvSpPr txBox="1"/>
              <p:nvPr/>
            </p:nvSpPr>
            <p:spPr>
              <a:xfrm>
                <a:off x="3321006" y="5950074"/>
                <a:ext cx="53091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  <a:ea typeface="+mn-ea"/>
                  </a:rPr>
                  <a:t>미동의</a:t>
                </a:r>
              </a:p>
            </p:txBody>
          </p:sp>
          <p:sp>
            <p:nvSpPr>
              <p:cNvPr id="97" name="직사각형 96"/>
              <p:cNvSpPr/>
              <p:nvPr/>
            </p:nvSpPr>
            <p:spPr>
              <a:xfrm>
                <a:off x="3181257" y="5985269"/>
                <a:ext cx="144000" cy="144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sp>
          <p:nvSpPr>
            <p:cNvPr id="83" name="TextBox 82"/>
            <p:cNvSpPr txBox="1"/>
            <p:nvPr/>
          </p:nvSpPr>
          <p:spPr>
            <a:xfrm>
              <a:off x="1072208" y="3069754"/>
              <a:ext cx="151515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미환급금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요금상계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후불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4188045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직사각형 83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3083400"/>
              </p:ext>
            </p:extLst>
          </p:nvPr>
        </p:nvGraphicFramePr>
        <p:xfrm>
          <a:off x="10505256" y="788950"/>
          <a:ext cx="2130330" cy="5727371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조회 후 선택된 신규가입 번호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신규가입 인 경우만 영역 노출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신규 번호 조회 횟수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DB Table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에 조회 횟수 조회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번호조회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예약번호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번호조회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선택취소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예약번호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번호조회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가능 횟수가 초과된 경우 횟수 초과 안내 메시지가 표시되고 번호조회 팝업 표시 안됨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선택취소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예약번호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취소 이후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선택취소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번호조회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예약번호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선택된 번호 선택 취소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번호예약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취소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(NU2)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29" name="TextBox 28"/>
            <p:cNvSpPr txBox="1"/>
            <p:nvPr/>
          </p:nvSpPr>
          <p:spPr>
            <a:xfrm>
              <a:off x="1072208" y="1117425"/>
              <a:ext cx="13003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신규가입 번호 예약</a:t>
              </a:r>
            </a:p>
          </p:txBody>
        </p:sp>
        <p:cxnSp>
          <p:nvCxnSpPr>
            <p:cNvPr id="30" name="직선 연결선 2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눈물 방울 30"/>
          <p:cNvSpPr/>
          <p:nvPr/>
        </p:nvSpPr>
        <p:spPr>
          <a:xfrm rot="5400000">
            <a:off x="942909" y="142103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1059141" y="1521610"/>
            <a:ext cx="5405041" cy="252000"/>
            <a:chOff x="424136" y="-566622"/>
            <a:chExt cx="5405041" cy="252000"/>
          </a:xfrm>
        </p:grpSpPr>
        <p:sp>
          <p:nvSpPr>
            <p:cNvPr id="39" name="TextBox 38"/>
            <p:cNvSpPr txBox="1"/>
            <p:nvPr/>
          </p:nvSpPr>
          <p:spPr>
            <a:xfrm>
              <a:off x="424136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번호예약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****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5" name="직사각형 44"/>
          <p:cNvSpPr/>
          <p:nvPr/>
        </p:nvSpPr>
        <p:spPr>
          <a:xfrm>
            <a:off x="6616824" y="1528067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번호조회</a:t>
            </a:r>
          </a:p>
        </p:txBody>
      </p:sp>
      <p:sp>
        <p:nvSpPr>
          <p:cNvPr id="46" name="눈물 방울 45"/>
          <p:cNvSpPr/>
          <p:nvPr/>
        </p:nvSpPr>
        <p:spPr>
          <a:xfrm rot="5400000">
            <a:off x="6981630" y="126478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510926" y="1830060"/>
            <a:ext cx="343395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조회 가능 횟수를 초과할 경우 신청서를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재작성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해야 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7552928" y="1541846"/>
            <a:ext cx="137730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>
                <a:solidFill>
                  <a:schemeClr val="accent6"/>
                </a:solidFill>
                <a:latin typeface="+mn-ea"/>
                <a:ea typeface="+mn-ea"/>
              </a:rPr>
              <a:t>(</a:t>
            </a:r>
            <a:r>
              <a:rPr lang="ko-KR" altLang="en-US" sz="900" dirty="0">
                <a:solidFill>
                  <a:schemeClr val="accent6"/>
                </a:solidFill>
                <a:latin typeface="+mn-ea"/>
                <a:ea typeface="+mn-ea"/>
              </a:rPr>
              <a:t>조회 가능 횟수 </a:t>
            </a:r>
            <a:r>
              <a:rPr lang="en-US" altLang="ko-KR" sz="900" dirty="0">
                <a:solidFill>
                  <a:schemeClr val="accent6"/>
                </a:solidFill>
                <a:latin typeface="+mn-ea"/>
                <a:ea typeface="+mn-ea"/>
              </a:rPr>
              <a:t>: 20</a:t>
            </a:r>
            <a:r>
              <a:rPr lang="ko-KR" altLang="en-US" sz="900" dirty="0">
                <a:solidFill>
                  <a:schemeClr val="accent6"/>
                </a:solidFill>
                <a:latin typeface="+mn-ea"/>
                <a:ea typeface="+mn-ea"/>
              </a:rPr>
              <a:t>회</a:t>
            </a:r>
            <a:r>
              <a:rPr lang="en-US" altLang="ko-KR" sz="900" dirty="0">
                <a:solidFill>
                  <a:schemeClr val="accent6"/>
                </a:solidFill>
                <a:latin typeface="+mn-ea"/>
                <a:ea typeface="+mn-ea"/>
              </a:rPr>
              <a:t>)</a:t>
            </a:r>
            <a:endParaRPr lang="ko-KR" altLang="en-US" sz="900" dirty="0">
              <a:solidFill>
                <a:schemeClr val="accent6"/>
              </a:solidFill>
              <a:latin typeface="+mn-ea"/>
              <a:ea typeface="+mn-ea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2543701" y="2057461"/>
            <a:ext cx="3920481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선택된 희망 신규번호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1310686" y="5363557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조회 가능 횟수 초과한 경우 안내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9" name="오른쪽 중괄호 58"/>
          <p:cNvSpPr/>
          <p:nvPr/>
        </p:nvSpPr>
        <p:spPr>
          <a:xfrm>
            <a:off x="8701190" y="1161577"/>
            <a:ext cx="313910" cy="1778037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/>
          <p:cNvSpPr/>
          <p:nvPr/>
        </p:nvSpPr>
        <p:spPr>
          <a:xfrm>
            <a:off x="9095055" y="1927484"/>
            <a:ext cx="133505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신규가입 인 경우만 영역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62" name="그룹 61"/>
          <p:cNvGrpSpPr/>
          <p:nvPr/>
        </p:nvGrpSpPr>
        <p:grpSpPr>
          <a:xfrm>
            <a:off x="1298248" y="5684233"/>
            <a:ext cx="2881818" cy="1397063"/>
            <a:chOff x="5875124" y="3832891"/>
            <a:chExt cx="2881818" cy="1397063"/>
          </a:xfrm>
        </p:grpSpPr>
        <p:sp>
          <p:nvSpPr>
            <p:cNvPr id="63" name="직사각형 62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76" name="직사각형 75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신규 번호 조회 가능 횟수를 초과 하셨습니다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신청서를 </a:t>
              </a: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재작성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해주세요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77" name="눈물 방울 76"/>
          <p:cNvSpPr/>
          <p:nvPr/>
        </p:nvSpPr>
        <p:spPr>
          <a:xfrm rot="5400000">
            <a:off x="1037040" y="540573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6616824" y="2060170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선택취소</a:t>
            </a:r>
          </a:p>
        </p:txBody>
      </p:sp>
      <p:sp>
        <p:nvSpPr>
          <p:cNvPr id="54" name="눈물 방울 53"/>
          <p:cNvSpPr/>
          <p:nvPr/>
        </p:nvSpPr>
        <p:spPr>
          <a:xfrm rot="5400000">
            <a:off x="7414928" y="202087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1286528" y="3989099"/>
            <a:ext cx="438831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번호 선택 이후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2534822" y="4656173"/>
            <a:ext cx="3920481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010-1111-2222</a:t>
            </a:r>
          </a:p>
        </p:txBody>
      </p:sp>
      <p:sp>
        <p:nvSpPr>
          <p:cNvPr id="57" name="직사각형 56"/>
          <p:cNvSpPr/>
          <p:nvPr/>
        </p:nvSpPr>
        <p:spPr>
          <a:xfrm>
            <a:off x="6607945" y="4658882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선택취소</a:t>
            </a:r>
          </a:p>
        </p:txBody>
      </p:sp>
      <p:sp>
        <p:nvSpPr>
          <p:cNvPr id="61" name="눈물 방울 60"/>
          <p:cNvSpPr/>
          <p:nvPr/>
        </p:nvSpPr>
        <p:spPr>
          <a:xfrm rot="5400000">
            <a:off x="7560395" y="461959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0" name="눈물 방울 79"/>
          <p:cNvSpPr/>
          <p:nvPr/>
        </p:nvSpPr>
        <p:spPr>
          <a:xfrm rot="5400000">
            <a:off x="7920435" y="134902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01" name="눈물 방울 100"/>
          <p:cNvSpPr/>
          <p:nvPr/>
        </p:nvSpPr>
        <p:spPr>
          <a:xfrm rot="5400000">
            <a:off x="1106996" y="2921456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2" name="직사각형 101"/>
          <p:cNvSpPr/>
          <p:nvPr/>
        </p:nvSpPr>
        <p:spPr>
          <a:xfrm>
            <a:off x="1288232" y="2925738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04" name="눈물 방울 103"/>
          <p:cNvSpPr/>
          <p:nvPr/>
        </p:nvSpPr>
        <p:spPr>
          <a:xfrm rot="5400000">
            <a:off x="1079675" y="397114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05" name="그룹 104"/>
          <p:cNvGrpSpPr/>
          <p:nvPr/>
        </p:nvGrpSpPr>
        <p:grpSpPr>
          <a:xfrm>
            <a:off x="1057741" y="3243345"/>
            <a:ext cx="5405041" cy="252000"/>
            <a:chOff x="424136" y="-566622"/>
            <a:chExt cx="5405041" cy="252000"/>
          </a:xfrm>
        </p:grpSpPr>
        <p:sp>
          <p:nvSpPr>
            <p:cNvPr id="106" name="TextBox 105"/>
            <p:cNvSpPr txBox="1"/>
            <p:nvPr/>
          </p:nvSpPr>
          <p:spPr>
            <a:xfrm>
              <a:off x="424136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번호예약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08" name="직사각형 107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****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0" name="직사각형 109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12" name="직사각형 111"/>
          <p:cNvSpPr/>
          <p:nvPr/>
        </p:nvSpPr>
        <p:spPr>
          <a:xfrm>
            <a:off x="6615424" y="3249802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번호조회</a:t>
            </a:r>
          </a:p>
        </p:txBody>
      </p:sp>
      <p:sp>
        <p:nvSpPr>
          <p:cNvPr id="114" name="눈물 방울 113"/>
          <p:cNvSpPr/>
          <p:nvPr/>
        </p:nvSpPr>
        <p:spPr>
          <a:xfrm rot="5400000">
            <a:off x="7560478" y="325112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5" name="직사각형 64"/>
          <p:cNvSpPr/>
          <p:nvPr/>
        </p:nvSpPr>
        <p:spPr>
          <a:xfrm>
            <a:off x="2545152" y="3607133"/>
            <a:ext cx="3920481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선택된 희망 신규번호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6" name="직사각형 65"/>
          <p:cNvSpPr/>
          <p:nvPr/>
        </p:nvSpPr>
        <p:spPr>
          <a:xfrm>
            <a:off x="6618275" y="3609842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선택취소</a:t>
            </a:r>
          </a:p>
        </p:txBody>
      </p:sp>
      <p:sp>
        <p:nvSpPr>
          <p:cNvPr id="67" name="눈물 방울 66"/>
          <p:cNvSpPr/>
          <p:nvPr/>
        </p:nvSpPr>
        <p:spPr>
          <a:xfrm rot="5400000">
            <a:off x="7560395" y="364105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68" name="그룹 67"/>
          <p:cNvGrpSpPr/>
          <p:nvPr/>
        </p:nvGrpSpPr>
        <p:grpSpPr>
          <a:xfrm>
            <a:off x="1057658" y="4293890"/>
            <a:ext cx="5405041" cy="252000"/>
            <a:chOff x="424136" y="-566622"/>
            <a:chExt cx="5405041" cy="252000"/>
          </a:xfrm>
        </p:grpSpPr>
        <p:sp>
          <p:nvSpPr>
            <p:cNvPr id="69" name="TextBox 68"/>
            <p:cNvSpPr txBox="1"/>
            <p:nvPr/>
          </p:nvSpPr>
          <p:spPr>
            <a:xfrm>
              <a:off x="424136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번호예약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****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75" name="직사각형 74"/>
          <p:cNvSpPr/>
          <p:nvPr/>
        </p:nvSpPr>
        <p:spPr>
          <a:xfrm>
            <a:off x="6615341" y="4300347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번호조회</a:t>
            </a:r>
          </a:p>
        </p:txBody>
      </p:sp>
      <p:sp>
        <p:nvSpPr>
          <p:cNvPr id="78" name="눈물 방울 77"/>
          <p:cNvSpPr/>
          <p:nvPr/>
        </p:nvSpPr>
        <p:spPr>
          <a:xfrm rot="5400000">
            <a:off x="7560395" y="430166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9" name="직사각형 78"/>
          <p:cNvSpPr/>
          <p:nvPr/>
        </p:nvSpPr>
        <p:spPr>
          <a:xfrm>
            <a:off x="173136" y="2586604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83" name="직사각형 82"/>
          <p:cNvSpPr/>
          <p:nvPr/>
        </p:nvSpPr>
        <p:spPr>
          <a:xfrm>
            <a:off x="173136" y="5013970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</p:spTree>
    <p:extLst>
      <p:ext uri="{BB962C8B-B14F-4D97-AF65-F5344CB8AC3E}">
        <p14:creationId xmlns:p14="http://schemas.microsoft.com/office/powerpoint/2010/main" val="358684600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직사각형 83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003766"/>
              </p:ext>
            </p:extLst>
          </p:nvPr>
        </p:nvGraphicFramePr>
        <p:xfrm>
          <a:off x="10505256" y="788950"/>
          <a:ext cx="2130330" cy="136604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기기변경인 경우만 영역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잔여 할부금 납부방법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없음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휴대폰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121" name="그룹 120"/>
          <p:cNvGrpSpPr/>
          <p:nvPr/>
        </p:nvGrpSpPr>
        <p:grpSpPr>
          <a:xfrm>
            <a:off x="1062529" y="1485578"/>
            <a:ext cx="3565389" cy="252000"/>
            <a:chOff x="1053932" y="-893575"/>
            <a:chExt cx="3565389" cy="252000"/>
          </a:xfrm>
        </p:grpSpPr>
        <p:sp>
          <p:nvSpPr>
            <p:cNvPr id="122" name="직사각형 121"/>
            <p:cNvSpPr/>
            <p:nvPr/>
          </p:nvSpPr>
          <p:spPr>
            <a:xfrm>
              <a:off x="2544199" y="-893575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일시납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3" name="직사각형 122"/>
            <p:cNvSpPr/>
            <p:nvPr/>
          </p:nvSpPr>
          <p:spPr>
            <a:xfrm>
              <a:off x="3359321" y="-893575"/>
              <a:ext cx="126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분납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기존 할부 유지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1053932" y="-882991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잔여 할부금 납부방법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29" name="그룹 128"/>
          <p:cNvGrpSpPr/>
          <p:nvPr/>
        </p:nvGrpSpPr>
        <p:grpSpPr>
          <a:xfrm>
            <a:off x="1083362" y="1140222"/>
            <a:ext cx="9252000" cy="246221"/>
            <a:chOff x="1072208" y="1117425"/>
            <a:chExt cx="9252000" cy="246221"/>
          </a:xfrm>
        </p:grpSpPr>
        <p:sp>
          <p:nvSpPr>
            <p:cNvPr id="130" name="TextBox 129"/>
            <p:cNvSpPr txBox="1"/>
            <p:nvPr/>
          </p:nvSpPr>
          <p:spPr>
            <a:xfrm>
              <a:off x="1072208" y="1117425"/>
              <a:ext cx="9989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기기변경 정산</a:t>
              </a:r>
            </a:p>
          </p:txBody>
        </p:sp>
        <p:cxnSp>
          <p:nvCxnSpPr>
            <p:cNvPr id="131" name="직선 연결선 13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2" name="눈물 방울 131"/>
          <p:cNvSpPr/>
          <p:nvPr/>
        </p:nvSpPr>
        <p:spPr>
          <a:xfrm rot="5400000">
            <a:off x="944112" y="1092178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3" name="직사각형 132"/>
          <p:cNvSpPr/>
          <p:nvPr/>
        </p:nvSpPr>
        <p:spPr>
          <a:xfrm>
            <a:off x="928192" y="3897874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항목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34" name="직사각형 133"/>
          <p:cNvSpPr/>
          <p:nvPr/>
        </p:nvSpPr>
        <p:spPr>
          <a:xfrm>
            <a:off x="173136" y="3573811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2510926" y="4572630"/>
            <a:ext cx="39709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남은 분할상환금은 분할상환약정에 의해 계속 납부할 것을 약속합니다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</a:p>
        </p:txBody>
      </p:sp>
      <p:grpSp>
        <p:nvGrpSpPr>
          <p:cNvPr id="136" name="그룹 135"/>
          <p:cNvGrpSpPr/>
          <p:nvPr/>
        </p:nvGrpSpPr>
        <p:grpSpPr>
          <a:xfrm>
            <a:off x="1061089" y="4284598"/>
            <a:ext cx="3565389" cy="252000"/>
            <a:chOff x="1061089" y="3861842"/>
            <a:chExt cx="3565389" cy="252000"/>
          </a:xfrm>
        </p:grpSpPr>
        <p:sp>
          <p:nvSpPr>
            <p:cNvPr id="137" name="직사각형 136"/>
            <p:cNvSpPr/>
            <p:nvPr/>
          </p:nvSpPr>
          <p:spPr>
            <a:xfrm>
              <a:off x="2551356" y="386184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일시납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8" name="직사각형 137"/>
            <p:cNvSpPr/>
            <p:nvPr/>
          </p:nvSpPr>
          <p:spPr>
            <a:xfrm>
              <a:off x="3366478" y="3861842"/>
              <a:ext cx="126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분납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기존 할부 유지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1061089" y="3872426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잔여 할부금 납부방법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47" name="오른쪽 중괄호 146"/>
          <p:cNvSpPr/>
          <p:nvPr/>
        </p:nvSpPr>
        <p:spPr>
          <a:xfrm>
            <a:off x="8701190" y="1161577"/>
            <a:ext cx="313910" cy="765907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직사각형 147"/>
          <p:cNvSpPr/>
          <p:nvPr/>
        </p:nvSpPr>
        <p:spPr>
          <a:xfrm>
            <a:off x="9095055" y="1341562"/>
            <a:ext cx="133505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기기변경 인 경우만 영역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12881520" y="1053530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(2026.03.04)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기기변경 처리 </a:t>
            </a: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API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에 잔여 할부금 납부 방법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세팅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항목이 없음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무조건 분납으로 처리</a:t>
            </a: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???</a:t>
            </a: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유통영업팀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확인 필요</a:t>
            </a:r>
            <a:endParaRPr lang="ko-KR" altLang="en-US" sz="10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694753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173996"/>
              </p:ext>
            </p:extLst>
          </p:nvPr>
        </p:nvGraphicFramePr>
        <p:xfrm>
          <a:off x="10505256" y="788950"/>
          <a:ext cx="2130330" cy="477980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기기변경인 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설정된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부가서비스와 관리자에서 설정한 강제 부가서비스 정보가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화면에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출력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신규가입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번호이동인 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관리자에서 설정한 강제 부가서비스 정보가 화면에 출력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무료 부가서비스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관리자에서 설정한 부가서비스 모두 화면에 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해제 불가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유료 부가서비스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관리자에서 설정한 부가서비스가 표시되고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해제 가능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유료 부가서비스의 경우 일정액인 경우 금액 노출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000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원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'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노출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가입중인 부가서비스 조회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(X97)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스마트신청서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‘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부가서비스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카테고리에 해당하는 부가서비스 목록 조회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카테고리에 정의된 부가서비스 상품 정보는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동일하게 조회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29" name="TextBox 28"/>
            <p:cNvSpPr txBox="1"/>
            <p:nvPr/>
          </p:nvSpPr>
          <p:spPr>
            <a:xfrm>
              <a:off x="1072208" y="1117425"/>
              <a:ext cx="112723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부가서비스 신청</a:t>
              </a:r>
            </a:p>
          </p:txBody>
        </p:sp>
        <p:cxnSp>
          <p:nvCxnSpPr>
            <p:cNvPr id="30" name="직선 연결선 2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눈물 방울 30"/>
          <p:cNvSpPr/>
          <p:nvPr/>
        </p:nvSpPr>
        <p:spPr>
          <a:xfrm rot="5400000">
            <a:off x="942909" y="1134098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059141" y="2565698"/>
            <a:ext cx="103265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유료 부가서비스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67" name="그룹 66"/>
          <p:cNvGrpSpPr/>
          <p:nvPr/>
        </p:nvGrpSpPr>
        <p:grpSpPr>
          <a:xfrm>
            <a:off x="1054956" y="1557586"/>
            <a:ext cx="8442188" cy="900072"/>
            <a:chOff x="640160" y="-566622"/>
            <a:chExt cx="8442188" cy="900072"/>
          </a:xfrm>
        </p:grpSpPr>
        <p:sp>
          <p:nvSpPr>
            <p:cNvPr id="68" name="직사각형 67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무선데이터 차단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3301143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smtClean="0">
                  <a:latin typeface="맑은 고딕" pitchFamily="50" charset="-127"/>
                  <a:ea typeface="맑은 고딕" pitchFamily="50" charset="-127"/>
                </a:rPr>
                <a:t>국제전화발신제한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40160" y="-556038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무료부가서비스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4473956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 smtClean="0">
                  <a:latin typeface="맑은 고딕" pitchFamily="50" charset="-127"/>
                  <a:ea typeface="맑은 고딕" pitchFamily="50" charset="-127"/>
                </a:rPr>
                <a:t>익명호수신거부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5646769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네트워크유해차단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6819582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 smtClean="0">
                  <a:latin typeface="맑은 고딕" pitchFamily="50" charset="-127"/>
                  <a:ea typeface="맑은 고딕" pitchFamily="50" charset="-127"/>
                </a:rPr>
                <a:t>데이터로밍완전차단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7992395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 smtClean="0">
                  <a:latin typeface="맑은 고딕" pitchFamily="50" charset="-127"/>
                  <a:ea typeface="맑은 고딕" pitchFamily="50" charset="-127"/>
                </a:rPr>
                <a:t>링투유알리미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9" name="직사각형 88"/>
            <p:cNvSpPr/>
            <p:nvPr/>
          </p:nvSpPr>
          <p:spPr>
            <a:xfrm>
              <a:off x="2128903" y="-242558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무선데이터 차단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3303476" y="-242558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smtClean="0">
                  <a:latin typeface="맑은 고딕" pitchFamily="50" charset="-127"/>
                  <a:ea typeface="맑은 고딕" pitchFamily="50" charset="-127"/>
                </a:rPr>
                <a:t>국제전화발신제한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1" name="직사각형 90"/>
            <p:cNvSpPr/>
            <p:nvPr/>
          </p:nvSpPr>
          <p:spPr>
            <a:xfrm>
              <a:off x="4476289" y="-242558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smtClean="0">
                  <a:latin typeface="맑은 고딕" pitchFamily="50" charset="-127"/>
                  <a:ea typeface="맑은 고딕" pitchFamily="50" charset="-127"/>
                </a:rPr>
                <a:t>국제전화발신제한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2" name="직사각형 91"/>
            <p:cNvSpPr/>
            <p:nvPr/>
          </p:nvSpPr>
          <p:spPr>
            <a:xfrm>
              <a:off x="5649102" y="-242558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smtClean="0">
                  <a:latin typeface="맑은 고딕" pitchFamily="50" charset="-127"/>
                  <a:ea typeface="맑은 고딕" pitchFamily="50" charset="-127"/>
                </a:rPr>
                <a:t>국제전화발신제한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3" name="직사각형 92"/>
            <p:cNvSpPr/>
            <p:nvPr/>
          </p:nvSpPr>
          <p:spPr>
            <a:xfrm>
              <a:off x="6821915" y="-242558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smtClean="0">
                  <a:latin typeface="맑은 고딕" pitchFamily="50" charset="-127"/>
                  <a:ea typeface="맑은 고딕" pitchFamily="50" charset="-127"/>
                </a:rPr>
                <a:t>국제전화발신제한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7994728" y="-242558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smtClean="0">
                  <a:latin typeface="맑은 고딕" pitchFamily="50" charset="-127"/>
                  <a:ea typeface="맑은 고딕" pitchFamily="50" charset="-127"/>
                </a:rPr>
                <a:t>국제전화발신제한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2136523" y="81450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무선데이터 차단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6" name="직사각형 95"/>
            <p:cNvSpPr/>
            <p:nvPr/>
          </p:nvSpPr>
          <p:spPr>
            <a:xfrm>
              <a:off x="3311096" y="81450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smtClean="0">
                  <a:latin typeface="맑은 고딕" pitchFamily="50" charset="-127"/>
                  <a:ea typeface="맑은 고딕" pitchFamily="50" charset="-127"/>
                </a:rPr>
                <a:t>국제전화발신제한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4483909" y="81450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smtClean="0">
                  <a:latin typeface="맑은 고딕" pitchFamily="50" charset="-127"/>
                  <a:ea typeface="맑은 고딕" pitchFamily="50" charset="-127"/>
                </a:rPr>
                <a:t>국제전화발신제한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8" name="직사각형 97"/>
            <p:cNvSpPr/>
            <p:nvPr/>
          </p:nvSpPr>
          <p:spPr>
            <a:xfrm>
              <a:off x="5656722" y="81450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smtClean="0">
                  <a:latin typeface="맑은 고딕" pitchFamily="50" charset="-127"/>
                  <a:ea typeface="맑은 고딕" pitchFamily="50" charset="-127"/>
                </a:rPr>
                <a:t>국제전화발신제한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9" name="직사각형 98"/>
            <p:cNvSpPr/>
            <p:nvPr/>
          </p:nvSpPr>
          <p:spPr>
            <a:xfrm>
              <a:off x="6829535" y="81450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smtClean="0">
                  <a:latin typeface="맑은 고딕" pitchFamily="50" charset="-127"/>
                  <a:ea typeface="맑은 고딕" pitchFamily="50" charset="-127"/>
                </a:rPr>
                <a:t>국제전화발신제한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0" name="직사각형 99"/>
            <p:cNvSpPr/>
            <p:nvPr/>
          </p:nvSpPr>
          <p:spPr>
            <a:xfrm>
              <a:off x="8002348" y="81450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smtClean="0">
                  <a:latin typeface="맑은 고딕" pitchFamily="50" charset="-127"/>
                  <a:ea typeface="맑은 고딕" pitchFamily="50" charset="-127"/>
                </a:rPr>
                <a:t>국제전화발신제한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aphicFrame>
        <p:nvGraphicFramePr>
          <p:cNvPr id="101" name="표 100">
            <a:extLst>
              <a:ext uri="{FF2B5EF4-FFF2-40B4-BE49-F238E27FC236}">
                <a16:creationId xmlns="" xmlns:a16="http://schemas.microsoft.com/office/drawing/2014/main" id="{F4D390E8-2A4A-4727-AA8D-7611F67FF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3029274"/>
              </p:ext>
            </p:extLst>
          </p:nvPr>
        </p:nvGraphicFramePr>
        <p:xfrm>
          <a:off x="2546870" y="2631447"/>
          <a:ext cx="3421882" cy="864000"/>
        </p:xfrm>
        <a:graphic>
          <a:graphicData uri="http://schemas.openxmlformats.org/drawingml/2006/table">
            <a:tbl>
              <a:tblPr/>
              <a:tblGrid>
                <a:gridCol w="46955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944218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00811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링투유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dirty="0">
                          <a:latin typeface="+mn-ea"/>
                          <a:ea typeface="+mn-ea"/>
                        </a:rPr>
                        <a:t>990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원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캐치콜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dirty="0">
                          <a:latin typeface="+mn-ea"/>
                          <a:ea typeface="+mn-ea"/>
                        </a:rPr>
                        <a:t>550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원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</a:t>
                      </a:r>
                      <a:r>
                        <a:rPr lang="en-US" altLang="ko-KR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로밍</a:t>
                      </a:r>
                      <a:r>
                        <a:rPr lang="ko-KR" altLang="en-US" sz="900" b="0" kern="12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900" b="0" kern="12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하루종일</a:t>
                      </a:r>
                      <a:r>
                        <a:rPr lang="en-US" altLang="ko-KR" sz="900" b="0" kern="120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ON</a:t>
                      </a:r>
                      <a:endParaRPr lang="ko-KR" altLang="en-US" sz="900" b="0" kern="12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dirty="0">
                          <a:latin typeface="+mn-ea"/>
                          <a:ea typeface="+mn-ea"/>
                        </a:rPr>
                        <a:t>2,200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/1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일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2" name="직사각형 101"/>
          <p:cNvSpPr/>
          <p:nvPr/>
        </p:nvSpPr>
        <p:spPr>
          <a:xfrm>
            <a:off x="2702512" y="2693052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03" name="직사각형 102"/>
          <p:cNvSpPr/>
          <p:nvPr/>
        </p:nvSpPr>
        <p:spPr>
          <a:xfrm>
            <a:off x="2702512" y="2976656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V</a:t>
            </a:r>
            <a:endParaRPr lang="ko-KR" altLang="en-US" sz="800" b="1" dirty="0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04" name="직사각형 103"/>
          <p:cNvSpPr/>
          <p:nvPr/>
        </p:nvSpPr>
        <p:spPr>
          <a:xfrm>
            <a:off x="2702512" y="3283648"/>
            <a:ext cx="144000" cy="14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0"/>
            <a:endParaRPr lang="ko-KR" altLang="en-US" sz="800" b="1" dirty="0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955575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직사각형 33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267547"/>
              </p:ext>
            </p:extLst>
          </p:nvPr>
        </p:nvGraphicFramePr>
        <p:xfrm>
          <a:off x="10505256" y="788950"/>
          <a:ext cx="2130330" cy="365478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선택한 상품에 따라 가입 가능한 안심 보험 조회하여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에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따라 대상 안심보험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카테고리별로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안심보험 조회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 우선순위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안심보험 우선순위로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스마트신청서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‘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안심보험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카테고리에 해당하는 안심보험 목록 조회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카테고리에 정의된 안심보험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상푸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정보는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동일하게 조회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안심보험 가입 약관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전체 선택 체크 박스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전체 항목 동의 체크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체크 박스 중 일부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체크해제된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경우 전체 선택 체크 해제 처리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안내 상세 팝업 표시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상세 팝업 표시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29" name="TextBox 28"/>
            <p:cNvSpPr txBox="1"/>
            <p:nvPr/>
          </p:nvSpPr>
          <p:spPr>
            <a:xfrm>
              <a:off x="1072208" y="1117425"/>
              <a:ext cx="74251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안심 보험</a:t>
              </a:r>
            </a:p>
          </p:txBody>
        </p:sp>
        <p:cxnSp>
          <p:nvCxnSpPr>
            <p:cNvPr id="30" name="직선 연결선 2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눈물 방울 30"/>
          <p:cNvSpPr/>
          <p:nvPr/>
        </p:nvSpPr>
        <p:spPr>
          <a:xfrm rot="5400000">
            <a:off x="942909" y="1134098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80" name="그룹 79"/>
          <p:cNvGrpSpPr/>
          <p:nvPr/>
        </p:nvGrpSpPr>
        <p:grpSpPr>
          <a:xfrm>
            <a:off x="1054956" y="1557586"/>
            <a:ext cx="3740983" cy="252000"/>
            <a:chOff x="640160" y="-566622"/>
            <a:chExt cx="3740983" cy="252000"/>
          </a:xfrm>
        </p:grpSpPr>
        <p:sp>
          <p:nvSpPr>
            <p:cNvPr id="81" name="직사각형 80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가입</a:t>
              </a:r>
            </a:p>
          </p:txBody>
        </p:sp>
        <p:sp>
          <p:nvSpPr>
            <p:cNvPr id="82" name="직사각형 81"/>
            <p:cNvSpPr/>
            <p:nvPr/>
          </p:nvSpPr>
          <p:spPr>
            <a:xfrm>
              <a:off x="3301143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미가입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640160" y="-556038"/>
              <a:ext cx="95731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안심 보험 가입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90" name="그룹 89"/>
          <p:cNvGrpSpPr/>
          <p:nvPr/>
        </p:nvGrpSpPr>
        <p:grpSpPr>
          <a:xfrm>
            <a:off x="2541366" y="1881650"/>
            <a:ext cx="5689018" cy="252000"/>
            <a:chOff x="2109318" y="-566622"/>
            <a:chExt cx="5689018" cy="252000"/>
          </a:xfrm>
        </p:grpSpPr>
        <p:sp>
          <p:nvSpPr>
            <p:cNvPr id="91" name="직사각형 90"/>
            <p:cNvSpPr/>
            <p:nvPr/>
          </p:nvSpPr>
          <p:spPr>
            <a:xfrm>
              <a:off x="4367324" y="-566622"/>
              <a:ext cx="343101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안드로이드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플래티넘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월 기본료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4,900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pic>
          <p:nvPicPr>
            <p:cNvPr id="92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68701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88" name="직사각형 87"/>
            <p:cNvSpPr/>
            <p:nvPr/>
          </p:nvSpPr>
          <p:spPr>
            <a:xfrm>
              <a:off x="2109318" y="-566622"/>
              <a:ext cx="21981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추천 카테고리</a:t>
              </a:r>
            </a:p>
          </p:txBody>
        </p:sp>
        <p:pic>
          <p:nvPicPr>
            <p:cNvPr id="89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67813" y="-524671"/>
              <a:ext cx="9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93" name="직사각형 92"/>
          <p:cNvSpPr/>
          <p:nvPr/>
        </p:nvSpPr>
        <p:spPr>
          <a:xfrm>
            <a:off x="1169271" y="5821282"/>
            <a:ext cx="3086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안심 보험 가입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미가입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94" name="그룹 93"/>
          <p:cNvGrpSpPr/>
          <p:nvPr/>
        </p:nvGrpSpPr>
        <p:grpSpPr>
          <a:xfrm>
            <a:off x="1058389" y="6130122"/>
            <a:ext cx="3740983" cy="252000"/>
            <a:chOff x="640160" y="-566622"/>
            <a:chExt cx="3740983" cy="252000"/>
          </a:xfrm>
        </p:grpSpPr>
        <p:sp>
          <p:nvSpPr>
            <p:cNvPr id="96" name="직사각형 95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가입</a:t>
              </a:r>
            </a:p>
          </p:txBody>
        </p:sp>
        <p:sp>
          <p:nvSpPr>
            <p:cNvPr id="98" name="직사각형 97"/>
            <p:cNvSpPr/>
            <p:nvPr/>
          </p:nvSpPr>
          <p:spPr>
            <a:xfrm>
              <a:off x="3301143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미가입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640160" y="-556038"/>
              <a:ext cx="95731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안심 보험 가입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8" name="TextBox 47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73136" y="5466924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36" name="눈물 방울 35"/>
          <p:cNvSpPr/>
          <p:nvPr/>
        </p:nvSpPr>
        <p:spPr>
          <a:xfrm rot="5400000">
            <a:off x="932958" y="587330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41" name="그룹 40"/>
          <p:cNvGrpSpPr/>
          <p:nvPr/>
        </p:nvGrpSpPr>
        <p:grpSpPr>
          <a:xfrm>
            <a:off x="1163507" y="2282491"/>
            <a:ext cx="8758499" cy="253916"/>
            <a:chOff x="1936304" y="-857339"/>
            <a:chExt cx="8758499" cy="253916"/>
          </a:xfrm>
        </p:grpSpPr>
        <p:sp>
          <p:nvSpPr>
            <p:cNvPr id="49" name="타원 48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2116304" y="-857339"/>
              <a:ext cx="42402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안심서비스 보험가입 동의를 확인하였으며</a:t>
              </a:r>
              <a:r>
                <a:rPr lang="en-US" altLang="ko-KR" sz="900" dirty="0">
                  <a:latin typeface="+mn-ea"/>
                  <a:ea typeface="+mn-ea"/>
                </a:rPr>
                <a:t>, </a:t>
              </a:r>
              <a:r>
                <a:rPr lang="ko-KR" altLang="en-US" sz="900" dirty="0">
                  <a:latin typeface="+mn-ea"/>
                  <a:ea typeface="+mn-ea"/>
                </a:rPr>
                <a:t>보험가입에 모두 동의합니다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0413957" y="-857339"/>
              <a:ext cx="2808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54" name="눈물 방울 53"/>
          <p:cNvSpPr/>
          <p:nvPr/>
        </p:nvSpPr>
        <p:spPr>
          <a:xfrm rot="5400000">
            <a:off x="9845923" y="220089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7" name="눈물 방울 56"/>
          <p:cNvSpPr/>
          <p:nvPr/>
        </p:nvSpPr>
        <p:spPr>
          <a:xfrm rot="5400000">
            <a:off x="791643" y="2277726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1343506" y="2925738"/>
            <a:ext cx="8980707" cy="2088232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59" name="그룹 58"/>
          <p:cNvGrpSpPr/>
          <p:nvPr/>
        </p:nvGrpSpPr>
        <p:grpSpPr>
          <a:xfrm>
            <a:off x="1504256" y="3069754"/>
            <a:ext cx="8629740" cy="504056"/>
            <a:chOff x="1936304" y="-857339"/>
            <a:chExt cx="8629740" cy="504056"/>
          </a:xfrm>
        </p:grpSpPr>
        <p:sp>
          <p:nvSpPr>
            <p:cNvPr id="60" name="타원 59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116304" y="-857339"/>
              <a:ext cx="428033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안심서비스 보험가입 동의를 확인하였으며</a:t>
              </a:r>
              <a:r>
                <a:rPr lang="en-US" altLang="ko-KR" sz="900" dirty="0">
                  <a:latin typeface="+mn-ea"/>
                  <a:ea typeface="+mn-ea"/>
                </a:rPr>
                <a:t>, </a:t>
              </a:r>
              <a:r>
                <a:rPr lang="ko-KR" altLang="en-US" sz="900" dirty="0">
                  <a:latin typeface="+mn-ea"/>
                  <a:ea typeface="+mn-ea"/>
                </a:rPr>
                <a:t>보험가입에 모두 동의합니다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0296418" y="-857339"/>
              <a:ext cx="2696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V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124353" y="-584115"/>
              <a:ext cx="418415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※ 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고객님의 편의를 위한 모든 약관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선택약관 포함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에 일괄동의 하시겠습니까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?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</p:grpSp>
      <p:cxnSp>
        <p:nvCxnSpPr>
          <p:cNvPr id="64" name="구부러진 연결선 63"/>
          <p:cNvCxnSpPr/>
          <p:nvPr/>
        </p:nvCxnSpPr>
        <p:spPr>
          <a:xfrm rot="16200000" flipH="1">
            <a:off x="9593034" y="2724955"/>
            <a:ext cx="377099" cy="2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눈물 방울 64"/>
          <p:cNvSpPr/>
          <p:nvPr/>
        </p:nvSpPr>
        <p:spPr>
          <a:xfrm rot="5400000">
            <a:off x="9691386" y="3454958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66" name="그룹 65"/>
          <p:cNvGrpSpPr/>
          <p:nvPr/>
        </p:nvGrpSpPr>
        <p:grpSpPr>
          <a:xfrm>
            <a:off x="1504256" y="3717826"/>
            <a:ext cx="8639358" cy="253916"/>
            <a:chOff x="1936304" y="-857339"/>
            <a:chExt cx="8639358" cy="253916"/>
          </a:xfrm>
        </p:grpSpPr>
        <p:sp>
          <p:nvSpPr>
            <p:cNvPr id="67" name="타원 66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안내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70" name="그룹 69"/>
          <p:cNvGrpSpPr/>
          <p:nvPr/>
        </p:nvGrpSpPr>
        <p:grpSpPr>
          <a:xfrm>
            <a:off x="1504256" y="4041233"/>
            <a:ext cx="8639358" cy="253916"/>
            <a:chOff x="1936304" y="-857339"/>
            <a:chExt cx="8639358" cy="253916"/>
          </a:xfrm>
        </p:grpSpPr>
        <p:sp>
          <p:nvSpPr>
            <p:cNvPr id="71" name="타원 70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안내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74" name="그룹 73"/>
          <p:cNvGrpSpPr/>
          <p:nvPr/>
        </p:nvGrpSpPr>
        <p:grpSpPr>
          <a:xfrm>
            <a:off x="1504256" y="4364640"/>
            <a:ext cx="8639358" cy="253916"/>
            <a:chOff x="1936304" y="-857339"/>
            <a:chExt cx="8639358" cy="253916"/>
          </a:xfrm>
        </p:grpSpPr>
        <p:sp>
          <p:nvSpPr>
            <p:cNvPr id="75" name="타원 74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안내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78" name="그룹 77"/>
          <p:cNvGrpSpPr/>
          <p:nvPr/>
        </p:nvGrpSpPr>
        <p:grpSpPr>
          <a:xfrm>
            <a:off x="1504256" y="4688046"/>
            <a:ext cx="8639358" cy="253916"/>
            <a:chOff x="1936304" y="-857339"/>
            <a:chExt cx="8639358" cy="253916"/>
          </a:xfrm>
        </p:grpSpPr>
        <p:sp>
          <p:nvSpPr>
            <p:cNvPr id="79" name="타원 78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안내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140150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직사각형 51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0263439"/>
              </p:ext>
            </p:extLst>
          </p:nvPr>
        </p:nvGraphicFramePr>
        <p:xfrm>
          <a:off x="10505256" y="788950"/>
          <a:ext cx="2130330" cy="8115867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명세서 수신 유형 선택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디폴트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모바일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명세서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 납부 방법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디폴트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자동이체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신용카드 유효기간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현재년도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현재년월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이후로만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계좌번호 유효성 체크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은행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계좌번호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계좌번호 유효성 체크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은행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계좌번호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계좌번호 유효성 체크 후 가입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계좌번호 유효성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계좌번호 인증조회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(Y26)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신용카드 유효성 체크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카드사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카드번호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유효기간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(MM),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유효기간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(YY)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신용카드 유효성 체크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카드사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카드번호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유효기간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(MM),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유효기간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(YY)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신용카드 유효성 체크 후 가입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신용카드 유효성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신용카드 유효성 검증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(X91)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청구계정 체크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청구계정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ID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청구계정 체크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청구계정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ID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청구계정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ID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 후 가입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청구계정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ID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47" name="그룹 46"/>
          <p:cNvGrpSpPr/>
          <p:nvPr/>
        </p:nvGrpSpPr>
        <p:grpSpPr>
          <a:xfrm>
            <a:off x="1072208" y="1076605"/>
            <a:ext cx="9252000" cy="246221"/>
            <a:chOff x="1072208" y="1117425"/>
            <a:chExt cx="9252000" cy="246221"/>
          </a:xfrm>
        </p:grpSpPr>
        <p:sp>
          <p:nvSpPr>
            <p:cNvPr id="48" name="TextBox 47"/>
            <p:cNvSpPr txBox="1"/>
            <p:nvPr/>
          </p:nvSpPr>
          <p:spPr>
            <a:xfrm>
              <a:off x="1072208" y="1117425"/>
              <a:ext cx="74251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납부 정보</a:t>
              </a:r>
            </a:p>
          </p:txBody>
        </p:sp>
        <p:cxnSp>
          <p:nvCxnSpPr>
            <p:cNvPr id="49" name="직선 연결선 48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0" name="눈물 방울 49"/>
          <p:cNvSpPr/>
          <p:nvPr/>
        </p:nvSpPr>
        <p:spPr>
          <a:xfrm rot="5400000">
            <a:off x="942909" y="146207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62" name="그룹 61"/>
          <p:cNvGrpSpPr/>
          <p:nvPr/>
        </p:nvGrpSpPr>
        <p:grpSpPr>
          <a:xfrm>
            <a:off x="1053932" y="1466842"/>
            <a:ext cx="4914820" cy="252000"/>
            <a:chOff x="1053932" y="-893575"/>
            <a:chExt cx="4914820" cy="252000"/>
          </a:xfrm>
        </p:grpSpPr>
        <p:sp>
          <p:nvSpPr>
            <p:cNvPr id="63" name="직사각형 62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명세서</a:t>
              </a: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명세서</a:t>
              </a:r>
            </a:p>
          </p:txBody>
        </p:sp>
        <p:sp>
          <p:nvSpPr>
            <p:cNvPr id="76" name="직사각형 75"/>
            <p:cNvSpPr/>
            <p:nvPr/>
          </p:nvSpPr>
          <p:spPr>
            <a:xfrm>
              <a:off x="4888752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우편 명세서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1053932" y="-882991"/>
              <a:ext cx="11256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명세서 수신 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88" name="그룹 87"/>
          <p:cNvGrpSpPr/>
          <p:nvPr/>
        </p:nvGrpSpPr>
        <p:grpSpPr>
          <a:xfrm>
            <a:off x="1054956" y="1826882"/>
            <a:ext cx="4913916" cy="252000"/>
            <a:chOff x="1053932" y="-893575"/>
            <a:chExt cx="4913916" cy="252000"/>
          </a:xfrm>
        </p:grpSpPr>
        <p:sp>
          <p:nvSpPr>
            <p:cNvPr id="89" name="직사각형 88"/>
            <p:cNvSpPr/>
            <p:nvPr/>
          </p:nvSpPr>
          <p:spPr>
            <a:xfrm>
              <a:off x="254443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자동이체</a:t>
              </a: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371383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신용카드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1053932" y="-882991"/>
              <a:ext cx="101021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 납부 방법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4887848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통합청구</a:t>
              </a:r>
            </a:p>
          </p:txBody>
        </p:sp>
      </p:grpSp>
      <p:grpSp>
        <p:nvGrpSpPr>
          <p:cNvPr id="4" name="그룹 3"/>
          <p:cNvGrpSpPr/>
          <p:nvPr/>
        </p:nvGrpSpPr>
        <p:grpSpPr>
          <a:xfrm>
            <a:off x="2544198" y="2529722"/>
            <a:ext cx="3672209" cy="252000"/>
            <a:chOff x="2544198" y="2529722"/>
            <a:chExt cx="3672209" cy="252000"/>
          </a:xfrm>
        </p:grpSpPr>
        <p:grpSp>
          <p:nvGrpSpPr>
            <p:cNvPr id="98" name="그룹 97"/>
            <p:cNvGrpSpPr/>
            <p:nvPr/>
          </p:nvGrpSpPr>
          <p:grpSpPr>
            <a:xfrm>
              <a:off x="2544198" y="2529722"/>
              <a:ext cx="1800000" cy="252000"/>
              <a:chOff x="2544198" y="-566622"/>
              <a:chExt cx="1800000" cy="252000"/>
            </a:xfrm>
          </p:grpSpPr>
          <p:sp>
            <p:nvSpPr>
              <p:cNvPr id="99" name="직사각형 98"/>
              <p:cNvSpPr/>
              <p:nvPr/>
            </p:nvSpPr>
            <p:spPr>
              <a:xfrm>
                <a:off x="2544198" y="-566622"/>
                <a:ext cx="180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은행 선택</a:t>
                </a: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00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32568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102" name="직사각형 101"/>
            <p:cNvSpPr/>
            <p:nvPr/>
          </p:nvSpPr>
          <p:spPr>
            <a:xfrm>
              <a:off x="4416407" y="25297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계좌번호 입력</a:t>
              </a:r>
            </a:p>
          </p:txBody>
        </p:sp>
      </p:grpSp>
      <p:sp>
        <p:nvSpPr>
          <p:cNvPr id="104" name="직사각형 103"/>
          <p:cNvSpPr/>
          <p:nvPr/>
        </p:nvSpPr>
        <p:spPr>
          <a:xfrm>
            <a:off x="6282662" y="2528974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계좌번호 유효성 체크</a:t>
            </a:r>
          </a:p>
        </p:txBody>
      </p:sp>
      <p:sp>
        <p:nvSpPr>
          <p:cNvPr id="105" name="눈물 방울 104"/>
          <p:cNvSpPr/>
          <p:nvPr/>
        </p:nvSpPr>
        <p:spPr>
          <a:xfrm rot="5400000">
            <a:off x="7911569" y="254906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6" name="눈물 방울 125"/>
          <p:cNvSpPr/>
          <p:nvPr/>
        </p:nvSpPr>
        <p:spPr>
          <a:xfrm rot="5400000">
            <a:off x="932958" y="183434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97" name="그룹 96"/>
          <p:cNvGrpSpPr/>
          <p:nvPr/>
        </p:nvGrpSpPr>
        <p:grpSpPr>
          <a:xfrm>
            <a:off x="2546573" y="2169682"/>
            <a:ext cx="2249391" cy="252000"/>
            <a:chOff x="2544199" y="-893575"/>
            <a:chExt cx="2249391" cy="252000"/>
          </a:xfrm>
        </p:grpSpPr>
        <p:sp>
          <p:nvSpPr>
            <p:cNvPr id="101" name="직사각형 100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본인납부</a:t>
              </a:r>
            </a:p>
          </p:txBody>
        </p:sp>
        <p:sp>
          <p:nvSpPr>
            <p:cNvPr id="103" name="직사각형 102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타인납부</a:t>
              </a:r>
            </a:p>
          </p:txBody>
        </p:sp>
      </p:grpSp>
      <p:sp>
        <p:nvSpPr>
          <p:cNvPr id="33" name="직사각형 32"/>
          <p:cNvSpPr/>
          <p:nvPr/>
        </p:nvSpPr>
        <p:spPr>
          <a:xfrm>
            <a:off x="12881520" y="1053530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(2026.03.04)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통합청구 가능 여부 청구계정 체크 </a:t>
            </a:r>
            <a:r>
              <a:rPr lang="en-US" altLang="ko-KR" sz="1000" b="1" dirty="0">
                <a:solidFill>
                  <a:srgbClr val="FF0000"/>
                </a:solidFill>
                <a:latin typeface="+mn-ea"/>
                <a:ea typeface="+mn-ea"/>
              </a:rPr>
              <a:t>API m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플랫폼 제공 가능 여부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확인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확인중</a:t>
            </a:r>
            <a:endParaRPr lang="ko-KR" altLang="en-US" sz="10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613924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15" name="직사각형 114"/>
          <p:cNvSpPr/>
          <p:nvPr/>
        </p:nvSpPr>
        <p:spPr>
          <a:xfrm>
            <a:off x="1169271" y="2853730"/>
            <a:ext cx="3086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요금 납부 방법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신용카드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16" name="그룹 115"/>
          <p:cNvGrpSpPr/>
          <p:nvPr/>
        </p:nvGrpSpPr>
        <p:grpSpPr>
          <a:xfrm>
            <a:off x="1054956" y="3161074"/>
            <a:ext cx="4913796" cy="254895"/>
            <a:chOff x="1053932" y="-893575"/>
            <a:chExt cx="4913796" cy="254895"/>
          </a:xfrm>
        </p:grpSpPr>
        <p:sp>
          <p:nvSpPr>
            <p:cNvPr id="117" name="직사각형 116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자동이체</a:t>
              </a:r>
            </a:p>
          </p:txBody>
        </p:sp>
        <p:sp>
          <p:nvSpPr>
            <p:cNvPr id="131" name="직사각형 130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신용카드</a:t>
              </a: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1053932" y="-882991"/>
              <a:ext cx="101021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 납부 방법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4887728" y="-890680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통합청구</a:t>
              </a:r>
            </a:p>
          </p:txBody>
        </p:sp>
      </p:grpSp>
      <p:grpSp>
        <p:nvGrpSpPr>
          <p:cNvPr id="154" name="그룹 153"/>
          <p:cNvGrpSpPr/>
          <p:nvPr/>
        </p:nvGrpSpPr>
        <p:grpSpPr>
          <a:xfrm>
            <a:off x="2544198" y="3856024"/>
            <a:ext cx="5944834" cy="252000"/>
            <a:chOff x="2544198" y="3835118"/>
            <a:chExt cx="5944834" cy="252000"/>
          </a:xfrm>
        </p:grpSpPr>
        <p:grpSp>
          <p:nvGrpSpPr>
            <p:cNvPr id="172" name="그룹 171"/>
            <p:cNvGrpSpPr/>
            <p:nvPr/>
          </p:nvGrpSpPr>
          <p:grpSpPr>
            <a:xfrm>
              <a:off x="2544198" y="3835118"/>
              <a:ext cx="1800000" cy="252000"/>
              <a:chOff x="2544198" y="-566622"/>
              <a:chExt cx="1800000" cy="252000"/>
            </a:xfrm>
          </p:grpSpPr>
          <p:sp>
            <p:nvSpPr>
              <p:cNvPr id="180" name="직사각형 179"/>
              <p:cNvSpPr/>
              <p:nvPr/>
            </p:nvSpPr>
            <p:spPr>
              <a:xfrm>
                <a:off x="2544198" y="-566622"/>
                <a:ext cx="180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카드사 선택</a:t>
                </a:r>
              </a:p>
            </p:txBody>
          </p:sp>
          <p:pic>
            <p:nvPicPr>
              <p:cNvPr id="181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32568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173" name="직사각형 172"/>
            <p:cNvSpPr/>
            <p:nvPr/>
          </p:nvSpPr>
          <p:spPr>
            <a:xfrm>
              <a:off x="4416407" y="3835118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카드번호 입력</a:t>
              </a:r>
            </a:p>
          </p:txBody>
        </p:sp>
        <p:grpSp>
          <p:nvGrpSpPr>
            <p:cNvPr id="174" name="그룹 173"/>
            <p:cNvGrpSpPr/>
            <p:nvPr/>
          </p:nvGrpSpPr>
          <p:grpSpPr>
            <a:xfrm>
              <a:off x="6291288" y="3835118"/>
              <a:ext cx="1080000" cy="252000"/>
              <a:chOff x="2544198" y="-566622"/>
              <a:chExt cx="1080000" cy="252000"/>
            </a:xfrm>
          </p:grpSpPr>
          <p:sp>
            <p:nvSpPr>
              <p:cNvPr id="178" name="직사각형 177"/>
              <p:cNvSpPr/>
              <p:nvPr/>
            </p:nvSpPr>
            <p:spPr>
              <a:xfrm>
                <a:off x="2544198" y="-566622"/>
                <a:ext cx="108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유효기간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(MM)</a:t>
                </a: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7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8294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grpSp>
          <p:nvGrpSpPr>
            <p:cNvPr id="175" name="그룹 174"/>
            <p:cNvGrpSpPr/>
            <p:nvPr/>
          </p:nvGrpSpPr>
          <p:grpSpPr>
            <a:xfrm>
              <a:off x="7409032" y="3835118"/>
              <a:ext cx="1080000" cy="252000"/>
              <a:chOff x="2544198" y="-566622"/>
              <a:chExt cx="1080000" cy="252000"/>
            </a:xfrm>
          </p:grpSpPr>
          <p:sp>
            <p:nvSpPr>
              <p:cNvPr id="176" name="직사각형 175"/>
              <p:cNvSpPr/>
              <p:nvPr/>
            </p:nvSpPr>
            <p:spPr>
              <a:xfrm>
                <a:off x="2544198" y="-566622"/>
                <a:ext cx="108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유효기간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(YY)</a:t>
                </a: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77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8294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82" name="직사각형 181"/>
          <p:cNvSpPr/>
          <p:nvPr/>
        </p:nvSpPr>
        <p:spPr>
          <a:xfrm>
            <a:off x="8561040" y="3846650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신용카드 유효성 체크</a:t>
            </a:r>
          </a:p>
        </p:txBody>
      </p:sp>
      <p:sp>
        <p:nvSpPr>
          <p:cNvPr id="183" name="눈물 방울 182"/>
          <p:cNvSpPr/>
          <p:nvPr/>
        </p:nvSpPr>
        <p:spPr>
          <a:xfrm rot="5400000">
            <a:off x="10185805" y="384188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92" name="직사각형 191"/>
          <p:cNvSpPr/>
          <p:nvPr/>
        </p:nvSpPr>
        <p:spPr>
          <a:xfrm>
            <a:off x="1170621" y="5662042"/>
            <a:ext cx="3086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요금 납부 방법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통합청구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93" name="그룹 192"/>
          <p:cNvGrpSpPr/>
          <p:nvPr/>
        </p:nvGrpSpPr>
        <p:grpSpPr>
          <a:xfrm>
            <a:off x="1056306" y="5969386"/>
            <a:ext cx="4912446" cy="262846"/>
            <a:chOff x="1053932" y="-893575"/>
            <a:chExt cx="4912446" cy="262846"/>
          </a:xfrm>
        </p:grpSpPr>
        <p:sp>
          <p:nvSpPr>
            <p:cNvPr id="194" name="직사각형 193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자동이체</a:t>
              </a:r>
            </a:p>
          </p:txBody>
        </p:sp>
        <p:sp>
          <p:nvSpPr>
            <p:cNvPr id="195" name="직사각형 194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신용카드</a:t>
              </a:r>
            </a:p>
          </p:txBody>
        </p:sp>
        <p:sp>
          <p:nvSpPr>
            <p:cNvPr id="196" name="TextBox 195"/>
            <p:cNvSpPr txBox="1"/>
            <p:nvPr/>
          </p:nvSpPr>
          <p:spPr>
            <a:xfrm>
              <a:off x="1053932" y="-882991"/>
              <a:ext cx="101021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 납부 방법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8" name="직사각형 197"/>
            <p:cNvSpPr/>
            <p:nvPr/>
          </p:nvSpPr>
          <p:spPr>
            <a:xfrm>
              <a:off x="4886378" y="-882729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통합청구</a:t>
              </a:r>
            </a:p>
          </p:txBody>
        </p:sp>
      </p:grpSp>
      <p:sp>
        <p:nvSpPr>
          <p:cNvPr id="199" name="직사각형 198"/>
          <p:cNvSpPr/>
          <p:nvPr/>
        </p:nvSpPr>
        <p:spPr>
          <a:xfrm>
            <a:off x="2545548" y="6310114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청구계정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ID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입력</a:t>
            </a:r>
          </a:p>
        </p:txBody>
      </p:sp>
      <p:sp>
        <p:nvSpPr>
          <p:cNvPr id="200" name="직사각형 199"/>
          <p:cNvSpPr/>
          <p:nvPr/>
        </p:nvSpPr>
        <p:spPr>
          <a:xfrm>
            <a:off x="4423462" y="6310114"/>
            <a:ext cx="108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청구계정 체크</a:t>
            </a:r>
          </a:p>
        </p:txBody>
      </p:sp>
      <p:sp>
        <p:nvSpPr>
          <p:cNvPr id="201" name="눈물 방울 200"/>
          <p:cNvSpPr/>
          <p:nvPr/>
        </p:nvSpPr>
        <p:spPr>
          <a:xfrm rot="5400000">
            <a:off x="5541470" y="632542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02" name="그룹 201"/>
          <p:cNvGrpSpPr/>
          <p:nvPr/>
        </p:nvGrpSpPr>
        <p:grpSpPr>
          <a:xfrm>
            <a:off x="2546573" y="6634122"/>
            <a:ext cx="3854227" cy="230832"/>
            <a:chOff x="2546573" y="5950074"/>
            <a:chExt cx="3854227" cy="230832"/>
          </a:xfrm>
        </p:grpSpPr>
        <p:sp>
          <p:nvSpPr>
            <p:cNvPr id="203" name="TextBox 202"/>
            <p:cNvSpPr txBox="1"/>
            <p:nvPr/>
          </p:nvSpPr>
          <p:spPr>
            <a:xfrm>
              <a:off x="2686322" y="5950074"/>
              <a:ext cx="371447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본인은 신청한 회선과 통합하여 요금이 청구되는 것에 동의합니다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.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204" name="직사각형 203"/>
            <p:cNvSpPr/>
            <p:nvPr/>
          </p:nvSpPr>
          <p:spPr>
            <a:xfrm>
              <a:off x="2546573" y="5985269"/>
              <a:ext cx="144000" cy="144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05" name="그룹 204"/>
          <p:cNvGrpSpPr/>
          <p:nvPr/>
        </p:nvGrpSpPr>
        <p:grpSpPr>
          <a:xfrm>
            <a:off x="2543380" y="3501484"/>
            <a:ext cx="2249391" cy="252000"/>
            <a:chOff x="2544199" y="-893575"/>
            <a:chExt cx="2249391" cy="252000"/>
          </a:xfrm>
        </p:grpSpPr>
        <p:sp>
          <p:nvSpPr>
            <p:cNvPr id="206" name="직사각형 205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본인납부</a:t>
              </a:r>
            </a:p>
          </p:txBody>
        </p:sp>
        <p:sp>
          <p:nvSpPr>
            <p:cNvPr id="207" name="직사각형 206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타인납부</a:t>
              </a:r>
            </a:p>
          </p:txBody>
        </p:sp>
      </p:grpSp>
      <p:grpSp>
        <p:nvGrpSpPr>
          <p:cNvPr id="208" name="그룹 207"/>
          <p:cNvGrpSpPr/>
          <p:nvPr/>
        </p:nvGrpSpPr>
        <p:grpSpPr>
          <a:xfrm>
            <a:off x="1054956" y="1178810"/>
            <a:ext cx="4913916" cy="252000"/>
            <a:chOff x="1053932" y="-893575"/>
            <a:chExt cx="4913916" cy="252000"/>
          </a:xfrm>
        </p:grpSpPr>
        <p:sp>
          <p:nvSpPr>
            <p:cNvPr id="209" name="직사각형 208"/>
            <p:cNvSpPr/>
            <p:nvPr/>
          </p:nvSpPr>
          <p:spPr>
            <a:xfrm>
              <a:off x="254443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자동이체</a:t>
              </a:r>
            </a:p>
          </p:txBody>
        </p:sp>
        <p:sp>
          <p:nvSpPr>
            <p:cNvPr id="210" name="직사각형 209"/>
            <p:cNvSpPr/>
            <p:nvPr/>
          </p:nvSpPr>
          <p:spPr>
            <a:xfrm>
              <a:off x="371383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신용카드</a:t>
              </a:r>
            </a:p>
          </p:txBody>
        </p:sp>
        <p:sp>
          <p:nvSpPr>
            <p:cNvPr id="211" name="TextBox 210"/>
            <p:cNvSpPr txBox="1"/>
            <p:nvPr/>
          </p:nvSpPr>
          <p:spPr>
            <a:xfrm>
              <a:off x="1053932" y="-882991"/>
              <a:ext cx="101021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 납부 방법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2" name="직사각형 211"/>
            <p:cNvSpPr/>
            <p:nvPr/>
          </p:nvSpPr>
          <p:spPr>
            <a:xfrm>
              <a:off x="4887848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통합청구</a:t>
              </a:r>
            </a:p>
          </p:txBody>
        </p:sp>
      </p:grpSp>
      <p:grpSp>
        <p:nvGrpSpPr>
          <p:cNvPr id="214" name="그룹 213"/>
          <p:cNvGrpSpPr/>
          <p:nvPr/>
        </p:nvGrpSpPr>
        <p:grpSpPr>
          <a:xfrm>
            <a:off x="2544198" y="1881650"/>
            <a:ext cx="3672209" cy="252000"/>
            <a:chOff x="2544198" y="2529722"/>
            <a:chExt cx="3672209" cy="252000"/>
          </a:xfrm>
        </p:grpSpPr>
        <p:grpSp>
          <p:nvGrpSpPr>
            <p:cNvPr id="215" name="그룹 214"/>
            <p:cNvGrpSpPr/>
            <p:nvPr/>
          </p:nvGrpSpPr>
          <p:grpSpPr>
            <a:xfrm>
              <a:off x="2544198" y="2529722"/>
              <a:ext cx="1800000" cy="252000"/>
              <a:chOff x="2544198" y="-566622"/>
              <a:chExt cx="1800000" cy="252000"/>
            </a:xfrm>
          </p:grpSpPr>
          <p:sp>
            <p:nvSpPr>
              <p:cNvPr id="217" name="직사각형 216"/>
              <p:cNvSpPr/>
              <p:nvPr/>
            </p:nvSpPr>
            <p:spPr>
              <a:xfrm>
                <a:off x="2544198" y="-566622"/>
                <a:ext cx="180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은행 선택</a:t>
                </a: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218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32568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216" name="직사각형 215"/>
            <p:cNvSpPr/>
            <p:nvPr/>
          </p:nvSpPr>
          <p:spPr>
            <a:xfrm>
              <a:off x="4416407" y="25297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계좌번호 입력</a:t>
              </a:r>
            </a:p>
          </p:txBody>
        </p:sp>
      </p:grpSp>
      <p:sp>
        <p:nvSpPr>
          <p:cNvPr id="219" name="직사각형 218"/>
          <p:cNvSpPr/>
          <p:nvPr/>
        </p:nvSpPr>
        <p:spPr>
          <a:xfrm>
            <a:off x="6282662" y="1880902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계좌번호 유효성 체크</a:t>
            </a:r>
          </a:p>
        </p:txBody>
      </p:sp>
      <p:sp>
        <p:nvSpPr>
          <p:cNvPr id="220" name="눈물 방울 219"/>
          <p:cNvSpPr/>
          <p:nvPr/>
        </p:nvSpPr>
        <p:spPr>
          <a:xfrm rot="5400000">
            <a:off x="953060" y="93979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21" name="그룹 220"/>
          <p:cNvGrpSpPr/>
          <p:nvPr/>
        </p:nvGrpSpPr>
        <p:grpSpPr>
          <a:xfrm>
            <a:off x="2546573" y="1521610"/>
            <a:ext cx="2249391" cy="252000"/>
            <a:chOff x="2544199" y="-893575"/>
            <a:chExt cx="2249391" cy="252000"/>
          </a:xfrm>
        </p:grpSpPr>
        <p:sp>
          <p:nvSpPr>
            <p:cNvPr id="222" name="직사각형 221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본인납부</a:t>
              </a:r>
            </a:p>
          </p:txBody>
        </p:sp>
        <p:sp>
          <p:nvSpPr>
            <p:cNvPr id="223" name="직사각형 222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타인납부</a:t>
              </a:r>
            </a:p>
          </p:txBody>
        </p:sp>
      </p:grpSp>
      <p:sp>
        <p:nvSpPr>
          <p:cNvPr id="224" name="눈물 방울 223"/>
          <p:cNvSpPr/>
          <p:nvPr/>
        </p:nvSpPr>
        <p:spPr>
          <a:xfrm rot="5400000">
            <a:off x="7917734" y="185308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25" name="그룹 224"/>
          <p:cNvGrpSpPr/>
          <p:nvPr/>
        </p:nvGrpSpPr>
        <p:grpSpPr>
          <a:xfrm>
            <a:off x="2546573" y="2550890"/>
            <a:ext cx="7013747" cy="230832"/>
            <a:chOff x="2546573" y="5950074"/>
            <a:chExt cx="7013747" cy="230832"/>
          </a:xfrm>
        </p:grpSpPr>
        <p:sp>
          <p:nvSpPr>
            <p:cNvPr id="226" name="TextBox 225"/>
            <p:cNvSpPr txBox="1"/>
            <p:nvPr/>
          </p:nvSpPr>
          <p:spPr>
            <a:xfrm>
              <a:off x="2686322" y="5950074"/>
              <a:ext cx="68739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본인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예금주 또는 가입고객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)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은 납부해야 할 요금에 대해 위 계좌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카드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)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에서 지정된 출금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결제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)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일에 인출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결제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)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되는 것에 동의합니다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.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227" name="직사각형 226"/>
            <p:cNvSpPr/>
            <p:nvPr/>
          </p:nvSpPr>
          <p:spPr>
            <a:xfrm>
              <a:off x="2546573" y="5985269"/>
              <a:ext cx="144000" cy="144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28" name="그룹 227"/>
          <p:cNvGrpSpPr/>
          <p:nvPr/>
        </p:nvGrpSpPr>
        <p:grpSpPr>
          <a:xfrm>
            <a:off x="2544173" y="2205658"/>
            <a:ext cx="5512811" cy="252000"/>
            <a:chOff x="4416407" y="2529722"/>
            <a:chExt cx="5512811" cy="252000"/>
          </a:xfrm>
        </p:grpSpPr>
        <p:grpSp>
          <p:nvGrpSpPr>
            <p:cNvPr id="229" name="그룹 228"/>
            <p:cNvGrpSpPr/>
            <p:nvPr/>
          </p:nvGrpSpPr>
          <p:grpSpPr>
            <a:xfrm>
              <a:off x="8129218" y="2529722"/>
              <a:ext cx="1800000" cy="252000"/>
              <a:chOff x="8129218" y="-566622"/>
              <a:chExt cx="1800000" cy="252000"/>
            </a:xfrm>
          </p:grpSpPr>
          <p:sp>
            <p:nvSpPr>
              <p:cNvPr id="232" name="직사각형 231"/>
              <p:cNvSpPr/>
              <p:nvPr/>
            </p:nvSpPr>
            <p:spPr>
              <a:xfrm>
                <a:off x="8129218" y="-566622"/>
                <a:ext cx="180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관계</a:t>
                </a:r>
              </a:p>
            </p:txBody>
          </p:sp>
          <p:pic>
            <p:nvPicPr>
              <p:cNvPr id="23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7588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230" name="직사각형 229"/>
            <p:cNvSpPr/>
            <p:nvPr/>
          </p:nvSpPr>
          <p:spPr>
            <a:xfrm>
              <a:off x="4416407" y="25297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납부고객명</a:t>
              </a:r>
            </a:p>
          </p:txBody>
        </p:sp>
        <p:sp>
          <p:nvSpPr>
            <p:cNvPr id="231" name="직사각형 230"/>
            <p:cNvSpPr/>
            <p:nvPr/>
          </p:nvSpPr>
          <p:spPr>
            <a:xfrm>
              <a:off x="6256810" y="25297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입력</a:t>
              </a:r>
            </a:p>
          </p:txBody>
        </p:sp>
      </p:grpSp>
      <p:sp>
        <p:nvSpPr>
          <p:cNvPr id="234" name="직사각형 233"/>
          <p:cNvSpPr/>
          <p:nvPr/>
        </p:nvSpPr>
        <p:spPr>
          <a:xfrm>
            <a:off x="1161842" y="951325"/>
            <a:ext cx="48082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요금 납부 방법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자동이체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타인납부를 선택한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241" name="직사각형 240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grpSp>
        <p:nvGrpSpPr>
          <p:cNvPr id="73" name="그룹 72"/>
          <p:cNvGrpSpPr/>
          <p:nvPr/>
        </p:nvGrpSpPr>
        <p:grpSpPr>
          <a:xfrm>
            <a:off x="1053158" y="4221882"/>
            <a:ext cx="4913796" cy="254895"/>
            <a:chOff x="1053932" y="-893575"/>
            <a:chExt cx="4913796" cy="254895"/>
          </a:xfrm>
        </p:grpSpPr>
        <p:sp>
          <p:nvSpPr>
            <p:cNvPr id="74" name="직사각형 73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자동이체</a:t>
              </a:r>
            </a:p>
          </p:txBody>
        </p:sp>
        <p:sp>
          <p:nvSpPr>
            <p:cNvPr id="75" name="직사각형 74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신용카드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1053932" y="-882991"/>
              <a:ext cx="101021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 납부 방법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4887728" y="-890680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통합청구</a:t>
              </a:r>
            </a:p>
          </p:txBody>
        </p:sp>
      </p:grpSp>
      <p:grpSp>
        <p:nvGrpSpPr>
          <p:cNvPr id="79" name="그룹 78"/>
          <p:cNvGrpSpPr/>
          <p:nvPr/>
        </p:nvGrpSpPr>
        <p:grpSpPr>
          <a:xfrm>
            <a:off x="2542400" y="4916832"/>
            <a:ext cx="5944834" cy="252000"/>
            <a:chOff x="2544198" y="3835118"/>
            <a:chExt cx="5944834" cy="252000"/>
          </a:xfrm>
        </p:grpSpPr>
        <p:grpSp>
          <p:nvGrpSpPr>
            <p:cNvPr id="80" name="그룹 79"/>
            <p:cNvGrpSpPr/>
            <p:nvPr/>
          </p:nvGrpSpPr>
          <p:grpSpPr>
            <a:xfrm>
              <a:off x="2544198" y="3835118"/>
              <a:ext cx="1800000" cy="252000"/>
              <a:chOff x="2544198" y="-566622"/>
              <a:chExt cx="1800000" cy="252000"/>
            </a:xfrm>
          </p:grpSpPr>
          <p:sp>
            <p:nvSpPr>
              <p:cNvPr id="88" name="직사각형 87"/>
              <p:cNvSpPr/>
              <p:nvPr/>
            </p:nvSpPr>
            <p:spPr>
              <a:xfrm>
                <a:off x="2544198" y="-566622"/>
                <a:ext cx="180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카드사 선택</a:t>
                </a:r>
              </a:p>
            </p:txBody>
          </p:sp>
          <p:pic>
            <p:nvPicPr>
              <p:cNvPr id="8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32568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81" name="직사각형 80"/>
            <p:cNvSpPr/>
            <p:nvPr/>
          </p:nvSpPr>
          <p:spPr>
            <a:xfrm>
              <a:off x="4416407" y="3835118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카드번호 입력</a:t>
              </a:r>
            </a:p>
          </p:txBody>
        </p:sp>
        <p:grpSp>
          <p:nvGrpSpPr>
            <p:cNvPr id="82" name="그룹 81"/>
            <p:cNvGrpSpPr/>
            <p:nvPr/>
          </p:nvGrpSpPr>
          <p:grpSpPr>
            <a:xfrm>
              <a:off x="6291288" y="3835118"/>
              <a:ext cx="1080000" cy="252000"/>
              <a:chOff x="2544198" y="-566622"/>
              <a:chExt cx="1080000" cy="252000"/>
            </a:xfrm>
          </p:grpSpPr>
          <p:sp>
            <p:nvSpPr>
              <p:cNvPr id="86" name="직사각형 85"/>
              <p:cNvSpPr/>
              <p:nvPr/>
            </p:nvSpPr>
            <p:spPr>
              <a:xfrm>
                <a:off x="2544198" y="-566622"/>
                <a:ext cx="108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유효기간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(MM)</a:t>
                </a: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87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8294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grpSp>
          <p:nvGrpSpPr>
            <p:cNvPr id="83" name="그룹 82"/>
            <p:cNvGrpSpPr/>
            <p:nvPr/>
          </p:nvGrpSpPr>
          <p:grpSpPr>
            <a:xfrm>
              <a:off x="7409032" y="3835118"/>
              <a:ext cx="1080000" cy="252000"/>
              <a:chOff x="2544198" y="-566622"/>
              <a:chExt cx="1080000" cy="252000"/>
            </a:xfrm>
          </p:grpSpPr>
          <p:sp>
            <p:nvSpPr>
              <p:cNvPr id="84" name="직사각형 83"/>
              <p:cNvSpPr/>
              <p:nvPr/>
            </p:nvSpPr>
            <p:spPr>
              <a:xfrm>
                <a:off x="2544198" y="-566622"/>
                <a:ext cx="108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유효기간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(YY)</a:t>
                </a: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85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8294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90" name="직사각형 89"/>
          <p:cNvSpPr/>
          <p:nvPr/>
        </p:nvSpPr>
        <p:spPr>
          <a:xfrm>
            <a:off x="8559242" y="4907458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신용카드 유효성 체크</a:t>
            </a:r>
          </a:p>
        </p:txBody>
      </p:sp>
      <p:sp>
        <p:nvSpPr>
          <p:cNvPr id="91" name="눈물 방울 90"/>
          <p:cNvSpPr/>
          <p:nvPr/>
        </p:nvSpPr>
        <p:spPr>
          <a:xfrm rot="5400000">
            <a:off x="10184007" y="490269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92" name="그룹 91"/>
          <p:cNvGrpSpPr/>
          <p:nvPr/>
        </p:nvGrpSpPr>
        <p:grpSpPr>
          <a:xfrm>
            <a:off x="2541582" y="4562292"/>
            <a:ext cx="2249391" cy="252000"/>
            <a:chOff x="2544199" y="-893575"/>
            <a:chExt cx="2249391" cy="252000"/>
          </a:xfrm>
        </p:grpSpPr>
        <p:sp>
          <p:nvSpPr>
            <p:cNvPr id="93" name="직사각형 92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본인납부</a:t>
              </a: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타인납부</a:t>
              </a:r>
            </a:p>
          </p:txBody>
        </p:sp>
      </p:grpSp>
      <p:grpSp>
        <p:nvGrpSpPr>
          <p:cNvPr id="95" name="그룹 94"/>
          <p:cNvGrpSpPr/>
          <p:nvPr/>
        </p:nvGrpSpPr>
        <p:grpSpPr>
          <a:xfrm>
            <a:off x="2542375" y="5246714"/>
            <a:ext cx="5512811" cy="252000"/>
            <a:chOff x="4416407" y="2529722"/>
            <a:chExt cx="5512811" cy="252000"/>
          </a:xfrm>
        </p:grpSpPr>
        <p:grpSp>
          <p:nvGrpSpPr>
            <p:cNvPr id="96" name="그룹 95"/>
            <p:cNvGrpSpPr/>
            <p:nvPr/>
          </p:nvGrpSpPr>
          <p:grpSpPr>
            <a:xfrm>
              <a:off x="8129218" y="2529722"/>
              <a:ext cx="1800000" cy="252000"/>
              <a:chOff x="8129218" y="-566622"/>
              <a:chExt cx="1800000" cy="252000"/>
            </a:xfrm>
          </p:grpSpPr>
          <p:sp>
            <p:nvSpPr>
              <p:cNvPr id="99" name="직사각형 98"/>
              <p:cNvSpPr/>
              <p:nvPr/>
            </p:nvSpPr>
            <p:spPr>
              <a:xfrm>
                <a:off x="8129218" y="-566622"/>
                <a:ext cx="180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관계</a:t>
                </a:r>
              </a:p>
            </p:txBody>
          </p:sp>
          <p:pic>
            <p:nvPicPr>
              <p:cNvPr id="100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7588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97" name="직사각형 96"/>
            <p:cNvSpPr/>
            <p:nvPr/>
          </p:nvSpPr>
          <p:spPr>
            <a:xfrm>
              <a:off x="4416407" y="25297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납부고객명</a:t>
              </a:r>
            </a:p>
          </p:txBody>
        </p:sp>
        <p:sp>
          <p:nvSpPr>
            <p:cNvPr id="98" name="직사각형 97"/>
            <p:cNvSpPr/>
            <p:nvPr/>
          </p:nvSpPr>
          <p:spPr>
            <a:xfrm>
              <a:off x="6256810" y="25297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입력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455264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131" name="그룹 130"/>
          <p:cNvGrpSpPr/>
          <p:nvPr/>
        </p:nvGrpSpPr>
        <p:grpSpPr>
          <a:xfrm>
            <a:off x="1288232" y="1378262"/>
            <a:ext cx="1800000" cy="252000"/>
            <a:chOff x="2544198" y="-566622"/>
            <a:chExt cx="1800000" cy="252000"/>
          </a:xfrm>
        </p:grpSpPr>
        <p:sp>
          <p:nvSpPr>
            <p:cNvPr id="133" name="직사각형 132"/>
            <p:cNvSpPr/>
            <p:nvPr/>
          </p:nvSpPr>
          <p:spPr>
            <a:xfrm>
              <a:off x="2544198" y="-5666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국민은행</a:t>
              </a:r>
            </a:p>
          </p:txBody>
        </p:sp>
        <p:pic>
          <p:nvPicPr>
            <p:cNvPr id="134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32568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135" name="직사각형 134"/>
          <p:cNvSpPr/>
          <p:nvPr/>
        </p:nvSpPr>
        <p:spPr>
          <a:xfrm>
            <a:off x="3160441" y="1378262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853210000000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6" name="직사각형 135"/>
          <p:cNvSpPr/>
          <p:nvPr/>
        </p:nvSpPr>
        <p:spPr>
          <a:xfrm>
            <a:off x="5026696" y="1386140"/>
            <a:ext cx="16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계좌번호 유효성 체크</a:t>
            </a:r>
          </a:p>
        </p:txBody>
      </p:sp>
      <p:sp>
        <p:nvSpPr>
          <p:cNvPr id="137" name="눈물 방울 136"/>
          <p:cNvSpPr/>
          <p:nvPr/>
        </p:nvSpPr>
        <p:spPr>
          <a:xfrm rot="5400000">
            <a:off x="5643429" y="115097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9" name="직사각형 148"/>
          <p:cNvSpPr/>
          <p:nvPr/>
        </p:nvSpPr>
        <p:spPr>
          <a:xfrm>
            <a:off x="1166570" y="981522"/>
            <a:ext cx="3086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</a:p>
        </p:txBody>
      </p:sp>
      <p:sp>
        <p:nvSpPr>
          <p:cNvPr id="153" name="눈물 방울 152"/>
          <p:cNvSpPr/>
          <p:nvPr/>
        </p:nvSpPr>
        <p:spPr>
          <a:xfrm rot="5400000">
            <a:off x="1004966" y="98898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4" name="직사각형 153"/>
          <p:cNvSpPr/>
          <p:nvPr/>
        </p:nvSpPr>
        <p:spPr>
          <a:xfrm>
            <a:off x="1144216" y="1803807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55" name="그룹 154"/>
          <p:cNvGrpSpPr/>
          <p:nvPr/>
        </p:nvGrpSpPr>
        <p:grpSpPr>
          <a:xfrm>
            <a:off x="1288232" y="2127871"/>
            <a:ext cx="1800000" cy="252000"/>
            <a:chOff x="2544198" y="-566622"/>
            <a:chExt cx="1800000" cy="252000"/>
          </a:xfrm>
        </p:grpSpPr>
        <p:sp>
          <p:nvSpPr>
            <p:cNvPr id="156" name="직사각형 155"/>
            <p:cNvSpPr/>
            <p:nvPr/>
          </p:nvSpPr>
          <p:spPr>
            <a:xfrm>
              <a:off x="2544198" y="-566622"/>
              <a:ext cx="180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국민은행</a:t>
              </a:r>
            </a:p>
          </p:txBody>
        </p:sp>
        <p:pic>
          <p:nvPicPr>
            <p:cNvPr id="157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32568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158" name="직사각형 157"/>
          <p:cNvSpPr/>
          <p:nvPr/>
        </p:nvSpPr>
        <p:spPr>
          <a:xfrm>
            <a:off x="3160441" y="2127871"/>
            <a:ext cx="1800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853210000000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83" name="직사각형 182"/>
          <p:cNvSpPr/>
          <p:nvPr/>
        </p:nvSpPr>
        <p:spPr>
          <a:xfrm>
            <a:off x="5026696" y="2135749"/>
            <a:ext cx="16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계좌번호 유효성 체크 완료</a:t>
            </a:r>
          </a:p>
        </p:txBody>
      </p:sp>
      <p:sp>
        <p:nvSpPr>
          <p:cNvPr id="184" name="눈물 방울 183"/>
          <p:cNvSpPr/>
          <p:nvPr/>
        </p:nvSpPr>
        <p:spPr>
          <a:xfrm rot="5400000">
            <a:off x="5643429" y="190057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85" name="직사각형 184"/>
          <p:cNvSpPr/>
          <p:nvPr/>
        </p:nvSpPr>
        <p:spPr>
          <a:xfrm>
            <a:off x="1166570" y="2701836"/>
            <a:ext cx="3086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</a:p>
        </p:txBody>
      </p:sp>
      <p:sp>
        <p:nvSpPr>
          <p:cNvPr id="187" name="직사각형 186"/>
          <p:cNvSpPr/>
          <p:nvPr/>
        </p:nvSpPr>
        <p:spPr>
          <a:xfrm>
            <a:off x="1144216" y="3524121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88" name="그룹 187"/>
          <p:cNvGrpSpPr/>
          <p:nvPr/>
        </p:nvGrpSpPr>
        <p:grpSpPr>
          <a:xfrm>
            <a:off x="1288232" y="3063975"/>
            <a:ext cx="1800000" cy="252000"/>
            <a:chOff x="2544198" y="-566622"/>
            <a:chExt cx="1800000" cy="252000"/>
          </a:xfrm>
        </p:grpSpPr>
        <p:sp>
          <p:nvSpPr>
            <p:cNvPr id="189" name="직사각형 188"/>
            <p:cNvSpPr/>
            <p:nvPr/>
          </p:nvSpPr>
          <p:spPr>
            <a:xfrm>
              <a:off x="2544198" y="-5666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국민카드</a:t>
              </a:r>
            </a:p>
          </p:txBody>
        </p:sp>
        <p:pic>
          <p:nvPicPr>
            <p:cNvPr id="190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32568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191" name="직사각형 190"/>
          <p:cNvSpPr/>
          <p:nvPr/>
        </p:nvSpPr>
        <p:spPr>
          <a:xfrm>
            <a:off x="3160441" y="3063975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4579922011111111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92" name="그룹 191"/>
          <p:cNvGrpSpPr/>
          <p:nvPr/>
        </p:nvGrpSpPr>
        <p:grpSpPr>
          <a:xfrm>
            <a:off x="5035322" y="3063975"/>
            <a:ext cx="1080000" cy="252000"/>
            <a:chOff x="2544198" y="-566622"/>
            <a:chExt cx="1080000" cy="252000"/>
          </a:xfrm>
        </p:grpSpPr>
        <p:sp>
          <p:nvSpPr>
            <p:cNvPr id="193" name="직사각형 192"/>
            <p:cNvSpPr/>
            <p:nvPr/>
          </p:nvSpPr>
          <p:spPr>
            <a:xfrm>
              <a:off x="2544198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12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194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8294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95" name="그룹 194"/>
          <p:cNvGrpSpPr/>
          <p:nvPr/>
        </p:nvGrpSpPr>
        <p:grpSpPr>
          <a:xfrm>
            <a:off x="6153066" y="3063975"/>
            <a:ext cx="1080000" cy="252000"/>
            <a:chOff x="2544198" y="-566622"/>
            <a:chExt cx="1080000" cy="252000"/>
          </a:xfrm>
        </p:grpSpPr>
        <p:sp>
          <p:nvSpPr>
            <p:cNvPr id="196" name="직사각형 195"/>
            <p:cNvSpPr/>
            <p:nvPr/>
          </p:nvSpPr>
          <p:spPr>
            <a:xfrm>
              <a:off x="2544198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2030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197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8294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198" name="직사각형 197"/>
          <p:cNvSpPr/>
          <p:nvPr/>
        </p:nvSpPr>
        <p:spPr>
          <a:xfrm>
            <a:off x="7305074" y="3054601"/>
            <a:ext cx="16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신용카드 유효성 체크</a:t>
            </a:r>
          </a:p>
        </p:txBody>
      </p:sp>
      <p:sp>
        <p:nvSpPr>
          <p:cNvPr id="199" name="눈물 방울 198"/>
          <p:cNvSpPr/>
          <p:nvPr/>
        </p:nvSpPr>
        <p:spPr>
          <a:xfrm rot="5400000">
            <a:off x="7921807" y="283594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00" name="그룹 199"/>
          <p:cNvGrpSpPr/>
          <p:nvPr/>
        </p:nvGrpSpPr>
        <p:grpSpPr>
          <a:xfrm>
            <a:off x="1288232" y="3827270"/>
            <a:ext cx="1800000" cy="252000"/>
            <a:chOff x="2544198" y="-566622"/>
            <a:chExt cx="1800000" cy="252000"/>
          </a:xfrm>
        </p:grpSpPr>
        <p:sp>
          <p:nvSpPr>
            <p:cNvPr id="201" name="직사각형 200"/>
            <p:cNvSpPr/>
            <p:nvPr/>
          </p:nvSpPr>
          <p:spPr>
            <a:xfrm>
              <a:off x="2544198" y="-566622"/>
              <a:ext cx="180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국민카드</a:t>
              </a:r>
            </a:p>
          </p:txBody>
        </p:sp>
        <p:pic>
          <p:nvPicPr>
            <p:cNvPr id="202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32568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203" name="직사각형 202"/>
          <p:cNvSpPr/>
          <p:nvPr/>
        </p:nvSpPr>
        <p:spPr>
          <a:xfrm>
            <a:off x="3160441" y="3827270"/>
            <a:ext cx="1800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4579922011111111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204" name="그룹 203"/>
          <p:cNvGrpSpPr/>
          <p:nvPr/>
        </p:nvGrpSpPr>
        <p:grpSpPr>
          <a:xfrm>
            <a:off x="5035322" y="3827270"/>
            <a:ext cx="1080000" cy="252000"/>
            <a:chOff x="2544198" y="-566622"/>
            <a:chExt cx="1080000" cy="252000"/>
          </a:xfrm>
        </p:grpSpPr>
        <p:sp>
          <p:nvSpPr>
            <p:cNvPr id="205" name="직사각형 204"/>
            <p:cNvSpPr/>
            <p:nvPr/>
          </p:nvSpPr>
          <p:spPr>
            <a:xfrm>
              <a:off x="2544198" y="-566622"/>
              <a:ext cx="108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12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206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8294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207" name="그룹 206"/>
          <p:cNvGrpSpPr/>
          <p:nvPr/>
        </p:nvGrpSpPr>
        <p:grpSpPr>
          <a:xfrm>
            <a:off x="6153066" y="3827270"/>
            <a:ext cx="1080000" cy="252000"/>
            <a:chOff x="2544198" y="-566622"/>
            <a:chExt cx="1080000" cy="252000"/>
          </a:xfrm>
        </p:grpSpPr>
        <p:sp>
          <p:nvSpPr>
            <p:cNvPr id="208" name="직사각형 207"/>
            <p:cNvSpPr/>
            <p:nvPr/>
          </p:nvSpPr>
          <p:spPr>
            <a:xfrm>
              <a:off x="2544198" y="-566622"/>
              <a:ext cx="108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2030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209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8294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210" name="직사각형 209"/>
          <p:cNvSpPr/>
          <p:nvPr/>
        </p:nvSpPr>
        <p:spPr>
          <a:xfrm>
            <a:off x="7305074" y="3817896"/>
            <a:ext cx="16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신용카드 유효성 체크 완료</a:t>
            </a:r>
          </a:p>
        </p:txBody>
      </p:sp>
      <p:sp>
        <p:nvSpPr>
          <p:cNvPr id="211" name="눈물 방울 210"/>
          <p:cNvSpPr/>
          <p:nvPr/>
        </p:nvSpPr>
        <p:spPr>
          <a:xfrm rot="5400000">
            <a:off x="7921807" y="359924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170621" y="4293890"/>
            <a:ext cx="3086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요금 납부 방법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통합청구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2545548" y="4560698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123456789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4423462" y="4560698"/>
            <a:ext cx="126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청구계정 체크</a:t>
            </a:r>
          </a:p>
        </p:txBody>
      </p:sp>
      <p:sp>
        <p:nvSpPr>
          <p:cNvPr id="58" name="눈물 방울 57"/>
          <p:cNvSpPr/>
          <p:nvPr/>
        </p:nvSpPr>
        <p:spPr>
          <a:xfrm rot="5400000">
            <a:off x="5757494" y="457600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3" name="직사각형 62"/>
          <p:cNvSpPr/>
          <p:nvPr/>
        </p:nvSpPr>
        <p:spPr>
          <a:xfrm>
            <a:off x="2548249" y="4905986"/>
            <a:ext cx="1800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123456789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4426163" y="4905986"/>
            <a:ext cx="126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청구계정 체크 완료</a:t>
            </a:r>
          </a:p>
        </p:txBody>
      </p:sp>
      <p:sp>
        <p:nvSpPr>
          <p:cNvPr id="65" name="눈물 방울 64"/>
          <p:cNvSpPr/>
          <p:nvPr/>
        </p:nvSpPr>
        <p:spPr>
          <a:xfrm rot="5400000">
            <a:off x="5760195" y="492129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089035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83" name="눈물 방울 82"/>
          <p:cNvSpPr/>
          <p:nvPr/>
        </p:nvSpPr>
        <p:spPr>
          <a:xfrm rot="5400000">
            <a:off x="1004966" y="99094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4" name="눈물 방울 83"/>
          <p:cNvSpPr/>
          <p:nvPr/>
        </p:nvSpPr>
        <p:spPr>
          <a:xfrm rot="5400000">
            <a:off x="1007667" y="290429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5" name="직사각형 84"/>
          <p:cNvSpPr/>
          <p:nvPr/>
        </p:nvSpPr>
        <p:spPr>
          <a:xfrm>
            <a:off x="1216224" y="1024619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계좌번호가 유효하지 않은 경우</a:t>
            </a:r>
          </a:p>
        </p:txBody>
      </p:sp>
      <p:grpSp>
        <p:nvGrpSpPr>
          <p:cNvPr id="86" name="그룹 85"/>
          <p:cNvGrpSpPr/>
          <p:nvPr/>
        </p:nvGrpSpPr>
        <p:grpSpPr>
          <a:xfrm>
            <a:off x="1231520" y="1384659"/>
            <a:ext cx="2881818" cy="1397063"/>
            <a:chOff x="5875124" y="3832891"/>
            <a:chExt cx="2881818" cy="1397063"/>
          </a:xfrm>
        </p:grpSpPr>
        <p:sp>
          <p:nvSpPr>
            <p:cNvPr id="87" name="직사각형 86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89" name="직사각형 88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유효하지 않은 계좌번호 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다시 확인 후 입력 해주세요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90" name="직사각형 89"/>
          <p:cNvSpPr/>
          <p:nvPr/>
        </p:nvSpPr>
        <p:spPr>
          <a:xfrm>
            <a:off x="1184593" y="2896827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신용카드가 유효하지 않은 경우</a:t>
            </a:r>
          </a:p>
        </p:txBody>
      </p:sp>
      <p:grpSp>
        <p:nvGrpSpPr>
          <p:cNvPr id="91" name="그룹 90"/>
          <p:cNvGrpSpPr/>
          <p:nvPr/>
        </p:nvGrpSpPr>
        <p:grpSpPr>
          <a:xfrm>
            <a:off x="1199889" y="3256867"/>
            <a:ext cx="2881818" cy="1397063"/>
            <a:chOff x="5875124" y="3832891"/>
            <a:chExt cx="2881818" cy="1397063"/>
          </a:xfrm>
        </p:grpSpPr>
        <p:sp>
          <p:nvSpPr>
            <p:cNvPr id="92" name="직사각형 91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3" name="직사각형 92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유효하지 않은 신용카드 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다시 확인 후 입력 해주세요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95" name="직사각형 94"/>
          <p:cNvSpPr/>
          <p:nvPr/>
        </p:nvSpPr>
        <p:spPr>
          <a:xfrm>
            <a:off x="4344199" y="1024619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계좌번호가 유효한 경우</a:t>
            </a:r>
          </a:p>
        </p:txBody>
      </p:sp>
      <p:grpSp>
        <p:nvGrpSpPr>
          <p:cNvPr id="96" name="그룹 95"/>
          <p:cNvGrpSpPr/>
          <p:nvPr/>
        </p:nvGrpSpPr>
        <p:grpSpPr>
          <a:xfrm>
            <a:off x="4359495" y="1384659"/>
            <a:ext cx="2881818" cy="1397063"/>
            <a:chOff x="5875124" y="3832891"/>
            <a:chExt cx="2881818" cy="1397063"/>
          </a:xfrm>
        </p:grpSpPr>
        <p:sp>
          <p:nvSpPr>
            <p:cNvPr id="97" name="직사각형 96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8" name="직사각형 97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99" name="직사각형 98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계좌번호 인증이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100" name="직사각형 99"/>
          <p:cNvSpPr/>
          <p:nvPr/>
        </p:nvSpPr>
        <p:spPr>
          <a:xfrm>
            <a:off x="4312568" y="2896827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신용카드가 유효한 경우</a:t>
            </a:r>
          </a:p>
        </p:txBody>
      </p:sp>
      <p:grpSp>
        <p:nvGrpSpPr>
          <p:cNvPr id="101" name="그룹 100"/>
          <p:cNvGrpSpPr/>
          <p:nvPr/>
        </p:nvGrpSpPr>
        <p:grpSpPr>
          <a:xfrm>
            <a:off x="4327864" y="3256867"/>
            <a:ext cx="2881818" cy="1397063"/>
            <a:chOff x="5875124" y="3832891"/>
            <a:chExt cx="2881818" cy="1397063"/>
          </a:xfrm>
        </p:grpSpPr>
        <p:sp>
          <p:nvSpPr>
            <p:cNvPr id="102" name="직사각형 101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3" name="직사각형 102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04" name="직사각형 103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신용카드 인증이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29" name="눈물 방울 28"/>
          <p:cNvSpPr/>
          <p:nvPr/>
        </p:nvSpPr>
        <p:spPr>
          <a:xfrm rot="5400000">
            <a:off x="1004966" y="484851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1181892" y="4841043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청구계정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ID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가 유효하지 않은 경우</a:t>
            </a:r>
          </a:p>
        </p:txBody>
      </p:sp>
      <p:grpSp>
        <p:nvGrpSpPr>
          <p:cNvPr id="31" name="그룹 30"/>
          <p:cNvGrpSpPr/>
          <p:nvPr/>
        </p:nvGrpSpPr>
        <p:grpSpPr>
          <a:xfrm>
            <a:off x="1197188" y="5201083"/>
            <a:ext cx="2881818" cy="1397063"/>
            <a:chOff x="5875124" y="3832891"/>
            <a:chExt cx="2881818" cy="1397063"/>
          </a:xfrm>
        </p:grpSpPr>
        <p:sp>
          <p:nvSpPr>
            <p:cNvPr id="32" name="직사각형 31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유효하지 않은 청구계정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ID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다시 확인 후 입력 해주세요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35" name="직사각형 34"/>
          <p:cNvSpPr/>
          <p:nvPr/>
        </p:nvSpPr>
        <p:spPr>
          <a:xfrm>
            <a:off x="4309867" y="4841043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청구계정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ID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가 유효한 경우</a:t>
            </a:r>
          </a:p>
        </p:txBody>
      </p:sp>
      <p:grpSp>
        <p:nvGrpSpPr>
          <p:cNvPr id="36" name="그룹 35"/>
          <p:cNvGrpSpPr/>
          <p:nvPr/>
        </p:nvGrpSpPr>
        <p:grpSpPr>
          <a:xfrm>
            <a:off x="4325163" y="5201083"/>
            <a:ext cx="2881818" cy="1397063"/>
            <a:chOff x="5875124" y="3832891"/>
            <a:chExt cx="2881818" cy="1397063"/>
          </a:xfrm>
        </p:grpSpPr>
        <p:sp>
          <p:nvSpPr>
            <p:cNvPr id="37" name="직사각형 36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청구계정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ID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인증이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181697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직사각형 99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513944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메모 입력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47" name="그룹 46"/>
          <p:cNvGrpSpPr/>
          <p:nvPr/>
        </p:nvGrpSpPr>
        <p:grpSpPr>
          <a:xfrm>
            <a:off x="1100614" y="1168817"/>
            <a:ext cx="9252000" cy="246221"/>
            <a:chOff x="1072208" y="1117425"/>
            <a:chExt cx="9252000" cy="246221"/>
          </a:xfrm>
        </p:grpSpPr>
        <p:sp>
          <p:nvSpPr>
            <p:cNvPr id="54" name="TextBox 53"/>
            <p:cNvSpPr txBox="1"/>
            <p:nvPr/>
          </p:nvSpPr>
          <p:spPr>
            <a:xfrm>
              <a:off x="1072208" y="1117425"/>
              <a:ext cx="4411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메모</a:t>
              </a:r>
            </a:p>
          </p:txBody>
        </p:sp>
        <p:cxnSp>
          <p:nvCxnSpPr>
            <p:cNvPr id="55" name="직선 연결선 54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눈물 방울 55"/>
          <p:cNvSpPr/>
          <p:nvPr/>
        </p:nvSpPr>
        <p:spPr>
          <a:xfrm rot="5400000">
            <a:off x="961364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57" name="그룹 56"/>
          <p:cNvGrpSpPr/>
          <p:nvPr/>
        </p:nvGrpSpPr>
        <p:grpSpPr>
          <a:xfrm>
            <a:off x="1050508" y="1523078"/>
            <a:ext cx="8590652" cy="540032"/>
            <a:chOff x="1053932" y="-566622"/>
            <a:chExt cx="8590652" cy="540032"/>
          </a:xfrm>
        </p:grpSpPr>
        <p:sp>
          <p:nvSpPr>
            <p:cNvPr id="58" name="TextBox 57"/>
            <p:cNvSpPr txBox="1"/>
            <p:nvPr/>
          </p:nvSpPr>
          <p:spPr>
            <a:xfrm>
              <a:off x="1053932" y="-556038"/>
              <a:ext cx="4154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메모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2544200" y="-566622"/>
              <a:ext cx="7100384" cy="540032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72000" rIns="72000" bIns="72000" rtlCol="0" anchor="t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메모 입력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876812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628007"/>
              </p:ext>
            </p:extLst>
          </p:nvPr>
        </p:nvGraphicFramePr>
        <p:xfrm>
          <a:off x="10505256" y="788950"/>
          <a:ext cx="2130330" cy="3167080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접근권한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미동의 상태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접근권한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 안내 메시지 노출 후 설정 화면으로 이동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동의 등록 후 카메라 구동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미동의시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이용 불가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상태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구동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OCR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 솔루션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 접근 권한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미동의 상태인 경우 알림 메시지 표시 후 팝업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재촬영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19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자리를 요청한 화면 항목에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latin typeface="+mn-ea"/>
                <a:ea typeface="+mn-ea"/>
              </a:rPr>
              <a:t>S101030102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휴대폰</a:t>
            </a:r>
            <a:r>
              <a:rPr lang="en-US" altLang="ko-KR" sz="1000" dirty="0">
                <a:latin typeface="+mn-ea"/>
                <a:ea typeface="+mn-ea"/>
              </a:rPr>
              <a:t>, </a:t>
            </a:r>
            <a:r>
              <a:rPr lang="en-US" altLang="ko-KR" sz="1000" dirty="0" smtClean="0">
                <a:latin typeface="+mn-ea"/>
                <a:ea typeface="+mn-ea"/>
              </a:rPr>
              <a:t>USIM)</a:t>
            </a:r>
            <a:r>
              <a:rPr lang="ko-KR" altLang="en-US" sz="1000" dirty="0" smtClean="0">
                <a:latin typeface="+mn-ea"/>
                <a:ea typeface="+mn-ea"/>
              </a:rPr>
              <a:t>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en-US" altLang="ko-KR" sz="1000" dirty="0" smtClean="0">
                <a:latin typeface="+mn-ea"/>
                <a:ea typeface="+mn-ea"/>
              </a:rPr>
              <a:t>USIM</a:t>
            </a:r>
            <a:r>
              <a:rPr lang="ko-KR" altLang="en-US" sz="1000" dirty="0" smtClean="0">
                <a:latin typeface="+mn-ea"/>
                <a:ea typeface="+mn-ea"/>
              </a:rPr>
              <a:t> </a:t>
            </a:r>
            <a:r>
              <a:rPr lang="ko-KR" altLang="en-US" sz="1000" dirty="0">
                <a:latin typeface="+mn-ea"/>
                <a:ea typeface="+mn-ea"/>
              </a:rPr>
              <a:t>스캔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3448472" y="1498695"/>
            <a:ext cx="4085224" cy="3873302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 rot="2700000">
            <a:off x="7160077" y="1619108"/>
            <a:ext cx="214699" cy="216000"/>
            <a:chOff x="6609184" y="2719104"/>
            <a:chExt cx="1008112" cy="1008112"/>
          </a:xfrm>
        </p:grpSpPr>
        <p:cxnSp>
          <p:nvCxnSpPr>
            <p:cNvPr id="27" name="직선 연결선 26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연결선 27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/>
          <p:cNvSpPr txBox="1"/>
          <p:nvPr/>
        </p:nvSpPr>
        <p:spPr>
          <a:xfrm>
            <a:off x="3553249" y="1585185"/>
            <a:ext cx="2883555" cy="388364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400" b="1" dirty="0" smtClean="0">
                <a:solidFill>
                  <a:prstClr val="black"/>
                </a:solidFill>
                <a:latin typeface="+mn-ea"/>
                <a:ea typeface="+mn-ea"/>
              </a:rPr>
              <a:t>USIM</a:t>
            </a:r>
            <a:r>
              <a:rPr lang="ko-KR" altLang="en-US" sz="1400" b="1" dirty="0" smtClean="0">
                <a:solidFill>
                  <a:prstClr val="black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스캔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3520480" y="2146767"/>
            <a:ext cx="3888432" cy="288032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사각형에 맞추어 </a:t>
            </a:r>
            <a:r>
              <a:rPr lang="en-US" altLang="ko-KR" sz="9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</a:t>
            </a:r>
            <a:r>
              <a:rPr lang="ko-KR" altLang="en-US" sz="9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카드를 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놓아주세요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9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1" name="Picture 17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87" t="67907" r="18184" b="1489"/>
          <a:stretch/>
        </p:blipFill>
        <p:spPr bwMode="auto">
          <a:xfrm>
            <a:off x="3731255" y="2557625"/>
            <a:ext cx="3317617" cy="21298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6" name="눈물 방울 35"/>
          <p:cNvSpPr/>
          <p:nvPr/>
        </p:nvSpPr>
        <p:spPr>
          <a:xfrm rot="5400000">
            <a:off x="3188261" y="1836046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31086" y="4939656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카메라 접근 권한이 없는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34" name="그룹 33"/>
          <p:cNvGrpSpPr/>
          <p:nvPr/>
        </p:nvGrpSpPr>
        <p:grpSpPr>
          <a:xfrm>
            <a:off x="281474" y="5270745"/>
            <a:ext cx="2881818" cy="1397063"/>
            <a:chOff x="5875124" y="3832891"/>
            <a:chExt cx="2881818" cy="1397063"/>
          </a:xfrm>
        </p:grpSpPr>
        <p:sp>
          <p:nvSpPr>
            <p:cNvPr id="37" name="직사각형 36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촬영을 하시려면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카메라 접근 허용 후 다시 시도해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0" name="눈물 방울 39"/>
          <p:cNvSpPr/>
          <p:nvPr/>
        </p:nvSpPr>
        <p:spPr>
          <a:xfrm rot="5400000">
            <a:off x="179578" y="516311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1" name="눈물 방울 40"/>
          <p:cNvSpPr/>
          <p:nvPr/>
        </p:nvSpPr>
        <p:spPr>
          <a:xfrm rot="5400000">
            <a:off x="6480275" y="497732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2" name="눈물 방울 41"/>
          <p:cNvSpPr/>
          <p:nvPr/>
        </p:nvSpPr>
        <p:spPr>
          <a:xfrm rot="5400000">
            <a:off x="4173318" y="497732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5676053" y="4939981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44" name="직사각형 43"/>
          <p:cNvSpPr/>
          <p:nvPr/>
        </p:nvSpPr>
        <p:spPr>
          <a:xfrm>
            <a:off x="4482631" y="4939981"/>
            <a:ext cx="108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다시 촬영하기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173136" y="4602828"/>
            <a:ext cx="3117020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12881520" y="1053530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(2026.03.04)</a:t>
            </a: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USIM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스캔 </a:t>
            </a: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OCR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솔루션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스펙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확인중</a:t>
            </a:r>
            <a:endParaRPr lang="ko-KR" altLang="en-US" sz="10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8162938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0307520"/>
              </p:ext>
            </p:extLst>
          </p:nvPr>
        </p:nvGraphicFramePr>
        <p:xfrm>
          <a:off x="10505256" y="788950"/>
          <a:ext cx="2130330" cy="2801320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접근권한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여부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미동의 상태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접근권한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설정 안내 메시지 노출 후 설정 화면으로 이동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동의 등록 후 카메라 구동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.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미동의시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이용 불가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상태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 구동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eSIM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스캔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카메라 접근 권한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미동의 상태인 경우 알림 메시지 표시 후 팝업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재촬영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휴대폰 정보를 요청한 화면 항목에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S101030103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휴대폰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r>
              <a:rPr lang="ko-KR" altLang="en-US" sz="1000" dirty="0">
                <a:latin typeface="+mn-ea"/>
                <a:ea typeface="+mn-ea"/>
              </a:rPr>
              <a:t>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en-US" altLang="ko-KR" sz="1000" dirty="0" err="1">
                <a:latin typeface="+mn-ea"/>
                <a:ea typeface="+mn-ea"/>
              </a:rPr>
              <a:t>eSIM</a:t>
            </a:r>
            <a:r>
              <a:rPr lang="ko-KR" altLang="en-US" sz="1000" dirty="0">
                <a:latin typeface="+mn-ea"/>
                <a:ea typeface="+mn-ea"/>
              </a:rPr>
              <a:t> 스캔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3725850" y="1487336"/>
            <a:ext cx="4085224" cy="4521374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 rot="2700000">
            <a:off x="7437455" y="1607749"/>
            <a:ext cx="214699" cy="216000"/>
            <a:chOff x="6609184" y="2719104"/>
            <a:chExt cx="1008112" cy="1008112"/>
          </a:xfrm>
        </p:grpSpPr>
        <p:cxnSp>
          <p:nvCxnSpPr>
            <p:cNvPr id="27" name="직선 연결선 26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연결선 27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/>
          <p:cNvSpPr txBox="1"/>
          <p:nvPr/>
        </p:nvSpPr>
        <p:spPr>
          <a:xfrm>
            <a:off x="3830627" y="1573826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400" b="1" dirty="0" err="1">
                <a:solidFill>
                  <a:prstClr val="black"/>
                </a:solidFill>
                <a:latin typeface="+mn-ea"/>
                <a:ea typeface="+mn-ea"/>
              </a:rPr>
              <a:t>eSIM</a:t>
            </a: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 스캔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3797858" y="2135408"/>
            <a:ext cx="3888432" cy="288032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사각형에 맞추어 놓아주세요</a:t>
            </a:r>
            <a:r>
              <a: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9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눈물 방울 35"/>
          <p:cNvSpPr/>
          <p:nvPr/>
        </p:nvSpPr>
        <p:spPr>
          <a:xfrm rot="5400000">
            <a:off x="3465639" y="182468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31086" y="4936323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카메라 접근 권한이 없는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34" name="그룹 33"/>
          <p:cNvGrpSpPr/>
          <p:nvPr/>
        </p:nvGrpSpPr>
        <p:grpSpPr>
          <a:xfrm>
            <a:off x="281474" y="5267412"/>
            <a:ext cx="2881818" cy="1397063"/>
            <a:chOff x="5875124" y="3832891"/>
            <a:chExt cx="2881818" cy="1397063"/>
          </a:xfrm>
        </p:grpSpPr>
        <p:sp>
          <p:nvSpPr>
            <p:cNvPr id="37" name="직사각형 36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eSIM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촬영을 하시려면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카메라 접근 허용 후 다시 시도해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0" name="눈물 방울 39"/>
          <p:cNvSpPr/>
          <p:nvPr/>
        </p:nvSpPr>
        <p:spPr>
          <a:xfrm rot="5400000">
            <a:off x="179578" y="5159782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2" name="눈물 방울 41"/>
          <p:cNvSpPr/>
          <p:nvPr/>
        </p:nvSpPr>
        <p:spPr>
          <a:xfrm rot="5400000">
            <a:off x="4450696" y="554202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5953431" y="5504686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44" name="직사각형 43"/>
          <p:cNvSpPr/>
          <p:nvPr/>
        </p:nvSpPr>
        <p:spPr>
          <a:xfrm>
            <a:off x="4760009" y="5504686"/>
            <a:ext cx="108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다시 촬영하기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4008632" y="2624332"/>
            <a:ext cx="3420000" cy="259229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173136" y="4602828"/>
            <a:ext cx="3287737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67" name="눈물 방울 66"/>
          <p:cNvSpPr/>
          <p:nvPr/>
        </p:nvSpPr>
        <p:spPr>
          <a:xfrm rot="5400000">
            <a:off x="6120235" y="530946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2881520" y="1053530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(2026.03.04)</a:t>
            </a:r>
          </a:p>
          <a:p>
            <a:pPr>
              <a:spcBef>
                <a:spcPct val="50000"/>
              </a:spcBef>
            </a:pPr>
            <a:r>
              <a:rPr lang="en-US" altLang="ko-KR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eSIM</a:t>
            </a: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스캔 </a:t>
            </a: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OCR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솔루션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스펙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확인중</a:t>
            </a:r>
            <a:endParaRPr lang="ko-KR" altLang="en-US" sz="10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618172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3177496"/>
              </p:ext>
            </p:extLst>
          </p:nvPr>
        </p:nvGraphicFramePr>
        <p:xfrm>
          <a:off x="10505256" y="788950"/>
          <a:ext cx="2130330" cy="1316168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번호이동 사전동의 실패한 경우 실패 메시지 표시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S101030104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휴대폰</a:t>
            </a:r>
            <a:r>
              <a:rPr lang="en-US" altLang="ko-KR" sz="1000" dirty="0">
                <a:latin typeface="+mn-ea"/>
                <a:ea typeface="+mn-ea"/>
              </a:rPr>
              <a:t>, </a:t>
            </a:r>
            <a:r>
              <a:rPr lang="en-US" altLang="ko-KR" sz="1000" dirty="0" smtClean="0">
                <a:latin typeface="+mn-ea"/>
                <a:ea typeface="+mn-ea"/>
              </a:rPr>
              <a:t>USIM</a:t>
            </a:r>
            <a:r>
              <a:rPr lang="ko-KR" altLang="en-US" sz="1000" dirty="0" smtClean="0">
                <a:latin typeface="+mn-ea"/>
                <a:ea typeface="+mn-ea"/>
              </a:rPr>
              <a:t> </a:t>
            </a:r>
            <a:r>
              <a:rPr lang="en-US" altLang="ko-KR" sz="1000" dirty="0">
                <a:latin typeface="+mn-ea"/>
                <a:ea typeface="+mn-ea"/>
              </a:rPr>
              <a:t>/ </a:t>
            </a:r>
            <a:r>
              <a:rPr lang="ko-KR" altLang="en-US" sz="1000" dirty="0">
                <a:latin typeface="+mn-ea"/>
                <a:ea typeface="+mn-ea"/>
              </a:rPr>
              <a:t>번호이동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r>
              <a:rPr lang="ko-KR" altLang="en-US" sz="1000" dirty="0">
                <a:latin typeface="+mn-ea"/>
                <a:ea typeface="+mn-ea"/>
              </a:rPr>
              <a:t>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번호이동 사전동의 실패 안내</a:t>
            </a: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1332796" y="2057513"/>
            <a:ext cx="7516276" cy="3892561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33" name="그룹 132"/>
          <p:cNvGrpSpPr/>
          <p:nvPr/>
        </p:nvGrpSpPr>
        <p:grpSpPr>
          <a:xfrm rot="2700000">
            <a:off x="8475453" y="2177926"/>
            <a:ext cx="214699" cy="216000"/>
            <a:chOff x="6609184" y="2719104"/>
            <a:chExt cx="1008112" cy="1008112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6" name="TextBox 135"/>
          <p:cNvSpPr txBox="1"/>
          <p:nvPr/>
        </p:nvSpPr>
        <p:spPr>
          <a:xfrm>
            <a:off x="1550105" y="2144003"/>
            <a:ext cx="2883555" cy="388364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번호이동 사전동의 실패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140" name="직사각형 139"/>
          <p:cNvSpPr/>
          <p:nvPr/>
        </p:nvSpPr>
        <p:spPr>
          <a:xfrm>
            <a:off x="1576263" y="2637706"/>
            <a:ext cx="6874219" cy="504056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번호이동 사전동의 확인이 되지 않습니다</a:t>
            </a:r>
            <a:r>
              <a:rPr lang="en-US" altLang="ko-KR" sz="10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아래 내용 확인 후 다시 시도해주세요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1" name="직사각형 140"/>
          <p:cNvSpPr/>
          <p:nvPr/>
        </p:nvSpPr>
        <p:spPr>
          <a:xfrm>
            <a:off x="1648272" y="3285779"/>
            <a:ext cx="6624736" cy="151216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번호이동 사전 인증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문자 또는 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ARS) </a:t>
            </a: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진행 여부를 확인해 주세요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>
              <a:spcBef>
                <a:spcPct val="50000"/>
              </a:spcBef>
            </a:pP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현재 사용 중인 통신사를 맞게 선택했는지 확인해 주세요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>
              <a:spcBef>
                <a:spcPct val="50000"/>
              </a:spcBef>
            </a:pP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고객정보가 틀리지 않았는지 확인해 주세요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>
              <a:spcBef>
                <a:spcPct val="50000"/>
              </a:spcBef>
            </a:pP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인증항목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납부 카드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계좌 또는 단말 일련번호 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4</a:t>
            </a: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자리 수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)</a:t>
            </a: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이 맞는지 확인해 주세요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>
              <a:spcBef>
                <a:spcPct val="50000"/>
              </a:spcBef>
            </a:pP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번호이동을 한 지 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3</a:t>
            </a: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개월 이내일 경우 번호이동이 불가합니다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>
              <a:spcBef>
                <a:spcPct val="50000"/>
              </a:spcBef>
            </a:pP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전 통신사에 미납금액이 있을 경우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할부 금액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dirty="0" err="1">
                <a:latin typeface="맑은 고딕" pitchFamily="50" charset="-127"/>
                <a:ea typeface="맑은 고딕" pitchFamily="50" charset="-127"/>
              </a:rPr>
              <a:t>로밍</a:t>
            </a: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 요금 등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), </a:t>
            </a: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전 통신사에 잔여 금액을 납부해야 번호이동이 가능합니다</a:t>
            </a: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>
              <a:spcBef>
                <a:spcPct val="50000"/>
              </a:spcBef>
            </a:pPr>
            <a:r>
              <a:rPr lang="en-US" altLang="ko-KR" sz="900" dirty="0">
                <a:latin typeface="맑은 고딕" pitchFamily="50" charset="-127"/>
                <a:ea typeface="맑은 고딕" pitchFamily="50" charset="-127"/>
              </a:rPr>
              <a:t> - www.credit.or.kr</a:t>
            </a:r>
            <a:r>
              <a:rPr lang="ko-KR" altLang="en-US" sz="900" dirty="0">
                <a:latin typeface="맑은 고딕" pitchFamily="50" charset="-127"/>
                <a:ea typeface="맑은 고딕" pitchFamily="50" charset="-127"/>
              </a:rPr>
              <a:t>에서 납부 방법 조회 또는 미납 통신사에 문의</a:t>
            </a:r>
            <a:endParaRPr lang="en-US" altLang="ko-KR" sz="900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2" name="직사각형 141"/>
          <p:cNvSpPr/>
          <p:nvPr/>
        </p:nvSpPr>
        <p:spPr>
          <a:xfrm>
            <a:off x="1648272" y="4869954"/>
            <a:ext cx="6624736" cy="496021"/>
          </a:xfrm>
          <a:prstGeom prst="rect">
            <a:avLst/>
          </a:prstGeom>
          <a:solidFill>
            <a:schemeClr val="bg1"/>
          </a:solidFill>
          <a:ln w="6350" algn="ctr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상기 항목 정확이 이행하였으나 실패가 뜰 경우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10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분 후에 다시 시도해 주세요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이후에도 실패가 계속될 경우 개통센터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(1899-0034)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로 연락해 주세요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</p:txBody>
      </p:sp>
      <p:sp>
        <p:nvSpPr>
          <p:cNvPr id="143" name="직사각형 142"/>
          <p:cNvSpPr/>
          <p:nvPr/>
        </p:nvSpPr>
        <p:spPr>
          <a:xfrm>
            <a:off x="4528592" y="5518058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145" name="눈물 방울 144"/>
          <p:cNvSpPr/>
          <p:nvPr/>
        </p:nvSpPr>
        <p:spPr>
          <a:xfrm rot="5400000">
            <a:off x="1148982" y="199710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6" name="눈물 방울 145"/>
          <p:cNvSpPr/>
          <p:nvPr/>
        </p:nvSpPr>
        <p:spPr>
          <a:xfrm rot="5400000">
            <a:off x="4245326" y="552549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91785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6804361"/>
              </p:ext>
            </p:extLst>
          </p:nvPr>
        </p:nvGraphicFramePr>
        <p:xfrm>
          <a:off x="10505256" y="788950"/>
          <a:ext cx="2130330" cy="3826584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희망번호에 해당하는 신규 번호 조회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 선택 번호 없음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조회된 번호 목록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- 000-0000-0000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형식으로 모두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조회된 목록이 없는 경우 화면에 안내 메시지 노출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가능 횟수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카운팅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증가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DB Table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에 조회 횟수 조회 및 증가 처리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번호조회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(NU1)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번호목록조회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(X31)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리스트 중 번호 라디오 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활성화되어 노출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번호가 있는지 여부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번호를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모창에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번호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S101030105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휴대폰</a:t>
            </a:r>
            <a:r>
              <a:rPr lang="en-US" altLang="ko-KR" sz="1000" dirty="0">
                <a:latin typeface="+mn-ea"/>
                <a:ea typeface="+mn-ea"/>
              </a:rPr>
              <a:t>, </a:t>
            </a:r>
            <a:r>
              <a:rPr lang="en-US" altLang="ko-KR" sz="1000" dirty="0" smtClean="0">
                <a:latin typeface="+mn-ea"/>
                <a:ea typeface="+mn-ea"/>
              </a:rPr>
              <a:t>USIM</a:t>
            </a:r>
            <a:r>
              <a:rPr lang="ko-KR" altLang="en-US" sz="1000" dirty="0" smtClean="0">
                <a:latin typeface="+mn-ea"/>
                <a:ea typeface="+mn-ea"/>
              </a:rPr>
              <a:t> </a:t>
            </a:r>
            <a:r>
              <a:rPr lang="en-US" altLang="ko-KR" sz="1000" dirty="0">
                <a:latin typeface="+mn-ea"/>
                <a:ea typeface="+mn-ea"/>
              </a:rPr>
              <a:t>/ </a:t>
            </a:r>
            <a:r>
              <a:rPr lang="ko-KR" altLang="en-US" sz="1000" dirty="0">
                <a:latin typeface="+mn-ea"/>
                <a:ea typeface="+mn-ea"/>
              </a:rPr>
              <a:t>신규가입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r>
              <a:rPr lang="ko-KR" altLang="en-US" sz="1000" dirty="0">
                <a:latin typeface="+mn-ea"/>
                <a:ea typeface="+mn-ea"/>
              </a:rPr>
              <a:t>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신규 희망번호</a:t>
            </a:r>
          </a:p>
        </p:txBody>
      </p:sp>
      <p:sp>
        <p:nvSpPr>
          <p:cNvPr id="80" name="직사각형 79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334709" y="1841457"/>
            <a:ext cx="4146211" cy="3244521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33" name="그룹 132"/>
          <p:cNvGrpSpPr/>
          <p:nvPr/>
        </p:nvGrpSpPr>
        <p:grpSpPr>
          <a:xfrm rot="2700000">
            <a:off x="7107302" y="1961870"/>
            <a:ext cx="214699" cy="216000"/>
            <a:chOff x="6609184" y="2719104"/>
            <a:chExt cx="1008112" cy="1008112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6" name="TextBox 135"/>
          <p:cNvSpPr txBox="1"/>
          <p:nvPr/>
        </p:nvSpPr>
        <p:spPr>
          <a:xfrm>
            <a:off x="3527276" y="1927947"/>
            <a:ext cx="2883555" cy="388364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신규번호 검색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145" name="눈물 방울 144"/>
          <p:cNvSpPr/>
          <p:nvPr/>
        </p:nvSpPr>
        <p:spPr>
          <a:xfrm rot="5400000">
            <a:off x="166178" y="484845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8037" y="2681119"/>
            <a:ext cx="3300412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직사각형 21"/>
          <p:cNvSpPr/>
          <p:nvPr/>
        </p:nvSpPr>
        <p:spPr>
          <a:xfrm>
            <a:off x="3623003" y="2421714"/>
            <a:ext cx="3515281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번호를 선택해 주세요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392441" y="4878952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조회 결과 없는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451688" y="5175504"/>
            <a:ext cx="4146211" cy="1566658"/>
            <a:chOff x="8143626" y="3519320"/>
            <a:chExt cx="4146211" cy="1566658"/>
          </a:xfrm>
        </p:grpSpPr>
        <p:sp>
          <p:nvSpPr>
            <p:cNvPr id="26" name="직사각형 25"/>
            <p:cNvSpPr/>
            <p:nvPr/>
          </p:nvSpPr>
          <p:spPr>
            <a:xfrm>
              <a:off x="8143626" y="3519320"/>
              <a:ext cx="4146211" cy="1566658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grpSp>
          <p:nvGrpSpPr>
            <p:cNvPr id="27" name="그룹 26"/>
            <p:cNvGrpSpPr/>
            <p:nvPr/>
          </p:nvGrpSpPr>
          <p:grpSpPr>
            <a:xfrm rot="2700000">
              <a:off x="11916219" y="3639732"/>
              <a:ext cx="214699" cy="216000"/>
              <a:chOff x="6609184" y="2719104"/>
              <a:chExt cx="1008112" cy="1008112"/>
            </a:xfrm>
          </p:grpSpPr>
          <p:cxnSp>
            <p:nvCxnSpPr>
              <p:cNvPr id="28" name="직선 연결선 27"/>
              <p:cNvCxnSpPr/>
              <p:nvPr/>
            </p:nvCxnSpPr>
            <p:spPr>
              <a:xfrm>
                <a:off x="6609184" y="3223160"/>
                <a:ext cx="1008112" cy="0"/>
              </a:xfrm>
              <a:prstGeom prst="line">
                <a:avLst/>
              </a:prstGeom>
              <a:ln w="31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직선 연결선 28"/>
              <p:cNvCxnSpPr/>
              <p:nvPr/>
            </p:nvCxnSpPr>
            <p:spPr>
              <a:xfrm rot="5400000">
                <a:off x="6609184" y="3223160"/>
                <a:ext cx="1008112" cy="0"/>
              </a:xfrm>
              <a:prstGeom prst="line">
                <a:avLst/>
              </a:prstGeom>
              <a:ln w="31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0" name="TextBox 29"/>
            <p:cNvSpPr txBox="1"/>
            <p:nvPr/>
          </p:nvSpPr>
          <p:spPr>
            <a:xfrm>
              <a:off x="8336193" y="3605809"/>
              <a:ext cx="2883555" cy="388364"/>
            </a:xfrm>
            <a:prstGeom prst="rect">
              <a:avLst/>
            </a:prstGeom>
            <a:noFill/>
          </p:spPr>
          <p:txBody>
            <a:bodyPr wrap="square" lIns="107241" tIns="53620" rIns="107241" bIns="53620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400" b="1" dirty="0">
                  <a:solidFill>
                    <a:prstClr val="black"/>
                  </a:solidFill>
                  <a:latin typeface="+mn-ea"/>
                  <a:ea typeface="+mn-ea"/>
                </a:rPr>
                <a:t>신규번호 검색</a:t>
              </a:r>
              <a:endParaRPr lang="en-US" altLang="ko-KR" sz="1400" b="1" dirty="0">
                <a:solidFill>
                  <a:prstClr val="black"/>
                </a:solidFill>
                <a:latin typeface="+mn-ea"/>
                <a:ea typeface="+mn-ea"/>
              </a:endParaRPr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8508287" y="4098794"/>
              <a:ext cx="3515281" cy="421573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희망번호에 해당하는 신규 번호가 없습니다</a:t>
              </a:r>
              <a:r>
                <a:rPr lang="en-US" altLang="ko-KR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다른 번호로 다시 조회해 주세요</a:t>
              </a:r>
              <a:r>
                <a:rPr lang="en-US" altLang="ko-KR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9710626" y="4676647"/>
              <a:ext cx="720000" cy="288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6350" algn="ctr">
              <a:solidFill>
                <a:schemeClr val="bg1">
                  <a:lumMod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취소</a:t>
              </a:r>
            </a:p>
          </p:txBody>
        </p:sp>
        <p:sp>
          <p:nvSpPr>
            <p:cNvPr id="41" name="눈물 방울 40"/>
            <p:cNvSpPr/>
            <p:nvPr/>
          </p:nvSpPr>
          <p:spPr>
            <a:xfrm rot="5400000">
              <a:off x="9427360" y="4684082"/>
              <a:ext cx="203791" cy="213322"/>
            </a:xfrm>
            <a:prstGeom prst="teardrop">
              <a:avLst/>
            </a:prstGeom>
            <a:solidFill>
              <a:srgbClr val="B7DEE8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vert270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  <a:latin typeface="+mn-ea"/>
                  <a:cs typeface="Segoe UI" panose="020B0502040204020203" pitchFamily="34" charset="0"/>
                </a:rPr>
                <a:t>B2</a:t>
              </a:r>
              <a:endParaRPr lang="ko-KR" altLang="en-US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endParaRPr>
            </a:p>
          </p:txBody>
        </p:sp>
      </p:grpSp>
      <p:sp>
        <p:nvSpPr>
          <p:cNvPr id="36" name="눈물 방울 35"/>
          <p:cNvSpPr/>
          <p:nvPr/>
        </p:nvSpPr>
        <p:spPr>
          <a:xfrm rot="5400000">
            <a:off x="6336259" y="454728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8" name="눈물 방울 37"/>
          <p:cNvSpPr/>
          <p:nvPr/>
        </p:nvSpPr>
        <p:spPr>
          <a:xfrm rot="5400000">
            <a:off x="4389342" y="454728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5532037" y="4509946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43" name="직사각형 42"/>
          <p:cNvSpPr/>
          <p:nvPr/>
        </p:nvSpPr>
        <p:spPr>
          <a:xfrm>
            <a:off x="4698655" y="4509946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5" name="눈물 방울 34"/>
          <p:cNvSpPr/>
          <p:nvPr/>
        </p:nvSpPr>
        <p:spPr>
          <a:xfrm rot="5400000">
            <a:off x="3181116" y="180097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73136" y="4509914"/>
            <a:ext cx="2843288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34" name="오른쪽 중괄호 33"/>
          <p:cNvSpPr/>
          <p:nvPr/>
        </p:nvSpPr>
        <p:spPr>
          <a:xfrm>
            <a:off x="6870781" y="2421389"/>
            <a:ext cx="343869" cy="2448565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/>
          <p:cNvSpPr/>
          <p:nvPr/>
        </p:nvSpPr>
        <p:spPr>
          <a:xfrm>
            <a:off x="7214651" y="2684322"/>
            <a:ext cx="27865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조회결과가 없는 경우 문구만 출력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4505753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82770"/>
              </p:ext>
            </p:extLst>
          </p:nvPr>
        </p:nvGraphicFramePr>
        <p:xfrm>
          <a:off x="10505256" y="788950"/>
          <a:ext cx="2130330" cy="346079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좌측 메뉴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작성단계에 맞춰 활성화 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/USIM/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eSIM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 및 가입유형 에 따라 해당하는 동의 사항 화면에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필수값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 여부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 후 등록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녹취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후 등록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작성 내용 등록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내용 전송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리포트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시스템 전송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제품명 등록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등록 후 임시 저장 완료 등록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5" name="직사각형 34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sp>
        <p:nvSpPr>
          <p:cNvPr id="95" name="눈물 방울 94"/>
          <p:cNvSpPr/>
          <p:nvPr/>
        </p:nvSpPr>
        <p:spPr>
          <a:xfrm rot="5400000">
            <a:off x="212878" y="8449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2" name="직사각형 91"/>
          <p:cNvSpPr/>
          <p:nvPr/>
        </p:nvSpPr>
        <p:spPr>
          <a:xfrm>
            <a:off x="1072208" y="1125809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>
                <a:latin typeface="+mn-ea"/>
                <a:ea typeface="+mn-ea"/>
              </a:rPr>
              <a:t>고객 영역</a:t>
            </a:r>
          </a:p>
        </p:txBody>
      </p:sp>
      <p:sp>
        <p:nvSpPr>
          <p:cNvPr id="93" name="직사각형 92"/>
          <p:cNvSpPr/>
          <p:nvPr/>
        </p:nvSpPr>
        <p:spPr>
          <a:xfrm>
            <a:off x="1072208" y="2337442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 smtClean="0">
                <a:latin typeface="+mn-ea"/>
                <a:ea typeface="+mn-ea"/>
              </a:rPr>
              <a:t>상품 영역</a:t>
            </a:r>
            <a:endParaRPr lang="ko-KR" altLang="en-US" sz="2000" b="1" dirty="0">
              <a:latin typeface="+mn-ea"/>
              <a:ea typeface="+mn-ea"/>
            </a:endParaRPr>
          </a:p>
        </p:txBody>
      </p:sp>
      <p:sp>
        <p:nvSpPr>
          <p:cNvPr id="94" name="직사각형 93"/>
          <p:cNvSpPr/>
          <p:nvPr/>
        </p:nvSpPr>
        <p:spPr>
          <a:xfrm>
            <a:off x="1072208" y="3573930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 smtClean="0">
                <a:latin typeface="+mn-ea"/>
                <a:ea typeface="+mn-ea"/>
              </a:rPr>
              <a:t>동의 </a:t>
            </a:r>
            <a:r>
              <a:rPr lang="ko-KR" altLang="en-US" sz="2000" b="1" dirty="0">
                <a:latin typeface="+mn-ea"/>
                <a:ea typeface="+mn-ea"/>
              </a:rPr>
              <a:t>영역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S101040101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</a:t>
            </a:r>
          </a:p>
        </p:txBody>
      </p:sp>
      <p:grpSp>
        <p:nvGrpSpPr>
          <p:cNvPr id="55" name="그룹 54"/>
          <p:cNvGrpSpPr/>
          <p:nvPr/>
        </p:nvGrpSpPr>
        <p:grpSpPr>
          <a:xfrm>
            <a:off x="208192" y="1053530"/>
            <a:ext cx="720000" cy="4368542"/>
            <a:chOff x="3255854" y="1809661"/>
            <a:chExt cx="720000" cy="4368542"/>
          </a:xfrm>
        </p:grpSpPr>
        <p:sp>
          <p:nvSpPr>
            <p:cNvPr id="56" name="직사각형 55"/>
            <p:cNvSpPr/>
            <p:nvPr/>
          </p:nvSpPr>
          <p:spPr>
            <a:xfrm>
              <a:off x="3255854" y="1809661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3255854" y="3480218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255854" y="4019714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3255854" y="4559210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3255854" y="5098706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61" name="그룹 60"/>
            <p:cNvGrpSpPr/>
            <p:nvPr/>
          </p:nvGrpSpPr>
          <p:grpSpPr>
            <a:xfrm>
              <a:off x="3255854" y="5638203"/>
              <a:ext cx="720000" cy="540000"/>
              <a:chOff x="3255854" y="5638203"/>
              <a:chExt cx="720000" cy="540000"/>
            </a:xfrm>
          </p:grpSpPr>
          <p:sp>
            <p:nvSpPr>
              <p:cNvPr id="68" name="직사각형 67"/>
              <p:cNvSpPr/>
              <p:nvPr/>
            </p:nvSpPr>
            <p:spPr>
              <a:xfrm>
                <a:off x="3255854" y="5638203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69" name="Picture 5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11037" y="5716131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62" name="직사각형 61"/>
            <p:cNvSpPr/>
            <p:nvPr/>
          </p:nvSpPr>
          <p:spPr>
            <a:xfrm>
              <a:off x="3293358" y="2372780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고객</a:t>
              </a:r>
            </a:p>
          </p:txBody>
        </p:sp>
        <p:sp>
          <p:nvSpPr>
            <p:cNvPr id="63" name="타원 62"/>
            <p:cNvSpPr/>
            <p:nvPr/>
          </p:nvSpPr>
          <p:spPr>
            <a:xfrm>
              <a:off x="3324861" y="2436154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3293278" y="2731260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상품</a:t>
              </a:r>
            </a:p>
          </p:txBody>
        </p:sp>
        <p:sp>
          <p:nvSpPr>
            <p:cNvPr id="65" name="타원 64"/>
            <p:cNvSpPr/>
            <p:nvPr/>
          </p:nvSpPr>
          <p:spPr>
            <a:xfrm>
              <a:off x="3324861" y="2794634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6" name="직사각형 65"/>
            <p:cNvSpPr/>
            <p:nvPr/>
          </p:nvSpPr>
          <p:spPr>
            <a:xfrm>
              <a:off x="3293278" y="3091300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동의</a:t>
              </a:r>
            </a:p>
          </p:txBody>
        </p:sp>
        <p:sp>
          <p:nvSpPr>
            <p:cNvPr id="67" name="타원 66"/>
            <p:cNvSpPr/>
            <p:nvPr/>
          </p:nvSpPr>
          <p:spPr>
            <a:xfrm>
              <a:off x="3324861" y="3154674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4" name="눈물 방울 43"/>
          <p:cNvSpPr/>
          <p:nvPr/>
        </p:nvSpPr>
        <p:spPr>
          <a:xfrm rot="5400000">
            <a:off x="967462" y="349703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7" name="눈물 방울 46"/>
          <p:cNvSpPr/>
          <p:nvPr/>
        </p:nvSpPr>
        <p:spPr>
          <a:xfrm rot="5400000">
            <a:off x="9174529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8417104" y="6284268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초기화</a:t>
            </a:r>
          </a:p>
        </p:txBody>
      </p:sp>
      <p:sp>
        <p:nvSpPr>
          <p:cNvPr id="50" name="직사각형 49"/>
          <p:cNvSpPr/>
          <p:nvPr/>
        </p:nvSpPr>
        <p:spPr>
          <a:xfrm>
            <a:off x="7120880" y="6292862"/>
            <a:ext cx="1008112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예상 납부금액</a:t>
            </a:r>
          </a:p>
        </p:txBody>
      </p:sp>
      <p:sp>
        <p:nvSpPr>
          <p:cNvPr id="51" name="눈물 방울 50"/>
          <p:cNvSpPr/>
          <p:nvPr/>
        </p:nvSpPr>
        <p:spPr>
          <a:xfrm rot="5400000">
            <a:off x="8205766" y="631758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3" name="눈물 방울 72"/>
          <p:cNvSpPr/>
          <p:nvPr/>
        </p:nvSpPr>
        <p:spPr>
          <a:xfrm rot="5400000">
            <a:off x="6837614" y="631758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9425136" y="6274520"/>
            <a:ext cx="900000" cy="288000"/>
          </a:xfrm>
          <a:prstGeom prst="rect">
            <a:avLst/>
          </a:prstGeom>
          <a:solidFill>
            <a:srgbClr val="008080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작성 완료</a:t>
            </a:r>
          </a:p>
        </p:txBody>
      </p:sp>
      <p:sp>
        <p:nvSpPr>
          <p:cNvPr id="40" name="직사각형 39"/>
          <p:cNvSpPr/>
          <p:nvPr/>
        </p:nvSpPr>
        <p:spPr>
          <a:xfrm>
            <a:off x="12881520" y="1053530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(2026.03.04)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신청서 처리 </a:t>
            </a: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API,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신청서 이미지 전송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확인중</a:t>
            </a:r>
            <a:endParaRPr lang="ko-KR" altLang="en-US" sz="10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974137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S101040101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</a:t>
            </a:r>
          </a:p>
        </p:txBody>
      </p:sp>
      <p:grpSp>
        <p:nvGrpSpPr>
          <p:cNvPr id="16" name="그룹 15"/>
          <p:cNvGrpSpPr/>
          <p:nvPr/>
        </p:nvGrpSpPr>
        <p:grpSpPr>
          <a:xfrm>
            <a:off x="3972650" y="2529775"/>
            <a:ext cx="2881818" cy="1397063"/>
            <a:chOff x="3735006" y="4762023"/>
            <a:chExt cx="2881818" cy="1397063"/>
          </a:xfrm>
        </p:grpSpPr>
        <p:sp>
          <p:nvSpPr>
            <p:cNvPr id="17" name="직사각형 16"/>
            <p:cNvSpPr/>
            <p:nvPr/>
          </p:nvSpPr>
          <p:spPr>
            <a:xfrm>
              <a:off x="3736824" y="4762023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3735006" y="5799086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3736825" y="5006964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신청서 등록이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0" name="직사각형 19"/>
          <p:cNvSpPr/>
          <p:nvPr/>
        </p:nvSpPr>
        <p:spPr>
          <a:xfrm>
            <a:off x="637459" y="2257414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확인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856184" y="2533747"/>
            <a:ext cx="2881818" cy="1400103"/>
            <a:chOff x="618540" y="4765995"/>
            <a:chExt cx="2881818" cy="1400103"/>
          </a:xfrm>
        </p:grpSpPr>
        <p:sp>
          <p:nvSpPr>
            <p:cNvPr id="22" name="직사각형 21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618540" y="580305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취소</a:t>
              </a:r>
            </a:p>
          </p:txBody>
        </p:sp>
        <p:sp>
          <p:nvSpPr>
            <p:cNvPr id="26" name="직사각형 25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신청서를 등록하시겠습니까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?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2053459" y="580609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28" name="직사각형 27"/>
          <p:cNvSpPr/>
          <p:nvPr/>
        </p:nvSpPr>
        <p:spPr>
          <a:xfrm>
            <a:off x="4262180" y="2263371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29" name="그룹 28"/>
          <p:cNvGrpSpPr/>
          <p:nvPr/>
        </p:nvGrpSpPr>
        <p:grpSpPr>
          <a:xfrm>
            <a:off x="7141002" y="2528168"/>
            <a:ext cx="2881818" cy="1397063"/>
            <a:chOff x="6903358" y="4760416"/>
            <a:chExt cx="2881818" cy="1397063"/>
          </a:xfrm>
        </p:grpSpPr>
        <p:sp>
          <p:nvSpPr>
            <p:cNvPr id="30" name="직사각형 29"/>
            <p:cNvSpPr/>
            <p:nvPr/>
          </p:nvSpPr>
          <p:spPr>
            <a:xfrm>
              <a:off x="6905176" y="4760416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6903358" y="5797479"/>
              <a:ext cx="288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6905177" y="5005357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신청서 등록이 실패하였습니다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다시 시도해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3" name="직사각형 32"/>
          <p:cNvSpPr/>
          <p:nvPr/>
        </p:nvSpPr>
        <p:spPr>
          <a:xfrm>
            <a:off x="7430532" y="2261764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실패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5" name="눈물 방울 34"/>
          <p:cNvSpPr/>
          <p:nvPr/>
        </p:nvSpPr>
        <p:spPr>
          <a:xfrm rot="5400000">
            <a:off x="359595" y="2285133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856184" y="1246133"/>
            <a:ext cx="900000" cy="288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작성 완료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1967712" y="1246133"/>
            <a:ext cx="900000" cy="288000"/>
          </a:xfrm>
          <a:prstGeom prst="rect">
            <a:avLst/>
          </a:prstGeom>
          <a:solidFill>
            <a:srgbClr val="008080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작성 완료</a:t>
            </a:r>
          </a:p>
        </p:txBody>
      </p:sp>
      <p:sp>
        <p:nvSpPr>
          <p:cNvPr id="45" name="직사각형 44"/>
          <p:cNvSpPr/>
          <p:nvPr/>
        </p:nvSpPr>
        <p:spPr>
          <a:xfrm>
            <a:off x="640160" y="909514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화면 내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 항목이 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7" name="눈물 방울 46"/>
          <p:cNvSpPr/>
          <p:nvPr/>
        </p:nvSpPr>
        <p:spPr>
          <a:xfrm rot="5400000">
            <a:off x="356894" y="925963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73136" y="1917626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grpSp>
        <p:nvGrpSpPr>
          <p:cNvPr id="36" name="그룹 35"/>
          <p:cNvGrpSpPr/>
          <p:nvPr/>
        </p:nvGrpSpPr>
        <p:grpSpPr>
          <a:xfrm>
            <a:off x="566654" y="4481003"/>
            <a:ext cx="2881818" cy="1397063"/>
            <a:chOff x="5875124" y="3832891"/>
            <a:chExt cx="2881818" cy="1397063"/>
          </a:xfrm>
        </p:grpSpPr>
        <p:sp>
          <p:nvSpPr>
            <p:cNvPr id="37" name="직사각형 36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XXX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입력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선택해 주세요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0" name="직사각형 39"/>
          <p:cNvSpPr/>
          <p:nvPr/>
        </p:nvSpPr>
        <p:spPr>
          <a:xfrm>
            <a:off x="620665" y="4186149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필수값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미입력시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2" name="눈물 방울 41"/>
          <p:cNvSpPr/>
          <p:nvPr/>
        </p:nvSpPr>
        <p:spPr>
          <a:xfrm rot="5400000">
            <a:off x="363821" y="415734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43" name="그룹 42"/>
          <p:cNvGrpSpPr/>
          <p:nvPr/>
        </p:nvGrpSpPr>
        <p:grpSpPr>
          <a:xfrm>
            <a:off x="3736504" y="4481003"/>
            <a:ext cx="2881818" cy="1397063"/>
            <a:chOff x="5875124" y="3832891"/>
            <a:chExt cx="2881818" cy="1397063"/>
          </a:xfrm>
        </p:grpSpPr>
        <p:sp>
          <p:nvSpPr>
            <p:cNvPr id="44" name="직사각형 43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XXX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체크해 주세요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51" name="직사각형 50"/>
          <p:cNvSpPr/>
          <p:nvPr/>
        </p:nvSpPr>
        <p:spPr>
          <a:xfrm>
            <a:off x="3790515" y="4186149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필수 인증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체크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미완료시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666133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직사각형 30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0" name="직사각형 89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18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175469"/>
              </p:ext>
            </p:extLst>
          </p:nvPr>
        </p:nvGraphicFramePr>
        <p:xfrm>
          <a:off x="10505256" y="788950"/>
          <a:ext cx="2130330" cy="151013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 안내 사항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모두 필수 체크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확인 및 서명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신청서 확인 팝업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88" name="TextBox 187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S101040101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</a:t>
            </a:r>
          </a:p>
        </p:txBody>
      </p:sp>
      <p:grpSp>
        <p:nvGrpSpPr>
          <p:cNvPr id="63" name="그룹 62"/>
          <p:cNvGrpSpPr/>
          <p:nvPr/>
        </p:nvGrpSpPr>
        <p:grpSpPr>
          <a:xfrm>
            <a:off x="1072208" y="1180138"/>
            <a:ext cx="9252000" cy="246221"/>
            <a:chOff x="1072208" y="1117425"/>
            <a:chExt cx="9252000" cy="246221"/>
          </a:xfrm>
        </p:grpSpPr>
        <p:sp>
          <p:nvSpPr>
            <p:cNvPr id="64" name="TextBox 63"/>
            <p:cNvSpPr txBox="1"/>
            <p:nvPr/>
          </p:nvSpPr>
          <p:spPr>
            <a:xfrm>
              <a:off x="1072208" y="1117425"/>
              <a:ext cx="10438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 안내 사항</a:t>
              </a:r>
            </a:p>
          </p:txBody>
        </p:sp>
        <p:cxnSp>
          <p:nvCxnSpPr>
            <p:cNvPr id="65" name="직선 연결선 64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TextBox 67"/>
          <p:cNvSpPr txBox="1"/>
          <p:nvPr/>
        </p:nvSpPr>
        <p:spPr>
          <a:xfrm>
            <a:off x="1216224" y="1485577"/>
            <a:ext cx="9001000" cy="241807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180000" tIns="180000" rIns="180000" bIns="180000" rtlCol="0">
            <a:no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다음 사항을 고객님께 설명하고 서명을 받아주세요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개통정보 녹음거부 동의</a:t>
            </a:r>
            <a:endParaRPr lang="en-US" altLang="ko-KR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     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개통 정보에 대해 모두 확인하였고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신청내용에 이의가 없으며 더 이상의 설명을 거부합니다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판매자 확인 안내</a:t>
            </a:r>
            <a:endParaRPr lang="en-US" altLang="ko-KR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      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[</a:t>
            </a:r>
            <a:r>
              <a: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판매자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]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고객 보호를 위해서 통신상품 가입 시 본인확인 및 가입의사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추가이용에 대해서 성실히 안내 하였습니다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가입자 확인 안내</a:t>
            </a:r>
            <a:endParaRPr lang="en-US" altLang="ko-KR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      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[</a:t>
            </a:r>
            <a:r>
              <a: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가입자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]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본인 명의의 통신상품을 타인에게 제공하거나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매개하는 경우 법률에 따라 처벌 받을 수 있습니다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endParaRPr lang="ko-KR" altLang="en-US" sz="900" b="1" dirty="0"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73" name="그룹 72"/>
          <p:cNvGrpSpPr/>
          <p:nvPr/>
        </p:nvGrpSpPr>
        <p:grpSpPr>
          <a:xfrm>
            <a:off x="1072208" y="4119677"/>
            <a:ext cx="9252000" cy="246221"/>
            <a:chOff x="1072208" y="1117425"/>
            <a:chExt cx="9252000" cy="246221"/>
          </a:xfrm>
        </p:grpSpPr>
        <p:sp>
          <p:nvSpPr>
            <p:cNvPr id="74" name="TextBox 73"/>
            <p:cNvSpPr txBox="1"/>
            <p:nvPr/>
          </p:nvSpPr>
          <p:spPr>
            <a:xfrm>
              <a:off x="1072208" y="1117425"/>
              <a:ext cx="8707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신청서 확인</a:t>
              </a:r>
            </a:p>
          </p:txBody>
        </p:sp>
        <p:cxnSp>
          <p:nvCxnSpPr>
            <p:cNvPr id="75" name="직선 연결선 74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그룹 2"/>
          <p:cNvGrpSpPr/>
          <p:nvPr/>
        </p:nvGrpSpPr>
        <p:grpSpPr>
          <a:xfrm>
            <a:off x="1216224" y="4437906"/>
            <a:ext cx="9001000" cy="936106"/>
            <a:chOff x="1216224" y="4437906"/>
            <a:chExt cx="9001000" cy="936106"/>
          </a:xfrm>
        </p:grpSpPr>
        <p:sp>
          <p:nvSpPr>
            <p:cNvPr id="79" name="TextBox 78"/>
            <p:cNvSpPr txBox="1"/>
            <p:nvPr/>
          </p:nvSpPr>
          <p:spPr>
            <a:xfrm>
              <a:off x="1216224" y="4437906"/>
              <a:ext cx="9001000" cy="93610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 lIns="180000" tIns="180000" rIns="180000" bIns="180000" rtlCol="0">
              <a:no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신청서 확인을 눌러서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,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신청서 작성 내용을 확인하신 후 판매자 서명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,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가입자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대리인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서명을 등록해 주세요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endParaRPr lang="en-US" altLang="ko-KR" sz="900" b="1" dirty="0">
                <a:latin typeface="맑은 고딕" pitchFamily="50" charset="-127"/>
                <a:ea typeface="맑은 고딕" pitchFamily="50" charset="-127"/>
              </a:endParaRPr>
            </a:p>
            <a:p>
              <a:endParaRPr lang="en-US" altLang="ko-KR" sz="900" b="1" dirty="0">
                <a:latin typeface="맑은 고딕" pitchFamily="50" charset="-127"/>
                <a:ea typeface="맑은 고딕" pitchFamily="50" charset="-127"/>
              </a:endParaRPr>
            </a:p>
            <a:p>
              <a:pPr algn="ctr"/>
              <a:r>
                <a:rPr lang="ko-KR" altLang="en-US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등록된 판매자 서명과 다른 판매자 직원인 경우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, </a:t>
              </a:r>
              <a:r>
                <a:rPr lang="ko-KR" altLang="en-US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서명정보를 변경하여 작성하여 주시기 바랍니다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  <p:sp>
          <p:nvSpPr>
            <p:cNvPr id="2" name="타원 1"/>
            <p:cNvSpPr/>
            <p:nvPr/>
          </p:nvSpPr>
          <p:spPr>
            <a:xfrm>
              <a:off x="3059554" y="5013970"/>
              <a:ext cx="144000" cy="1440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!</a:t>
              </a:r>
              <a:endParaRPr lang="ko-KR" altLang="en-US" sz="9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66" name="눈물 방울 65"/>
          <p:cNvSpPr/>
          <p:nvPr/>
        </p:nvSpPr>
        <p:spPr>
          <a:xfrm rot="5400000">
            <a:off x="932958" y="106155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6" name="눈물 방울 75"/>
          <p:cNvSpPr/>
          <p:nvPr/>
        </p:nvSpPr>
        <p:spPr>
          <a:xfrm rot="5400000">
            <a:off x="932958" y="408533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0" name="직사각형 69"/>
          <p:cNvSpPr/>
          <p:nvPr/>
        </p:nvSpPr>
        <p:spPr>
          <a:xfrm>
            <a:off x="1406297" y="2197032"/>
            <a:ext cx="144000" cy="144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1406370" y="2899860"/>
            <a:ext cx="144000" cy="144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8" name="눈물 방울 117"/>
          <p:cNvSpPr/>
          <p:nvPr/>
        </p:nvSpPr>
        <p:spPr>
          <a:xfrm rot="5400000">
            <a:off x="4661477" y="555536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0" name="직사각형 119"/>
          <p:cNvSpPr/>
          <p:nvPr/>
        </p:nvSpPr>
        <p:spPr>
          <a:xfrm>
            <a:off x="1406370" y="3573826"/>
            <a:ext cx="144000" cy="144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4996424" y="5518026"/>
            <a:ext cx="1080000" cy="288000"/>
          </a:xfrm>
          <a:prstGeom prst="rect">
            <a:avLst/>
          </a:prstGeom>
          <a:solidFill>
            <a:srgbClr val="008080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신청서 확인</a:t>
            </a:r>
          </a:p>
        </p:txBody>
      </p:sp>
      <p:sp>
        <p:nvSpPr>
          <p:cNvPr id="53" name="직사각형 52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</p:spTree>
    <p:extLst>
      <p:ext uri="{BB962C8B-B14F-4D97-AF65-F5344CB8AC3E}">
        <p14:creationId xmlns:p14="http://schemas.microsoft.com/office/powerpoint/2010/main" val="27663163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3704384"/>
              </p:ext>
            </p:extLst>
          </p:nvPr>
        </p:nvGraphicFramePr>
        <p:xfrm>
          <a:off x="10505256" y="788950"/>
          <a:ext cx="2130330" cy="6187288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안내 녹취 스크립트 조회하여 화면에 출력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-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안내 녹취 스크립트의 변수명은 고객 정보 및 신청서 작성 내용으로 치환하여 화면에 표시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솔루션 양식에 신청서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작성 내용 조회하여 화면에 출력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아이프레임으로 신청서 솔루션 양식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솔루션 양식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파일을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BASE64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전달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이미징 처리시 솔루션 내에서 신분증 합본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솔루션 연동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폼 연동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영역 열기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닫기 처리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신청서 작성 확인 완료로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내부적으로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이후 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작성 화면으로 이동하여 작성 내용 화면에 출력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녹취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 실행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녹취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등록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녹취파일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확인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포시에스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 사이트에서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솔루션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녹취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모듈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App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에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포시에스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녹취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모듈 라이브러리 포함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모듈 호출하여 녹음 실행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녹음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녹음 파일 서버에 등록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정보와 녹음 파일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매핑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관리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B5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서명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판매자 서명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가입자 서명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솔루션 양식 내에서 서명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S101040104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신청서 확인</a:t>
            </a:r>
          </a:p>
        </p:txBody>
      </p:sp>
      <p:sp>
        <p:nvSpPr>
          <p:cNvPr id="36" name="직사각형 35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1755355" y="1181185"/>
            <a:ext cx="7524925" cy="5416961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38" name="그룹 37"/>
          <p:cNvGrpSpPr/>
          <p:nvPr/>
        </p:nvGrpSpPr>
        <p:grpSpPr>
          <a:xfrm rot="2700000">
            <a:off x="8949487" y="1301598"/>
            <a:ext cx="214699" cy="216000"/>
            <a:chOff x="6609184" y="2719104"/>
            <a:chExt cx="1008112" cy="1008112"/>
          </a:xfrm>
        </p:grpSpPr>
        <p:cxnSp>
          <p:nvCxnSpPr>
            <p:cNvPr id="39" name="직선 연결선 38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39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TextBox 40"/>
          <p:cNvSpPr txBox="1"/>
          <p:nvPr/>
        </p:nvSpPr>
        <p:spPr>
          <a:xfrm>
            <a:off x="1947922" y="1267675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신청서 확인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2043649" y="1845758"/>
            <a:ext cx="3515281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latin typeface="맑은 고딕" pitchFamily="50" charset="-127"/>
                <a:ea typeface="맑은 고딕" pitchFamily="50" charset="-127"/>
              </a:rPr>
              <a:t>안내 </a:t>
            </a:r>
            <a:r>
              <a:rPr lang="ko-KR" altLang="en-US" sz="1000" b="1" dirty="0" err="1">
                <a:latin typeface="맑은 고딕" pitchFamily="50" charset="-127"/>
                <a:ea typeface="맑은 고딕" pitchFamily="50" charset="-127"/>
              </a:rPr>
              <a:t>녹취</a:t>
            </a:r>
            <a:endParaRPr lang="ko-KR" altLang="en-US" sz="10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2056334" y="2097785"/>
            <a:ext cx="6840000" cy="556281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안내 </a:t>
            </a:r>
            <a:r>
              <a:rPr lang="ko-KR" altLang="en-US" sz="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녹취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스크립트</a:t>
            </a:r>
          </a:p>
        </p:txBody>
      </p:sp>
      <p:sp>
        <p:nvSpPr>
          <p:cNvPr id="59" name="직사각형 58"/>
          <p:cNvSpPr/>
          <p:nvPr/>
        </p:nvSpPr>
        <p:spPr>
          <a:xfrm>
            <a:off x="2721289" y="1815497"/>
            <a:ext cx="360000" cy="216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열기</a:t>
            </a:r>
          </a:p>
        </p:txBody>
      </p:sp>
      <p:sp>
        <p:nvSpPr>
          <p:cNvPr id="60" name="직사각형 59"/>
          <p:cNvSpPr/>
          <p:nvPr/>
        </p:nvSpPr>
        <p:spPr>
          <a:xfrm>
            <a:off x="3160480" y="1815497"/>
            <a:ext cx="360000" cy="216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닫기</a:t>
            </a:r>
          </a:p>
        </p:txBody>
      </p:sp>
      <p:sp>
        <p:nvSpPr>
          <p:cNvPr id="62" name="눈물 방울 61"/>
          <p:cNvSpPr/>
          <p:nvPr/>
        </p:nvSpPr>
        <p:spPr>
          <a:xfrm rot="5400000">
            <a:off x="3592732" y="180597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7" name="눈물 방울 86"/>
          <p:cNvSpPr/>
          <p:nvPr/>
        </p:nvSpPr>
        <p:spPr>
          <a:xfrm rot="5400000">
            <a:off x="1799755" y="178107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5" name="눈물 방울 54"/>
          <p:cNvSpPr/>
          <p:nvPr/>
        </p:nvSpPr>
        <p:spPr>
          <a:xfrm rot="5400000">
            <a:off x="6120235" y="619521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8" name="눈물 방울 57"/>
          <p:cNvSpPr/>
          <p:nvPr/>
        </p:nvSpPr>
        <p:spPr>
          <a:xfrm rot="5400000">
            <a:off x="4173318" y="619521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1" name="직사각형 60"/>
          <p:cNvSpPr/>
          <p:nvPr/>
        </p:nvSpPr>
        <p:spPr>
          <a:xfrm>
            <a:off x="5316013" y="6157876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81" name="직사각형 80"/>
          <p:cNvSpPr/>
          <p:nvPr/>
        </p:nvSpPr>
        <p:spPr>
          <a:xfrm>
            <a:off x="4456584" y="6166130"/>
            <a:ext cx="720000" cy="288000"/>
          </a:xfrm>
          <a:prstGeom prst="rect">
            <a:avLst/>
          </a:prstGeom>
          <a:solidFill>
            <a:srgbClr val="008080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수정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="" xmlns:a16="http://schemas.microsoft.com/office/drawing/2014/main" id="{4E361608-5F95-4CDE-CD8D-F89153AD31DA}"/>
              </a:ext>
            </a:extLst>
          </p:cNvPr>
          <p:cNvSpPr/>
          <p:nvPr/>
        </p:nvSpPr>
        <p:spPr>
          <a:xfrm>
            <a:off x="2056334" y="3097053"/>
            <a:ext cx="6840000" cy="286645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" name="눈물 방울 9">
            <a:extLst>
              <a:ext uri="{FF2B5EF4-FFF2-40B4-BE49-F238E27FC236}">
                <a16:creationId xmlns="" xmlns:a16="http://schemas.microsoft.com/office/drawing/2014/main" id="{505FD5E3-AA29-3277-C09F-F30888564C8D}"/>
              </a:ext>
            </a:extLst>
          </p:cNvPr>
          <p:cNvSpPr/>
          <p:nvPr/>
        </p:nvSpPr>
        <p:spPr>
          <a:xfrm rot="5400000">
            <a:off x="1799755" y="299039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="" xmlns:a16="http://schemas.microsoft.com/office/drawing/2014/main" id="{BD321B1D-80EA-76E2-9142-946F2DABD640}"/>
              </a:ext>
            </a:extLst>
          </p:cNvPr>
          <p:cNvSpPr/>
          <p:nvPr/>
        </p:nvSpPr>
        <p:spPr>
          <a:xfrm>
            <a:off x="2036093" y="2853730"/>
            <a:ext cx="3515281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latin typeface="맑은 고딕" pitchFamily="50" charset="-127"/>
                <a:ea typeface="맑은 고딕" pitchFamily="50" charset="-127"/>
              </a:rPr>
              <a:t>신청서</a:t>
            </a:r>
          </a:p>
        </p:txBody>
      </p:sp>
      <p:sp>
        <p:nvSpPr>
          <p:cNvPr id="93" name="직사각형 92"/>
          <p:cNvSpPr/>
          <p:nvPr/>
        </p:nvSpPr>
        <p:spPr>
          <a:xfrm>
            <a:off x="7912968" y="1773610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녹취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4" name="눈물 방울 93"/>
          <p:cNvSpPr/>
          <p:nvPr/>
        </p:nvSpPr>
        <p:spPr>
          <a:xfrm rot="5400000">
            <a:off x="7629702" y="178093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pic>
        <p:nvPicPr>
          <p:cNvPr id="14" name="그림 13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="" xmlns:a16="http://schemas.microsoft.com/office/drawing/2014/main" id="{64990912-49BA-A080-CFBB-B47BBD697C4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8480" r="432" b="25856"/>
          <a:stretch>
            <a:fillRect/>
          </a:stretch>
        </p:blipFill>
        <p:spPr>
          <a:xfrm>
            <a:off x="8706250" y="4564174"/>
            <a:ext cx="1726998" cy="2091866"/>
          </a:xfrm>
          <a:prstGeom prst="rect">
            <a:avLst/>
          </a:prstGeom>
        </p:spPr>
      </p:pic>
      <p:pic>
        <p:nvPicPr>
          <p:cNvPr id="42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129"/>
          <a:stretch/>
        </p:blipFill>
        <p:spPr bwMode="auto">
          <a:xfrm>
            <a:off x="2080320" y="3141762"/>
            <a:ext cx="6804000" cy="28217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6" name="직선 화살표 연결선 15">
            <a:extLst>
              <a:ext uri="{FF2B5EF4-FFF2-40B4-BE49-F238E27FC236}">
                <a16:creationId xmlns="" xmlns:a16="http://schemas.microsoft.com/office/drawing/2014/main" id="{8543E991-6B86-ADD7-EE8E-36AEE6EB2640}"/>
              </a:ext>
            </a:extLst>
          </p:cNvPr>
          <p:cNvCxnSpPr>
            <a:stCxn id="93" idx="3"/>
            <a:endCxn id="14" idx="0"/>
          </p:cNvCxnSpPr>
          <p:nvPr/>
        </p:nvCxnSpPr>
        <p:spPr>
          <a:xfrm>
            <a:off x="8812968" y="1899610"/>
            <a:ext cx="756781" cy="26645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366540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녹취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프로세스 설명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024929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눈물 방울 14"/>
          <p:cNvSpPr/>
          <p:nvPr/>
        </p:nvSpPr>
        <p:spPr>
          <a:xfrm rot="5400000">
            <a:off x="627761" y="277695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928192" y="2821246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확인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618540" y="3097579"/>
            <a:ext cx="2881818" cy="1400103"/>
            <a:chOff x="618540" y="4765995"/>
            <a:chExt cx="2881818" cy="1400103"/>
          </a:xfrm>
        </p:grpSpPr>
        <p:sp>
          <p:nvSpPr>
            <p:cNvPr id="22" name="직사각형 21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618540" y="580305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취소</a:t>
              </a:r>
            </a:p>
          </p:txBody>
        </p:sp>
        <p:sp>
          <p:nvSpPr>
            <p:cNvPr id="26" name="직사각형 25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녹취를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시작하시겠습니까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?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2053459" y="580609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35" name="눈물 방울 34"/>
          <p:cNvSpPr/>
          <p:nvPr/>
        </p:nvSpPr>
        <p:spPr>
          <a:xfrm rot="5400000">
            <a:off x="627761" y="464916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6" name="그룹 35"/>
          <p:cNvGrpSpPr/>
          <p:nvPr/>
        </p:nvGrpSpPr>
        <p:grpSpPr>
          <a:xfrm>
            <a:off x="3735006" y="4965815"/>
            <a:ext cx="2881818" cy="1397063"/>
            <a:chOff x="3735006" y="4762023"/>
            <a:chExt cx="2881818" cy="1397063"/>
          </a:xfrm>
        </p:grpSpPr>
        <p:sp>
          <p:nvSpPr>
            <p:cNvPr id="37" name="직사각형 36"/>
            <p:cNvSpPr/>
            <p:nvPr/>
          </p:nvSpPr>
          <p:spPr>
            <a:xfrm>
              <a:off x="3736824" y="4762023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3735006" y="5799086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3736825" y="5006964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녹취가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0" name="직사각형 39"/>
          <p:cNvSpPr/>
          <p:nvPr/>
        </p:nvSpPr>
        <p:spPr>
          <a:xfrm>
            <a:off x="928192" y="4693454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확인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41" name="그룹 40"/>
          <p:cNvGrpSpPr/>
          <p:nvPr/>
        </p:nvGrpSpPr>
        <p:grpSpPr>
          <a:xfrm>
            <a:off x="618540" y="4969787"/>
            <a:ext cx="2881818" cy="1400103"/>
            <a:chOff x="618540" y="4765995"/>
            <a:chExt cx="2881818" cy="1400103"/>
          </a:xfrm>
        </p:grpSpPr>
        <p:sp>
          <p:nvSpPr>
            <p:cNvPr id="42" name="직사각형 41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618540" y="580305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취소</a:t>
              </a: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녹취를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중단하시겠습니까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?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2053459" y="580609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46" name="직사각형 45"/>
          <p:cNvSpPr/>
          <p:nvPr/>
        </p:nvSpPr>
        <p:spPr>
          <a:xfrm>
            <a:off x="4024536" y="4699411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녹취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완료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47" name="그룹 46"/>
          <p:cNvGrpSpPr/>
          <p:nvPr/>
        </p:nvGrpSpPr>
        <p:grpSpPr>
          <a:xfrm>
            <a:off x="6903358" y="4964208"/>
            <a:ext cx="2881818" cy="1397063"/>
            <a:chOff x="6903358" y="4760416"/>
            <a:chExt cx="2881818" cy="1397063"/>
          </a:xfrm>
        </p:grpSpPr>
        <p:sp>
          <p:nvSpPr>
            <p:cNvPr id="48" name="직사각형 47"/>
            <p:cNvSpPr/>
            <p:nvPr/>
          </p:nvSpPr>
          <p:spPr>
            <a:xfrm>
              <a:off x="6905176" y="4760416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6903358" y="5797479"/>
              <a:ext cx="288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6905177" y="5005357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녹취가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실패하였습니다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다시 시도해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51" name="직사각형 50"/>
          <p:cNvSpPr/>
          <p:nvPr/>
        </p:nvSpPr>
        <p:spPr>
          <a:xfrm>
            <a:off x="7192888" y="4697804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녹취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실패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845839" y="2025666"/>
            <a:ext cx="90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녹취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완료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784176" y="1061633"/>
            <a:ext cx="547260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녹취중인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경우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2" name="눈물 방울 31"/>
          <p:cNvSpPr/>
          <p:nvPr/>
        </p:nvSpPr>
        <p:spPr>
          <a:xfrm rot="5400000">
            <a:off x="575620" y="104223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856184" y="1346229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녹취중</a:t>
            </a:r>
            <a:endParaRPr lang="ko-KR" altLang="en-US" sz="10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784176" y="1743413"/>
            <a:ext cx="475252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녹취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완료 상태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173136" y="2421682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S101040104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신청서 확인</a:t>
            </a:r>
          </a:p>
        </p:txBody>
      </p:sp>
    </p:spTree>
    <p:extLst>
      <p:ext uri="{BB962C8B-B14F-4D97-AF65-F5344CB8AC3E}">
        <p14:creationId xmlns:p14="http://schemas.microsoft.com/office/powerpoint/2010/main" val="421425791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39641"/>
              </p:ext>
            </p:extLst>
          </p:nvPr>
        </p:nvGraphicFramePr>
        <p:xfrm>
          <a:off x="10505256" y="788950"/>
          <a:ext cx="2130330" cy="2823461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 등록한 판매자 성명이 있는 경우 이미지 화면에 출력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 등록한 판매자 서명이 있는 경우 이미지 화면에 출력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성명 삭제 처리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 삭제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성명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 모두 등록 여부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- 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성명을 등록해 주세요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.”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- 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서명을 등록해 주세요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.”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서식지 화면에 등록한 성명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 화면에 출력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등록한 성명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 취소하고 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S101040102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동의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신청서 확인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판매자 서명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755355" y="1181185"/>
            <a:ext cx="7524925" cy="5272945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5" name="그룹 14"/>
          <p:cNvGrpSpPr/>
          <p:nvPr/>
        </p:nvGrpSpPr>
        <p:grpSpPr>
          <a:xfrm rot="2700000">
            <a:off x="8949487" y="1301598"/>
            <a:ext cx="214699" cy="216000"/>
            <a:chOff x="6609184" y="2719104"/>
            <a:chExt cx="1008112" cy="1008112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1947922" y="1267675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서명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2043649" y="1761442"/>
            <a:ext cx="3515281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성명을 정자로 입력해 주세요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2047301" y="3861842"/>
            <a:ext cx="3515281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서명을 입력해 주세요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56334" y="2013470"/>
            <a:ext cx="6840000" cy="12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3200" b="1" dirty="0">
                <a:solidFill>
                  <a:schemeClr val="bg1">
                    <a:lumMod val="7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판매자 성명</a:t>
            </a:r>
          </a:p>
        </p:txBody>
      </p:sp>
      <p:sp>
        <p:nvSpPr>
          <p:cNvPr id="30" name="직사각형 29"/>
          <p:cNvSpPr/>
          <p:nvPr/>
        </p:nvSpPr>
        <p:spPr>
          <a:xfrm>
            <a:off x="7912968" y="3382352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성명 삭제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2054442" y="4106640"/>
            <a:ext cx="6840000" cy="12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3200" b="1" dirty="0">
                <a:solidFill>
                  <a:schemeClr val="bg1">
                    <a:lumMod val="7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판매자 서명</a:t>
            </a:r>
          </a:p>
        </p:txBody>
      </p:sp>
      <p:sp>
        <p:nvSpPr>
          <p:cNvPr id="34" name="눈물 방울 33"/>
          <p:cNvSpPr/>
          <p:nvPr/>
        </p:nvSpPr>
        <p:spPr>
          <a:xfrm rot="5400000">
            <a:off x="7632403" y="338448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5" name="눈물 방울 34"/>
          <p:cNvSpPr/>
          <p:nvPr/>
        </p:nvSpPr>
        <p:spPr>
          <a:xfrm rot="5400000">
            <a:off x="7485686" y="545348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6" name="눈물 방울 35"/>
          <p:cNvSpPr/>
          <p:nvPr/>
        </p:nvSpPr>
        <p:spPr>
          <a:xfrm rot="5400000">
            <a:off x="1799755" y="185308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7" name="눈물 방울 36"/>
          <p:cNvSpPr/>
          <p:nvPr/>
        </p:nvSpPr>
        <p:spPr>
          <a:xfrm rot="5400000">
            <a:off x="1797054" y="408533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8" name="눈물 방울 37"/>
          <p:cNvSpPr/>
          <p:nvPr/>
        </p:nvSpPr>
        <p:spPr>
          <a:xfrm rot="5400000">
            <a:off x="6120235" y="591543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9" name="눈물 방울 38"/>
          <p:cNvSpPr/>
          <p:nvPr/>
        </p:nvSpPr>
        <p:spPr>
          <a:xfrm rot="5400000">
            <a:off x="4173318" y="591543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5316013" y="5878098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41" name="직사각형 40"/>
          <p:cNvSpPr/>
          <p:nvPr/>
        </p:nvSpPr>
        <p:spPr>
          <a:xfrm>
            <a:off x="4482631" y="5878098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7912968" y="5482050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서명 삭제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="" xmlns:a16="http://schemas.microsoft.com/office/drawing/2014/main" id="{6487BA25-B6EB-C3F3-82C2-F086C11A3457}"/>
              </a:ext>
            </a:extLst>
          </p:cNvPr>
          <p:cNvSpPr/>
          <p:nvPr/>
        </p:nvSpPr>
        <p:spPr>
          <a:xfrm>
            <a:off x="5558930" y="534584"/>
            <a:ext cx="7076656" cy="468510"/>
          </a:xfrm>
          <a:prstGeom prst="rect">
            <a:avLst/>
          </a:prstGeom>
          <a:solidFill>
            <a:srgbClr val="FF0000"/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신청서 솔루션 내에서 서명 등록</a:t>
            </a:r>
          </a:p>
        </p:txBody>
      </p:sp>
    </p:spTree>
    <p:extLst>
      <p:ext uri="{BB962C8B-B14F-4D97-AF65-F5344CB8AC3E}">
        <p14:creationId xmlns:p14="http://schemas.microsoft.com/office/powerpoint/2010/main" val="295519615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S101040102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동의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신청서 확인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판매자 서명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1520460" y="951325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서명 완료 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1755355" y="1197546"/>
            <a:ext cx="7524925" cy="5272945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41" name="그룹 40"/>
          <p:cNvGrpSpPr/>
          <p:nvPr/>
        </p:nvGrpSpPr>
        <p:grpSpPr>
          <a:xfrm rot="2700000">
            <a:off x="8949487" y="1317959"/>
            <a:ext cx="214699" cy="216000"/>
            <a:chOff x="6609184" y="2719104"/>
            <a:chExt cx="1008112" cy="1008112"/>
          </a:xfrm>
        </p:grpSpPr>
        <p:cxnSp>
          <p:nvCxnSpPr>
            <p:cNvPr id="42" name="직선 연결선 41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연결선 42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TextBox 43"/>
          <p:cNvSpPr txBox="1"/>
          <p:nvPr/>
        </p:nvSpPr>
        <p:spPr>
          <a:xfrm>
            <a:off x="1947922" y="1284036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서명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2043649" y="1777803"/>
            <a:ext cx="3515281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성명을 정자로 입력해 주세요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2047301" y="3878203"/>
            <a:ext cx="3515281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서명을 입력해 주세요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2056334" y="2029831"/>
            <a:ext cx="6840000" cy="12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3200" b="1" dirty="0">
                <a:latin typeface="맑은 고딕" pitchFamily="50" charset="-127"/>
                <a:ea typeface="맑은 고딕" pitchFamily="50" charset="-127"/>
              </a:rPr>
              <a:t>판매자 성명 이미지</a:t>
            </a:r>
          </a:p>
        </p:txBody>
      </p:sp>
      <p:sp>
        <p:nvSpPr>
          <p:cNvPr id="53" name="직사각형 52"/>
          <p:cNvSpPr/>
          <p:nvPr/>
        </p:nvSpPr>
        <p:spPr>
          <a:xfrm>
            <a:off x="2054442" y="4123001"/>
            <a:ext cx="6840000" cy="12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3200" b="1" dirty="0">
                <a:latin typeface="맑은 고딕" pitchFamily="50" charset="-127"/>
                <a:ea typeface="맑은 고딕" pitchFamily="50" charset="-127"/>
              </a:rPr>
              <a:t>판매자 서명 이미지</a:t>
            </a:r>
          </a:p>
        </p:txBody>
      </p:sp>
      <p:sp>
        <p:nvSpPr>
          <p:cNvPr id="29" name="직사각형 28"/>
          <p:cNvSpPr/>
          <p:nvPr/>
        </p:nvSpPr>
        <p:spPr>
          <a:xfrm>
            <a:off x="5316013" y="5864262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30" name="직사각형 29"/>
          <p:cNvSpPr/>
          <p:nvPr/>
        </p:nvSpPr>
        <p:spPr>
          <a:xfrm>
            <a:off x="4482631" y="5864262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912968" y="3368516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성명 삭제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7912968" y="5468214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서명 삭제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="" xmlns:a16="http://schemas.microsoft.com/office/drawing/2014/main" id="{124B82A0-8F2B-D19F-2CB9-DC719B863DC1}"/>
              </a:ext>
            </a:extLst>
          </p:cNvPr>
          <p:cNvSpPr/>
          <p:nvPr/>
        </p:nvSpPr>
        <p:spPr>
          <a:xfrm>
            <a:off x="5558930" y="534584"/>
            <a:ext cx="7076656" cy="468510"/>
          </a:xfrm>
          <a:prstGeom prst="rect">
            <a:avLst/>
          </a:prstGeom>
          <a:solidFill>
            <a:srgbClr val="FF0000"/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신청서 솔루션 내에서 서명 등록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="" xmlns:a16="http://schemas.microsoft.com/office/drawing/2014/main" id="{4F464DC4-52E3-54A6-F238-01945B7D2AF0}"/>
              </a:ext>
            </a:extLst>
          </p:cNvPr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790073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418811"/>
              </p:ext>
            </p:extLst>
          </p:nvPr>
        </p:nvGraphicFramePr>
        <p:xfrm>
          <a:off x="10505256" y="788950"/>
          <a:ext cx="2130330" cy="2823461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 등록한 가입자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대리인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성명이 있는 경우 이미지 화면에 출력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 등록한 가입자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대리인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서명이 있는 경우 이미지 화면에 출력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성명 삭제 처리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 삭제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성명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 모두 등록 여부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- 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성명을 등록해 주세요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.”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- 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서명을 등록해 주세요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.”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서식지 화면에 등록한 성명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 화면에 출력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등록한 성명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 취소하고 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S101040103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동의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신청서 확인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가입자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대리인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r>
              <a:rPr lang="ko-KR" altLang="en-US" sz="1000" dirty="0">
                <a:latin typeface="+mn-ea"/>
                <a:ea typeface="+mn-ea"/>
              </a:rPr>
              <a:t> 서명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755355" y="1181185"/>
            <a:ext cx="7524925" cy="5272945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15" name="그룹 14"/>
          <p:cNvGrpSpPr/>
          <p:nvPr/>
        </p:nvGrpSpPr>
        <p:grpSpPr>
          <a:xfrm rot="2700000">
            <a:off x="8949487" y="1301598"/>
            <a:ext cx="214699" cy="216000"/>
            <a:chOff x="6609184" y="2719104"/>
            <a:chExt cx="1008112" cy="1008112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1947922" y="1267675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서명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2043649" y="1761442"/>
            <a:ext cx="3515281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성명을 정자로 입력해 주세요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2047301" y="3861842"/>
            <a:ext cx="6849033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서명을 입력해 주세요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 (</a:t>
            </a:r>
            <a:r>
              <a:rPr lang="ko-KR" altLang="en-US" sz="10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고객 자필 서명이 아닌 경우에는 법적 효력이 없으므로 고객이 직접 서명해 주시기 바랍니다</a:t>
            </a:r>
            <a:r>
              <a:rPr lang="en-US" altLang="ko-KR" sz="10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56334" y="2013470"/>
            <a:ext cx="6840000" cy="12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3200" b="1" dirty="0">
                <a:solidFill>
                  <a:schemeClr val="bg1">
                    <a:lumMod val="7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가입자</a:t>
            </a:r>
            <a:r>
              <a:rPr lang="en-US" altLang="ko-KR" sz="3200" b="1" dirty="0">
                <a:solidFill>
                  <a:schemeClr val="bg1">
                    <a:lumMod val="75000"/>
                  </a:schemeClr>
                </a:solidFill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3200" b="1" dirty="0">
                <a:solidFill>
                  <a:schemeClr val="bg1">
                    <a:lumMod val="7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대리인</a:t>
            </a:r>
            <a:r>
              <a:rPr lang="en-US" altLang="ko-KR" sz="3200" b="1" dirty="0">
                <a:solidFill>
                  <a:schemeClr val="bg1">
                    <a:lumMod val="75000"/>
                  </a:schemeClr>
                </a:solidFill>
                <a:latin typeface="맑은 고딕" pitchFamily="50" charset="-127"/>
                <a:ea typeface="맑은 고딕" pitchFamily="50" charset="-127"/>
              </a:rPr>
              <a:t>) </a:t>
            </a:r>
            <a:r>
              <a:rPr lang="ko-KR" altLang="en-US" sz="3200" b="1" dirty="0">
                <a:solidFill>
                  <a:schemeClr val="bg1">
                    <a:lumMod val="7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성명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2054442" y="4106640"/>
            <a:ext cx="6840000" cy="12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3200" b="1" dirty="0">
                <a:solidFill>
                  <a:schemeClr val="bg1">
                    <a:lumMod val="7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가입자</a:t>
            </a:r>
            <a:r>
              <a:rPr lang="en-US" altLang="ko-KR" sz="3200" b="1" dirty="0">
                <a:solidFill>
                  <a:schemeClr val="bg1">
                    <a:lumMod val="75000"/>
                  </a:schemeClr>
                </a:solidFill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3200" b="1" dirty="0">
                <a:solidFill>
                  <a:schemeClr val="bg1">
                    <a:lumMod val="7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대리인</a:t>
            </a:r>
            <a:r>
              <a:rPr lang="en-US" altLang="ko-KR" sz="3200" b="1" dirty="0">
                <a:solidFill>
                  <a:schemeClr val="bg1">
                    <a:lumMod val="75000"/>
                  </a:schemeClr>
                </a:solidFill>
                <a:latin typeface="맑은 고딕" pitchFamily="50" charset="-127"/>
                <a:ea typeface="맑은 고딕" pitchFamily="50" charset="-127"/>
              </a:rPr>
              <a:t>) </a:t>
            </a:r>
            <a:r>
              <a:rPr lang="ko-KR" altLang="en-US" sz="3200" b="1" dirty="0">
                <a:solidFill>
                  <a:schemeClr val="bg1">
                    <a:lumMod val="7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서명</a:t>
            </a:r>
          </a:p>
        </p:txBody>
      </p:sp>
      <p:sp>
        <p:nvSpPr>
          <p:cNvPr id="34" name="눈물 방울 33"/>
          <p:cNvSpPr/>
          <p:nvPr/>
        </p:nvSpPr>
        <p:spPr>
          <a:xfrm rot="5400000">
            <a:off x="7632403" y="338448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5" name="눈물 방울 34"/>
          <p:cNvSpPr/>
          <p:nvPr/>
        </p:nvSpPr>
        <p:spPr>
          <a:xfrm rot="5400000">
            <a:off x="7632403" y="545348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6" name="눈물 방울 35"/>
          <p:cNvSpPr/>
          <p:nvPr/>
        </p:nvSpPr>
        <p:spPr>
          <a:xfrm rot="5400000">
            <a:off x="1799755" y="185308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7" name="눈물 방울 36"/>
          <p:cNvSpPr/>
          <p:nvPr/>
        </p:nvSpPr>
        <p:spPr>
          <a:xfrm rot="5400000">
            <a:off x="1797054" y="408533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5316013" y="5878098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45" name="직사각형 44"/>
          <p:cNvSpPr/>
          <p:nvPr/>
        </p:nvSpPr>
        <p:spPr>
          <a:xfrm>
            <a:off x="4482631" y="5878098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7912968" y="3382352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성명 삭제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7912968" y="5482050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서명 삭제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="" xmlns:a16="http://schemas.microsoft.com/office/drawing/2014/main" id="{D06F322C-3E44-8B97-1910-D0DE307B0FDD}"/>
              </a:ext>
            </a:extLst>
          </p:cNvPr>
          <p:cNvSpPr/>
          <p:nvPr/>
        </p:nvSpPr>
        <p:spPr>
          <a:xfrm>
            <a:off x="5558930" y="534584"/>
            <a:ext cx="7076656" cy="468510"/>
          </a:xfrm>
          <a:prstGeom prst="rect">
            <a:avLst/>
          </a:prstGeom>
          <a:solidFill>
            <a:srgbClr val="FF0000"/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신청서 솔루션 내에서 서명 등록</a:t>
            </a:r>
          </a:p>
        </p:txBody>
      </p:sp>
    </p:spTree>
    <p:extLst>
      <p:ext uri="{BB962C8B-B14F-4D97-AF65-F5344CB8AC3E}">
        <p14:creationId xmlns:p14="http://schemas.microsoft.com/office/powerpoint/2010/main" val="213559890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/>
          <p:cNvSpPr/>
          <p:nvPr/>
        </p:nvSpPr>
        <p:spPr>
          <a:xfrm>
            <a:off x="1520460" y="951325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서명 완료 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1755355" y="1211382"/>
            <a:ext cx="7524925" cy="5272945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41" name="그룹 40"/>
          <p:cNvGrpSpPr/>
          <p:nvPr/>
        </p:nvGrpSpPr>
        <p:grpSpPr>
          <a:xfrm rot="2700000">
            <a:off x="8949487" y="1331795"/>
            <a:ext cx="214699" cy="216000"/>
            <a:chOff x="6609184" y="2719104"/>
            <a:chExt cx="1008112" cy="1008112"/>
          </a:xfrm>
        </p:grpSpPr>
        <p:cxnSp>
          <p:nvCxnSpPr>
            <p:cNvPr id="42" name="직선 연결선 41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연결선 42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TextBox 43"/>
          <p:cNvSpPr txBox="1"/>
          <p:nvPr/>
        </p:nvSpPr>
        <p:spPr>
          <a:xfrm>
            <a:off x="1947922" y="1297872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서명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2043649" y="1791639"/>
            <a:ext cx="3515281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성명을 정자로 입력해 주세요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2056334" y="2043667"/>
            <a:ext cx="6840000" cy="12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3200" b="1" dirty="0">
                <a:latin typeface="맑은 고딕" pitchFamily="50" charset="-127"/>
                <a:ea typeface="맑은 고딕" pitchFamily="50" charset="-127"/>
              </a:rPr>
              <a:t>가입자</a:t>
            </a:r>
            <a:r>
              <a:rPr lang="en-US" altLang="ko-KR" sz="3200" b="1" dirty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3200" b="1" dirty="0">
                <a:latin typeface="맑은 고딕" pitchFamily="50" charset="-127"/>
                <a:ea typeface="맑은 고딕" pitchFamily="50" charset="-127"/>
              </a:rPr>
              <a:t>대리인</a:t>
            </a:r>
            <a:r>
              <a:rPr lang="en-US" altLang="ko-KR" sz="3200" b="1" dirty="0">
                <a:latin typeface="맑은 고딕" pitchFamily="50" charset="-127"/>
                <a:ea typeface="맑은 고딕" pitchFamily="50" charset="-127"/>
              </a:rPr>
              <a:t>) </a:t>
            </a:r>
            <a:r>
              <a:rPr lang="ko-KR" altLang="en-US" sz="3200" b="1" dirty="0">
                <a:latin typeface="맑은 고딕" pitchFamily="50" charset="-127"/>
                <a:ea typeface="맑은 고딕" pitchFamily="50" charset="-127"/>
              </a:rPr>
              <a:t>성명 이미지</a:t>
            </a:r>
          </a:p>
        </p:txBody>
      </p:sp>
      <p:sp>
        <p:nvSpPr>
          <p:cNvPr id="53" name="직사각형 52"/>
          <p:cNvSpPr/>
          <p:nvPr/>
        </p:nvSpPr>
        <p:spPr>
          <a:xfrm>
            <a:off x="2054442" y="4136837"/>
            <a:ext cx="6840000" cy="126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3200" b="1" dirty="0">
                <a:latin typeface="맑은 고딕" pitchFamily="50" charset="-127"/>
                <a:ea typeface="맑은 고딕" pitchFamily="50" charset="-127"/>
              </a:rPr>
              <a:t>가입자</a:t>
            </a:r>
            <a:r>
              <a:rPr lang="en-US" altLang="ko-KR" sz="3200" b="1" dirty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3200" b="1" dirty="0">
                <a:latin typeface="맑은 고딕" pitchFamily="50" charset="-127"/>
                <a:ea typeface="맑은 고딕" pitchFamily="50" charset="-127"/>
              </a:rPr>
              <a:t>대리인</a:t>
            </a:r>
            <a:r>
              <a:rPr lang="en-US" altLang="ko-KR" sz="3200" b="1" dirty="0">
                <a:latin typeface="맑은 고딕" pitchFamily="50" charset="-127"/>
                <a:ea typeface="맑은 고딕" pitchFamily="50" charset="-127"/>
              </a:rPr>
              <a:t>) </a:t>
            </a:r>
            <a:r>
              <a:rPr lang="ko-KR" altLang="en-US" sz="3200" b="1" dirty="0">
                <a:latin typeface="맑은 고딕" pitchFamily="50" charset="-127"/>
                <a:ea typeface="맑은 고딕" pitchFamily="50" charset="-127"/>
              </a:rPr>
              <a:t>서명 이미지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동의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신청서 확인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가입자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대리인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r>
              <a:rPr lang="ko-KR" altLang="en-US" sz="1000" dirty="0">
                <a:latin typeface="+mn-ea"/>
                <a:ea typeface="+mn-ea"/>
              </a:rPr>
              <a:t> 서명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2047301" y="3879094"/>
            <a:ext cx="6849033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서명을 입력해 주세요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 (</a:t>
            </a:r>
            <a:r>
              <a:rPr lang="ko-KR" altLang="en-US" sz="10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고객 자필 서명이 아닌 경우에는 법적 효력이 없으므로 고객이 직접 서명해 주시기 바랍니다</a:t>
            </a:r>
            <a:r>
              <a:rPr lang="en-US" altLang="ko-KR" sz="10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S101040103</a:t>
            </a:r>
          </a:p>
        </p:txBody>
      </p:sp>
      <p:sp>
        <p:nvSpPr>
          <p:cNvPr id="32" name="직사각형 31"/>
          <p:cNvSpPr/>
          <p:nvPr/>
        </p:nvSpPr>
        <p:spPr>
          <a:xfrm>
            <a:off x="5316013" y="5878098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4482631" y="5878098"/>
            <a:ext cx="720000" cy="288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취소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7912968" y="3382352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성명 삭제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7912968" y="5482050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서명 삭제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="" xmlns:a16="http://schemas.microsoft.com/office/drawing/2014/main" id="{AAC280D8-8C97-D972-3973-122965A5B20C}"/>
              </a:ext>
            </a:extLst>
          </p:cNvPr>
          <p:cNvSpPr/>
          <p:nvPr/>
        </p:nvSpPr>
        <p:spPr>
          <a:xfrm>
            <a:off x="5558930" y="534584"/>
            <a:ext cx="7076656" cy="468510"/>
          </a:xfrm>
          <a:prstGeom prst="rect">
            <a:avLst/>
          </a:prstGeom>
          <a:solidFill>
            <a:srgbClr val="FF0000"/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신청서 솔루션 내에서 서명 등록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="" xmlns:a16="http://schemas.microsoft.com/office/drawing/2014/main" id="{27188945-FB54-686F-7A90-9DE7C1EAB9DD}"/>
              </a:ext>
            </a:extLst>
          </p:cNvPr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842525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0" name="직사각형 89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aphicFrame>
        <p:nvGraphicFramePr>
          <p:cNvPr id="18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710827"/>
              </p:ext>
            </p:extLst>
          </p:nvPr>
        </p:nvGraphicFramePr>
        <p:xfrm>
          <a:off x="10505256" y="788950"/>
          <a:ext cx="2130330" cy="633702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작성 고객명 화면에 출력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신청서 열람 팝업 화면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 번호 자동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교부 휴대폰번호 자동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공공기관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개통한 휴대폰 번호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법정대리인 휴대폰 번호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가입자 연락처 휴대폰 번호로도 강제 발송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입력된 휴대폰번호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입력된 휴대폰번호로 톡 발송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신청서 교부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발송시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가입자 연락처에 추가로 발송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카톡 내에 열람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URL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솔루션사 화면 표시 후 해당 화면에서 패스워드 입력 후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열람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솔루션 제공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발송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포시에스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신청서 교부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안내 발송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kt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모바일에서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제공하는 서비스를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이용할수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있습니다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신규가입에서 부가서비스의 신청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실시간 사용량 조회까지 다양한 서비스를 이용하실 수 있습니다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hlinkClick r:id="rId2"/>
                        </a:rPr>
                        <a:t>https://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hlinkClick r:id="rId2"/>
                        </a:rPr>
                        <a:t>play.google.com/store/apps/details?id=kt.co.ktmmobile&amp;hl=ko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모바일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 모듈 호출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88" name="TextBox 187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S101050101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신청완료</a:t>
            </a:r>
          </a:p>
        </p:txBody>
      </p:sp>
      <p:grpSp>
        <p:nvGrpSpPr>
          <p:cNvPr id="27" name="그룹 26"/>
          <p:cNvGrpSpPr/>
          <p:nvPr/>
        </p:nvGrpSpPr>
        <p:grpSpPr>
          <a:xfrm>
            <a:off x="208192" y="1062869"/>
            <a:ext cx="720000" cy="3237481"/>
            <a:chOff x="395258" y="1812433"/>
            <a:chExt cx="720000" cy="3237481"/>
          </a:xfrm>
        </p:grpSpPr>
        <p:sp>
          <p:nvSpPr>
            <p:cNvPr id="28" name="직사각형 27"/>
            <p:cNvSpPr/>
            <p:nvPr/>
          </p:nvSpPr>
          <p:spPr>
            <a:xfrm>
              <a:off x="395258" y="1812433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29" name="직사각형 28"/>
            <p:cNvSpPr/>
            <p:nvPr/>
          </p:nvSpPr>
          <p:spPr>
            <a:xfrm>
              <a:off x="395258" y="2351929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30" name="직사각형 29"/>
            <p:cNvSpPr/>
            <p:nvPr/>
          </p:nvSpPr>
          <p:spPr>
            <a:xfrm>
              <a:off x="395258" y="2891425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395258" y="3430921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395258" y="3970417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33" name="그룹 32"/>
            <p:cNvGrpSpPr/>
            <p:nvPr/>
          </p:nvGrpSpPr>
          <p:grpSpPr>
            <a:xfrm>
              <a:off x="395258" y="4509914"/>
              <a:ext cx="720000" cy="540000"/>
              <a:chOff x="395258" y="4509914"/>
              <a:chExt cx="720000" cy="540000"/>
            </a:xfrm>
          </p:grpSpPr>
          <p:sp>
            <p:nvSpPr>
              <p:cNvPr id="34" name="직사각형 33"/>
              <p:cNvSpPr/>
              <p:nvPr/>
            </p:nvSpPr>
            <p:spPr>
              <a:xfrm>
                <a:off x="395258" y="4509914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35" name="Picture 5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50441" y="4587842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47" name="직사각형 46"/>
          <p:cNvSpPr/>
          <p:nvPr/>
        </p:nvSpPr>
        <p:spPr>
          <a:xfrm>
            <a:off x="1432248" y="1341562"/>
            <a:ext cx="8280920" cy="3096344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6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rPr>
              <a:t>홍길</a:t>
            </a:r>
            <a:r>
              <a:rPr lang="en-US" altLang="ko-KR" sz="16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r>
              <a:rPr lang="en-US" altLang="ko-K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님이 작성하신 신청서가 작성 완료되었습니다</a:t>
            </a:r>
            <a:r>
              <a:rPr lang="en-US" altLang="ko-K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r>
              <a:rPr lang="ko-KR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고객님께 </a:t>
            </a:r>
            <a:r>
              <a:rPr lang="ko-KR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신청서를 </a:t>
            </a:r>
            <a:r>
              <a:rPr lang="ko-KR" altLang="en-US" sz="16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발송해 </a:t>
            </a:r>
            <a:r>
              <a:rPr lang="ko-KR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주세요</a:t>
            </a:r>
            <a:r>
              <a:rPr lang="en-US" altLang="ko-K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3258326" y="2919200"/>
            <a:ext cx="1656184" cy="101465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4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신청서</a:t>
            </a:r>
            <a:endParaRPr lang="ko-KR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3726418" y="3472428"/>
            <a:ext cx="72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열람</a:t>
            </a:r>
          </a:p>
        </p:txBody>
      </p:sp>
      <p:sp>
        <p:nvSpPr>
          <p:cNvPr id="51" name="직사각형 50"/>
          <p:cNvSpPr/>
          <p:nvPr/>
        </p:nvSpPr>
        <p:spPr>
          <a:xfrm>
            <a:off x="5058526" y="2919200"/>
            <a:ext cx="2928342" cy="101465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4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발송</a:t>
            </a:r>
            <a:endParaRPr lang="ko-KR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232448" y="3996566"/>
            <a:ext cx="6024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개통한 전화번호와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가입자 연락처 휴대폰번호로 동시에 발송됩니다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</a:p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고객님께서 신청서 출력을 원하실 경우 관리자 사이트에서 출력하여 제공해 주시기 바랍니다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58" name="눈물 방울 57"/>
          <p:cNvSpPr/>
          <p:nvPr/>
        </p:nvSpPr>
        <p:spPr>
          <a:xfrm rot="5400000">
            <a:off x="4505275" y="345417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9" name="눈물 방울 58"/>
          <p:cNvSpPr/>
          <p:nvPr/>
        </p:nvSpPr>
        <p:spPr>
          <a:xfrm rot="5400000">
            <a:off x="7848427" y="345802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1" name="눈물 방울 60"/>
          <p:cNvSpPr/>
          <p:nvPr/>
        </p:nvSpPr>
        <p:spPr>
          <a:xfrm rot="5400000">
            <a:off x="2879875" y="140880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6" name="직사각형 105"/>
          <p:cNvSpPr/>
          <p:nvPr/>
        </p:nvSpPr>
        <p:spPr>
          <a:xfrm>
            <a:off x="1432248" y="4486596"/>
            <a:ext cx="8280920" cy="1967534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>
              <a:spcBef>
                <a:spcPct val="50000"/>
              </a:spcBef>
            </a:pPr>
            <a:endParaRPr lang="en-US" altLang="ko-KR" sz="12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12291" name="Picture 3" descr="D:\1_Working\2025년_엠모바일_스마트서식지\kt엠모바일 스마트서식지 프로젝트 관련_하현숙_추후삭제\App등록\앱스토어등록 이미지_0222\AOS\ktMmobile_android_1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8472" y="4570627"/>
            <a:ext cx="1002722" cy="178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" name="직사각형 106"/>
          <p:cNvSpPr/>
          <p:nvPr/>
        </p:nvSpPr>
        <p:spPr>
          <a:xfrm>
            <a:off x="2890456" y="4624042"/>
            <a:ext cx="6552728" cy="965992"/>
          </a:xfrm>
          <a:prstGeom prst="rect">
            <a:avLst/>
          </a:prstGeom>
          <a:solidFill>
            <a:schemeClr val="bg1"/>
          </a:solidFill>
          <a:ln w="6350" algn="ctr">
            <a:noFill/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kt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M</a:t>
            </a:r>
            <a:r>
              <a:rPr lang="ko-KR" altLang="en-US" sz="10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모바일에서</a:t>
            </a: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제공하는 서비스를 </a:t>
            </a:r>
            <a:r>
              <a:rPr lang="ko-KR" altLang="en-US" sz="10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이용할수</a:t>
            </a: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있도록 고객에게 안내 발송해 주세요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>
              <a:spcBef>
                <a:spcPct val="50000"/>
              </a:spcBef>
            </a:pP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신규가입에서 부가서비스의 신청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변경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실시간 사용량 조회까지 다양한 서비스를 이용하실 수 있습니다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</p:txBody>
      </p:sp>
      <p:sp>
        <p:nvSpPr>
          <p:cNvPr id="109" name="직사각형 108"/>
          <p:cNvSpPr/>
          <p:nvPr/>
        </p:nvSpPr>
        <p:spPr>
          <a:xfrm>
            <a:off x="3088432" y="5392042"/>
            <a:ext cx="18002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휴대폰번호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‘-’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없이 입력</a:t>
            </a:r>
          </a:p>
        </p:txBody>
      </p:sp>
      <p:sp>
        <p:nvSpPr>
          <p:cNvPr id="110" name="눈물 방울 109"/>
          <p:cNvSpPr/>
          <p:nvPr/>
        </p:nvSpPr>
        <p:spPr>
          <a:xfrm rot="5400000">
            <a:off x="5729924" y="538415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8" name="직사각형 67"/>
          <p:cNvSpPr/>
          <p:nvPr/>
        </p:nvSpPr>
        <p:spPr>
          <a:xfrm>
            <a:off x="4943468" y="5392790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발송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5224766" y="3457875"/>
            <a:ext cx="18002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010-1111-2222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7074830" y="3450589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발송</a:t>
            </a:r>
          </a:p>
        </p:txBody>
      </p:sp>
      <p:graphicFrame>
        <p:nvGraphicFramePr>
          <p:cNvPr id="36" name="표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551078"/>
              </p:ext>
            </p:extLst>
          </p:nvPr>
        </p:nvGraphicFramePr>
        <p:xfrm>
          <a:off x="12914755" y="109568"/>
          <a:ext cx="3443089" cy="1213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B2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 번호 자동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2.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처리 사항 추가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신청서 교부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발송시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가입자 연락처에 추가로 발송 처리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728138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Box 188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신청완료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S101050101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033340" y="1692855"/>
            <a:ext cx="18002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01011112222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4" name="눈물 방울 33"/>
          <p:cNvSpPr/>
          <p:nvPr/>
        </p:nvSpPr>
        <p:spPr>
          <a:xfrm rot="5400000">
            <a:off x="3654771" y="128889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5" name="눈물 방울 34"/>
          <p:cNvSpPr/>
          <p:nvPr/>
        </p:nvSpPr>
        <p:spPr>
          <a:xfrm rot="5400000">
            <a:off x="3689276" y="168080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2872408" y="1685569"/>
            <a:ext cx="720000" cy="252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발송</a:t>
            </a:r>
          </a:p>
        </p:txBody>
      </p:sp>
      <p:sp>
        <p:nvSpPr>
          <p:cNvPr id="41" name="직사각형 40"/>
          <p:cNvSpPr/>
          <p:nvPr/>
        </p:nvSpPr>
        <p:spPr>
          <a:xfrm>
            <a:off x="928192" y="951325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44" name="직사각형 43"/>
          <p:cNvSpPr/>
          <p:nvPr/>
        </p:nvSpPr>
        <p:spPr>
          <a:xfrm>
            <a:off x="1033420" y="1276840"/>
            <a:ext cx="18002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01011112222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2872488" y="1269554"/>
            <a:ext cx="720000" cy="252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발송</a:t>
            </a:r>
          </a:p>
        </p:txBody>
      </p:sp>
    </p:spTree>
    <p:extLst>
      <p:ext uri="{BB962C8B-B14F-4D97-AF65-F5344CB8AC3E}">
        <p14:creationId xmlns:p14="http://schemas.microsoft.com/office/powerpoint/2010/main" val="12199826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Box 188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신청완료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S101050101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0" name="눈물 방울 79"/>
          <p:cNvSpPr/>
          <p:nvPr/>
        </p:nvSpPr>
        <p:spPr>
          <a:xfrm rot="5400000">
            <a:off x="575619" y="99694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928192" y="1033278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휴대폰번호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미입력한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경우</a:t>
            </a:r>
          </a:p>
        </p:txBody>
      </p:sp>
      <p:grpSp>
        <p:nvGrpSpPr>
          <p:cNvPr id="82" name="그룹 81"/>
          <p:cNvGrpSpPr/>
          <p:nvPr/>
        </p:nvGrpSpPr>
        <p:grpSpPr>
          <a:xfrm>
            <a:off x="618539" y="1309611"/>
            <a:ext cx="2881819" cy="1400103"/>
            <a:chOff x="618539" y="4765995"/>
            <a:chExt cx="2881819" cy="1400103"/>
          </a:xfrm>
        </p:grpSpPr>
        <p:sp>
          <p:nvSpPr>
            <p:cNvPr id="87" name="직사각형 86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휴대폰번호를 입력해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9" name="직사각형 88"/>
            <p:cNvSpPr/>
            <p:nvPr/>
          </p:nvSpPr>
          <p:spPr>
            <a:xfrm>
              <a:off x="618539" y="5806098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grpSp>
        <p:nvGrpSpPr>
          <p:cNvPr id="90" name="그룹 89"/>
          <p:cNvGrpSpPr/>
          <p:nvPr/>
        </p:nvGrpSpPr>
        <p:grpSpPr>
          <a:xfrm>
            <a:off x="3735006" y="3177847"/>
            <a:ext cx="2881818" cy="1397063"/>
            <a:chOff x="3735006" y="4762023"/>
            <a:chExt cx="2881818" cy="1397063"/>
          </a:xfrm>
        </p:grpSpPr>
        <p:sp>
          <p:nvSpPr>
            <p:cNvPr id="91" name="직사각형 90"/>
            <p:cNvSpPr/>
            <p:nvPr/>
          </p:nvSpPr>
          <p:spPr>
            <a:xfrm>
              <a:off x="3736824" y="4762023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2" name="직사각형 91"/>
            <p:cNvSpPr/>
            <p:nvPr/>
          </p:nvSpPr>
          <p:spPr>
            <a:xfrm>
              <a:off x="3735006" y="5799086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93" name="직사각형 92"/>
            <p:cNvSpPr/>
            <p:nvPr/>
          </p:nvSpPr>
          <p:spPr>
            <a:xfrm>
              <a:off x="3736825" y="5006964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신청서 발송이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4" name="직사각형 93"/>
          <p:cNvSpPr/>
          <p:nvPr/>
        </p:nvSpPr>
        <p:spPr>
          <a:xfrm>
            <a:off x="928192" y="2905486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확인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95" name="그룹 94"/>
          <p:cNvGrpSpPr/>
          <p:nvPr/>
        </p:nvGrpSpPr>
        <p:grpSpPr>
          <a:xfrm>
            <a:off x="618540" y="3181819"/>
            <a:ext cx="2881818" cy="1400103"/>
            <a:chOff x="618540" y="4765995"/>
            <a:chExt cx="2881818" cy="1400103"/>
          </a:xfrm>
        </p:grpSpPr>
        <p:sp>
          <p:nvSpPr>
            <p:cNvPr id="96" name="직사각형 95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618540" y="580305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취소</a:t>
              </a:r>
            </a:p>
          </p:txBody>
        </p:sp>
        <p:sp>
          <p:nvSpPr>
            <p:cNvPr id="98" name="직사각형 97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신청서를 발송하시겠습니까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?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9" name="직사각형 98"/>
            <p:cNvSpPr/>
            <p:nvPr/>
          </p:nvSpPr>
          <p:spPr>
            <a:xfrm>
              <a:off x="2053459" y="580609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100" name="직사각형 99"/>
          <p:cNvSpPr/>
          <p:nvPr/>
        </p:nvSpPr>
        <p:spPr>
          <a:xfrm>
            <a:off x="4024536" y="2911443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01" name="그룹 100"/>
          <p:cNvGrpSpPr/>
          <p:nvPr/>
        </p:nvGrpSpPr>
        <p:grpSpPr>
          <a:xfrm>
            <a:off x="6903358" y="3176240"/>
            <a:ext cx="2881818" cy="1397063"/>
            <a:chOff x="6903358" y="4760416"/>
            <a:chExt cx="2881818" cy="1397063"/>
          </a:xfrm>
        </p:grpSpPr>
        <p:sp>
          <p:nvSpPr>
            <p:cNvPr id="102" name="직사각형 101"/>
            <p:cNvSpPr/>
            <p:nvPr/>
          </p:nvSpPr>
          <p:spPr>
            <a:xfrm>
              <a:off x="6905176" y="4760416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2" name="직사각형 131"/>
            <p:cNvSpPr/>
            <p:nvPr/>
          </p:nvSpPr>
          <p:spPr>
            <a:xfrm>
              <a:off x="6903358" y="5797479"/>
              <a:ext cx="288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6905177" y="5005357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신청서 발송이 실패하였습니다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다시 시도해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34" name="직사각형 133"/>
          <p:cNvSpPr/>
          <p:nvPr/>
        </p:nvSpPr>
        <p:spPr>
          <a:xfrm>
            <a:off x="7192888" y="2909836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실패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35" name="직사각형 134"/>
          <p:cNvSpPr/>
          <p:nvPr/>
        </p:nvSpPr>
        <p:spPr>
          <a:xfrm>
            <a:off x="4046157" y="1028258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휴대폰번호 유효성에 맞지 않는 경우</a:t>
            </a:r>
          </a:p>
        </p:txBody>
      </p:sp>
      <p:grpSp>
        <p:nvGrpSpPr>
          <p:cNvPr id="136" name="그룹 135"/>
          <p:cNvGrpSpPr/>
          <p:nvPr/>
        </p:nvGrpSpPr>
        <p:grpSpPr>
          <a:xfrm>
            <a:off x="3736504" y="1304591"/>
            <a:ext cx="2881819" cy="1400103"/>
            <a:chOff x="618539" y="4765995"/>
            <a:chExt cx="2881819" cy="1400103"/>
          </a:xfrm>
        </p:grpSpPr>
        <p:sp>
          <p:nvSpPr>
            <p:cNvPr id="137" name="직사각형 136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8" name="직사각형 137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휴대폰번호는 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 숫자로 입력해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9" name="직사각형 138"/>
            <p:cNvSpPr/>
            <p:nvPr/>
          </p:nvSpPr>
          <p:spPr>
            <a:xfrm>
              <a:off x="618539" y="5806098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33" name="직사각형 32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34" name="눈물 방울 33"/>
          <p:cNvSpPr/>
          <p:nvPr/>
        </p:nvSpPr>
        <p:spPr>
          <a:xfrm rot="5400000">
            <a:off x="287587" y="98470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65" name="그룹 64"/>
          <p:cNvGrpSpPr/>
          <p:nvPr/>
        </p:nvGrpSpPr>
        <p:grpSpPr>
          <a:xfrm>
            <a:off x="3735006" y="5070307"/>
            <a:ext cx="2881818" cy="1397063"/>
            <a:chOff x="3735006" y="4762023"/>
            <a:chExt cx="2881818" cy="1397063"/>
          </a:xfrm>
        </p:grpSpPr>
        <p:sp>
          <p:nvSpPr>
            <p:cNvPr id="66" name="직사각형 65"/>
            <p:cNvSpPr/>
            <p:nvPr/>
          </p:nvSpPr>
          <p:spPr>
            <a:xfrm>
              <a:off x="3736824" y="4762023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3735006" y="5799086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3736825" y="5006964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SMS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발송이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69" name="직사각형 68"/>
          <p:cNvSpPr/>
          <p:nvPr/>
        </p:nvSpPr>
        <p:spPr>
          <a:xfrm>
            <a:off x="928192" y="4797946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확인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70" name="그룹 69"/>
          <p:cNvGrpSpPr/>
          <p:nvPr/>
        </p:nvGrpSpPr>
        <p:grpSpPr>
          <a:xfrm>
            <a:off x="618540" y="5074279"/>
            <a:ext cx="2881818" cy="1400103"/>
            <a:chOff x="618540" y="4765995"/>
            <a:chExt cx="2881818" cy="1400103"/>
          </a:xfrm>
        </p:grpSpPr>
        <p:sp>
          <p:nvSpPr>
            <p:cNvPr id="71" name="직사각형 70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618540" y="580305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취소</a:t>
              </a: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SMS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를 발송하시겠습니까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?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2053459" y="580609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75" name="직사각형 74"/>
          <p:cNvSpPr/>
          <p:nvPr/>
        </p:nvSpPr>
        <p:spPr>
          <a:xfrm>
            <a:off x="4024536" y="4803903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76" name="그룹 75"/>
          <p:cNvGrpSpPr/>
          <p:nvPr/>
        </p:nvGrpSpPr>
        <p:grpSpPr>
          <a:xfrm>
            <a:off x="6903358" y="5068700"/>
            <a:ext cx="2881818" cy="1397063"/>
            <a:chOff x="6903358" y="4760416"/>
            <a:chExt cx="2881818" cy="1397063"/>
          </a:xfrm>
        </p:grpSpPr>
        <p:sp>
          <p:nvSpPr>
            <p:cNvPr id="77" name="직사각형 76"/>
            <p:cNvSpPr/>
            <p:nvPr/>
          </p:nvSpPr>
          <p:spPr>
            <a:xfrm>
              <a:off x="6905176" y="4760416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6903358" y="5797479"/>
              <a:ext cx="288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79" name="직사각형 78"/>
            <p:cNvSpPr/>
            <p:nvPr/>
          </p:nvSpPr>
          <p:spPr>
            <a:xfrm>
              <a:off x="6905177" y="5005357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SMS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발송이 실패하였습니다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다시 시도해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83" name="직사각형 82"/>
          <p:cNvSpPr/>
          <p:nvPr/>
        </p:nvSpPr>
        <p:spPr>
          <a:xfrm>
            <a:off x="7192888" y="4802296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실패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85" name="눈물 방울 84"/>
          <p:cNvSpPr/>
          <p:nvPr/>
        </p:nvSpPr>
        <p:spPr>
          <a:xfrm rot="5400000">
            <a:off x="428902" y="292628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6" name="눈물 방울 85"/>
          <p:cNvSpPr/>
          <p:nvPr/>
        </p:nvSpPr>
        <p:spPr>
          <a:xfrm rot="5400000">
            <a:off x="428902" y="479318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4611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028607"/>
              </p:ext>
            </p:extLst>
          </p:nvPr>
        </p:nvGraphicFramePr>
        <p:xfrm>
          <a:off x="10505256" y="788950"/>
          <a:ext cx="2130330" cy="1194277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비밀번호 입력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생년월일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사업자번호 유효성 체크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S101050102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신청완료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신청서 열람 비밀번호 입력</a:t>
            </a:r>
          </a:p>
        </p:txBody>
      </p:sp>
      <p:sp>
        <p:nvSpPr>
          <p:cNvPr id="55" name="직사각형 54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3334709" y="1841457"/>
            <a:ext cx="4146211" cy="2430532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43" name="그룹 42"/>
          <p:cNvGrpSpPr/>
          <p:nvPr/>
        </p:nvGrpSpPr>
        <p:grpSpPr>
          <a:xfrm rot="2700000">
            <a:off x="7107302" y="1961870"/>
            <a:ext cx="214699" cy="216000"/>
            <a:chOff x="6609184" y="2719104"/>
            <a:chExt cx="1008112" cy="1008112"/>
          </a:xfrm>
        </p:grpSpPr>
        <p:cxnSp>
          <p:nvCxnSpPr>
            <p:cNvPr id="44" name="직선 연결선 4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4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3527276" y="1927947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비밀번호 입력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47" name="눈물 방울 46"/>
          <p:cNvSpPr/>
          <p:nvPr/>
        </p:nvSpPr>
        <p:spPr>
          <a:xfrm rot="5400000">
            <a:off x="3126153" y="178104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3623003" y="2421714"/>
            <a:ext cx="3515281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고객 식별을 위한 비밀번호를 입력해 주세요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>
              <a:spcBef>
                <a:spcPct val="50000"/>
              </a:spcBef>
            </a:pP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개인 고객 </a:t>
            </a:r>
            <a:r>
              <a:rPr lang="en-US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: </a:t>
            </a: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생년월일</a:t>
            </a:r>
            <a:r>
              <a:rPr lang="en-US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(YYMMDD) 6</a:t>
            </a: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자리</a:t>
            </a:r>
            <a:endParaRPr lang="en-US" altLang="ko-KR" sz="10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>
              <a:spcBef>
                <a:spcPct val="50000"/>
              </a:spcBef>
            </a:pP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법인 및 공공기관 고객 </a:t>
            </a:r>
            <a:r>
              <a:rPr lang="en-US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: </a:t>
            </a: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사업자번호 </a:t>
            </a:r>
            <a:r>
              <a:rPr lang="en-US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10</a:t>
            </a: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자리</a:t>
            </a:r>
          </a:p>
        </p:txBody>
      </p:sp>
      <p:sp>
        <p:nvSpPr>
          <p:cNvPr id="50" name="직사각형 49"/>
          <p:cNvSpPr/>
          <p:nvPr/>
        </p:nvSpPr>
        <p:spPr>
          <a:xfrm>
            <a:off x="5104736" y="364585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52" name="눈물 방울 51"/>
          <p:cNvSpPr/>
          <p:nvPr/>
        </p:nvSpPr>
        <p:spPr>
          <a:xfrm rot="5400000">
            <a:off x="4854049" y="365328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4096544" y="3249866"/>
            <a:ext cx="25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비밀번호 입력</a:t>
            </a:r>
          </a:p>
        </p:txBody>
      </p:sp>
      <p:sp>
        <p:nvSpPr>
          <p:cNvPr id="61" name="직사각형 60"/>
          <p:cNvSpPr/>
          <p:nvPr/>
        </p:nvSpPr>
        <p:spPr>
          <a:xfrm>
            <a:off x="442652" y="4737861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생년월일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사업자번호 유효성에 맞지 않는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62" name="그룹 61"/>
          <p:cNvGrpSpPr/>
          <p:nvPr/>
        </p:nvGrpSpPr>
        <p:grpSpPr>
          <a:xfrm>
            <a:off x="493040" y="5068950"/>
            <a:ext cx="2881818" cy="1397063"/>
            <a:chOff x="5875124" y="3832891"/>
            <a:chExt cx="2881818" cy="1397063"/>
          </a:xfrm>
        </p:grpSpPr>
        <p:sp>
          <p:nvSpPr>
            <p:cNvPr id="63" name="직사각형 62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비밀번호가 일치하지 않습니다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다시 입력해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67" name="눈물 방울 66"/>
          <p:cNvSpPr/>
          <p:nvPr/>
        </p:nvSpPr>
        <p:spPr>
          <a:xfrm rot="5400000">
            <a:off x="231394" y="494044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173136" y="4386804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</p:spTree>
    <p:extLst>
      <p:ext uri="{BB962C8B-B14F-4D97-AF65-F5344CB8AC3E}">
        <p14:creationId xmlns:p14="http://schemas.microsoft.com/office/powerpoint/2010/main" val="68781750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73246"/>
              </p:ext>
            </p:extLst>
          </p:nvPr>
        </p:nvGraphicFramePr>
        <p:xfrm>
          <a:off x="10505256" y="788950"/>
          <a:ext cx="2130330" cy="209756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화면 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로딩시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신청서번호에 해당하는 신청서 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이미징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리포트를 조회하여 화면에 출력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-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신규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 신청서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-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서비스변경 신청서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-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명의변경 신청서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- 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서비스해지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신청서</a:t>
                      </a:r>
                      <a:endParaRPr lang="en-US" altLang="ko-KR" sz="800" b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altLang="ko-KR" sz="800" b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#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 API : 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이미징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시스템 신청서 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이미징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S101050103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1755355" y="1181185"/>
            <a:ext cx="7524925" cy="5344953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33" name="그룹 32"/>
          <p:cNvGrpSpPr/>
          <p:nvPr/>
        </p:nvGrpSpPr>
        <p:grpSpPr>
          <a:xfrm rot="2700000">
            <a:off x="8949487" y="1301598"/>
            <a:ext cx="214699" cy="216000"/>
            <a:chOff x="6609184" y="2719104"/>
            <a:chExt cx="1008112" cy="1008112"/>
          </a:xfrm>
        </p:grpSpPr>
        <p:cxnSp>
          <p:nvCxnSpPr>
            <p:cNvPr id="34" name="직선 연결선 33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34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/>
          <p:cNvSpPr txBox="1"/>
          <p:nvPr/>
        </p:nvSpPr>
        <p:spPr>
          <a:xfrm>
            <a:off x="1947922" y="1267675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신청서 열람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2056334" y="1872916"/>
            <a:ext cx="6840000" cy="4221174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3" name="눈물 방울 62"/>
          <p:cNvSpPr/>
          <p:nvPr/>
        </p:nvSpPr>
        <p:spPr>
          <a:xfrm rot="5400000">
            <a:off x="1799755" y="176625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신규</a:t>
            </a:r>
            <a:r>
              <a:rPr lang="en-US" altLang="ko-KR" sz="1000" dirty="0">
                <a:latin typeface="+mn-ea"/>
                <a:ea typeface="+mn-ea"/>
              </a:rPr>
              <a:t>/</a:t>
            </a:r>
            <a:r>
              <a:rPr lang="ko-KR" altLang="en-US" sz="1000" dirty="0">
                <a:latin typeface="+mn-ea"/>
                <a:ea typeface="+mn-ea"/>
              </a:rPr>
              <a:t>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신청완료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신청서 열람</a:t>
            </a:r>
          </a:p>
        </p:txBody>
      </p:sp>
      <p:pic>
        <p:nvPicPr>
          <p:cNvPr id="24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193"/>
          <a:stretch/>
        </p:blipFill>
        <p:spPr bwMode="auto">
          <a:xfrm>
            <a:off x="2080320" y="1902527"/>
            <a:ext cx="6804000" cy="40755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8158891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그룹 36"/>
          <p:cNvGrpSpPr/>
          <p:nvPr/>
        </p:nvGrpSpPr>
        <p:grpSpPr>
          <a:xfrm>
            <a:off x="2764396" y="657514"/>
            <a:ext cx="6264696" cy="252000"/>
            <a:chOff x="640160" y="-566622"/>
            <a:chExt cx="6264696" cy="252000"/>
          </a:xfrm>
        </p:grpSpPr>
        <p:sp>
          <p:nvSpPr>
            <p:cNvPr id="38" name="TextBox 37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2112151" y="-566622"/>
              <a:ext cx="479270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40" name="그룹 39"/>
          <p:cNvGrpSpPr/>
          <p:nvPr/>
        </p:nvGrpSpPr>
        <p:grpSpPr>
          <a:xfrm>
            <a:off x="2764396" y="1125538"/>
            <a:ext cx="4006570" cy="252000"/>
            <a:chOff x="640160" y="-566622"/>
            <a:chExt cx="4006570" cy="252000"/>
          </a:xfrm>
        </p:grpSpPr>
        <p:sp>
          <p:nvSpPr>
            <p:cNvPr id="41" name="TextBox 40"/>
            <p:cNvSpPr txBox="1"/>
            <p:nvPr/>
          </p:nvSpPr>
          <p:spPr>
            <a:xfrm>
              <a:off x="640160" y="-556038"/>
              <a:ext cx="9300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주민등록번호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49" name="그룹 48"/>
          <p:cNvGrpSpPr/>
          <p:nvPr/>
        </p:nvGrpSpPr>
        <p:grpSpPr>
          <a:xfrm>
            <a:off x="2751329" y="5950074"/>
            <a:ext cx="5405041" cy="252000"/>
            <a:chOff x="424136" y="-566622"/>
            <a:chExt cx="5405041" cy="252000"/>
          </a:xfrm>
        </p:grpSpPr>
        <p:sp>
          <p:nvSpPr>
            <p:cNvPr id="50" name="TextBox 49"/>
            <p:cNvSpPr txBox="1"/>
            <p:nvPr/>
          </p:nvSpPr>
          <p:spPr>
            <a:xfrm>
              <a:off x="424136" y="-556038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2751329" y="6382122"/>
            <a:ext cx="5405041" cy="252000"/>
            <a:chOff x="424136" y="-566622"/>
            <a:chExt cx="5405041" cy="252000"/>
          </a:xfrm>
        </p:grpSpPr>
        <p:sp>
          <p:nvSpPr>
            <p:cNvPr id="86" name="TextBox 85"/>
            <p:cNvSpPr txBox="1"/>
            <p:nvPr/>
          </p:nvSpPr>
          <p:spPr>
            <a:xfrm>
              <a:off x="424136" y="-556038"/>
              <a:ext cx="64633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전화번호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7" name="직사각형 86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지역번호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041" name="그룹 1040"/>
          <p:cNvGrpSpPr/>
          <p:nvPr/>
        </p:nvGrpSpPr>
        <p:grpSpPr>
          <a:xfrm>
            <a:off x="6121374" y="650606"/>
            <a:ext cx="5810829" cy="215507"/>
            <a:chOff x="6121374" y="758590"/>
            <a:chExt cx="5810829" cy="215507"/>
          </a:xfrm>
        </p:grpSpPr>
        <p:sp>
          <p:nvSpPr>
            <p:cNvPr id="5" name="타원 4"/>
            <p:cNvSpPr/>
            <p:nvPr/>
          </p:nvSpPr>
          <p:spPr>
            <a:xfrm>
              <a:off x="6121374" y="794097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6" name="직선 연결선 5"/>
            <p:cNvCxnSpPr>
              <a:stCxn id="5" idx="6"/>
              <a:endCxn id="7" idx="1"/>
            </p:cNvCxnSpPr>
            <p:nvPr/>
          </p:nvCxnSpPr>
          <p:spPr>
            <a:xfrm flipV="1">
              <a:off x="6301374" y="864192"/>
              <a:ext cx="3290785" cy="1990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직사각형 6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92159" y="758590"/>
              <a:ext cx="2340044" cy="21120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60</a:t>
              </a:r>
              <a:endParaRPr lang="en-US" altLang="ko-KR" sz="9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1048" name="그룹 1047"/>
          <p:cNvGrpSpPr/>
          <p:nvPr/>
        </p:nvGrpSpPr>
        <p:grpSpPr>
          <a:xfrm>
            <a:off x="316340" y="837506"/>
            <a:ext cx="4860324" cy="504056"/>
            <a:chOff x="316340" y="837506"/>
            <a:chExt cx="4860324" cy="504056"/>
          </a:xfrm>
        </p:grpSpPr>
        <p:sp>
          <p:nvSpPr>
            <p:cNvPr id="14" name="타원 13"/>
            <p:cNvSpPr/>
            <p:nvPr/>
          </p:nvSpPr>
          <p:spPr>
            <a:xfrm>
              <a:off x="4996664" y="1161562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5" name="직선 연결선 14"/>
            <p:cNvCxnSpPr>
              <a:stCxn id="14" idx="2"/>
              <a:endCxn id="16" idx="3"/>
            </p:cNvCxnSpPr>
            <p:nvPr/>
          </p:nvCxnSpPr>
          <p:spPr>
            <a:xfrm flipH="1" flipV="1">
              <a:off x="2656384" y="1081607"/>
              <a:ext cx="2340280" cy="16995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직사각형 15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316340" y="837506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6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- 6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042" name="그룹 1041"/>
          <p:cNvGrpSpPr/>
          <p:nvPr/>
        </p:nvGrpSpPr>
        <p:grpSpPr>
          <a:xfrm>
            <a:off x="6292808" y="1053530"/>
            <a:ext cx="5639395" cy="646331"/>
            <a:chOff x="6292808" y="1053530"/>
            <a:chExt cx="5639395" cy="646331"/>
          </a:xfrm>
        </p:grpSpPr>
        <p:sp>
          <p:nvSpPr>
            <p:cNvPr id="23" name="타원 22"/>
            <p:cNvSpPr/>
            <p:nvPr/>
          </p:nvSpPr>
          <p:spPr>
            <a:xfrm>
              <a:off x="6292808" y="1172550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24" name="직선 연결선 23"/>
            <p:cNvCxnSpPr>
              <a:stCxn id="23" idx="6"/>
              <a:endCxn id="25" idx="1"/>
            </p:cNvCxnSpPr>
            <p:nvPr/>
          </p:nvCxnSpPr>
          <p:spPr>
            <a:xfrm>
              <a:off x="6472808" y="1262550"/>
              <a:ext cx="3119351" cy="114146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직사각형 24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92159" y="1053530"/>
              <a:ext cx="2340044" cy="64633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7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- 7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입력시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마스킹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 처리되어 표시</a:t>
              </a:r>
            </a:p>
          </p:txBody>
        </p:sp>
      </p:grpSp>
      <p:grpSp>
        <p:nvGrpSpPr>
          <p:cNvPr id="1044" name="그룹 1043"/>
          <p:cNvGrpSpPr/>
          <p:nvPr/>
        </p:nvGrpSpPr>
        <p:grpSpPr>
          <a:xfrm>
            <a:off x="6375171" y="5985812"/>
            <a:ext cx="5557032" cy="617495"/>
            <a:chOff x="6375171" y="2811681"/>
            <a:chExt cx="5557032" cy="617495"/>
          </a:xfrm>
        </p:grpSpPr>
        <p:sp>
          <p:nvSpPr>
            <p:cNvPr id="29" name="타원 28"/>
            <p:cNvSpPr/>
            <p:nvPr/>
          </p:nvSpPr>
          <p:spPr>
            <a:xfrm>
              <a:off x="7282518" y="2811943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30" name="직선 연결선 29"/>
            <p:cNvCxnSpPr>
              <a:stCxn id="29" idx="6"/>
              <a:endCxn id="31" idx="1"/>
            </p:cNvCxnSpPr>
            <p:nvPr/>
          </p:nvCxnSpPr>
          <p:spPr>
            <a:xfrm>
              <a:off x="7462518" y="2901943"/>
              <a:ext cx="2129641" cy="19010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직사각형 30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92159" y="2847951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4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- 4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7" name="타원 116"/>
            <p:cNvSpPr/>
            <p:nvPr/>
          </p:nvSpPr>
          <p:spPr>
            <a:xfrm>
              <a:off x="6452739" y="2811681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18" name="직선 연결선 117"/>
            <p:cNvCxnSpPr>
              <a:stCxn id="117" idx="6"/>
              <a:endCxn id="31" idx="1"/>
            </p:cNvCxnSpPr>
            <p:nvPr/>
          </p:nvCxnSpPr>
          <p:spPr>
            <a:xfrm>
              <a:off x="6632739" y="2901681"/>
              <a:ext cx="2959420" cy="19037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타원 134"/>
            <p:cNvSpPr/>
            <p:nvPr/>
          </p:nvSpPr>
          <p:spPr>
            <a:xfrm>
              <a:off x="6375171" y="3243991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36" name="직선 연결선 135"/>
            <p:cNvCxnSpPr>
              <a:stCxn id="135" idx="6"/>
              <a:endCxn id="31" idx="1"/>
            </p:cNvCxnSpPr>
            <p:nvPr/>
          </p:nvCxnSpPr>
          <p:spPr>
            <a:xfrm flipV="1">
              <a:off x="6555171" y="3092052"/>
              <a:ext cx="3036988" cy="24193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타원 136"/>
            <p:cNvSpPr/>
            <p:nvPr/>
          </p:nvSpPr>
          <p:spPr>
            <a:xfrm>
              <a:off x="7721425" y="3249176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38" name="직선 연결선 137"/>
            <p:cNvCxnSpPr>
              <a:stCxn id="137" idx="6"/>
              <a:endCxn id="31" idx="1"/>
            </p:cNvCxnSpPr>
            <p:nvPr/>
          </p:nvCxnSpPr>
          <p:spPr>
            <a:xfrm flipV="1">
              <a:off x="7901425" y="3092052"/>
              <a:ext cx="1690734" cy="247124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1" name="그룹 1050"/>
          <p:cNvGrpSpPr/>
          <p:nvPr/>
        </p:nvGrpSpPr>
        <p:grpSpPr>
          <a:xfrm>
            <a:off x="288492" y="6094090"/>
            <a:ext cx="4888172" cy="488958"/>
            <a:chOff x="288492" y="3296347"/>
            <a:chExt cx="4888172" cy="488958"/>
          </a:xfrm>
        </p:grpSpPr>
        <p:sp>
          <p:nvSpPr>
            <p:cNvPr id="131" name="타원 130"/>
            <p:cNvSpPr/>
            <p:nvPr/>
          </p:nvSpPr>
          <p:spPr>
            <a:xfrm>
              <a:off x="4996664" y="3605305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32" name="직선 연결선 131"/>
            <p:cNvCxnSpPr>
              <a:stCxn id="131" idx="2"/>
              <a:endCxn id="133" idx="3"/>
            </p:cNvCxnSpPr>
            <p:nvPr/>
          </p:nvCxnSpPr>
          <p:spPr>
            <a:xfrm flipH="1" flipV="1">
              <a:off x="2628536" y="3471198"/>
              <a:ext cx="2368128" cy="22410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직사각형 132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288492" y="3296347"/>
              <a:ext cx="2340044" cy="349702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4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47" name="그룹 146"/>
          <p:cNvGrpSpPr/>
          <p:nvPr/>
        </p:nvGrpSpPr>
        <p:grpSpPr>
          <a:xfrm>
            <a:off x="2769658" y="1845618"/>
            <a:ext cx="4006570" cy="252000"/>
            <a:chOff x="640160" y="-566622"/>
            <a:chExt cx="4006570" cy="252000"/>
          </a:xfrm>
        </p:grpSpPr>
        <p:sp>
          <p:nvSpPr>
            <p:cNvPr id="148" name="TextBox 147"/>
            <p:cNvSpPr txBox="1"/>
            <p:nvPr/>
          </p:nvSpPr>
          <p:spPr>
            <a:xfrm>
              <a:off x="640160" y="-556038"/>
              <a:ext cx="10454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외국인등록번호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9" name="직사각형 148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0" name="직사각형 149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1" name="TextBox 150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049" name="그룹 1048"/>
          <p:cNvGrpSpPr/>
          <p:nvPr/>
        </p:nvGrpSpPr>
        <p:grpSpPr>
          <a:xfrm>
            <a:off x="321602" y="1557586"/>
            <a:ext cx="4860324" cy="504056"/>
            <a:chOff x="321602" y="1631335"/>
            <a:chExt cx="4860324" cy="504056"/>
          </a:xfrm>
        </p:grpSpPr>
        <p:sp>
          <p:nvSpPr>
            <p:cNvPr id="152" name="타원 151"/>
            <p:cNvSpPr/>
            <p:nvPr/>
          </p:nvSpPr>
          <p:spPr>
            <a:xfrm>
              <a:off x="5001926" y="1955391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53" name="직선 연결선 152"/>
            <p:cNvCxnSpPr>
              <a:stCxn id="152" idx="2"/>
              <a:endCxn id="154" idx="3"/>
            </p:cNvCxnSpPr>
            <p:nvPr/>
          </p:nvCxnSpPr>
          <p:spPr>
            <a:xfrm flipH="1" flipV="1">
              <a:off x="2661646" y="1875436"/>
              <a:ext cx="2340280" cy="16995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4" name="직사각형 153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321602" y="1631335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6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- 6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043" name="그룹 1042"/>
          <p:cNvGrpSpPr/>
          <p:nvPr/>
        </p:nvGrpSpPr>
        <p:grpSpPr>
          <a:xfrm>
            <a:off x="6298070" y="1773610"/>
            <a:ext cx="5639395" cy="646331"/>
            <a:chOff x="6298070" y="1847359"/>
            <a:chExt cx="5639395" cy="646331"/>
          </a:xfrm>
        </p:grpSpPr>
        <p:sp>
          <p:nvSpPr>
            <p:cNvPr id="155" name="타원 154"/>
            <p:cNvSpPr/>
            <p:nvPr/>
          </p:nvSpPr>
          <p:spPr>
            <a:xfrm>
              <a:off x="6298070" y="1966379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56" name="직선 연결선 155"/>
            <p:cNvCxnSpPr>
              <a:stCxn id="155" idx="6"/>
              <a:endCxn id="157" idx="1"/>
            </p:cNvCxnSpPr>
            <p:nvPr/>
          </p:nvCxnSpPr>
          <p:spPr>
            <a:xfrm>
              <a:off x="6478070" y="2056379"/>
              <a:ext cx="3119351" cy="114146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직사각형 156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97421" y="1847359"/>
              <a:ext cx="2340044" cy="64633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7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- 7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입력시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마스킹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 처리되어 표시</a:t>
              </a:r>
            </a:p>
          </p:txBody>
        </p:sp>
      </p:grpSp>
      <p:grpSp>
        <p:nvGrpSpPr>
          <p:cNvPr id="173" name="그룹 172"/>
          <p:cNvGrpSpPr/>
          <p:nvPr/>
        </p:nvGrpSpPr>
        <p:grpSpPr>
          <a:xfrm>
            <a:off x="2764978" y="4624842"/>
            <a:ext cx="2931644" cy="252000"/>
            <a:chOff x="-36790" y="4763928"/>
            <a:chExt cx="2931644" cy="252000"/>
          </a:xfrm>
        </p:grpSpPr>
        <p:sp>
          <p:nvSpPr>
            <p:cNvPr id="174" name="TextBox 173"/>
            <p:cNvSpPr txBox="1"/>
            <p:nvPr/>
          </p:nvSpPr>
          <p:spPr>
            <a:xfrm>
              <a:off x="-36790" y="4772554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여권번호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5" name="직사각형 174"/>
            <p:cNvSpPr/>
            <p:nvPr/>
          </p:nvSpPr>
          <p:spPr>
            <a:xfrm>
              <a:off x="1432248" y="4763928"/>
              <a:ext cx="146260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여권번호 입력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76" name="그룹 175"/>
          <p:cNvGrpSpPr/>
          <p:nvPr/>
        </p:nvGrpSpPr>
        <p:grpSpPr>
          <a:xfrm>
            <a:off x="5402813" y="4623471"/>
            <a:ext cx="7010871" cy="765200"/>
            <a:chOff x="4996664" y="1116450"/>
            <a:chExt cx="7010871" cy="765200"/>
          </a:xfrm>
        </p:grpSpPr>
        <p:sp>
          <p:nvSpPr>
            <p:cNvPr id="177" name="타원 176"/>
            <p:cNvSpPr/>
            <p:nvPr/>
          </p:nvSpPr>
          <p:spPr>
            <a:xfrm>
              <a:off x="4996664" y="1161562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78" name="직선 연결선 177"/>
            <p:cNvCxnSpPr>
              <a:stCxn id="177" idx="6"/>
              <a:endCxn id="179" idx="1"/>
            </p:cNvCxnSpPr>
            <p:nvPr/>
          </p:nvCxnSpPr>
          <p:spPr>
            <a:xfrm>
              <a:off x="5176664" y="1251562"/>
              <a:ext cx="4022559" cy="2474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9" name="직사각형 178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199223" y="1116450"/>
              <a:ext cx="2808312" cy="7652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9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입력 가능 문자 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: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영문 대문자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,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입력 자릿수 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:</a:t>
              </a:r>
            </a:p>
            <a:p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   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신여권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): 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영문 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1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영문 대문자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) +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 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7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  (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구여권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): M +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 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8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94" name="그룹 193"/>
          <p:cNvGrpSpPr/>
          <p:nvPr/>
        </p:nvGrpSpPr>
        <p:grpSpPr>
          <a:xfrm>
            <a:off x="2764396" y="4013283"/>
            <a:ext cx="4006570" cy="252000"/>
            <a:chOff x="640160" y="-566622"/>
            <a:chExt cx="4006570" cy="252000"/>
          </a:xfrm>
        </p:grpSpPr>
        <p:sp>
          <p:nvSpPr>
            <p:cNvPr id="195" name="TextBox 194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6" name="직사각형 195"/>
            <p:cNvSpPr/>
            <p:nvPr/>
          </p:nvSpPr>
          <p:spPr>
            <a:xfrm>
              <a:off x="2114824" y="-566622"/>
              <a:ext cx="253190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(YYMMDD) 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 입력</a:t>
              </a:r>
            </a:p>
          </p:txBody>
        </p:sp>
      </p:grpSp>
      <p:grpSp>
        <p:nvGrpSpPr>
          <p:cNvPr id="198" name="그룹 197"/>
          <p:cNvGrpSpPr/>
          <p:nvPr/>
        </p:nvGrpSpPr>
        <p:grpSpPr>
          <a:xfrm>
            <a:off x="5511585" y="3933850"/>
            <a:ext cx="6433831" cy="626701"/>
            <a:chOff x="-3805295" y="2811975"/>
            <a:chExt cx="6433831" cy="626701"/>
          </a:xfrm>
        </p:grpSpPr>
        <p:sp>
          <p:nvSpPr>
            <p:cNvPr id="199" name="타원 198"/>
            <p:cNvSpPr/>
            <p:nvPr/>
          </p:nvSpPr>
          <p:spPr>
            <a:xfrm>
              <a:off x="-3805295" y="2941068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200" name="직선 연결선 199"/>
            <p:cNvCxnSpPr>
              <a:stCxn id="199" idx="6"/>
              <a:endCxn id="201" idx="1"/>
            </p:cNvCxnSpPr>
            <p:nvPr/>
          </p:nvCxnSpPr>
          <p:spPr>
            <a:xfrm>
              <a:off x="-3625295" y="3031068"/>
              <a:ext cx="3913787" cy="9425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직사각형 200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288492" y="2811975"/>
              <a:ext cx="2340044" cy="6267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6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- 6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유효한 날짜만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209" name="그룹 208"/>
          <p:cNvGrpSpPr/>
          <p:nvPr/>
        </p:nvGrpSpPr>
        <p:grpSpPr>
          <a:xfrm>
            <a:off x="2741203" y="5388671"/>
            <a:ext cx="4091645" cy="252000"/>
            <a:chOff x="424136" y="-566622"/>
            <a:chExt cx="4091645" cy="252000"/>
          </a:xfrm>
        </p:grpSpPr>
        <p:sp>
          <p:nvSpPr>
            <p:cNvPr id="210" name="TextBox 209"/>
            <p:cNvSpPr txBox="1"/>
            <p:nvPr/>
          </p:nvSpPr>
          <p:spPr>
            <a:xfrm>
              <a:off x="424136" y="-556038"/>
              <a:ext cx="8146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1" name="직사각형 210"/>
            <p:cNvSpPr/>
            <p:nvPr/>
          </p:nvSpPr>
          <p:spPr>
            <a:xfrm>
              <a:off x="1910425" y="-566622"/>
              <a:ext cx="260535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 입력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(“-”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제외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</a:p>
          </p:txBody>
        </p:sp>
      </p:grpSp>
      <p:grpSp>
        <p:nvGrpSpPr>
          <p:cNvPr id="212" name="그룹 211"/>
          <p:cNvGrpSpPr/>
          <p:nvPr/>
        </p:nvGrpSpPr>
        <p:grpSpPr>
          <a:xfrm>
            <a:off x="6223021" y="5439145"/>
            <a:ext cx="5722395" cy="495074"/>
            <a:chOff x="-3093859" y="2805102"/>
            <a:chExt cx="5722395" cy="495074"/>
          </a:xfrm>
        </p:grpSpPr>
        <p:sp>
          <p:nvSpPr>
            <p:cNvPr id="213" name="타원 212"/>
            <p:cNvSpPr/>
            <p:nvPr/>
          </p:nvSpPr>
          <p:spPr>
            <a:xfrm>
              <a:off x="-3093859" y="2805102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214" name="직선 연결선 213"/>
            <p:cNvCxnSpPr>
              <a:stCxn id="213" idx="6"/>
              <a:endCxn id="215" idx="1"/>
            </p:cNvCxnSpPr>
            <p:nvPr/>
          </p:nvCxnSpPr>
          <p:spPr>
            <a:xfrm>
              <a:off x="-2913859" y="2895102"/>
              <a:ext cx="3202351" cy="160974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5" name="직사각형 214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288492" y="2811975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11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- 11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92" name="그룹 91"/>
          <p:cNvGrpSpPr/>
          <p:nvPr/>
        </p:nvGrpSpPr>
        <p:grpSpPr>
          <a:xfrm>
            <a:off x="2769658" y="2565698"/>
            <a:ext cx="4006570" cy="252000"/>
            <a:chOff x="640160" y="-566622"/>
            <a:chExt cx="4006570" cy="252000"/>
          </a:xfrm>
        </p:grpSpPr>
        <p:sp>
          <p:nvSpPr>
            <p:cNvPr id="93" name="TextBox 92"/>
            <p:cNvSpPr txBox="1"/>
            <p:nvPr/>
          </p:nvSpPr>
          <p:spPr>
            <a:xfrm>
              <a:off x="640160" y="-556038"/>
              <a:ext cx="9300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법인등록번호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97" name="그룹 96"/>
          <p:cNvGrpSpPr/>
          <p:nvPr/>
        </p:nvGrpSpPr>
        <p:grpSpPr>
          <a:xfrm>
            <a:off x="321602" y="2277666"/>
            <a:ext cx="4860324" cy="504056"/>
            <a:chOff x="321602" y="1631335"/>
            <a:chExt cx="4860324" cy="504056"/>
          </a:xfrm>
        </p:grpSpPr>
        <p:sp>
          <p:nvSpPr>
            <p:cNvPr id="98" name="타원 97"/>
            <p:cNvSpPr/>
            <p:nvPr/>
          </p:nvSpPr>
          <p:spPr>
            <a:xfrm>
              <a:off x="5001926" y="1955391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99" name="직선 연결선 98"/>
            <p:cNvCxnSpPr>
              <a:stCxn id="98" idx="2"/>
              <a:endCxn id="100" idx="3"/>
            </p:cNvCxnSpPr>
            <p:nvPr/>
          </p:nvCxnSpPr>
          <p:spPr>
            <a:xfrm flipH="1" flipV="1">
              <a:off x="2661646" y="1875436"/>
              <a:ext cx="2340280" cy="16995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직사각형 99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321602" y="1631335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6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- 6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01" name="그룹 100"/>
          <p:cNvGrpSpPr/>
          <p:nvPr/>
        </p:nvGrpSpPr>
        <p:grpSpPr>
          <a:xfrm>
            <a:off x="6298070" y="2493690"/>
            <a:ext cx="5639395" cy="646331"/>
            <a:chOff x="6298070" y="1847359"/>
            <a:chExt cx="5639395" cy="646331"/>
          </a:xfrm>
        </p:grpSpPr>
        <p:sp>
          <p:nvSpPr>
            <p:cNvPr id="102" name="타원 101"/>
            <p:cNvSpPr/>
            <p:nvPr/>
          </p:nvSpPr>
          <p:spPr>
            <a:xfrm>
              <a:off x="6298070" y="1966379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03" name="직선 연결선 102"/>
            <p:cNvCxnSpPr>
              <a:stCxn id="102" idx="6"/>
              <a:endCxn id="104" idx="1"/>
            </p:cNvCxnSpPr>
            <p:nvPr/>
          </p:nvCxnSpPr>
          <p:spPr>
            <a:xfrm>
              <a:off x="6478070" y="2056379"/>
              <a:ext cx="3119351" cy="114146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직사각형 103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97421" y="1847359"/>
              <a:ext cx="2340044" cy="64633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7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- 7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입력시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마스킹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 처리되어 표시</a:t>
              </a:r>
            </a:p>
          </p:txBody>
        </p:sp>
      </p:grpSp>
      <p:grpSp>
        <p:nvGrpSpPr>
          <p:cNvPr id="105" name="그룹 104"/>
          <p:cNvGrpSpPr/>
          <p:nvPr/>
        </p:nvGrpSpPr>
        <p:grpSpPr>
          <a:xfrm>
            <a:off x="2778455" y="3249802"/>
            <a:ext cx="5400600" cy="252000"/>
            <a:chOff x="640160" y="-566622"/>
            <a:chExt cx="5400600" cy="252000"/>
          </a:xfrm>
        </p:grpSpPr>
        <p:sp>
          <p:nvSpPr>
            <p:cNvPr id="106" name="TextBox 105"/>
            <p:cNvSpPr txBox="1"/>
            <p:nvPr/>
          </p:nvSpPr>
          <p:spPr>
            <a:xfrm>
              <a:off x="640160" y="-556038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사업자등록번호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8" name="직사각형 107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0" name="직사각형 109"/>
            <p:cNvSpPr/>
            <p:nvPr/>
          </p:nvSpPr>
          <p:spPr>
            <a:xfrm>
              <a:off x="487137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5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465954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12" name="그룹 111"/>
          <p:cNvGrpSpPr/>
          <p:nvPr/>
        </p:nvGrpSpPr>
        <p:grpSpPr>
          <a:xfrm>
            <a:off x="316340" y="2853730"/>
            <a:ext cx="4634895" cy="586656"/>
            <a:chOff x="321602" y="1631335"/>
            <a:chExt cx="4634895" cy="586656"/>
          </a:xfrm>
        </p:grpSpPr>
        <p:sp>
          <p:nvSpPr>
            <p:cNvPr id="113" name="타원 112"/>
            <p:cNvSpPr/>
            <p:nvPr/>
          </p:nvSpPr>
          <p:spPr>
            <a:xfrm>
              <a:off x="4776497" y="2037991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14" name="직선 연결선 113"/>
            <p:cNvCxnSpPr>
              <a:stCxn id="113" idx="2"/>
              <a:endCxn id="115" idx="3"/>
            </p:cNvCxnSpPr>
            <p:nvPr/>
          </p:nvCxnSpPr>
          <p:spPr>
            <a:xfrm flipH="1" flipV="1">
              <a:off x="2661646" y="1875436"/>
              <a:ext cx="2114851" cy="25255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직사각형 114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321602" y="1631335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3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- 3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19" name="그룹 118"/>
          <p:cNvGrpSpPr/>
          <p:nvPr/>
        </p:nvGrpSpPr>
        <p:grpSpPr>
          <a:xfrm>
            <a:off x="311078" y="3291670"/>
            <a:ext cx="5810701" cy="642180"/>
            <a:chOff x="321602" y="1477356"/>
            <a:chExt cx="5810701" cy="642180"/>
          </a:xfrm>
        </p:grpSpPr>
        <p:sp>
          <p:nvSpPr>
            <p:cNvPr id="120" name="타원 119"/>
            <p:cNvSpPr/>
            <p:nvPr/>
          </p:nvSpPr>
          <p:spPr>
            <a:xfrm>
              <a:off x="5952303" y="1477356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21" name="직선 연결선 120"/>
            <p:cNvCxnSpPr>
              <a:stCxn id="120" idx="2"/>
              <a:endCxn id="122" idx="3"/>
            </p:cNvCxnSpPr>
            <p:nvPr/>
          </p:nvCxnSpPr>
          <p:spPr>
            <a:xfrm flipH="1">
              <a:off x="2661646" y="1567356"/>
              <a:ext cx="3290657" cy="30808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직사각형 121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321602" y="1631335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2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- 2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23" name="그룹 122"/>
          <p:cNvGrpSpPr/>
          <p:nvPr/>
        </p:nvGrpSpPr>
        <p:grpSpPr>
          <a:xfrm>
            <a:off x="7648478" y="3215511"/>
            <a:ext cx="4296938" cy="646331"/>
            <a:chOff x="7640527" y="1847359"/>
            <a:chExt cx="4296938" cy="646331"/>
          </a:xfrm>
        </p:grpSpPr>
        <p:sp>
          <p:nvSpPr>
            <p:cNvPr id="129" name="타원 128"/>
            <p:cNvSpPr/>
            <p:nvPr/>
          </p:nvSpPr>
          <p:spPr>
            <a:xfrm>
              <a:off x="7640527" y="1923518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30" name="직선 연결선 129"/>
            <p:cNvCxnSpPr>
              <a:stCxn id="129" idx="6"/>
              <a:endCxn id="134" idx="1"/>
            </p:cNvCxnSpPr>
            <p:nvPr/>
          </p:nvCxnSpPr>
          <p:spPr>
            <a:xfrm>
              <a:off x="7820527" y="2013518"/>
              <a:ext cx="1776894" cy="15700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직사각형 133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97421" y="1847359"/>
              <a:ext cx="2340044" cy="64633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5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- 5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입력시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마스킹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 처리되어 표시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1415200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그룹 36"/>
          <p:cNvGrpSpPr/>
          <p:nvPr/>
        </p:nvGrpSpPr>
        <p:grpSpPr>
          <a:xfrm>
            <a:off x="2728392" y="3519821"/>
            <a:ext cx="3908684" cy="252000"/>
            <a:chOff x="602656" y="-566622"/>
            <a:chExt cx="3908684" cy="252000"/>
          </a:xfrm>
        </p:grpSpPr>
        <p:sp>
          <p:nvSpPr>
            <p:cNvPr id="38" name="TextBox 37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19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40" name="그룹 39"/>
          <p:cNvGrpSpPr/>
          <p:nvPr/>
        </p:nvGrpSpPr>
        <p:grpSpPr>
          <a:xfrm>
            <a:off x="6301374" y="3447813"/>
            <a:ext cx="5644042" cy="488201"/>
            <a:chOff x="6224226" y="5302002"/>
            <a:chExt cx="5644042" cy="488201"/>
          </a:xfrm>
        </p:grpSpPr>
        <p:sp>
          <p:nvSpPr>
            <p:cNvPr id="41" name="타원 40"/>
            <p:cNvSpPr/>
            <p:nvPr/>
          </p:nvSpPr>
          <p:spPr>
            <a:xfrm>
              <a:off x="6224226" y="5418121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42" name="직선 연결선 41"/>
            <p:cNvCxnSpPr>
              <a:stCxn id="41" idx="6"/>
              <a:endCxn id="43" idx="1"/>
            </p:cNvCxnSpPr>
            <p:nvPr/>
          </p:nvCxnSpPr>
          <p:spPr>
            <a:xfrm>
              <a:off x="6404226" y="5508121"/>
              <a:ext cx="3123998" cy="3798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직사각형 42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28224" y="5302002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19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- 19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44" name="그룹 43"/>
          <p:cNvGrpSpPr/>
          <p:nvPr/>
        </p:nvGrpSpPr>
        <p:grpSpPr>
          <a:xfrm>
            <a:off x="2744294" y="5553994"/>
            <a:ext cx="6057298" cy="252000"/>
            <a:chOff x="640160" y="-566622"/>
            <a:chExt cx="6057298" cy="252000"/>
          </a:xfrm>
        </p:grpSpPr>
        <p:sp>
          <p:nvSpPr>
            <p:cNvPr id="45" name="직사각형 44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 일련번호</a:t>
              </a: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3301143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요금납부 계좌번호</a:t>
              </a: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446533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요금납부 신용카드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40160" y="-556038"/>
              <a:ext cx="97013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번호이동 인증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5617458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지로</a:t>
              </a:r>
            </a:p>
          </p:txBody>
        </p:sp>
      </p:grpSp>
      <p:sp>
        <p:nvSpPr>
          <p:cNvPr id="50" name="직사각형 49"/>
          <p:cNvSpPr/>
          <p:nvPr/>
        </p:nvSpPr>
        <p:spPr>
          <a:xfrm>
            <a:off x="4236210" y="5914098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휴대폰 일련번호 뒤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4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자리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51" name="그룹 50"/>
          <p:cNvGrpSpPr/>
          <p:nvPr/>
        </p:nvGrpSpPr>
        <p:grpSpPr>
          <a:xfrm>
            <a:off x="5807353" y="5821913"/>
            <a:ext cx="5644042" cy="488201"/>
            <a:chOff x="6224226" y="5302002"/>
            <a:chExt cx="5644042" cy="488201"/>
          </a:xfrm>
        </p:grpSpPr>
        <p:sp>
          <p:nvSpPr>
            <p:cNvPr id="52" name="타원 51"/>
            <p:cNvSpPr/>
            <p:nvPr/>
          </p:nvSpPr>
          <p:spPr>
            <a:xfrm>
              <a:off x="6224226" y="5418121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53" name="직선 연결선 52"/>
            <p:cNvCxnSpPr>
              <a:stCxn id="52" idx="6"/>
              <a:endCxn id="54" idx="1"/>
            </p:cNvCxnSpPr>
            <p:nvPr/>
          </p:nvCxnSpPr>
          <p:spPr>
            <a:xfrm>
              <a:off x="6404226" y="5508121"/>
              <a:ext cx="3123998" cy="3798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직사각형 53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28224" y="5302002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4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- 4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86" name="그룹 185"/>
          <p:cNvGrpSpPr/>
          <p:nvPr/>
        </p:nvGrpSpPr>
        <p:grpSpPr>
          <a:xfrm>
            <a:off x="2728392" y="4185906"/>
            <a:ext cx="3908684" cy="252000"/>
            <a:chOff x="602656" y="-566622"/>
            <a:chExt cx="3908684" cy="252000"/>
          </a:xfrm>
        </p:grpSpPr>
        <p:sp>
          <p:nvSpPr>
            <p:cNvPr id="187" name="TextBox 186"/>
            <p:cNvSpPr txBox="1"/>
            <p:nvPr/>
          </p:nvSpPr>
          <p:spPr>
            <a:xfrm>
              <a:off x="602656" y="-556038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IMEI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8" name="직사각형 187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IMEI 15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89" name="그룹 188"/>
          <p:cNvGrpSpPr/>
          <p:nvPr/>
        </p:nvGrpSpPr>
        <p:grpSpPr>
          <a:xfrm>
            <a:off x="6349082" y="4203228"/>
            <a:ext cx="5596334" cy="594718"/>
            <a:chOff x="6271934" y="5195485"/>
            <a:chExt cx="5596334" cy="594718"/>
          </a:xfrm>
        </p:grpSpPr>
        <p:sp>
          <p:nvSpPr>
            <p:cNvPr id="190" name="타원 189"/>
            <p:cNvSpPr/>
            <p:nvPr/>
          </p:nvSpPr>
          <p:spPr>
            <a:xfrm>
              <a:off x="6271934" y="5195485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91" name="직선 연결선 190"/>
            <p:cNvCxnSpPr>
              <a:stCxn id="190" idx="6"/>
              <a:endCxn id="192" idx="1"/>
            </p:cNvCxnSpPr>
            <p:nvPr/>
          </p:nvCxnSpPr>
          <p:spPr>
            <a:xfrm>
              <a:off x="6451934" y="5285485"/>
              <a:ext cx="3076290" cy="2606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2" name="직사각형 191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28224" y="5302002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15</a:t>
              </a:r>
              <a:endParaRPr lang="en-US" altLang="ko-KR" sz="900" dirty="0">
                <a:solidFill>
                  <a:srgbClr val="FF0000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- 15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93" name="그룹 192"/>
          <p:cNvGrpSpPr/>
          <p:nvPr/>
        </p:nvGrpSpPr>
        <p:grpSpPr>
          <a:xfrm>
            <a:off x="2764396" y="700915"/>
            <a:ext cx="3274664" cy="252000"/>
            <a:chOff x="640160" y="-566622"/>
            <a:chExt cx="3274664" cy="252000"/>
          </a:xfrm>
        </p:grpSpPr>
        <p:sp>
          <p:nvSpPr>
            <p:cNvPr id="194" name="TextBox 193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일자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5" name="직사각형 194"/>
            <p:cNvSpPr/>
            <p:nvPr/>
          </p:nvSpPr>
          <p:spPr>
            <a:xfrm>
              <a:off x="2114824" y="-5666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</p:grpSp>
      <p:pic>
        <p:nvPicPr>
          <p:cNvPr id="19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7285" y="733649"/>
            <a:ext cx="196097" cy="1865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197" name="그룹 196"/>
          <p:cNvGrpSpPr/>
          <p:nvPr/>
        </p:nvGrpSpPr>
        <p:grpSpPr>
          <a:xfrm>
            <a:off x="2747144" y="1123338"/>
            <a:ext cx="5409226" cy="252000"/>
            <a:chOff x="424136" y="-566622"/>
            <a:chExt cx="5409226" cy="252000"/>
          </a:xfrm>
        </p:grpSpPr>
        <p:sp>
          <p:nvSpPr>
            <p:cNvPr id="198" name="TextBox 197"/>
            <p:cNvSpPr txBox="1"/>
            <p:nvPr/>
          </p:nvSpPr>
          <p:spPr>
            <a:xfrm>
              <a:off x="424136" y="-556038"/>
              <a:ext cx="8146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이메일주소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9" name="직사각형 198"/>
            <p:cNvSpPr/>
            <p:nvPr/>
          </p:nvSpPr>
          <p:spPr>
            <a:xfrm>
              <a:off x="1910424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이메일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아이디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0" name="직사각형 199"/>
            <p:cNvSpPr/>
            <p:nvPr/>
          </p:nvSpPr>
          <p:spPr>
            <a:xfrm>
              <a:off x="3282762" y="-566622"/>
              <a:ext cx="25506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이메일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도메인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1" name="TextBox 200"/>
            <p:cNvSpPr txBox="1"/>
            <p:nvPr/>
          </p:nvSpPr>
          <p:spPr>
            <a:xfrm>
              <a:off x="3025049" y="-554080"/>
              <a:ext cx="29848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@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02" name="그룹 201"/>
          <p:cNvGrpSpPr/>
          <p:nvPr/>
        </p:nvGrpSpPr>
        <p:grpSpPr>
          <a:xfrm>
            <a:off x="2751329" y="2221477"/>
            <a:ext cx="2207811" cy="252000"/>
            <a:chOff x="424136" y="-566622"/>
            <a:chExt cx="2207811" cy="252000"/>
          </a:xfrm>
        </p:grpSpPr>
        <p:sp>
          <p:nvSpPr>
            <p:cNvPr id="203" name="TextBox 202"/>
            <p:cNvSpPr txBox="1"/>
            <p:nvPr/>
          </p:nvSpPr>
          <p:spPr>
            <a:xfrm>
              <a:off x="424136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주소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4" name="직사각형 203"/>
            <p:cNvSpPr/>
            <p:nvPr/>
          </p:nvSpPr>
          <p:spPr>
            <a:xfrm>
              <a:off x="1911947" y="-566622"/>
              <a:ext cx="72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우편번호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05" name="그룹 204"/>
          <p:cNvGrpSpPr/>
          <p:nvPr/>
        </p:nvGrpSpPr>
        <p:grpSpPr>
          <a:xfrm>
            <a:off x="4234034" y="2581517"/>
            <a:ext cx="5400000" cy="576064"/>
            <a:chOff x="1911026" y="-566622"/>
            <a:chExt cx="5400000" cy="576064"/>
          </a:xfrm>
        </p:grpSpPr>
        <p:sp>
          <p:nvSpPr>
            <p:cNvPr id="206" name="직사각형 205"/>
            <p:cNvSpPr/>
            <p:nvPr/>
          </p:nvSpPr>
          <p:spPr>
            <a:xfrm>
              <a:off x="1911026" y="-566622"/>
              <a:ext cx="540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주소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7" name="직사각형 206"/>
            <p:cNvSpPr/>
            <p:nvPr/>
          </p:nvSpPr>
          <p:spPr>
            <a:xfrm>
              <a:off x="1911026" y="-242558"/>
              <a:ext cx="54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상세주소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08" name="직사각형 207"/>
          <p:cNvSpPr/>
          <p:nvPr/>
        </p:nvSpPr>
        <p:spPr>
          <a:xfrm>
            <a:off x="5041374" y="2221477"/>
            <a:ext cx="108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우편번호 찾기</a:t>
            </a:r>
          </a:p>
        </p:txBody>
      </p:sp>
      <p:grpSp>
        <p:nvGrpSpPr>
          <p:cNvPr id="209" name="그룹 208"/>
          <p:cNvGrpSpPr/>
          <p:nvPr/>
        </p:nvGrpSpPr>
        <p:grpSpPr>
          <a:xfrm>
            <a:off x="5511585" y="621482"/>
            <a:ext cx="6433831" cy="626701"/>
            <a:chOff x="-3805295" y="2811975"/>
            <a:chExt cx="6433831" cy="626701"/>
          </a:xfrm>
        </p:grpSpPr>
        <p:sp>
          <p:nvSpPr>
            <p:cNvPr id="210" name="타원 209"/>
            <p:cNvSpPr/>
            <p:nvPr/>
          </p:nvSpPr>
          <p:spPr>
            <a:xfrm>
              <a:off x="-3805295" y="2941068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211" name="직선 연결선 210"/>
            <p:cNvCxnSpPr>
              <a:stCxn id="210" idx="6"/>
              <a:endCxn id="212" idx="1"/>
            </p:cNvCxnSpPr>
            <p:nvPr/>
          </p:nvCxnSpPr>
          <p:spPr>
            <a:xfrm>
              <a:off x="-3625295" y="3031068"/>
              <a:ext cx="3913787" cy="9425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2" name="직사각형 211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288492" y="2811975"/>
              <a:ext cx="2340044" cy="6267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8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- 8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유효한 날짜만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213" name="그룹 212"/>
          <p:cNvGrpSpPr/>
          <p:nvPr/>
        </p:nvGrpSpPr>
        <p:grpSpPr>
          <a:xfrm>
            <a:off x="288492" y="1149579"/>
            <a:ext cx="4807792" cy="391203"/>
            <a:chOff x="288492" y="3954312"/>
            <a:chExt cx="4807792" cy="391203"/>
          </a:xfrm>
        </p:grpSpPr>
        <p:sp>
          <p:nvSpPr>
            <p:cNvPr id="214" name="타원 213"/>
            <p:cNvSpPr/>
            <p:nvPr/>
          </p:nvSpPr>
          <p:spPr>
            <a:xfrm>
              <a:off x="4916284" y="3954312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215" name="직선 연결선 214"/>
            <p:cNvCxnSpPr>
              <a:stCxn id="214" idx="2"/>
              <a:endCxn id="216" idx="3"/>
            </p:cNvCxnSpPr>
            <p:nvPr/>
          </p:nvCxnSpPr>
          <p:spPr>
            <a:xfrm flipH="1">
              <a:off x="2628536" y="4044312"/>
              <a:ext cx="2287748" cy="19560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직사각형 215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288492" y="4134312"/>
              <a:ext cx="2340044" cy="21120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100</a:t>
              </a:r>
              <a:endParaRPr lang="en-US" altLang="ko-KR" sz="9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217" name="그룹 216"/>
          <p:cNvGrpSpPr/>
          <p:nvPr/>
        </p:nvGrpSpPr>
        <p:grpSpPr>
          <a:xfrm>
            <a:off x="7559091" y="1172295"/>
            <a:ext cx="4364506" cy="414302"/>
            <a:chOff x="7559091" y="3977028"/>
            <a:chExt cx="4364506" cy="414302"/>
          </a:xfrm>
        </p:grpSpPr>
        <p:sp>
          <p:nvSpPr>
            <p:cNvPr id="218" name="타원 217"/>
            <p:cNvSpPr/>
            <p:nvPr/>
          </p:nvSpPr>
          <p:spPr>
            <a:xfrm>
              <a:off x="7559091" y="3977028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219" name="직선 연결선 218"/>
            <p:cNvCxnSpPr>
              <a:stCxn id="218" idx="6"/>
              <a:endCxn id="220" idx="1"/>
            </p:cNvCxnSpPr>
            <p:nvPr/>
          </p:nvCxnSpPr>
          <p:spPr>
            <a:xfrm>
              <a:off x="7739091" y="4067028"/>
              <a:ext cx="1844462" cy="21870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직사각형 219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83553" y="4180127"/>
              <a:ext cx="2340044" cy="21120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100</a:t>
              </a:r>
              <a:endParaRPr lang="en-US" altLang="ko-KR" sz="9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221" name="그룹 220"/>
          <p:cNvGrpSpPr/>
          <p:nvPr/>
        </p:nvGrpSpPr>
        <p:grpSpPr>
          <a:xfrm>
            <a:off x="8710454" y="2904623"/>
            <a:ext cx="3450986" cy="211203"/>
            <a:chOff x="8710454" y="4977036"/>
            <a:chExt cx="3450986" cy="211203"/>
          </a:xfrm>
        </p:grpSpPr>
        <p:sp>
          <p:nvSpPr>
            <p:cNvPr id="222" name="타원 221"/>
            <p:cNvSpPr/>
            <p:nvPr/>
          </p:nvSpPr>
          <p:spPr>
            <a:xfrm>
              <a:off x="8710454" y="5008239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223" name="직선 연결선 222"/>
            <p:cNvCxnSpPr>
              <a:stCxn id="222" idx="6"/>
              <a:endCxn id="224" idx="1"/>
            </p:cNvCxnSpPr>
            <p:nvPr/>
          </p:nvCxnSpPr>
          <p:spPr>
            <a:xfrm flipV="1">
              <a:off x="8890454" y="5082638"/>
              <a:ext cx="930942" cy="1560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4" name="직사각형 223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821396" y="4977036"/>
              <a:ext cx="2340044" cy="21120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250</a:t>
              </a:r>
              <a:endParaRPr lang="en-US" altLang="ko-KR" sz="9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225" name="그룹 224"/>
          <p:cNvGrpSpPr/>
          <p:nvPr/>
        </p:nvGrpSpPr>
        <p:grpSpPr>
          <a:xfrm>
            <a:off x="2746723" y="1668191"/>
            <a:ext cx="5409226" cy="252000"/>
            <a:chOff x="424136" y="-566622"/>
            <a:chExt cx="5409226" cy="252000"/>
          </a:xfrm>
        </p:grpSpPr>
        <p:sp>
          <p:nvSpPr>
            <p:cNvPr id="226" name="TextBox 225"/>
            <p:cNvSpPr txBox="1"/>
            <p:nvPr/>
          </p:nvSpPr>
          <p:spPr>
            <a:xfrm>
              <a:off x="424136" y="-556038"/>
              <a:ext cx="8146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이메일주소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7" name="직사각형 226"/>
            <p:cNvSpPr/>
            <p:nvPr/>
          </p:nvSpPr>
          <p:spPr>
            <a:xfrm>
              <a:off x="1916553" y="-566622"/>
              <a:ext cx="3916809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이메일주소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입력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28" name="그룹 227"/>
          <p:cNvGrpSpPr/>
          <p:nvPr/>
        </p:nvGrpSpPr>
        <p:grpSpPr>
          <a:xfrm>
            <a:off x="7558670" y="1717148"/>
            <a:ext cx="4364506" cy="414302"/>
            <a:chOff x="7559091" y="3977028"/>
            <a:chExt cx="4364506" cy="414302"/>
          </a:xfrm>
        </p:grpSpPr>
        <p:sp>
          <p:nvSpPr>
            <p:cNvPr id="229" name="타원 228"/>
            <p:cNvSpPr/>
            <p:nvPr/>
          </p:nvSpPr>
          <p:spPr>
            <a:xfrm>
              <a:off x="7559091" y="3977028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230" name="직선 연결선 229"/>
            <p:cNvCxnSpPr>
              <a:stCxn id="229" idx="6"/>
              <a:endCxn id="231" idx="1"/>
            </p:cNvCxnSpPr>
            <p:nvPr/>
          </p:nvCxnSpPr>
          <p:spPr>
            <a:xfrm>
              <a:off x="7739091" y="4067028"/>
              <a:ext cx="1844462" cy="21870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1" name="직사각형 230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83553" y="4180127"/>
              <a:ext cx="2340044" cy="21120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200</a:t>
              </a:r>
              <a:endParaRPr lang="en-US" altLang="ko-KR" sz="9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66" name="그룹 65"/>
          <p:cNvGrpSpPr/>
          <p:nvPr/>
        </p:nvGrpSpPr>
        <p:grpSpPr>
          <a:xfrm>
            <a:off x="2728392" y="4671946"/>
            <a:ext cx="3908684" cy="252000"/>
            <a:chOff x="602656" y="-566622"/>
            <a:chExt cx="3908684" cy="252000"/>
          </a:xfrm>
        </p:grpSpPr>
        <p:sp>
          <p:nvSpPr>
            <p:cNvPr id="67" name="TextBox 66"/>
            <p:cNvSpPr txBox="1"/>
            <p:nvPr/>
          </p:nvSpPr>
          <p:spPr>
            <a:xfrm>
              <a:off x="602656" y="-556038"/>
              <a:ext cx="95090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SIM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일련번호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SIM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일련번호 입력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77" name="그룹 76"/>
          <p:cNvGrpSpPr/>
          <p:nvPr/>
        </p:nvGrpSpPr>
        <p:grpSpPr>
          <a:xfrm>
            <a:off x="6349082" y="4717747"/>
            <a:ext cx="5596334" cy="656263"/>
            <a:chOff x="6271934" y="5133940"/>
            <a:chExt cx="5596334" cy="656263"/>
          </a:xfrm>
        </p:grpSpPr>
        <p:sp>
          <p:nvSpPr>
            <p:cNvPr id="78" name="타원 77"/>
            <p:cNvSpPr/>
            <p:nvPr/>
          </p:nvSpPr>
          <p:spPr>
            <a:xfrm>
              <a:off x="6271934" y="5133940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79" name="직선 연결선 78"/>
            <p:cNvCxnSpPr>
              <a:stCxn id="78" idx="6"/>
              <a:endCxn id="80" idx="1"/>
            </p:cNvCxnSpPr>
            <p:nvPr/>
          </p:nvCxnSpPr>
          <p:spPr>
            <a:xfrm>
              <a:off x="6451934" y="5223940"/>
              <a:ext cx="3076290" cy="3221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직사각형 79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28224" y="5302002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32</a:t>
              </a:r>
              <a:endParaRPr lang="en-US" altLang="ko-KR" sz="900" dirty="0">
                <a:solidFill>
                  <a:srgbClr val="FF0000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- 32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499773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그룹 104"/>
          <p:cNvGrpSpPr/>
          <p:nvPr/>
        </p:nvGrpSpPr>
        <p:grpSpPr>
          <a:xfrm>
            <a:off x="2740302" y="693490"/>
            <a:ext cx="5405041" cy="252000"/>
            <a:chOff x="424136" y="-566622"/>
            <a:chExt cx="5405041" cy="252000"/>
          </a:xfrm>
        </p:grpSpPr>
        <p:sp>
          <p:nvSpPr>
            <p:cNvPr id="106" name="TextBox 105"/>
            <p:cNvSpPr txBox="1"/>
            <p:nvPr/>
          </p:nvSpPr>
          <p:spPr>
            <a:xfrm>
              <a:off x="424136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번호예약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08" name="직사각형 107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****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0" name="직사각형 109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12" name="그룹 111"/>
          <p:cNvGrpSpPr/>
          <p:nvPr/>
        </p:nvGrpSpPr>
        <p:grpSpPr>
          <a:xfrm>
            <a:off x="7766766" y="754906"/>
            <a:ext cx="3702012" cy="570801"/>
            <a:chOff x="8166256" y="5219402"/>
            <a:chExt cx="3702012" cy="570801"/>
          </a:xfrm>
        </p:grpSpPr>
        <p:sp>
          <p:nvSpPr>
            <p:cNvPr id="113" name="타원 112"/>
            <p:cNvSpPr/>
            <p:nvPr/>
          </p:nvSpPr>
          <p:spPr>
            <a:xfrm>
              <a:off x="8166256" y="5219402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14" name="직선 연결선 113"/>
            <p:cNvCxnSpPr>
              <a:stCxn id="113" idx="6"/>
              <a:endCxn id="115" idx="1"/>
            </p:cNvCxnSpPr>
            <p:nvPr/>
          </p:nvCxnSpPr>
          <p:spPr>
            <a:xfrm>
              <a:off x="8346256" y="5309402"/>
              <a:ext cx="1181968" cy="23670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직사각형 114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28224" y="5302002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4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- 4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16" name="그룹 115"/>
          <p:cNvGrpSpPr/>
          <p:nvPr/>
        </p:nvGrpSpPr>
        <p:grpSpPr>
          <a:xfrm>
            <a:off x="2751517" y="1197546"/>
            <a:ext cx="3739658" cy="252000"/>
            <a:chOff x="1053932" y="-893575"/>
            <a:chExt cx="3739658" cy="252000"/>
          </a:xfrm>
        </p:grpSpPr>
        <p:sp>
          <p:nvSpPr>
            <p:cNvPr id="117" name="직사각형 116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자동이체</a:t>
              </a:r>
            </a:p>
          </p:txBody>
        </p:sp>
        <p:sp>
          <p:nvSpPr>
            <p:cNvPr id="118" name="직사각형 117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신용카드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1053932" y="-882991"/>
              <a:ext cx="101021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 납부 방법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20" name="그룹 119"/>
          <p:cNvGrpSpPr/>
          <p:nvPr/>
        </p:nvGrpSpPr>
        <p:grpSpPr>
          <a:xfrm>
            <a:off x="4240759" y="1540346"/>
            <a:ext cx="1800000" cy="252000"/>
            <a:chOff x="2544198" y="-566622"/>
            <a:chExt cx="1800000" cy="252000"/>
          </a:xfrm>
        </p:grpSpPr>
        <p:sp>
          <p:nvSpPr>
            <p:cNvPr id="121" name="직사각형 120"/>
            <p:cNvSpPr/>
            <p:nvPr/>
          </p:nvSpPr>
          <p:spPr>
            <a:xfrm>
              <a:off x="2544198" y="-5666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은행 선택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122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32568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123" name="직사각형 122"/>
          <p:cNvSpPr/>
          <p:nvPr/>
        </p:nvSpPr>
        <p:spPr>
          <a:xfrm>
            <a:off x="6112968" y="1540346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계좌번호 입력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24" name="그룹 123"/>
          <p:cNvGrpSpPr/>
          <p:nvPr/>
        </p:nvGrpSpPr>
        <p:grpSpPr>
          <a:xfrm>
            <a:off x="7631592" y="1496170"/>
            <a:ext cx="3839372" cy="349702"/>
            <a:chOff x="8028896" y="5302002"/>
            <a:chExt cx="3839372" cy="349702"/>
          </a:xfrm>
        </p:grpSpPr>
        <p:sp>
          <p:nvSpPr>
            <p:cNvPr id="125" name="타원 124"/>
            <p:cNvSpPr/>
            <p:nvPr/>
          </p:nvSpPr>
          <p:spPr>
            <a:xfrm>
              <a:off x="8028896" y="5377246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26" name="직선 연결선 125"/>
            <p:cNvCxnSpPr>
              <a:stCxn id="125" idx="6"/>
              <a:endCxn id="127" idx="1"/>
            </p:cNvCxnSpPr>
            <p:nvPr/>
          </p:nvCxnSpPr>
          <p:spPr>
            <a:xfrm>
              <a:off x="8208896" y="5467246"/>
              <a:ext cx="1319328" cy="960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직사각형 126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28224" y="5302002"/>
              <a:ext cx="2340044" cy="349702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20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28" name="그룹 127"/>
          <p:cNvGrpSpPr/>
          <p:nvPr/>
        </p:nvGrpSpPr>
        <p:grpSpPr>
          <a:xfrm>
            <a:off x="2728392" y="1917626"/>
            <a:ext cx="3739658" cy="252000"/>
            <a:chOff x="1053932" y="-893575"/>
            <a:chExt cx="3739658" cy="252000"/>
          </a:xfrm>
        </p:grpSpPr>
        <p:sp>
          <p:nvSpPr>
            <p:cNvPr id="129" name="직사각형 128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자동이체</a:t>
              </a:r>
            </a:p>
          </p:txBody>
        </p:sp>
        <p:sp>
          <p:nvSpPr>
            <p:cNvPr id="130" name="직사각형 129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신용카드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1053932" y="-882991"/>
              <a:ext cx="101021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 납부 방법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217634" y="2252536"/>
            <a:ext cx="1800000" cy="252000"/>
            <a:chOff x="2544198" y="-566622"/>
            <a:chExt cx="1800000" cy="252000"/>
          </a:xfrm>
        </p:grpSpPr>
        <p:sp>
          <p:nvSpPr>
            <p:cNvPr id="133" name="직사각형 132"/>
            <p:cNvSpPr/>
            <p:nvPr/>
          </p:nvSpPr>
          <p:spPr>
            <a:xfrm>
              <a:off x="2544198" y="-5666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카드사 선택</a:t>
              </a:r>
            </a:p>
          </p:txBody>
        </p:sp>
        <p:pic>
          <p:nvPicPr>
            <p:cNvPr id="134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32568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135" name="직사각형 134"/>
          <p:cNvSpPr/>
          <p:nvPr/>
        </p:nvSpPr>
        <p:spPr>
          <a:xfrm>
            <a:off x="6089843" y="2252536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카드번호 입력</a:t>
            </a:r>
          </a:p>
        </p:txBody>
      </p:sp>
      <p:grpSp>
        <p:nvGrpSpPr>
          <p:cNvPr id="136" name="그룹 135"/>
          <p:cNvGrpSpPr/>
          <p:nvPr/>
        </p:nvGrpSpPr>
        <p:grpSpPr>
          <a:xfrm>
            <a:off x="7964724" y="2252536"/>
            <a:ext cx="1080000" cy="252000"/>
            <a:chOff x="2544198" y="-566622"/>
            <a:chExt cx="1080000" cy="252000"/>
          </a:xfrm>
        </p:grpSpPr>
        <p:sp>
          <p:nvSpPr>
            <p:cNvPr id="137" name="직사각형 136"/>
            <p:cNvSpPr/>
            <p:nvPr/>
          </p:nvSpPr>
          <p:spPr>
            <a:xfrm>
              <a:off x="2544198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유효기간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(MM)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138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8294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39" name="그룹 138"/>
          <p:cNvGrpSpPr/>
          <p:nvPr/>
        </p:nvGrpSpPr>
        <p:grpSpPr>
          <a:xfrm>
            <a:off x="9082468" y="2252536"/>
            <a:ext cx="1080000" cy="252000"/>
            <a:chOff x="2544198" y="-566622"/>
            <a:chExt cx="1080000" cy="252000"/>
          </a:xfrm>
        </p:grpSpPr>
        <p:sp>
          <p:nvSpPr>
            <p:cNvPr id="140" name="직사각형 139"/>
            <p:cNvSpPr/>
            <p:nvPr/>
          </p:nvSpPr>
          <p:spPr>
            <a:xfrm>
              <a:off x="2544198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유효기간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(YY)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141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8294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42" name="그룹 141"/>
          <p:cNvGrpSpPr/>
          <p:nvPr/>
        </p:nvGrpSpPr>
        <p:grpSpPr>
          <a:xfrm>
            <a:off x="7264896" y="1934477"/>
            <a:ext cx="5363185" cy="561323"/>
            <a:chOff x="7509800" y="4670781"/>
            <a:chExt cx="5363185" cy="561323"/>
          </a:xfrm>
        </p:grpSpPr>
        <p:sp>
          <p:nvSpPr>
            <p:cNvPr id="143" name="타원 142"/>
            <p:cNvSpPr/>
            <p:nvPr/>
          </p:nvSpPr>
          <p:spPr>
            <a:xfrm>
              <a:off x="7509800" y="5052104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44" name="직선 연결선 143"/>
            <p:cNvCxnSpPr>
              <a:stCxn id="143" idx="6"/>
              <a:endCxn id="145" idx="1"/>
            </p:cNvCxnSpPr>
            <p:nvPr/>
          </p:nvCxnSpPr>
          <p:spPr>
            <a:xfrm flipV="1">
              <a:off x="7689800" y="4914882"/>
              <a:ext cx="2843141" cy="22722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직사각형 144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10532941" y="4670781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16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- 15~16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63" name="그룹 162"/>
          <p:cNvGrpSpPr/>
          <p:nvPr/>
        </p:nvGrpSpPr>
        <p:grpSpPr>
          <a:xfrm>
            <a:off x="2758425" y="4221882"/>
            <a:ext cx="5794664" cy="252000"/>
            <a:chOff x="640160" y="-566622"/>
            <a:chExt cx="5794664" cy="252000"/>
          </a:xfrm>
        </p:grpSpPr>
        <p:sp>
          <p:nvSpPr>
            <p:cNvPr id="164" name="TextBox 163"/>
            <p:cNvSpPr txBox="1"/>
            <p:nvPr/>
          </p:nvSpPr>
          <p:spPr>
            <a:xfrm>
              <a:off x="640160" y="-556038"/>
              <a:ext cx="141897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일시정지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해제 비밀번호</a:t>
              </a:r>
            </a:p>
          </p:txBody>
        </p:sp>
        <p:sp>
          <p:nvSpPr>
            <p:cNvPr id="165" name="직사각형 164"/>
            <p:cNvSpPr/>
            <p:nvPr/>
          </p:nvSpPr>
          <p:spPr>
            <a:xfrm>
              <a:off x="2114824" y="-566622"/>
              <a:ext cx="43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일시정지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해제 비밀번호</a:t>
              </a:r>
            </a:p>
          </p:txBody>
        </p:sp>
      </p:grpSp>
      <p:grpSp>
        <p:nvGrpSpPr>
          <p:cNvPr id="166" name="그룹 165"/>
          <p:cNvGrpSpPr/>
          <p:nvPr/>
        </p:nvGrpSpPr>
        <p:grpSpPr>
          <a:xfrm>
            <a:off x="7264896" y="4257858"/>
            <a:ext cx="4358468" cy="738099"/>
            <a:chOff x="7509800" y="5052104"/>
            <a:chExt cx="4358468" cy="738099"/>
          </a:xfrm>
        </p:grpSpPr>
        <p:sp>
          <p:nvSpPr>
            <p:cNvPr id="167" name="타원 166"/>
            <p:cNvSpPr/>
            <p:nvPr/>
          </p:nvSpPr>
          <p:spPr>
            <a:xfrm>
              <a:off x="7509800" y="5052104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68" name="직선 연결선 167"/>
            <p:cNvCxnSpPr>
              <a:stCxn id="167" idx="6"/>
              <a:endCxn id="169" idx="1"/>
            </p:cNvCxnSpPr>
            <p:nvPr/>
          </p:nvCxnSpPr>
          <p:spPr>
            <a:xfrm>
              <a:off x="7689800" y="5142104"/>
              <a:ext cx="1838424" cy="40399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직사각형 168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28224" y="5302002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6</a:t>
              </a:r>
              <a:endParaRPr lang="en-US" altLang="ko-KR" sz="900" dirty="0">
                <a:solidFill>
                  <a:srgbClr val="FF0000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- 6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76" name="그룹 75"/>
          <p:cNvGrpSpPr/>
          <p:nvPr/>
        </p:nvGrpSpPr>
        <p:grpSpPr>
          <a:xfrm>
            <a:off x="4216707" y="2637706"/>
            <a:ext cx="5512811" cy="252000"/>
            <a:chOff x="4416407" y="2529722"/>
            <a:chExt cx="5512811" cy="252000"/>
          </a:xfrm>
        </p:grpSpPr>
        <p:grpSp>
          <p:nvGrpSpPr>
            <p:cNvPr id="77" name="그룹 76"/>
            <p:cNvGrpSpPr/>
            <p:nvPr/>
          </p:nvGrpSpPr>
          <p:grpSpPr>
            <a:xfrm>
              <a:off x="8129218" y="2529722"/>
              <a:ext cx="1800000" cy="252000"/>
              <a:chOff x="8129218" y="-566622"/>
              <a:chExt cx="1800000" cy="252000"/>
            </a:xfrm>
          </p:grpSpPr>
          <p:sp>
            <p:nvSpPr>
              <p:cNvPr id="80" name="직사각형 79"/>
              <p:cNvSpPr/>
              <p:nvPr/>
            </p:nvSpPr>
            <p:spPr>
              <a:xfrm>
                <a:off x="8129218" y="-566622"/>
                <a:ext cx="180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관계</a:t>
                </a:r>
              </a:p>
            </p:txBody>
          </p:sp>
          <p:pic>
            <p:nvPicPr>
              <p:cNvPr id="81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7588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78" name="직사각형 77"/>
            <p:cNvSpPr/>
            <p:nvPr/>
          </p:nvSpPr>
          <p:spPr>
            <a:xfrm>
              <a:off x="4416407" y="25297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납부고객명</a:t>
              </a:r>
            </a:p>
          </p:txBody>
        </p:sp>
        <p:sp>
          <p:nvSpPr>
            <p:cNvPr id="79" name="직사각형 78"/>
            <p:cNvSpPr/>
            <p:nvPr/>
          </p:nvSpPr>
          <p:spPr>
            <a:xfrm>
              <a:off x="6256810" y="25297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입력</a:t>
              </a:r>
            </a:p>
          </p:txBody>
        </p:sp>
      </p:grpSp>
      <p:sp>
        <p:nvSpPr>
          <p:cNvPr id="82" name="직사각형 81"/>
          <p:cNvSpPr/>
          <p:nvPr/>
        </p:nvSpPr>
        <p:spPr>
          <a:xfrm>
            <a:off x="4240560" y="2961714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청구계정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ID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입력</a:t>
            </a:r>
          </a:p>
        </p:txBody>
      </p:sp>
      <p:sp>
        <p:nvSpPr>
          <p:cNvPr id="83" name="직사각형 82"/>
          <p:cNvSpPr/>
          <p:nvPr/>
        </p:nvSpPr>
        <p:spPr>
          <a:xfrm>
            <a:off x="6118474" y="2961714"/>
            <a:ext cx="108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청구계정 체크</a:t>
            </a:r>
          </a:p>
        </p:txBody>
      </p:sp>
      <p:grpSp>
        <p:nvGrpSpPr>
          <p:cNvPr id="85" name="그룹 84"/>
          <p:cNvGrpSpPr/>
          <p:nvPr/>
        </p:nvGrpSpPr>
        <p:grpSpPr>
          <a:xfrm>
            <a:off x="5409283" y="2637706"/>
            <a:ext cx="7218798" cy="211203"/>
            <a:chOff x="5654187" y="4670781"/>
            <a:chExt cx="7218798" cy="211203"/>
          </a:xfrm>
        </p:grpSpPr>
        <p:sp>
          <p:nvSpPr>
            <p:cNvPr id="86" name="타원 85"/>
            <p:cNvSpPr/>
            <p:nvPr/>
          </p:nvSpPr>
          <p:spPr>
            <a:xfrm>
              <a:off x="5654187" y="4696065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87" name="직선 연결선 86"/>
            <p:cNvCxnSpPr>
              <a:stCxn id="86" idx="6"/>
              <a:endCxn id="88" idx="1"/>
            </p:cNvCxnSpPr>
            <p:nvPr/>
          </p:nvCxnSpPr>
          <p:spPr>
            <a:xfrm flipV="1">
              <a:off x="5834187" y="4776383"/>
              <a:ext cx="4698754" cy="968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직사각형 87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10532941" y="4670781"/>
              <a:ext cx="2340044" cy="21120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60</a:t>
              </a:r>
              <a:endParaRPr lang="en-US" altLang="ko-KR" sz="9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90" name="그룹 89"/>
          <p:cNvGrpSpPr/>
          <p:nvPr/>
        </p:nvGrpSpPr>
        <p:grpSpPr>
          <a:xfrm>
            <a:off x="7108474" y="2695833"/>
            <a:ext cx="4836942" cy="949985"/>
            <a:chOff x="-2208406" y="2488691"/>
            <a:chExt cx="4836942" cy="949985"/>
          </a:xfrm>
        </p:grpSpPr>
        <p:sp>
          <p:nvSpPr>
            <p:cNvPr id="91" name="타원 90"/>
            <p:cNvSpPr/>
            <p:nvPr/>
          </p:nvSpPr>
          <p:spPr>
            <a:xfrm>
              <a:off x="-2208406" y="2488691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92" name="직선 연결선 91"/>
            <p:cNvCxnSpPr>
              <a:stCxn id="91" idx="6"/>
              <a:endCxn id="93" idx="1"/>
            </p:cNvCxnSpPr>
            <p:nvPr/>
          </p:nvCxnSpPr>
          <p:spPr>
            <a:xfrm>
              <a:off x="-2028406" y="2578691"/>
              <a:ext cx="2316898" cy="54663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직사각형 92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288492" y="2811975"/>
              <a:ext cx="2340044" cy="6267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8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- 8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유효한 날짜만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95" name="그룹 94"/>
          <p:cNvGrpSpPr/>
          <p:nvPr/>
        </p:nvGrpSpPr>
        <p:grpSpPr>
          <a:xfrm>
            <a:off x="5610253" y="3040614"/>
            <a:ext cx="6331667" cy="1062166"/>
            <a:chOff x="-3703131" y="2099511"/>
            <a:chExt cx="6331667" cy="1062166"/>
          </a:xfrm>
        </p:grpSpPr>
        <p:sp>
          <p:nvSpPr>
            <p:cNvPr id="170" name="타원 169"/>
            <p:cNvSpPr/>
            <p:nvPr/>
          </p:nvSpPr>
          <p:spPr>
            <a:xfrm>
              <a:off x="-3703131" y="2099511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71" name="직선 연결선 170"/>
            <p:cNvCxnSpPr>
              <a:stCxn id="170" idx="6"/>
              <a:endCxn id="172" idx="1"/>
            </p:cNvCxnSpPr>
            <p:nvPr/>
          </p:nvCxnSpPr>
          <p:spPr>
            <a:xfrm>
              <a:off x="-3523131" y="2189511"/>
              <a:ext cx="3811623" cy="79731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직사각형 171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288492" y="2811975"/>
              <a:ext cx="2340044" cy="349702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11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013306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모서리가 둥근 직사각형 85"/>
          <p:cNvSpPr/>
          <p:nvPr/>
        </p:nvSpPr>
        <p:spPr>
          <a:xfrm>
            <a:off x="3883541" y="3126898"/>
            <a:ext cx="2448000" cy="36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7" name="제목 1"/>
          <p:cNvSpPr txBox="1">
            <a:spLocks/>
          </p:cNvSpPr>
          <p:nvPr/>
        </p:nvSpPr>
        <p:spPr bwMode="auto">
          <a:xfrm>
            <a:off x="3909491" y="3126898"/>
            <a:ext cx="2005016" cy="3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lang="ko-KR" altLang="en-US" sz="1600" b="1" kern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4572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9144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13716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18288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r>
              <a:rPr lang="ko-KR" altLang="en-US" sz="1000" b="0" dirty="0">
                <a:solidFill>
                  <a:schemeClr val="bg1">
                    <a:lumMod val="50000"/>
                  </a:schemeClr>
                </a:solidFill>
              </a:rPr>
              <a:t>인증번호 입력</a:t>
            </a:r>
          </a:p>
        </p:txBody>
      </p:sp>
      <p:sp>
        <p:nvSpPr>
          <p:cNvPr id="89" name="제목 1"/>
          <p:cNvSpPr txBox="1">
            <a:spLocks/>
          </p:cNvSpPr>
          <p:nvPr/>
        </p:nvSpPr>
        <p:spPr bwMode="auto">
          <a:xfrm>
            <a:off x="6404065" y="3126898"/>
            <a:ext cx="1074374" cy="3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lang="ko-KR" altLang="en-US" sz="1600" b="1" kern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4572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9144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13716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18288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r>
              <a:rPr lang="ko-KR" altLang="en-US" sz="1000" dirty="0" err="1">
                <a:solidFill>
                  <a:schemeClr val="bg1">
                    <a:lumMod val="50000"/>
                  </a:schemeClr>
                </a:solidFill>
              </a:rPr>
              <a:t>남은시간</a:t>
            </a:r>
            <a:r>
              <a:rPr lang="ko-KR" altLang="en-US" sz="1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1000" dirty="0">
                <a:solidFill>
                  <a:srgbClr val="FF0000"/>
                </a:solidFill>
              </a:rPr>
              <a:t>02:33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grpSp>
        <p:nvGrpSpPr>
          <p:cNvPr id="91" name="그룹 90"/>
          <p:cNvGrpSpPr/>
          <p:nvPr/>
        </p:nvGrpSpPr>
        <p:grpSpPr>
          <a:xfrm>
            <a:off x="5914507" y="3216898"/>
            <a:ext cx="5554271" cy="542177"/>
            <a:chOff x="6313997" y="5248026"/>
            <a:chExt cx="5554271" cy="542177"/>
          </a:xfrm>
        </p:grpSpPr>
        <p:sp>
          <p:nvSpPr>
            <p:cNvPr id="92" name="타원 91"/>
            <p:cNvSpPr/>
            <p:nvPr/>
          </p:nvSpPr>
          <p:spPr>
            <a:xfrm>
              <a:off x="6313997" y="5248026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93" name="직선 연결선 92"/>
            <p:cNvCxnSpPr>
              <a:stCxn id="92" idx="6"/>
              <a:endCxn id="94" idx="1"/>
            </p:cNvCxnSpPr>
            <p:nvPr/>
          </p:nvCxnSpPr>
          <p:spPr>
            <a:xfrm>
              <a:off x="6493997" y="5338026"/>
              <a:ext cx="3034227" cy="20807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직사각형 93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28224" y="5302002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6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- 6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70" name="그룹 169"/>
          <p:cNvGrpSpPr/>
          <p:nvPr/>
        </p:nvGrpSpPr>
        <p:grpSpPr>
          <a:xfrm>
            <a:off x="1688214" y="3702922"/>
            <a:ext cx="6782927" cy="230832"/>
            <a:chOff x="320676" y="1633600"/>
            <a:chExt cx="6783762" cy="230779"/>
          </a:xfrm>
        </p:grpSpPr>
        <p:sp>
          <p:nvSpPr>
            <p:cNvPr id="171" name="TextBox 170"/>
            <p:cNvSpPr txBox="1"/>
            <p:nvPr/>
          </p:nvSpPr>
          <p:spPr>
            <a:xfrm>
              <a:off x="320676" y="1633600"/>
              <a:ext cx="468456" cy="2307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+mn-ea"/>
                  <a:ea typeface="+mn-ea"/>
                </a:rPr>
                <a:t>제목</a:t>
              </a:r>
              <a:r>
                <a:rPr lang="en-US" altLang="ko-KR" sz="900" b="1" dirty="0">
                  <a:solidFill>
                    <a:srgbClr val="FF0000"/>
                  </a:solidFill>
                  <a:latin typeface="+mn-ea"/>
                  <a:ea typeface="+mn-ea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172" name="Text Box"/>
            <p:cNvSpPr/>
            <p:nvPr/>
          </p:nvSpPr>
          <p:spPr>
            <a:xfrm>
              <a:off x="936139" y="1633600"/>
              <a:ext cx="6168299" cy="225703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cs typeface="Segoe UI" panose="020B0502040204020203" pitchFamily="34" charset="0"/>
                </a:rPr>
                <a:t>제목 입력</a:t>
              </a:r>
              <a:endParaRPr 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Segoe UI" panose="020B0502040204020203" pitchFamily="34" charset="0"/>
              </a:endParaRPr>
            </a:p>
          </p:txBody>
        </p:sp>
      </p:grpSp>
      <p:grpSp>
        <p:nvGrpSpPr>
          <p:cNvPr id="173" name="그룹 172"/>
          <p:cNvGrpSpPr/>
          <p:nvPr/>
        </p:nvGrpSpPr>
        <p:grpSpPr>
          <a:xfrm>
            <a:off x="1688853" y="4005762"/>
            <a:ext cx="6782927" cy="1180860"/>
            <a:chOff x="320676" y="1633600"/>
            <a:chExt cx="6783762" cy="1180588"/>
          </a:xfrm>
        </p:grpSpPr>
        <p:sp>
          <p:nvSpPr>
            <p:cNvPr id="174" name="TextBox 173"/>
            <p:cNvSpPr txBox="1"/>
            <p:nvPr/>
          </p:nvSpPr>
          <p:spPr>
            <a:xfrm>
              <a:off x="320676" y="1633600"/>
              <a:ext cx="699316" cy="2307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+mn-ea"/>
                  <a:ea typeface="+mn-ea"/>
                </a:rPr>
                <a:t>문의내용</a:t>
              </a:r>
              <a:r>
                <a:rPr lang="en-US" altLang="ko-KR" sz="900" b="1" dirty="0">
                  <a:solidFill>
                    <a:srgbClr val="FF0000"/>
                  </a:solidFill>
                  <a:latin typeface="+mn-ea"/>
                  <a:ea typeface="+mn-ea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175" name="Text Box"/>
            <p:cNvSpPr/>
            <p:nvPr/>
          </p:nvSpPr>
          <p:spPr>
            <a:xfrm>
              <a:off x="936139" y="1633600"/>
              <a:ext cx="6168299" cy="118058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cs typeface="Segoe UI" panose="020B0502040204020203" pitchFamily="34" charset="0"/>
                </a:rPr>
                <a:t>문의내용 입력</a:t>
              </a:r>
              <a:endParaRPr 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Segoe UI" panose="020B0502040204020203" pitchFamily="34" charset="0"/>
              </a:endParaRPr>
            </a:p>
          </p:txBody>
        </p:sp>
      </p:grpSp>
      <p:cxnSp>
        <p:nvCxnSpPr>
          <p:cNvPr id="176" name="직선 화살표 연결선 175">
            <a:extLst>
              <a:ext uri="{FF2B5EF4-FFF2-40B4-BE49-F238E27FC236}">
                <a16:creationId xmlns="" xmlns:a16="http://schemas.microsoft.com/office/drawing/2014/main" id="{0F1F4694-7294-4CFE-93B3-DA09CF426E4E}"/>
              </a:ext>
            </a:extLst>
          </p:cNvPr>
          <p:cNvCxnSpPr>
            <a:cxnSpLocks/>
          </p:cNvCxnSpPr>
          <p:nvPr/>
        </p:nvCxnSpPr>
        <p:spPr>
          <a:xfrm>
            <a:off x="8417024" y="4077994"/>
            <a:ext cx="12631" cy="1152000"/>
          </a:xfrm>
          <a:prstGeom prst="straightConnector1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77" name="그룹 176"/>
          <p:cNvGrpSpPr/>
          <p:nvPr/>
        </p:nvGrpSpPr>
        <p:grpSpPr>
          <a:xfrm>
            <a:off x="5896744" y="3774930"/>
            <a:ext cx="5554271" cy="265179"/>
            <a:chOff x="6313997" y="5248026"/>
            <a:chExt cx="5554271" cy="265179"/>
          </a:xfrm>
        </p:grpSpPr>
        <p:sp>
          <p:nvSpPr>
            <p:cNvPr id="178" name="타원 177"/>
            <p:cNvSpPr/>
            <p:nvPr/>
          </p:nvSpPr>
          <p:spPr>
            <a:xfrm>
              <a:off x="6313997" y="5248026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79" name="직선 연결선 178"/>
            <p:cNvCxnSpPr>
              <a:stCxn id="178" idx="6"/>
              <a:endCxn id="180" idx="1"/>
            </p:cNvCxnSpPr>
            <p:nvPr/>
          </p:nvCxnSpPr>
          <p:spPr>
            <a:xfrm>
              <a:off x="6493997" y="5338026"/>
              <a:ext cx="3034227" cy="6957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직사각형 179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28224" y="5302002"/>
              <a:ext cx="2340044" cy="21120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200</a:t>
              </a:r>
              <a:endParaRPr lang="en-US" altLang="ko-KR" sz="9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181" name="그룹 180"/>
          <p:cNvGrpSpPr/>
          <p:nvPr/>
        </p:nvGrpSpPr>
        <p:grpSpPr>
          <a:xfrm>
            <a:off x="5896744" y="4445855"/>
            <a:ext cx="5554271" cy="265179"/>
            <a:chOff x="6313997" y="5248026"/>
            <a:chExt cx="5554271" cy="265179"/>
          </a:xfrm>
        </p:grpSpPr>
        <p:sp>
          <p:nvSpPr>
            <p:cNvPr id="182" name="타원 181"/>
            <p:cNvSpPr/>
            <p:nvPr/>
          </p:nvSpPr>
          <p:spPr>
            <a:xfrm>
              <a:off x="6313997" y="5248026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183" name="직선 연결선 182"/>
            <p:cNvCxnSpPr>
              <a:stCxn id="182" idx="6"/>
              <a:endCxn id="184" idx="1"/>
            </p:cNvCxnSpPr>
            <p:nvPr/>
          </p:nvCxnSpPr>
          <p:spPr>
            <a:xfrm>
              <a:off x="6493997" y="5338026"/>
              <a:ext cx="3034227" cy="6957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직사각형 183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9528224" y="5302002"/>
              <a:ext cx="2340044" cy="21120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>
                  <a:solidFill>
                    <a:schemeClr val="tx1"/>
                  </a:solidFill>
                  <a:latin typeface="+mn-ea"/>
                </a:rPr>
                <a:t> = 1000</a:t>
              </a:r>
              <a:endParaRPr lang="en-US" altLang="ko-KR" sz="900" dirty="0">
                <a:solidFill>
                  <a:srgbClr val="FF0000"/>
                </a:solidFill>
                <a:latin typeface="+mn-ea"/>
              </a:endParaRPr>
            </a:p>
          </p:txBody>
        </p:sp>
      </p:grpSp>
      <p:pic>
        <p:nvPicPr>
          <p:cNvPr id="25" name="Picture 2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174" b="25424"/>
          <a:stretch/>
        </p:blipFill>
        <p:spPr bwMode="auto">
          <a:xfrm>
            <a:off x="2837890" y="765498"/>
            <a:ext cx="3479891" cy="21946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6" name="그룹 25"/>
          <p:cNvGrpSpPr/>
          <p:nvPr/>
        </p:nvGrpSpPr>
        <p:grpSpPr>
          <a:xfrm>
            <a:off x="4080018" y="1325458"/>
            <a:ext cx="5234037" cy="719103"/>
            <a:chOff x="7243230" y="5508121"/>
            <a:chExt cx="5234037" cy="719103"/>
          </a:xfrm>
        </p:grpSpPr>
        <p:sp>
          <p:nvSpPr>
            <p:cNvPr id="27" name="타원 26"/>
            <p:cNvSpPr/>
            <p:nvPr/>
          </p:nvSpPr>
          <p:spPr>
            <a:xfrm>
              <a:off x="8449374" y="5508121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28" name="직선 연결선 27"/>
            <p:cNvCxnSpPr>
              <a:stCxn id="27" idx="6"/>
              <a:endCxn id="29" idx="1"/>
            </p:cNvCxnSpPr>
            <p:nvPr/>
          </p:nvCxnSpPr>
          <p:spPr>
            <a:xfrm>
              <a:off x="8629374" y="5598121"/>
              <a:ext cx="1507849" cy="38500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직사각형 28">
              <a:extLst>
                <a:ext uri="{FF2B5EF4-FFF2-40B4-BE49-F238E27FC236}">
                  <a16:creationId xmlns="" xmlns:a16="http://schemas.microsoft.com/office/drawing/2014/main" id="{6B698F73-08ED-48D0-9512-54135BB102DC}"/>
                </a:ext>
              </a:extLst>
            </p:cNvPr>
            <p:cNvSpPr/>
            <p:nvPr/>
          </p:nvSpPr>
          <p:spPr>
            <a:xfrm>
              <a:off x="10137223" y="5739023"/>
              <a:ext cx="2340044" cy="4882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>
              <a:spAutoFit/>
            </a:bodyPr>
            <a:lstStyle/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en-US" altLang="ko-KR" sz="900" dirty="0" err="1">
                  <a:solidFill>
                    <a:schemeClr val="tx1"/>
                  </a:solidFill>
                  <a:latin typeface="+mn-ea"/>
                </a:rPr>
                <a:t>maxlength</a:t>
              </a:r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 = 4</a:t>
              </a: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숫자만 입력 가능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en-US" altLang="ko-KR" sz="900" dirty="0">
                  <a:solidFill>
                    <a:schemeClr val="tx1"/>
                  </a:solidFill>
                  <a:latin typeface="+mn-ea"/>
                </a:rPr>
                <a:t>- 4 </a:t>
              </a:r>
              <a:r>
                <a:rPr lang="ko-KR" altLang="en-US" sz="900" dirty="0">
                  <a:solidFill>
                    <a:schemeClr val="tx1"/>
                  </a:solidFill>
                  <a:latin typeface="+mn-ea"/>
                </a:rPr>
                <a:t>자리로 </a:t>
              </a:r>
              <a:r>
                <a:rPr lang="ko-KR" altLang="en-US" sz="900" dirty="0" err="1">
                  <a:solidFill>
                    <a:schemeClr val="tx1"/>
                  </a:solidFill>
                  <a:latin typeface="+mn-ea"/>
                </a:rPr>
                <a:t>입력해야함</a:t>
              </a:r>
              <a:endParaRPr lang="en-US" altLang="ko-KR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0" name="타원 29"/>
            <p:cNvSpPr/>
            <p:nvPr/>
          </p:nvSpPr>
          <p:spPr>
            <a:xfrm>
              <a:off x="7749140" y="5508156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31" name="직선 연결선 30"/>
            <p:cNvCxnSpPr>
              <a:stCxn id="30" idx="6"/>
              <a:endCxn id="29" idx="1"/>
            </p:cNvCxnSpPr>
            <p:nvPr/>
          </p:nvCxnSpPr>
          <p:spPr>
            <a:xfrm>
              <a:off x="7929140" y="5598156"/>
              <a:ext cx="2208083" cy="38496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타원 31"/>
            <p:cNvSpPr/>
            <p:nvPr/>
          </p:nvSpPr>
          <p:spPr>
            <a:xfrm>
              <a:off x="7243230" y="5508121"/>
              <a:ext cx="180000" cy="180000"/>
            </a:xfrm>
            <a:prstGeom prst="ellipse">
              <a:avLst/>
            </a:prstGeom>
            <a:solidFill>
              <a:srgbClr val="FF0000">
                <a:alpha val="50196"/>
              </a:srgbClr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 dirty="0">
                <a:latin typeface="+mn-ea"/>
                <a:ea typeface="+mn-ea"/>
              </a:endParaRPr>
            </a:p>
          </p:txBody>
        </p:sp>
        <p:cxnSp>
          <p:nvCxnSpPr>
            <p:cNvPr id="33" name="직선 연결선 32"/>
            <p:cNvCxnSpPr>
              <a:stCxn id="32" idx="6"/>
              <a:endCxn id="29" idx="1"/>
            </p:cNvCxnSpPr>
            <p:nvPr/>
          </p:nvCxnSpPr>
          <p:spPr>
            <a:xfrm>
              <a:off x="7423230" y="5598121"/>
              <a:ext cx="2713993" cy="38500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20191393"/>
      </p:ext>
    </p:extLst>
  </p:cSld>
  <p:clrMapOvr>
    <a:masterClrMapping/>
  </p:clrMapOvr>
</p:sld>
</file>

<file path=ppt/theme/theme1.xml><?xml version="1.0" encoding="utf-8"?>
<a:theme xmlns:a="http://schemas.openxmlformats.org/drawingml/2006/main" name="설명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lumMod val="65000"/>
            <a:lumOff val="35000"/>
            <a:alpha val="75000"/>
          </a:schemeClr>
        </a:solidFill>
        <a:ln w="6350" algn="ctr">
          <a:noFill/>
          <a:miter lim="800000"/>
          <a:headEnd/>
          <a:tailEnd/>
        </a:ln>
      </a:spPr>
      <a:bodyPr wrap="square" rtlCol="0" anchor="ctr">
        <a:spAutoFit/>
      </a:bodyPr>
      <a:lstStyle>
        <a:defPPr algn="ctr">
          <a:spcBef>
            <a:spcPct val="50000"/>
          </a:spcBef>
          <a:defRPr sz="800" b="1" smtClean="0">
            <a:latin typeface="나눔고딕" panose="020D0604000000000000" pitchFamily="50" charset="-127"/>
            <a:ea typeface="나눔고딕" panose="020D0604000000000000" pitchFamily="50" charset="-127"/>
          </a:defRPr>
        </a:defPPr>
      </a:lstStyle>
    </a:spDef>
    <a:txDef>
      <a:spPr>
        <a:noFill/>
      </a:spPr>
      <a:bodyPr wrap="none" rtlCol="0">
        <a:spAutoFit/>
      </a:bodyPr>
      <a:lstStyle>
        <a:defPPr>
          <a:defRPr sz="8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2_화면설계서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lumMod val="65000"/>
            <a:lumOff val="35000"/>
            <a:alpha val="75000"/>
          </a:schemeClr>
        </a:solidFill>
        <a:ln w="6350" algn="ctr">
          <a:noFill/>
          <a:miter lim="800000"/>
          <a:headEnd/>
          <a:tailEnd/>
        </a:ln>
      </a:spPr>
      <a:bodyPr wrap="square" rtlCol="0" anchor="ctr">
        <a:spAutoFit/>
      </a:bodyPr>
      <a:lstStyle>
        <a:defPPr algn="ctr">
          <a:spcBef>
            <a:spcPct val="50000"/>
          </a:spcBef>
          <a:defRPr sz="800" b="1" smtClean="0">
            <a:latin typeface="나눔고딕" panose="020D0604000000000000" pitchFamily="50" charset="-127"/>
            <a:ea typeface="나눔고딕" panose="020D0604000000000000" pitchFamily="50" charset="-127"/>
          </a:defRPr>
        </a:defPPr>
      </a:lstStyle>
    </a:spDef>
    <a:txDef>
      <a:spPr>
        <a:noFill/>
      </a:spPr>
      <a:bodyPr wrap="none" rtlCol="0">
        <a:spAutoFit/>
      </a:bodyPr>
      <a:lstStyle>
        <a:defPPr>
          <a:defRPr sz="800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1_화면설계서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lumMod val="65000"/>
            <a:lumOff val="35000"/>
            <a:alpha val="75000"/>
          </a:schemeClr>
        </a:solidFill>
        <a:ln w="6350" algn="ctr">
          <a:noFill/>
          <a:miter lim="800000"/>
          <a:headEnd/>
          <a:tailEnd/>
        </a:ln>
      </a:spPr>
      <a:bodyPr wrap="square" rtlCol="0" anchor="ctr">
        <a:spAutoFit/>
      </a:bodyPr>
      <a:lstStyle>
        <a:defPPr algn="ctr">
          <a:spcBef>
            <a:spcPct val="50000"/>
          </a:spcBef>
          <a:defRPr sz="800" b="1" smtClean="0">
            <a:latin typeface="나눔고딕" panose="020D0604000000000000" pitchFamily="50" charset="-127"/>
            <a:ea typeface="나눔고딕" panose="020D0604000000000000" pitchFamily="50" charset="-127"/>
          </a:defRPr>
        </a:defPPr>
      </a:lstStyle>
    </a:spDef>
    <a:txDef>
      <a:spPr>
        <a:noFill/>
      </a:spPr>
      <a:bodyPr wrap="none" rtlCol="0">
        <a:spAutoFit/>
      </a:bodyPr>
      <a:lstStyle>
        <a:defPPr>
          <a:defRPr sz="800" smtClean="0"/>
        </a:defPPr>
      </a:lstStyle>
    </a:txDef>
  </a:objectDefaults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3DC77A828EE2C4D81AF024F460569B5" ma:contentTypeVersion="1" ma:contentTypeDescription="새 문서를 만듭니다." ma:contentTypeScope="" ma:versionID="cc9d5630a70d8196d048ee69f0fc4281">
  <xsd:schema xmlns:xsd="http://www.w3.org/2001/XMLSchema" xmlns:xs="http://www.w3.org/2001/XMLSchema" xmlns:p="http://schemas.microsoft.com/office/2006/metadata/properties" xmlns:ns2="38401c30-03ba-420f-896f-36299c68a925" targetNamespace="http://schemas.microsoft.com/office/2006/metadata/properties" ma:root="true" ma:fieldsID="f52a3d49948d89f7fa0004adad49ab67" ns2:_="">
    <xsd:import namespace="38401c30-03ba-420f-896f-36299c68a925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401c30-03ba-420f-896f-36299c68a925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문서 ID 값" ma:description="이 항목에 할당된 문서 ID 값입니다." ma:internalName="_dlc_DocId" ma:readOnly="true">
      <xsd:simpleType>
        <xsd:restriction base="dms:Text"/>
      </xsd:simpleType>
    </xsd:element>
    <xsd:element name="_dlc_DocIdUrl" ma:index="9" nillable="true" ma:displayName="문서 ID" ma:description="이 문서에 대한 영구 링크입니다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영구 ID" ma:description="추가 시 ID를 유지합니다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4.xml><?xml version="1.0" encoding="utf-8"?>
<LongProperties xmlns="http://schemas.microsoft.com/office/2006/metadata/longProperties"/>
</file>

<file path=customXml/item5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80D073E-B96D-419D-A08A-BEEB1D2141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8401c30-03ba-420f-896f-36299c68a9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5DA953D-B00F-4D53-B01B-5A1C523FA2C0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D3A49A56-48DF-45A9-B7BA-B180B664DF62}">
  <ds:schemaRefs>
    <ds:schemaRef ds:uri="http://purl.org/dc/terms/"/>
    <ds:schemaRef ds:uri="http://schemas.openxmlformats.org/package/2006/metadata/core-properties"/>
    <ds:schemaRef ds:uri="http://purl.org/dc/dcmitype/"/>
    <ds:schemaRef ds:uri="38401c30-03ba-420f-896f-36299c68a925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http://www.w3.org/XML/1998/namespace"/>
  </ds:schemaRefs>
</ds:datastoreItem>
</file>

<file path=customXml/itemProps4.xml><?xml version="1.0" encoding="utf-8"?>
<ds:datastoreItem xmlns:ds="http://schemas.openxmlformats.org/officeDocument/2006/customXml" ds:itemID="{EC7F5794-410F-4B53-A605-F79AEA507B76}">
  <ds:schemaRefs>
    <ds:schemaRef ds:uri="http://schemas.microsoft.com/office/2006/metadata/longProperties"/>
  </ds:schemaRefs>
</ds:datastoreItem>
</file>

<file path=customXml/itemProps5.xml><?xml version="1.0" encoding="utf-8"?>
<ds:datastoreItem xmlns:ds="http://schemas.openxmlformats.org/officeDocument/2006/customXml" ds:itemID="{474891BC-C640-43D5-8175-33BC5943071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34247</TotalTime>
  <Words>13356</Words>
  <Application>Microsoft Office PowerPoint</Application>
  <PresentationFormat>사용자 지정</PresentationFormat>
  <Paragraphs>3754</Paragraphs>
  <Slides>86</Slides>
  <Notes>3</Notes>
  <HiddenSlides>0</HiddenSlides>
  <MMClips>0</MMClips>
  <ScaleCrop>false</ScaleCrop>
  <HeadingPairs>
    <vt:vector size="4" baseType="variant">
      <vt:variant>
        <vt:lpstr>테마</vt:lpstr>
      </vt:variant>
      <vt:variant>
        <vt:i4>4</vt:i4>
      </vt:variant>
      <vt:variant>
        <vt:lpstr>슬라이드 제목</vt:lpstr>
      </vt:variant>
      <vt:variant>
        <vt:i4>86</vt:i4>
      </vt:variant>
    </vt:vector>
  </HeadingPairs>
  <TitlesOfParts>
    <vt:vector size="90" baseType="lpstr">
      <vt:lpstr>설명</vt:lpstr>
      <vt:lpstr>2_화면설계서</vt:lpstr>
      <vt:lpstr>1_화면설계서</vt:lpstr>
      <vt:lpstr>Office 테마</vt:lpstr>
      <vt:lpstr>UI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Owner</dc:creator>
  <cp:lastModifiedBy>hsha</cp:lastModifiedBy>
  <cp:revision>7615</cp:revision>
  <dcterms:created xsi:type="dcterms:W3CDTF">2011-01-04T12:32:05Z</dcterms:created>
  <dcterms:modified xsi:type="dcterms:W3CDTF">2026-03-13T07:49:57Z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dlc_DocId">
    <vt:lpwstr>FCNHZ7S6XMZC-6-2714</vt:lpwstr>
  </property>
  <property fmtid="{D5CDD505-2E9C-101B-9397-08002B2CF9AE}" pid="3" name="_dlc_DocIdItemGuid">
    <vt:lpwstr>ab86fa6f-0ef5-4b90-9ff9-987649a96697</vt:lpwstr>
  </property>
  <property fmtid="{D5CDD505-2E9C-101B-9397-08002B2CF9AE}" pid="4" name="_dlc_DocIdUrl">
    <vt:lpwstr>https://ecm.ktds.co.kr/sites/ECM/_layouts/DocIdRedir.aspx?ID=FCNHZ7S6XMZC-6-2714, FCNHZ7S6XMZC-6-2714</vt:lpwstr>
  </property>
</Properties>
</file>